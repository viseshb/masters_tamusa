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lexandria" panose="020B0604020202020204" charset="-78"/>
      <p:regular r:id="rId21"/>
    </p:embeddedFont>
    <p:embeddedFont>
      <p:font typeface="Alexandria Bold" panose="020B0604020202020204" charset="-78"/>
      <p:regular r:id="rId22"/>
    </p:embeddedFont>
    <p:embeddedFont>
      <p:font typeface="Garet" panose="020B0604020202020204" charset="0"/>
      <p:regular r:id="rId23"/>
    </p:embeddedFont>
    <p:embeddedFont>
      <p:font typeface="Gare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DFDC79-C69B-40F9-96F6-37387BC3CA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E12F26-8B74-4660-B210-A6035FEC340C}">
      <dgm:prSet custT="1"/>
      <dgm:spPr/>
      <dgm:t>
        <a:bodyPr/>
        <a:lstStyle/>
        <a:p>
          <a:r>
            <a:rPr lang="en-US" sz="2000" b="1" dirty="0"/>
            <a:t>STEP 1 — Descriptive Analysis</a:t>
          </a:r>
        </a:p>
      </dgm:t>
    </dgm:pt>
    <dgm:pt modelId="{A7EC824E-5DBF-4355-AFD5-2097D6799531}" type="parTrans" cxnId="{68BF2083-ECD7-4DE7-957B-643A603321A6}">
      <dgm:prSet/>
      <dgm:spPr/>
      <dgm:t>
        <a:bodyPr/>
        <a:lstStyle/>
        <a:p>
          <a:endParaRPr lang="en-US"/>
        </a:p>
      </dgm:t>
    </dgm:pt>
    <dgm:pt modelId="{00DDDCA2-BFA2-4088-9792-456907254BEA}" type="sibTrans" cxnId="{68BF2083-ECD7-4DE7-957B-643A603321A6}">
      <dgm:prSet/>
      <dgm:spPr/>
      <dgm:t>
        <a:bodyPr/>
        <a:lstStyle/>
        <a:p>
          <a:endParaRPr lang="en-US"/>
        </a:p>
      </dgm:t>
    </dgm:pt>
    <dgm:pt modelId="{03B97AFC-7BAB-464E-9B83-B022118F87D0}">
      <dgm:prSet custT="1"/>
      <dgm:spPr/>
      <dgm:t>
        <a:bodyPr/>
        <a:lstStyle/>
        <a:p>
          <a:r>
            <a:rPr lang="en-US" sz="1200" dirty="0"/>
            <a:t>Analyze distribution of structural prompt features (length, constraints, examples)</a:t>
          </a:r>
        </a:p>
      </dgm:t>
    </dgm:pt>
    <dgm:pt modelId="{057BFF3B-869C-46F7-917D-A01230FD0B4E}" type="parTrans" cxnId="{1FDAE10B-48C1-40E9-AA2C-6B7097CF3130}">
      <dgm:prSet/>
      <dgm:spPr/>
      <dgm:t>
        <a:bodyPr/>
        <a:lstStyle/>
        <a:p>
          <a:endParaRPr lang="en-US"/>
        </a:p>
      </dgm:t>
    </dgm:pt>
    <dgm:pt modelId="{EA13396A-A056-45BD-B7F5-D3567120F9A8}" type="sibTrans" cxnId="{1FDAE10B-48C1-40E9-AA2C-6B7097CF3130}">
      <dgm:prSet/>
      <dgm:spPr/>
      <dgm:t>
        <a:bodyPr/>
        <a:lstStyle/>
        <a:p>
          <a:endParaRPr lang="en-US"/>
        </a:p>
      </dgm:t>
    </dgm:pt>
    <dgm:pt modelId="{78AD3596-C064-4560-A0CD-494868A8E44B}">
      <dgm:prSet custT="1"/>
      <dgm:spPr/>
      <dgm:t>
        <a:bodyPr/>
        <a:lstStyle/>
        <a:p>
          <a:r>
            <a:rPr lang="en-US" sz="1200" dirty="0"/>
            <a:t>Examine conversation-level metrics such as iteration depth</a:t>
          </a:r>
        </a:p>
      </dgm:t>
    </dgm:pt>
    <dgm:pt modelId="{121F155D-BEB7-4DA5-B7BE-0C9E21D765A1}" type="parTrans" cxnId="{88765864-4C2A-46FC-8703-095031687047}">
      <dgm:prSet/>
      <dgm:spPr/>
      <dgm:t>
        <a:bodyPr/>
        <a:lstStyle/>
        <a:p>
          <a:endParaRPr lang="en-US"/>
        </a:p>
      </dgm:t>
    </dgm:pt>
    <dgm:pt modelId="{253E798B-A26E-4FC3-923D-42E00ACCA940}" type="sibTrans" cxnId="{88765864-4C2A-46FC-8703-095031687047}">
      <dgm:prSet/>
      <dgm:spPr/>
      <dgm:t>
        <a:bodyPr/>
        <a:lstStyle/>
        <a:p>
          <a:endParaRPr lang="en-US"/>
        </a:p>
      </dgm:t>
    </dgm:pt>
    <dgm:pt modelId="{2186E20F-57BE-44D7-ADED-B6D2C6AE5EBB}">
      <dgm:prSet custT="1"/>
      <dgm:spPr/>
      <dgm:t>
        <a:bodyPr/>
        <a:lstStyle/>
        <a:p>
          <a:r>
            <a:rPr lang="en-US" sz="1200" dirty="0"/>
            <a:t>Identify overall behavioral patterns in developer–</a:t>
          </a:r>
          <a:r>
            <a:rPr lang="en-US" sz="1200"/>
            <a:t>LLM interactions</a:t>
          </a:r>
          <a:endParaRPr lang="en-US" sz="1200" dirty="0"/>
        </a:p>
      </dgm:t>
    </dgm:pt>
    <dgm:pt modelId="{2A09B51C-1F1A-48DA-9009-F0DC272032C2}" type="parTrans" cxnId="{926692AA-30A4-439E-9AF4-51A47585BBCC}">
      <dgm:prSet/>
      <dgm:spPr/>
      <dgm:t>
        <a:bodyPr/>
        <a:lstStyle/>
        <a:p>
          <a:endParaRPr lang="en-US"/>
        </a:p>
      </dgm:t>
    </dgm:pt>
    <dgm:pt modelId="{883C48B6-F8E9-436C-B8D8-4E61FA3625D6}" type="sibTrans" cxnId="{926692AA-30A4-439E-9AF4-51A47585BBCC}">
      <dgm:prSet/>
      <dgm:spPr/>
      <dgm:t>
        <a:bodyPr/>
        <a:lstStyle/>
        <a:p>
          <a:endParaRPr lang="en-US"/>
        </a:p>
      </dgm:t>
    </dgm:pt>
    <dgm:pt modelId="{1A4A72CA-9E3D-4989-9209-BFB4A10CD7A3}">
      <dgm:prSet custT="1"/>
      <dgm:spPr/>
      <dgm:t>
        <a:bodyPr/>
        <a:lstStyle/>
        <a:p>
          <a:r>
            <a:rPr lang="en-US" sz="1200" dirty="0"/>
            <a:t>Compute pairwise correlations between features and success labels</a:t>
          </a:r>
        </a:p>
      </dgm:t>
    </dgm:pt>
    <dgm:pt modelId="{A078D626-76E4-480B-B087-CC957BD98322}" type="parTrans" cxnId="{D3D55A41-9E3A-4D7C-A86C-9088503BC0FA}">
      <dgm:prSet/>
      <dgm:spPr/>
      <dgm:t>
        <a:bodyPr/>
        <a:lstStyle/>
        <a:p>
          <a:endParaRPr lang="en-US"/>
        </a:p>
      </dgm:t>
    </dgm:pt>
    <dgm:pt modelId="{7858765C-FA4D-4652-90B0-A9D37E85BEA2}" type="sibTrans" cxnId="{D3D55A41-9E3A-4D7C-A86C-9088503BC0FA}">
      <dgm:prSet/>
      <dgm:spPr/>
      <dgm:t>
        <a:bodyPr/>
        <a:lstStyle/>
        <a:p>
          <a:endParaRPr lang="en-US"/>
        </a:p>
      </dgm:t>
    </dgm:pt>
    <dgm:pt modelId="{F14F5C60-36D7-4E1F-8624-63E5C79CF6B8}">
      <dgm:prSet custT="1"/>
      <dgm:spPr/>
      <dgm:t>
        <a:bodyPr/>
        <a:lstStyle/>
        <a:p>
          <a:r>
            <a:rPr lang="en-US" sz="1200" dirty="0"/>
            <a:t>Identify statistically meaningful preliminary associations</a:t>
          </a:r>
        </a:p>
      </dgm:t>
    </dgm:pt>
    <dgm:pt modelId="{85ABD8D5-DD1C-493A-9668-F56EE72BE280}" type="parTrans" cxnId="{B8BA19F4-0ADA-4B46-B9AF-D4C1F8103D43}">
      <dgm:prSet/>
      <dgm:spPr/>
      <dgm:t>
        <a:bodyPr/>
        <a:lstStyle/>
        <a:p>
          <a:endParaRPr lang="en-US"/>
        </a:p>
      </dgm:t>
    </dgm:pt>
    <dgm:pt modelId="{2AF6A8A7-208B-46F7-9933-31243EC42254}" type="sibTrans" cxnId="{B8BA19F4-0ADA-4B46-B9AF-D4C1F8103D43}">
      <dgm:prSet/>
      <dgm:spPr/>
      <dgm:t>
        <a:bodyPr/>
        <a:lstStyle/>
        <a:p>
          <a:endParaRPr lang="en-US"/>
        </a:p>
      </dgm:t>
    </dgm:pt>
    <dgm:pt modelId="{DF017173-230A-4B87-B64E-0799947F078E}">
      <dgm:prSet custT="1"/>
      <dgm:spPr/>
      <dgm:t>
        <a:bodyPr/>
        <a:lstStyle/>
        <a:p>
          <a:r>
            <a:rPr lang="en-US" sz="1200" dirty="0"/>
            <a:t>Detect multicollinearity among predictors</a:t>
          </a:r>
        </a:p>
      </dgm:t>
    </dgm:pt>
    <dgm:pt modelId="{5D4B0859-10F5-47F4-AF52-5E20AD6FEB6C}" type="parTrans" cxnId="{F7C944F9-54F3-4355-8323-90953ABFFA56}">
      <dgm:prSet/>
      <dgm:spPr/>
      <dgm:t>
        <a:bodyPr/>
        <a:lstStyle/>
        <a:p>
          <a:endParaRPr lang="en-US"/>
        </a:p>
      </dgm:t>
    </dgm:pt>
    <dgm:pt modelId="{D41BEA9D-891A-4B8D-A5AF-140C2EDC1728}" type="sibTrans" cxnId="{F7C944F9-54F3-4355-8323-90953ABFFA56}">
      <dgm:prSet/>
      <dgm:spPr/>
      <dgm:t>
        <a:bodyPr/>
        <a:lstStyle/>
        <a:p>
          <a:endParaRPr lang="en-US"/>
        </a:p>
      </dgm:t>
    </dgm:pt>
    <dgm:pt modelId="{19DAC73F-D29D-4E0F-82C3-C47B3D762859}">
      <dgm:prSet custT="1"/>
      <dgm:spPr/>
      <dgm:t>
        <a:bodyPr/>
        <a:lstStyle/>
        <a:p>
          <a:r>
            <a:rPr lang="en-US" sz="2000" b="1" dirty="0"/>
            <a:t>STEP 3 — Logistic Regression Modeling</a:t>
          </a:r>
        </a:p>
      </dgm:t>
    </dgm:pt>
    <dgm:pt modelId="{87AD3352-B74C-4413-B700-E9F8DA227C30}" type="parTrans" cxnId="{41EE6A79-14B5-4B64-AC88-E72E716EEBCA}">
      <dgm:prSet/>
      <dgm:spPr/>
      <dgm:t>
        <a:bodyPr/>
        <a:lstStyle/>
        <a:p>
          <a:endParaRPr lang="en-US"/>
        </a:p>
      </dgm:t>
    </dgm:pt>
    <dgm:pt modelId="{2DE9BF39-2E04-4A6A-A826-51289864C25F}" type="sibTrans" cxnId="{41EE6A79-14B5-4B64-AC88-E72E716EEBCA}">
      <dgm:prSet/>
      <dgm:spPr/>
      <dgm:t>
        <a:bodyPr/>
        <a:lstStyle/>
        <a:p>
          <a:endParaRPr lang="en-US"/>
        </a:p>
      </dgm:t>
    </dgm:pt>
    <dgm:pt modelId="{DD396638-33CC-40D8-8B5F-A2ECBCD7F6A1}">
      <dgm:prSet custT="1"/>
      <dgm:spPr/>
      <dgm:t>
        <a:bodyPr/>
        <a:lstStyle/>
        <a:p>
          <a:r>
            <a:rPr lang="en-US" sz="1200" dirty="0"/>
            <a:t>Model probability of conversation success</a:t>
          </a:r>
        </a:p>
      </dgm:t>
    </dgm:pt>
    <dgm:pt modelId="{204EA990-FEB4-4C10-890D-1F5B29037B51}" type="parTrans" cxnId="{2FB8F1DF-4CE4-4964-A583-39494BF4844E}">
      <dgm:prSet/>
      <dgm:spPr/>
      <dgm:t>
        <a:bodyPr/>
        <a:lstStyle/>
        <a:p>
          <a:endParaRPr lang="en-US"/>
        </a:p>
      </dgm:t>
    </dgm:pt>
    <dgm:pt modelId="{B7DD74F7-51C6-4ABF-8113-3F02433A3256}" type="sibTrans" cxnId="{2FB8F1DF-4CE4-4964-A583-39494BF4844E}">
      <dgm:prSet/>
      <dgm:spPr/>
      <dgm:t>
        <a:bodyPr/>
        <a:lstStyle/>
        <a:p>
          <a:endParaRPr lang="en-US"/>
        </a:p>
      </dgm:t>
    </dgm:pt>
    <dgm:pt modelId="{14AAA416-54BA-4DF8-8A4A-90D746DED7A0}">
      <dgm:prSet custT="1"/>
      <dgm:spPr/>
      <dgm:t>
        <a:bodyPr/>
        <a:lstStyle/>
        <a:p>
          <a:r>
            <a:rPr lang="en-US" sz="1200" dirty="0"/>
            <a:t>Estimate effect sizes of structural and behavioral features</a:t>
          </a:r>
        </a:p>
      </dgm:t>
    </dgm:pt>
    <dgm:pt modelId="{76081245-1D12-4582-A696-055859F376B5}" type="parTrans" cxnId="{6DE63BF8-6C3A-4687-8063-2E6A2C1965DF}">
      <dgm:prSet/>
      <dgm:spPr/>
      <dgm:t>
        <a:bodyPr/>
        <a:lstStyle/>
        <a:p>
          <a:endParaRPr lang="en-US"/>
        </a:p>
      </dgm:t>
    </dgm:pt>
    <dgm:pt modelId="{2FB318FB-444A-400C-BD91-C17555F737F1}" type="sibTrans" cxnId="{6DE63BF8-6C3A-4687-8063-2E6A2C1965DF}">
      <dgm:prSet/>
      <dgm:spPr/>
      <dgm:t>
        <a:bodyPr/>
        <a:lstStyle/>
        <a:p>
          <a:endParaRPr lang="en-US"/>
        </a:p>
      </dgm:t>
    </dgm:pt>
    <dgm:pt modelId="{483CB301-A13A-4B4C-89E7-320F555CF657}">
      <dgm:prSet custT="1"/>
      <dgm:spPr/>
      <dgm:t>
        <a:bodyPr/>
        <a:lstStyle/>
        <a:p>
          <a:r>
            <a:rPr lang="en-US" sz="1200" dirty="0"/>
            <a:t>Control for metadata variables (language, context, source)</a:t>
          </a:r>
        </a:p>
      </dgm:t>
    </dgm:pt>
    <dgm:pt modelId="{7FD30CDA-3322-40E6-BC91-59F236DB9CFE}" type="parTrans" cxnId="{B30EF7D3-E878-417F-BF17-CC91A7C116C1}">
      <dgm:prSet/>
      <dgm:spPr/>
      <dgm:t>
        <a:bodyPr/>
        <a:lstStyle/>
        <a:p>
          <a:endParaRPr lang="en-US"/>
        </a:p>
      </dgm:t>
    </dgm:pt>
    <dgm:pt modelId="{3B18E921-FCBC-4EAD-A2DC-09C385774A87}" type="sibTrans" cxnId="{B30EF7D3-E878-417F-BF17-CC91A7C116C1}">
      <dgm:prSet/>
      <dgm:spPr/>
      <dgm:t>
        <a:bodyPr/>
        <a:lstStyle/>
        <a:p>
          <a:endParaRPr lang="en-US"/>
        </a:p>
      </dgm:t>
    </dgm:pt>
    <dgm:pt modelId="{5F321FE5-4286-42CB-968C-3E92F8A2C947}">
      <dgm:prSet custT="1"/>
      <dgm:spPr/>
      <dgm:t>
        <a:bodyPr/>
        <a:lstStyle/>
        <a:p>
          <a:r>
            <a:rPr lang="en-US" sz="2000" b="1" dirty="0"/>
            <a:t>STEP 4 — Robustness &amp; Validation</a:t>
          </a:r>
        </a:p>
      </dgm:t>
    </dgm:pt>
    <dgm:pt modelId="{2EA4305C-7164-4130-BA77-5EE4A0E45EF1}" type="parTrans" cxnId="{BBD24476-2A47-4F47-B62F-B478A82FA9A9}">
      <dgm:prSet/>
      <dgm:spPr/>
      <dgm:t>
        <a:bodyPr/>
        <a:lstStyle/>
        <a:p>
          <a:endParaRPr lang="en-US"/>
        </a:p>
      </dgm:t>
    </dgm:pt>
    <dgm:pt modelId="{F06C1A8B-F529-4EC3-A486-C1F5C3EF4190}" type="sibTrans" cxnId="{BBD24476-2A47-4F47-B62F-B478A82FA9A9}">
      <dgm:prSet/>
      <dgm:spPr/>
      <dgm:t>
        <a:bodyPr/>
        <a:lstStyle/>
        <a:p>
          <a:endParaRPr lang="en-US"/>
        </a:p>
      </dgm:t>
    </dgm:pt>
    <dgm:pt modelId="{9D23F60D-D0C3-4AFD-AA3D-43C7AB7517B9}">
      <dgm:prSet custT="1"/>
      <dgm:spPr/>
      <dgm:t>
        <a:bodyPr/>
        <a:lstStyle/>
        <a:p>
          <a:r>
            <a:rPr lang="en-US" sz="1200" dirty="0"/>
            <a:t>Test alternative success definitions</a:t>
          </a:r>
        </a:p>
      </dgm:t>
    </dgm:pt>
    <dgm:pt modelId="{E68B7218-F46B-433C-952F-9A8412C8B6E8}" type="parTrans" cxnId="{C59A9F7B-4890-4BF0-A03D-85907E152381}">
      <dgm:prSet/>
      <dgm:spPr/>
      <dgm:t>
        <a:bodyPr/>
        <a:lstStyle/>
        <a:p>
          <a:endParaRPr lang="en-US"/>
        </a:p>
      </dgm:t>
    </dgm:pt>
    <dgm:pt modelId="{12898024-06DC-46B2-BD2F-491A9C15CE0F}" type="sibTrans" cxnId="{C59A9F7B-4890-4BF0-A03D-85907E152381}">
      <dgm:prSet/>
      <dgm:spPr/>
      <dgm:t>
        <a:bodyPr/>
        <a:lstStyle/>
        <a:p>
          <a:endParaRPr lang="en-US"/>
        </a:p>
      </dgm:t>
    </dgm:pt>
    <dgm:pt modelId="{500C2F10-701C-4219-B825-86324624826A}">
      <dgm:prSet custT="1"/>
      <dgm:spPr/>
      <dgm:t>
        <a:bodyPr/>
        <a:lstStyle/>
        <a:p>
          <a:r>
            <a:rPr lang="en-US" sz="1200" dirty="0"/>
            <a:t>Perform subgroup analysis by programming language/context</a:t>
          </a:r>
        </a:p>
      </dgm:t>
    </dgm:pt>
    <dgm:pt modelId="{5D9BFAE1-5CE2-49AD-955D-3F919A0C99EB}" type="parTrans" cxnId="{3EE6A9AE-8B8C-437D-8949-C6223B2C0538}">
      <dgm:prSet/>
      <dgm:spPr/>
      <dgm:t>
        <a:bodyPr/>
        <a:lstStyle/>
        <a:p>
          <a:endParaRPr lang="en-US"/>
        </a:p>
      </dgm:t>
    </dgm:pt>
    <dgm:pt modelId="{81E4424E-CD0D-44AC-91DF-D734D30FBDEB}" type="sibTrans" cxnId="{3EE6A9AE-8B8C-437D-8949-C6223B2C0538}">
      <dgm:prSet/>
      <dgm:spPr/>
      <dgm:t>
        <a:bodyPr/>
        <a:lstStyle/>
        <a:p>
          <a:endParaRPr lang="en-US"/>
        </a:p>
      </dgm:t>
    </dgm:pt>
    <dgm:pt modelId="{6C859784-52AD-4FDF-B8D3-A15A7A311985}">
      <dgm:prSet custT="1"/>
      <dgm:spPr/>
      <dgm:t>
        <a:bodyPr/>
        <a:lstStyle/>
        <a:p>
          <a:r>
            <a:rPr lang="en-US" sz="1200" dirty="0"/>
            <a:t>Validate consistency and stability of results</a:t>
          </a:r>
        </a:p>
      </dgm:t>
    </dgm:pt>
    <dgm:pt modelId="{B669CA9C-D524-41C8-8CA7-C0FC795179A2}" type="parTrans" cxnId="{5DAF811A-BA4F-4074-989C-47AFAF50A52A}">
      <dgm:prSet/>
      <dgm:spPr/>
      <dgm:t>
        <a:bodyPr/>
        <a:lstStyle/>
        <a:p>
          <a:endParaRPr lang="en-US"/>
        </a:p>
      </dgm:t>
    </dgm:pt>
    <dgm:pt modelId="{41275DA3-66EE-470E-878F-C6747CA080F2}" type="sibTrans" cxnId="{5DAF811A-BA4F-4074-989C-47AFAF50A52A}">
      <dgm:prSet/>
      <dgm:spPr/>
      <dgm:t>
        <a:bodyPr/>
        <a:lstStyle/>
        <a:p>
          <a:endParaRPr lang="en-US"/>
        </a:p>
      </dgm:t>
    </dgm:pt>
    <dgm:pt modelId="{BA3181E8-5503-4191-BC43-4FD542D00E81}">
      <dgm:prSet custT="1"/>
      <dgm:spPr/>
      <dgm:t>
        <a:bodyPr/>
        <a:lstStyle/>
        <a:p>
          <a:r>
            <a:rPr lang="en-US" sz="2000" b="1" dirty="0"/>
            <a:t>STEP 2 — Correlation Analysis</a:t>
          </a:r>
        </a:p>
      </dgm:t>
    </dgm:pt>
    <dgm:pt modelId="{5C84D99D-CA6B-4E27-B38C-89295C26EA90}" type="parTrans" cxnId="{AB3C9D02-69D2-46AC-A4D6-61938080AC3A}">
      <dgm:prSet/>
      <dgm:spPr/>
      <dgm:t>
        <a:bodyPr/>
        <a:lstStyle/>
        <a:p>
          <a:endParaRPr lang="en-US"/>
        </a:p>
      </dgm:t>
    </dgm:pt>
    <dgm:pt modelId="{FAB809DC-521B-468C-B329-1FAC5FB8F068}" type="sibTrans" cxnId="{AB3C9D02-69D2-46AC-A4D6-61938080AC3A}">
      <dgm:prSet/>
      <dgm:spPr/>
      <dgm:t>
        <a:bodyPr/>
        <a:lstStyle/>
        <a:p>
          <a:endParaRPr lang="en-US"/>
        </a:p>
      </dgm:t>
    </dgm:pt>
    <dgm:pt modelId="{1EA4999C-1CDD-4789-BC0E-FC98728304BC}" type="pres">
      <dgm:prSet presAssocID="{A2DFDC79-C69B-40F9-96F6-37387BC3CA25}" presName="Name0" presStyleCnt="0">
        <dgm:presLayoutVars>
          <dgm:dir/>
          <dgm:animLvl val="lvl"/>
          <dgm:resizeHandles val="exact"/>
        </dgm:presLayoutVars>
      </dgm:prSet>
      <dgm:spPr/>
    </dgm:pt>
    <dgm:pt modelId="{7D67053F-EEAD-49C2-A1B1-6B7A5922A554}" type="pres">
      <dgm:prSet presAssocID="{2DE12F26-8B74-4660-B210-A6035FEC340C}" presName="linNode" presStyleCnt="0"/>
      <dgm:spPr/>
    </dgm:pt>
    <dgm:pt modelId="{1B6819B5-DCFA-481F-988C-4E4B7A85C4C2}" type="pres">
      <dgm:prSet presAssocID="{2DE12F26-8B74-4660-B210-A6035FEC340C}" presName="parentText" presStyleLbl="node1" presStyleIdx="0" presStyleCnt="16" custLinFactNeighborX="-78227" custLinFactNeighborY="59507">
        <dgm:presLayoutVars>
          <dgm:chMax val="1"/>
          <dgm:bulletEnabled val="1"/>
        </dgm:presLayoutVars>
      </dgm:prSet>
      <dgm:spPr/>
    </dgm:pt>
    <dgm:pt modelId="{C91F4E63-21E0-4082-B482-88FE262B7B6A}" type="pres">
      <dgm:prSet presAssocID="{00DDDCA2-BFA2-4088-9792-456907254BEA}" presName="sp" presStyleCnt="0"/>
      <dgm:spPr/>
    </dgm:pt>
    <dgm:pt modelId="{C298BE6B-7333-448E-95E9-F90D0E0187DB}" type="pres">
      <dgm:prSet presAssocID="{03B97AFC-7BAB-464E-9B83-B022118F87D0}" presName="linNode" presStyleCnt="0"/>
      <dgm:spPr/>
    </dgm:pt>
    <dgm:pt modelId="{D29A62D9-C1CD-4F87-B012-7114BF1DEAB4}" type="pres">
      <dgm:prSet presAssocID="{03B97AFC-7BAB-464E-9B83-B022118F87D0}" presName="parentText" presStyleLbl="node1" presStyleIdx="1" presStyleCnt="16" custLinFactNeighborX="-78227" custLinFactNeighborY="88140">
        <dgm:presLayoutVars>
          <dgm:chMax val="1"/>
          <dgm:bulletEnabled val="1"/>
        </dgm:presLayoutVars>
      </dgm:prSet>
      <dgm:spPr/>
    </dgm:pt>
    <dgm:pt modelId="{96F8DFCA-38CF-47F5-B70E-B09CE9F0716A}" type="pres">
      <dgm:prSet presAssocID="{EA13396A-A056-45BD-B7F5-D3567120F9A8}" presName="sp" presStyleCnt="0"/>
      <dgm:spPr/>
    </dgm:pt>
    <dgm:pt modelId="{DC120183-21BC-40F0-B521-B6381BD97E37}" type="pres">
      <dgm:prSet presAssocID="{78AD3596-C064-4560-A0CD-494868A8E44B}" presName="linNode" presStyleCnt="0"/>
      <dgm:spPr/>
    </dgm:pt>
    <dgm:pt modelId="{BF0CB5AF-22EE-4E1F-AC55-C0695FE43CB9}" type="pres">
      <dgm:prSet presAssocID="{78AD3596-C064-4560-A0CD-494868A8E44B}" presName="parentText" presStyleLbl="node1" presStyleIdx="2" presStyleCnt="16" custLinFactNeighborX="-78227" custLinFactNeighborY="79526">
        <dgm:presLayoutVars>
          <dgm:chMax val="1"/>
          <dgm:bulletEnabled val="1"/>
        </dgm:presLayoutVars>
      </dgm:prSet>
      <dgm:spPr/>
    </dgm:pt>
    <dgm:pt modelId="{D2447453-AB20-4579-A673-04F9BC034A3D}" type="pres">
      <dgm:prSet presAssocID="{253E798B-A26E-4FC3-923D-42E00ACCA940}" presName="sp" presStyleCnt="0"/>
      <dgm:spPr/>
    </dgm:pt>
    <dgm:pt modelId="{BC6B8D64-4862-4C7E-96AD-0CE54B0E5195}" type="pres">
      <dgm:prSet presAssocID="{2186E20F-57BE-44D7-ADED-B6D2C6AE5EBB}" presName="linNode" presStyleCnt="0"/>
      <dgm:spPr/>
    </dgm:pt>
    <dgm:pt modelId="{41D24B9F-98AF-4A30-ABBB-241B7C2176E1}" type="pres">
      <dgm:prSet presAssocID="{2186E20F-57BE-44D7-ADED-B6D2C6AE5EBB}" presName="parentText" presStyleLbl="node1" presStyleIdx="3" presStyleCnt="16" custLinFactNeighborX="-78227" custLinFactNeighborY="70913">
        <dgm:presLayoutVars>
          <dgm:chMax val="1"/>
          <dgm:bulletEnabled val="1"/>
        </dgm:presLayoutVars>
      </dgm:prSet>
      <dgm:spPr/>
    </dgm:pt>
    <dgm:pt modelId="{97A2016D-8C8A-4630-B731-69BBA2629FCF}" type="pres">
      <dgm:prSet presAssocID="{883C48B6-F8E9-436C-B8D8-4E61FA3625D6}" presName="sp" presStyleCnt="0"/>
      <dgm:spPr/>
    </dgm:pt>
    <dgm:pt modelId="{3F173D34-A9BC-4839-95DA-C9F34C7E0BBD}" type="pres">
      <dgm:prSet presAssocID="{BA3181E8-5503-4191-BC43-4FD542D00E81}" presName="linNode" presStyleCnt="0"/>
      <dgm:spPr/>
    </dgm:pt>
    <dgm:pt modelId="{3E83A2C6-8361-47D3-9DA7-F2F1B8CED997}" type="pres">
      <dgm:prSet presAssocID="{BA3181E8-5503-4191-BC43-4FD542D00E81}" presName="parentText" presStyleLbl="node1" presStyleIdx="4" presStyleCnt="16" custLinFactY="-165313" custLinFactNeighborX="72614" custLinFactNeighborY="-200000">
        <dgm:presLayoutVars>
          <dgm:chMax val="1"/>
          <dgm:bulletEnabled val="1"/>
        </dgm:presLayoutVars>
      </dgm:prSet>
      <dgm:spPr/>
    </dgm:pt>
    <dgm:pt modelId="{9EE959F5-AFE9-4043-9020-0F6523BE6CE2}" type="pres">
      <dgm:prSet presAssocID="{FAB809DC-521B-468C-B329-1FAC5FB8F068}" presName="sp" presStyleCnt="0"/>
      <dgm:spPr/>
    </dgm:pt>
    <dgm:pt modelId="{0C05646E-B98C-4880-AE21-DAD2E5E73E26}" type="pres">
      <dgm:prSet presAssocID="{1A4A72CA-9E3D-4989-9209-BFB4A10CD7A3}" presName="linNode" presStyleCnt="0"/>
      <dgm:spPr/>
    </dgm:pt>
    <dgm:pt modelId="{FFCEB148-0419-4718-9189-06A4F4D7D472}" type="pres">
      <dgm:prSet presAssocID="{1A4A72CA-9E3D-4989-9209-BFB4A10CD7A3}" presName="parentText" presStyleLbl="node1" presStyleIdx="5" presStyleCnt="16" custLinFactY="-147925" custLinFactNeighborX="72614" custLinFactNeighborY="-200000">
        <dgm:presLayoutVars>
          <dgm:chMax val="1"/>
          <dgm:bulletEnabled val="1"/>
        </dgm:presLayoutVars>
      </dgm:prSet>
      <dgm:spPr/>
    </dgm:pt>
    <dgm:pt modelId="{2DC7424C-ED80-43E3-A379-EEB1DF728189}" type="pres">
      <dgm:prSet presAssocID="{7858765C-FA4D-4652-90B0-A9D37E85BEA2}" presName="sp" presStyleCnt="0"/>
      <dgm:spPr/>
    </dgm:pt>
    <dgm:pt modelId="{A14EA4C9-7419-4817-B1AF-BC49F326B3D4}" type="pres">
      <dgm:prSet presAssocID="{F14F5C60-36D7-4E1F-8624-63E5C79CF6B8}" presName="linNode" presStyleCnt="0"/>
      <dgm:spPr/>
    </dgm:pt>
    <dgm:pt modelId="{215AB43C-85C8-4695-B63A-E2524A383C59}" type="pres">
      <dgm:prSet presAssocID="{F14F5C60-36D7-4E1F-8624-63E5C79CF6B8}" presName="parentText" presStyleLbl="node1" presStyleIdx="6" presStyleCnt="16" custLinFactY="-156538" custLinFactNeighborX="72614" custLinFactNeighborY="-200000">
        <dgm:presLayoutVars>
          <dgm:chMax val="1"/>
          <dgm:bulletEnabled val="1"/>
        </dgm:presLayoutVars>
      </dgm:prSet>
      <dgm:spPr/>
    </dgm:pt>
    <dgm:pt modelId="{BE383BE5-321B-4B36-8D67-AEF5BC67AA67}" type="pres">
      <dgm:prSet presAssocID="{2AF6A8A7-208B-46F7-9933-31243EC42254}" presName="sp" presStyleCnt="0"/>
      <dgm:spPr/>
    </dgm:pt>
    <dgm:pt modelId="{59520444-2AB3-464E-A462-8249647C806D}" type="pres">
      <dgm:prSet presAssocID="{DF017173-230A-4B87-B64E-0799947F078E}" presName="linNode" presStyleCnt="0"/>
      <dgm:spPr/>
    </dgm:pt>
    <dgm:pt modelId="{4079D36F-0909-4536-A444-07DA94D3D60E}" type="pres">
      <dgm:prSet presAssocID="{DF017173-230A-4B87-B64E-0799947F078E}" presName="parentText" presStyleLbl="node1" presStyleIdx="7" presStyleCnt="16" custLinFactY="-165152" custLinFactNeighborX="72614" custLinFactNeighborY="-200000">
        <dgm:presLayoutVars>
          <dgm:chMax val="1"/>
          <dgm:bulletEnabled val="1"/>
        </dgm:presLayoutVars>
      </dgm:prSet>
      <dgm:spPr/>
    </dgm:pt>
    <dgm:pt modelId="{DB42B42B-82AD-4789-A401-1581B880D272}" type="pres">
      <dgm:prSet presAssocID="{D41BEA9D-891A-4B8D-A5AF-140C2EDC1728}" presName="sp" presStyleCnt="0"/>
      <dgm:spPr/>
    </dgm:pt>
    <dgm:pt modelId="{3E4C1ADD-DAF0-4EC6-9FAA-20A24D9F041D}" type="pres">
      <dgm:prSet presAssocID="{19DAC73F-D29D-4E0F-82C3-C47B3D762859}" presName="linNode" presStyleCnt="0"/>
      <dgm:spPr/>
    </dgm:pt>
    <dgm:pt modelId="{D9DD44BB-5FD7-4B83-99A7-3CAA5AAEC81C}" type="pres">
      <dgm:prSet presAssocID="{19DAC73F-D29D-4E0F-82C3-C47B3D762859}" presName="parentText" presStyleLbl="node1" presStyleIdx="8" presStyleCnt="16" custLinFactNeighborX="72614" custLinFactNeighborY="-52476">
        <dgm:presLayoutVars>
          <dgm:chMax val="1"/>
          <dgm:bulletEnabled val="1"/>
        </dgm:presLayoutVars>
      </dgm:prSet>
      <dgm:spPr/>
    </dgm:pt>
    <dgm:pt modelId="{D66EDCF2-0A2E-4E95-87BE-B7E11F3349DF}" type="pres">
      <dgm:prSet presAssocID="{2DE9BF39-2E04-4A6A-A826-51289864C25F}" presName="sp" presStyleCnt="0"/>
      <dgm:spPr/>
    </dgm:pt>
    <dgm:pt modelId="{8C4E59E5-D725-4A9D-9154-6AAD5817E7BA}" type="pres">
      <dgm:prSet presAssocID="{DD396638-33CC-40D8-8B5F-A2ECBCD7F6A1}" presName="linNode" presStyleCnt="0"/>
      <dgm:spPr/>
    </dgm:pt>
    <dgm:pt modelId="{5E38B613-BFE0-46E0-B717-0BB50A743691}" type="pres">
      <dgm:prSet presAssocID="{DD396638-33CC-40D8-8B5F-A2ECBCD7F6A1}" presName="parentText" presStyleLbl="node1" presStyleIdx="9" presStyleCnt="16" custLinFactNeighborX="72614" custLinFactNeighborY="-28961">
        <dgm:presLayoutVars>
          <dgm:chMax val="1"/>
          <dgm:bulletEnabled val="1"/>
        </dgm:presLayoutVars>
      </dgm:prSet>
      <dgm:spPr/>
    </dgm:pt>
    <dgm:pt modelId="{6D5FF6F9-6E94-4C9C-BDD4-3A4218204888}" type="pres">
      <dgm:prSet presAssocID="{B7DD74F7-51C6-4ABF-8113-3F02433A3256}" presName="sp" presStyleCnt="0"/>
      <dgm:spPr/>
    </dgm:pt>
    <dgm:pt modelId="{2CFF280D-47A6-4A21-9BB3-9D6494DF875B}" type="pres">
      <dgm:prSet presAssocID="{14AAA416-54BA-4DF8-8A4A-90D746DED7A0}" presName="linNode" presStyleCnt="0"/>
      <dgm:spPr/>
    </dgm:pt>
    <dgm:pt modelId="{1282EC3E-9C20-4320-8D6E-98A7F8A787B6}" type="pres">
      <dgm:prSet presAssocID="{14AAA416-54BA-4DF8-8A4A-90D746DED7A0}" presName="parentText" presStyleLbl="node1" presStyleIdx="10" presStyleCnt="16" custLinFactNeighborX="72614" custLinFactNeighborY="-37574">
        <dgm:presLayoutVars>
          <dgm:chMax val="1"/>
          <dgm:bulletEnabled val="1"/>
        </dgm:presLayoutVars>
      </dgm:prSet>
      <dgm:spPr/>
    </dgm:pt>
    <dgm:pt modelId="{3A38D031-AC89-4E85-8BFB-1A10E97768EA}" type="pres">
      <dgm:prSet presAssocID="{2FB318FB-444A-400C-BD91-C17555F737F1}" presName="sp" presStyleCnt="0"/>
      <dgm:spPr/>
    </dgm:pt>
    <dgm:pt modelId="{C68F0970-85DF-4981-B723-A4C7470C3B05}" type="pres">
      <dgm:prSet presAssocID="{483CB301-A13A-4B4C-89E7-320F555CF657}" presName="linNode" presStyleCnt="0"/>
      <dgm:spPr/>
    </dgm:pt>
    <dgm:pt modelId="{1CCFEB6F-04C7-44DD-8092-A626251CFF5E}" type="pres">
      <dgm:prSet presAssocID="{483CB301-A13A-4B4C-89E7-320F555CF657}" presName="parentText" presStyleLbl="node1" presStyleIdx="11" presStyleCnt="16" custLinFactNeighborX="72614" custLinFactNeighborY="-46187">
        <dgm:presLayoutVars>
          <dgm:chMax val="1"/>
          <dgm:bulletEnabled val="1"/>
        </dgm:presLayoutVars>
      </dgm:prSet>
      <dgm:spPr/>
    </dgm:pt>
    <dgm:pt modelId="{E1E16295-5D61-48CF-8F93-A341F9497BEF}" type="pres">
      <dgm:prSet presAssocID="{3B18E921-FCBC-4EAD-A2DC-09C385774A87}" presName="sp" presStyleCnt="0"/>
      <dgm:spPr/>
    </dgm:pt>
    <dgm:pt modelId="{1FF012EB-FE06-4153-AD45-8D10B1C62304}" type="pres">
      <dgm:prSet presAssocID="{5F321FE5-4286-42CB-968C-3E92F8A2C947}" presName="linNode" presStyleCnt="0"/>
      <dgm:spPr/>
    </dgm:pt>
    <dgm:pt modelId="{B728638F-A40A-461F-B7F9-0E535E770A2F}" type="pres">
      <dgm:prSet presAssocID="{5F321FE5-4286-42CB-968C-3E92F8A2C947}" presName="parentText" presStyleLbl="node1" presStyleIdx="12" presStyleCnt="16" custLinFactY="-200000" custLinFactNeighborX="-76656" custLinFactNeighborY="-272476">
        <dgm:presLayoutVars>
          <dgm:chMax val="1"/>
          <dgm:bulletEnabled val="1"/>
        </dgm:presLayoutVars>
      </dgm:prSet>
      <dgm:spPr/>
    </dgm:pt>
    <dgm:pt modelId="{8CE6BCA4-59FC-41E7-9F01-3F80D6FC91AE}" type="pres">
      <dgm:prSet presAssocID="{F06C1A8B-F529-4EC3-A486-C1F5C3EF4190}" presName="sp" presStyleCnt="0"/>
      <dgm:spPr/>
    </dgm:pt>
    <dgm:pt modelId="{A0C72585-3CD8-4A80-AEFF-BE51B9547B7C}" type="pres">
      <dgm:prSet presAssocID="{9D23F60D-D0C3-4AFD-AA3D-43C7AB7517B9}" presName="linNode" presStyleCnt="0"/>
      <dgm:spPr/>
    </dgm:pt>
    <dgm:pt modelId="{855DA6A9-7970-4337-A1E8-49247F8C1B81}" type="pres">
      <dgm:prSet presAssocID="{9D23F60D-D0C3-4AFD-AA3D-43C7AB7517B9}" presName="parentText" presStyleLbl="node1" presStyleIdx="13" presStyleCnt="16" custLinFactY="-200000" custLinFactNeighborX="-76656" custLinFactNeighborY="-246434">
        <dgm:presLayoutVars>
          <dgm:chMax val="1"/>
          <dgm:bulletEnabled val="1"/>
        </dgm:presLayoutVars>
      </dgm:prSet>
      <dgm:spPr/>
    </dgm:pt>
    <dgm:pt modelId="{76BF794C-6D5F-4A91-BB53-CED15EF4EF2F}" type="pres">
      <dgm:prSet presAssocID="{12898024-06DC-46B2-BD2F-491A9C15CE0F}" presName="sp" presStyleCnt="0"/>
      <dgm:spPr/>
    </dgm:pt>
    <dgm:pt modelId="{1C465062-D22A-494A-BCA1-97C213751E72}" type="pres">
      <dgm:prSet presAssocID="{500C2F10-701C-4219-B825-86324624826A}" presName="linNode" presStyleCnt="0"/>
      <dgm:spPr/>
    </dgm:pt>
    <dgm:pt modelId="{E27A9335-6A24-48BB-86D4-90D9418C3BDC}" type="pres">
      <dgm:prSet presAssocID="{500C2F10-701C-4219-B825-86324624826A}" presName="parentText" presStyleLbl="node1" presStyleIdx="14" presStyleCnt="16" custLinFactY="-200000" custLinFactNeighborX="-76656" custLinFactNeighborY="-257574">
        <dgm:presLayoutVars>
          <dgm:chMax val="1"/>
          <dgm:bulletEnabled val="1"/>
        </dgm:presLayoutVars>
      </dgm:prSet>
      <dgm:spPr/>
    </dgm:pt>
    <dgm:pt modelId="{69F47E1A-8A68-4039-A033-B79C034ADF24}" type="pres">
      <dgm:prSet presAssocID="{81E4424E-CD0D-44AC-91DF-D734D30FBDEB}" presName="sp" presStyleCnt="0"/>
      <dgm:spPr/>
    </dgm:pt>
    <dgm:pt modelId="{CAB4E0A0-A084-4F9E-9DFD-9BEF3042EA55}" type="pres">
      <dgm:prSet presAssocID="{6C859784-52AD-4FDF-B8D3-A15A7A311985}" presName="linNode" presStyleCnt="0"/>
      <dgm:spPr/>
    </dgm:pt>
    <dgm:pt modelId="{FF637D72-09B1-4B83-B119-5E5BF7A28160}" type="pres">
      <dgm:prSet presAssocID="{6C859784-52AD-4FDF-B8D3-A15A7A311985}" presName="parentText" presStyleLbl="node1" presStyleIdx="15" presStyleCnt="16" custLinFactY="-200000" custLinFactNeighborX="-76656" custLinFactNeighborY="-266188">
        <dgm:presLayoutVars>
          <dgm:chMax val="1"/>
          <dgm:bulletEnabled val="1"/>
        </dgm:presLayoutVars>
      </dgm:prSet>
      <dgm:spPr/>
    </dgm:pt>
  </dgm:ptLst>
  <dgm:cxnLst>
    <dgm:cxn modelId="{AB3C9D02-69D2-46AC-A4D6-61938080AC3A}" srcId="{A2DFDC79-C69B-40F9-96F6-37387BC3CA25}" destId="{BA3181E8-5503-4191-BC43-4FD542D00E81}" srcOrd="4" destOrd="0" parTransId="{5C84D99D-CA6B-4E27-B38C-89295C26EA90}" sibTransId="{FAB809DC-521B-468C-B329-1FAC5FB8F068}"/>
    <dgm:cxn modelId="{1FDAE10B-48C1-40E9-AA2C-6B7097CF3130}" srcId="{A2DFDC79-C69B-40F9-96F6-37387BC3CA25}" destId="{03B97AFC-7BAB-464E-9B83-B022118F87D0}" srcOrd="1" destOrd="0" parTransId="{057BFF3B-869C-46F7-917D-A01230FD0B4E}" sibTransId="{EA13396A-A056-45BD-B7F5-D3567120F9A8}"/>
    <dgm:cxn modelId="{1E4E010F-4D92-4DE1-900C-932B9033362D}" type="presOf" srcId="{F14F5C60-36D7-4E1F-8624-63E5C79CF6B8}" destId="{215AB43C-85C8-4695-B63A-E2524A383C59}" srcOrd="0" destOrd="0" presId="urn:microsoft.com/office/officeart/2005/8/layout/vList5"/>
    <dgm:cxn modelId="{5DAF811A-BA4F-4074-989C-47AFAF50A52A}" srcId="{A2DFDC79-C69B-40F9-96F6-37387BC3CA25}" destId="{6C859784-52AD-4FDF-B8D3-A15A7A311985}" srcOrd="15" destOrd="0" parTransId="{B669CA9C-D524-41C8-8CA7-C0FC795179A2}" sibTransId="{41275DA3-66EE-470E-878F-C6747CA080F2}"/>
    <dgm:cxn modelId="{77825D3A-9165-48BA-9924-C05C70233BAC}" type="presOf" srcId="{DD396638-33CC-40D8-8B5F-A2ECBCD7F6A1}" destId="{5E38B613-BFE0-46E0-B717-0BB50A743691}" srcOrd="0" destOrd="0" presId="urn:microsoft.com/office/officeart/2005/8/layout/vList5"/>
    <dgm:cxn modelId="{9910705F-CBFE-4538-88B2-46C52F755832}" type="presOf" srcId="{5F321FE5-4286-42CB-968C-3E92F8A2C947}" destId="{B728638F-A40A-461F-B7F9-0E535E770A2F}" srcOrd="0" destOrd="0" presId="urn:microsoft.com/office/officeart/2005/8/layout/vList5"/>
    <dgm:cxn modelId="{0FFA1961-0DF0-4035-B5F0-DF06CB064DAE}" type="presOf" srcId="{9D23F60D-D0C3-4AFD-AA3D-43C7AB7517B9}" destId="{855DA6A9-7970-4337-A1E8-49247F8C1B81}" srcOrd="0" destOrd="0" presId="urn:microsoft.com/office/officeart/2005/8/layout/vList5"/>
    <dgm:cxn modelId="{D3D55A41-9E3A-4D7C-A86C-9088503BC0FA}" srcId="{A2DFDC79-C69B-40F9-96F6-37387BC3CA25}" destId="{1A4A72CA-9E3D-4989-9209-BFB4A10CD7A3}" srcOrd="5" destOrd="0" parTransId="{A078D626-76E4-480B-B087-CC957BD98322}" sibTransId="{7858765C-FA4D-4652-90B0-A9D37E85BEA2}"/>
    <dgm:cxn modelId="{C9AA2F63-1D4D-455F-8232-7222095F5821}" type="presOf" srcId="{1A4A72CA-9E3D-4989-9209-BFB4A10CD7A3}" destId="{FFCEB148-0419-4718-9189-06A4F4D7D472}" srcOrd="0" destOrd="0" presId="urn:microsoft.com/office/officeart/2005/8/layout/vList5"/>
    <dgm:cxn modelId="{0A07B263-07C1-4D7C-A2DA-96B50B1B0485}" type="presOf" srcId="{19DAC73F-D29D-4E0F-82C3-C47B3D762859}" destId="{D9DD44BB-5FD7-4B83-99A7-3CAA5AAEC81C}" srcOrd="0" destOrd="0" presId="urn:microsoft.com/office/officeart/2005/8/layout/vList5"/>
    <dgm:cxn modelId="{88765864-4C2A-46FC-8703-095031687047}" srcId="{A2DFDC79-C69B-40F9-96F6-37387BC3CA25}" destId="{78AD3596-C064-4560-A0CD-494868A8E44B}" srcOrd="2" destOrd="0" parTransId="{121F155D-BEB7-4DA5-B7BE-0C9E21D765A1}" sibTransId="{253E798B-A26E-4FC3-923D-42E00ACCA940}"/>
    <dgm:cxn modelId="{E7552F46-1B50-4A27-AEA0-3C95C613CC93}" type="presOf" srcId="{A2DFDC79-C69B-40F9-96F6-37387BC3CA25}" destId="{1EA4999C-1CDD-4789-BC0E-FC98728304BC}" srcOrd="0" destOrd="0" presId="urn:microsoft.com/office/officeart/2005/8/layout/vList5"/>
    <dgm:cxn modelId="{BBD24476-2A47-4F47-B62F-B478A82FA9A9}" srcId="{A2DFDC79-C69B-40F9-96F6-37387BC3CA25}" destId="{5F321FE5-4286-42CB-968C-3E92F8A2C947}" srcOrd="12" destOrd="0" parTransId="{2EA4305C-7164-4130-BA77-5EE4A0E45EF1}" sibTransId="{F06C1A8B-F529-4EC3-A486-C1F5C3EF4190}"/>
    <dgm:cxn modelId="{41EE6A79-14B5-4B64-AC88-E72E716EEBCA}" srcId="{A2DFDC79-C69B-40F9-96F6-37387BC3CA25}" destId="{19DAC73F-D29D-4E0F-82C3-C47B3D762859}" srcOrd="8" destOrd="0" parTransId="{87AD3352-B74C-4413-B700-E9F8DA227C30}" sibTransId="{2DE9BF39-2E04-4A6A-A826-51289864C25F}"/>
    <dgm:cxn modelId="{C59A9F7B-4890-4BF0-A03D-85907E152381}" srcId="{A2DFDC79-C69B-40F9-96F6-37387BC3CA25}" destId="{9D23F60D-D0C3-4AFD-AA3D-43C7AB7517B9}" srcOrd="13" destOrd="0" parTransId="{E68B7218-F46B-433C-952F-9A8412C8B6E8}" sibTransId="{12898024-06DC-46B2-BD2F-491A9C15CE0F}"/>
    <dgm:cxn modelId="{68BF2083-ECD7-4DE7-957B-643A603321A6}" srcId="{A2DFDC79-C69B-40F9-96F6-37387BC3CA25}" destId="{2DE12F26-8B74-4660-B210-A6035FEC340C}" srcOrd="0" destOrd="0" parTransId="{A7EC824E-5DBF-4355-AFD5-2097D6799531}" sibTransId="{00DDDCA2-BFA2-4088-9792-456907254BEA}"/>
    <dgm:cxn modelId="{06905083-2736-47B6-AAD6-98BF3A2894EE}" type="presOf" srcId="{483CB301-A13A-4B4C-89E7-320F555CF657}" destId="{1CCFEB6F-04C7-44DD-8092-A626251CFF5E}" srcOrd="0" destOrd="0" presId="urn:microsoft.com/office/officeart/2005/8/layout/vList5"/>
    <dgm:cxn modelId="{2DBB628C-B1E7-4A5C-9D17-96643EF7CCE8}" type="presOf" srcId="{2DE12F26-8B74-4660-B210-A6035FEC340C}" destId="{1B6819B5-DCFA-481F-988C-4E4B7A85C4C2}" srcOrd="0" destOrd="0" presId="urn:microsoft.com/office/officeart/2005/8/layout/vList5"/>
    <dgm:cxn modelId="{904B828D-DB29-4120-B808-C0041F3B7C4B}" type="presOf" srcId="{2186E20F-57BE-44D7-ADED-B6D2C6AE5EBB}" destId="{41D24B9F-98AF-4A30-ABBB-241B7C2176E1}" srcOrd="0" destOrd="0" presId="urn:microsoft.com/office/officeart/2005/8/layout/vList5"/>
    <dgm:cxn modelId="{926692AA-30A4-439E-9AF4-51A47585BBCC}" srcId="{A2DFDC79-C69B-40F9-96F6-37387BC3CA25}" destId="{2186E20F-57BE-44D7-ADED-B6D2C6AE5EBB}" srcOrd="3" destOrd="0" parTransId="{2A09B51C-1F1A-48DA-9009-F0DC272032C2}" sibTransId="{883C48B6-F8E9-436C-B8D8-4E61FA3625D6}"/>
    <dgm:cxn modelId="{3EE6A9AE-8B8C-437D-8949-C6223B2C0538}" srcId="{A2DFDC79-C69B-40F9-96F6-37387BC3CA25}" destId="{500C2F10-701C-4219-B825-86324624826A}" srcOrd="14" destOrd="0" parTransId="{5D9BFAE1-5CE2-49AD-955D-3F919A0C99EB}" sibTransId="{81E4424E-CD0D-44AC-91DF-D734D30FBDEB}"/>
    <dgm:cxn modelId="{25FA47C8-E3B0-4CDC-A62B-322E3D725663}" type="presOf" srcId="{03B97AFC-7BAB-464E-9B83-B022118F87D0}" destId="{D29A62D9-C1CD-4F87-B012-7114BF1DEAB4}" srcOrd="0" destOrd="0" presId="urn:microsoft.com/office/officeart/2005/8/layout/vList5"/>
    <dgm:cxn modelId="{60C606CE-05BE-40F9-8214-B26ACDA21D75}" type="presOf" srcId="{6C859784-52AD-4FDF-B8D3-A15A7A311985}" destId="{FF637D72-09B1-4B83-B119-5E5BF7A28160}" srcOrd="0" destOrd="0" presId="urn:microsoft.com/office/officeart/2005/8/layout/vList5"/>
    <dgm:cxn modelId="{ADDBB1D0-18F6-4381-8C7A-44CA3AB04CA2}" type="presOf" srcId="{500C2F10-701C-4219-B825-86324624826A}" destId="{E27A9335-6A24-48BB-86D4-90D9418C3BDC}" srcOrd="0" destOrd="0" presId="urn:microsoft.com/office/officeart/2005/8/layout/vList5"/>
    <dgm:cxn modelId="{B30EF7D3-E878-417F-BF17-CC91A7C116C1}" srcId="{A2DFDC79-C69B-40F9-96F6-37387BC3CA25}" destId="{483CB301-A13A-4B4C-89E7-320F555CF657}" srcOrd="11" destOrd="0" parTransId="{7FD30CDA-3322-40E6-BC91-59F236DB9CFE}" sibTransId="{3B18E921-FCBC-4EAD-A2DC-09C385774A87}"/>
    <dgm:cxn modelId="{E5C1A6DD-6925-4F7B-9813-98DBA029271F}" type="presOf" srcId="{DF017173-230A-4B87-B64E-0799947F078E}" destId="{4079D36F-0909-4536-A444-07DA94D3D60E}" srcOrd="0" destOrd="0" presId="urn:microsoft.com/office/officeart/2005/8/layout/vList5"/>
    <dgm:cxn modelId="{2FB8F1DF-4CE4-4964-A583-39494BF4844E}" srcId="{A2DFDC79-C69B-40F9-96F6-37387BC3CA25}" destId="{DD396638-33CC-40D8-8B5F-A2ECBCD7F6A1}" srcOrd="9" destOrd="0" parTransId="{204EA990-FEB4-4C10-890D-1F5B29037B51}" sibTransId="{B7DD74F7-51C6-4ABF-8113-3F02433A3256}"/>
    <dgm:cxn modelId="{B08240ED-C5FB-4114-9C69-4AC7586038A9}" type="presOf" srcId="{14AAA416-54BA-4DF8-8A4A-90D746DED7A0}" destId="{1282EC3E-9C20-4320-8D6E-98A7F8A787B6}" srcOrd="0" destOrd="0" presId="urn:microsoft.com/office/officeart/2005/8/layout/vList5"/>
    <dgm:cxn modelId="{B8BA19F4-0ADA-4B46-B9AF-D4C1F8103D43}" srcId="{A2DFDC79-C69B-40F9-96F6-37387BC3CA25}" destId="{F14F5C60-36D7-4E1F-8624-63E5C79CF6B8}" srcOrd="6" destOrd="0" parTransId="{85ABD8D5-DD1C-493A-9668-F56EE72BE280}" sibTransId="{2AF6A8A7-208B-46F7-9933-31243EC42254}"/>
    <dgm:cxn modelId="{24EE95F5-8D8F-4F17-9028-F404E3540E80}" type="presOf" srcId="{BA3181E8-5503-4191-BC43-4FD542D00E81}" destId="{3E83A2C6-8361-47D3-9DA7-F2F1B8CED997}" srcOrd="0" destOrd="0" presId="urn:microsoft.com/office/officeart/2005/8/layout/vList5"/>
    <dgm:cxn modelId="{714A2AF8-916C-4133-B3DF-0F65D5497AD8}" type="presOf" srcId="{78AD3596-C064-4560-A0CD-494868A8E44B}" destId="{BF0CB5AF-22EE-4E1F-AC55-C0695FE43CB9}" srcOrd="0" destOrd="0" presId="urn:microsoft.com/office/officeart/2005/8/layout/vList5"/>
    <dgm:cxn modelId="{6DE63BF8-6C3A-4687-8063-2E6A2C1965DF}" srcId="{A2DFDC79-C69B-40F9-96F6-37387BC3CA25}" destId="{14AAA416-54BA-4DF8-8A4A-90D746DED7A0}" srcOrd="10" destOrd="0" parTransId="{76081245-1D12-4582-A696-055859F376B5}" sibTransId="{2FB318FB-444A-400C-BD91-C17555F737F1}"/>
    <dgm:cxn modelId="{F7C944F9-54F3-4355-8323-90953ABFFA56}" srcId="{A2DFDC79-C69B-40F9-96F6-37387BC3CA25}" destId="{DF017173-230A-4B87-B64E-0799947F078E}" srcOrd="7" destOrd="0" parTransId="{5D4B0859-10F5-47F4-AF52-5E20AD6FEB6C}" sibTransId="{D41BEA9D-891A-4B8D-A5AF-140C2EDC1728}"/>
    <dgm:cxn modelId="{4D828BB4-FA27-4C21-8A81-4D4AA4622C78}" type="presParOf" srcId="{1EA4999C-1CDD-4789-BC0E-FC98728304BC}" destId="{7D67053F-EEAD-49C2-A1B1-6B7A5922A554}" srcOrd="0" destOrd="0" presId="urn:microsoft.com/office/officeart/2005/8/layout/vList5"/>
    <dgm:cxn modelId="{F2A3B4F0-DD55-422D-9FAB-E531C4BB57E0}" type="presParOf" srcId="{7D67053F-EEAD-49C2-A1B1-6B7A5922A554}" destId="{1B6819B5-DCFA-481F-988C-4E4B7A85C4C2}" srcOrd="0" destOrd="0" presId="urn:microsoft.com/office/officeart/2005/8/layout/vList5"/>
    <dgm:cxn modelId="{CAE7EF46-7214-4027-8428-86E888F26B8A}" type="presParOf" srcId="{1EA4999C-1CDD-4789-BC0E-FC98728304BC}" destId="{C91F4E63-21E0-4082-B482-88FE262B7B6A}" srcOrd="1" destOrd="0" presId="urn:microsoft.com/office/officeart/2005/8/layout/vList5"/>
    <dgm:cxn modelId="{43456BF8-450B-4CF2-81C1-1EC50BDDC670}" type="presParOf" srcId="{1EA4999C-1CDD-4789-BC0E-FC98728304BC}" destId="{C298BE6B-7333-448E-95E9-F90D0E0187DB}" srcOrd="2" destOrd="0" presId="urn:microsoft.com/office/officeart/2005/8/layout/vList5"/>
    <dgm:cxn modelId="{161D1340-258D-4CF4-8935-C6D13D610817}" type="presParOf" srcId="{C298BE6B-7333-448E-95E9-F90D0E0187DB}" destId="{D29A62D9-C1CD-4F87-B012-7114BF1DEAB4}" srcOrd="0" destOrd="0" presId="urn:microsoft.com/office/officeart/2005/8/layout/vList5"/>
    <dgm:cxn modelId="{57673A54-601D-4FC6-8CBC-0768DADA60C8}" type="presParOf" srcId="{1EA4999C-1CDD-4789-BC0E-FC98728304BC}" destId="{96F8DFCA-38CF-47F5-B70E-B09CE9F0716A}" srcOrd="3" destOrd="0" presId="urn:microsoft.com/office/officeart/2005/8/layout/vList5"/>
    <dgm:cxn modelId="{2D6FC3F8-8F2C-4164-82BE-38F21CE7ED77}" type="presParOf" srcId="{1EA4999C-1CDD-4789-BC0E-FC98728304BC}" destId="{DC120183-21BC-40F0-B521-B6381BD97E37}" srcOrd="4" destOrd="0" presId="urn:microsoft.com/office/officeart/2005/8/layout/vList5"/>
    <dgm:cxn modelId="{253E5C1B-0045-4BFE-BA30-F0AA64F43D53}" type="presParOf" srcId="{DC120183-21BC-40F0-B521-B6381BD97E37}" destId="{BF0CB5AF-22EE-4E1F-AC55-C0695FE43CB9}" srcOrd="0" destOrd="0" presId="urn:microsoft.com/office/officeart/2005/8/layout/vList5"/>
    <dgm:cxn modelId="{459AAA5E-8BDC-427D-9EB2-C22E8CB52A27}" type="presParOf" srcId="{1EA4999C-1CDD-4789-BC0E-FC98728304BC}" destId="{D2447453-AB20-4579-A673-04F9BC034A3D}" srcOrd="5" destOrd="0" presId="urn:microsoft.com/office/officeart/2005/8/layout/vList5"/>
    <dgm:cxn modelId="{39E7E640-4101-4FD3-80ED-316C2AC59616}" type="presParOf" srcId="{1EA4999C-1CDD-4789-BC0E-FC98728304BC}" destId="{BC6B8D64-4862-4C7E-96AD-0CE54B0E5195}" srcOrd="6" destOrd="0" presId="urn:microsoft.com/office/officeart/2005/8/layout/vList5"/>
    <dgm:cxn modelId="{00BBBCC6-A3B3-43C6-838F-F9127F54512D}" type="presParOf" srcId="{BC6B8D64-4862-4C7E-96AD-0CE54B0E5195}" destId="{41D24B9F-98AF-4A30-ABBB-241B7C2176E1}" srcOrd="0" destOrd="0" presId="urn:microsoft.com/office/officeart/2005/8/layout/vList5"/>
    <dgm:cxn modelId="{64A9CAEC-06A2-48F0-8A3D-B8FE2F54FEA8}" type="presParOf" srcId="{1EA4999C-1CDD-4789-BC0E-FC98728304BC}" destId="{97A2016D-8C8A-4630-B731-69BBA2629FCF}" srcOrd="7" destOrd="0" presId="urn:microsoft.com/office/officeart/2005/8/layout/vList5"/>
    <dgm:cxn modelId="{679A3EFE-3B34-4732-826B-A563FBC579EB}" type="presParOf" srcId="{1EA4999C-1CDD-4789-BC0E-FC98728304BC}" destId="{3F173D34-A9BC-4839-95DA-C9F34C7E0BBD}" srcOrd="8" destOrd="0" presId="urn:microsoft.com/office/officeart/2005/8/layout/vList5"/>
    <dgm:cxn modelId="{8B975E59-BE4A-4681-8797-9838937C712D}" type="presParOf" srcId="{3F173D34-A9BC-4839-95DA-C9F34C7E0BBD}" destId="{3E83A2C6-8361-47D3-9DA7-F2F1B8CED997}" srcOrd="0" destOrd="0" presId="urn:microsoft.com/office/officeart/2005/8/layout/vList5"/>
    <dgm:cxn modelId="{568CC7CF-4BE6-4A62-BC51-D45A03B1DD0C}" type="presParOf" srcId="{1EA4999C-1CDD-4789-BC0E-FC98728304BC}" destId="{9EE959F5-AFE9-4043-9020-0F6523BE6CE2}" srcOrd="9" destOrd="0" presId="urn:microsoft.com/office/officeart/2005/8/layout/vList5"/>
    <dgm:cxn modelId="{DAB6B5D3-DD90-4B81-A2AA-9168AE7624A8}" type="presParOf" srcId="{1EA4999C-1CDD-4789-BC0E-FC98728304BC}" destId="{0C05646E-B98C-4880-AE21-DAD2E5E73E26}" srcOrd="10" destOrd="0" presId="urn:microsoft.com/office/officeart/2005/8/layout/vList5"/>
    <dgm:cxn modelId="{ABEDC537-F528-4284-BA01-B53D0EA375FB}" type="presParOf" srcId="{0C05646E-B98C-4880-AE21-DAD2E5E73E26}" destId="{FFCEB148-0419-4718-9189-06A4F4D7D472}" srcOrd="0" destOrd="0" presId="urn:microsoft.com/office/officeart/2005/8/layout/vList5"/>
    <dgm:cxn modelId="{919AFEAC-F117-4728-9658-07B917589AD4}" type="presParOf" srcId="{1EA4999C-1CDD-4789-BC0E-FC98728304BC}" destId="{2DC7424C-ED80-43E3-A379-EEB1DF728189}" srcOrd="11" destOrd="0" presId="urn:microsoft.com/office/officeart/2005/8/layout/vList5"/>
    <dgm:cxn modelId="{B34C6813-6E53-458F-A46F-6C4672CB450D}" type="presParOf" srcId="{1EA4999C-1CDD-4789-BC0E-FC98728304BC}" destId="{A14EA4C9-7419-4817-B1AF-BC49F326B3D4}" srcOrd="12" destOrd="0" presId="urn:microsoft.com/office/officeart/2005/8/layout/vList5"/>
    <dgm:cxn modelId="{E9D0F234-0D89-4FB2-ADFC-F73F7BE8E5B3}" type="presParOf" srcId="{A14EA4C9-7419-4817-B1AF-BC49F326B3D4}" destId="{215AB43C-85C8-4695-B63A-E2524A383C59}" srcOrd="0" destOrd="0" presId="urn:microsoft.com/office/officeart/2005/8/layout/vList5"/>
    <dgm:cxn modelId="{7037B99D-EE1F-432D-8A7E-FCDF4C8AD2A0}" type="presParOf" srcId="{1EA4999C-1CDD-4789-BC0E-FC98728304BC}" destId="{BE383BE5-321B-4B36-8D67-AEF5BC67AA67}" srcOrd="13" destOrd="0" presId="urn:microsoft.com/office/officeart/2005/8/layout/vList5"/>
    <dgm:cxn modelId="{F8E841F6-672B-49B1-A5EA-3E29249CC99D}" type="presParOf" srcId="{1EA4999C-1CDD-4789-BC0E-FC98728304BC}" destId="{59520444-2AB3-464E-A462-8249647C806D}" srcOrd="14" destOrd="0" presId="urn:microsoft.com/office/officeart/2005/8/layout/vList5"/>
    <dgm:cxn modelId="{8E574A39-18F0-4A34-9F17-609FCCBF6556}" type="presParOf" srcId="{59520444-2AB3-464E-A462-8249647C806D}" destId="{4079D36F-0909-4536-A444-07DA94D3D60E}" srcOrd="0" destOrd="0" presId="urn:microsoft.com/office/officeart/2005/8/layout/vList5"/>
    <dgm:cxn modelId="{4AC22F30-C558-4F1A-8805-00B6B0071714}" type="presParOf" srcId="{1EA4999C-1CDD-4789-BC0E-FC98728304BC}" destId="{DB42B42B-82AD-4789-A401-1581B880D272}" srcOrd="15" destOrd="0" presId="urn:microsoft.com/office/officeart/2005/8/layout/vList5"/>
    <dgm:cxn modelId="{40717127-2702-4341-9CA4-31BE9964E207}" type="presParOf" srcId="{1EA4999C-1CDD-4789-BC0E-FC98728304BC}" destId="{3E4C1ADD-DAF0-4EC6-9FAA-20A24D9F041D}" srcOrd="16" destOrd="0" presId="urn:microsoft.com/office/officeart/2005/8/layout/vList5"/>
    <dgm:cxn modelId="{0CB30206-1A92-4E59-9937-9D8C6D452041}" type="presParOf" srcId="{3E4C1ADD-DAF0-4EC6-9FAA-20A24D9F041D}" destId="{D9DD44BB-5FD7-4B83-99A7-3CAA5AAEC81C}" srcOrd="0" destOrd="0" presId="urn:microsoft.com/office/officeart/2005/8/layout/vList5"/>
    <dgm:cxn modelId="{6E4FE9C3-6344-4331-8D8B-7025D3385273}" type="presParOf" srcId="{1EA4999C-1CDD-4789-BC0E-FC98728304BC}" destId="{D66EDCF2-0A2E-4E95-87BE-B7E11F3349DF}" srcOrd="17" destOrd="0" presId="urn:microsoft.com/office/officeart/2005/8/layout/vList5"/>
    <dgm:cxn modelId="{92D6FC02-853B-43E1-ADA8-D0A0571657AC}" type="presParOf" srcId="{1EA4999C-1CDD-4789-BC0E-FC98728304BC}" destId="{8C4E59E5-D725-4A9D-9154-6AAD5817E7BA}" srcOrd="18" destOrd="0" presId="urn:microsoft.com/office/officeart/2005/8/layout/vList5"/>
    <dgm:cxn modelId="{AC6B08AE-F5E2-44AC-8E74-73D8E4C37B03}" type="presParOf" srcId="{8C4E59E5-D725-4A9D-9154-6AAD5817E7BA}" destId="{5E38B613-BFE0-46E0-B717-0BB50A743691}" srcOrd="0" destOrd="0" presId="urn:microsoft.com/office/officeart/2005/8/layout/vList5"/>
    <dgm:cxn modelId="{E20F1399-B02D-4348-AA56-9EFCE1F7F1D0}" type="presParOf" srcId="{1EA4999C-1CDD-4789-BC0E-FC98728304BC}" destId="{6D5FF6F9-6E94-4C9C-BDD4-3A4218204888}" srcOrd="19" destOrd="0" presId="urn:microsoft.com/office/officeart/2005/8/layout/vList5"/>
    <dgm:cxn modelId="{7D8B0D46-2C15-417E-8561-5E7B65EF8D44}" type="presParOf" srcId="{1EA4999C-1CDD-4789-BC0E-FC98728304BC}" destId="{2CFF280D-47A6-4A21-9BB3-9D6494DF875B}" srcOrd="20" destOrd="0" presId="urn:microsoft.com/office/officeart/2005/8/layout/vList5"/>
    <dgm:cxn modelId="{6E6DAE62-82C4-4B91-A207-CBE1C1A429FF}" type="presParOf" srcId="{2CFF280D-47A6-4A21-9BB3-9D6494DF875B}" destId="{1282EC3E-9C20-4320-8D6E-98A7F8A787B6}" srcOrd="0" destOrd="0" presId="urn:microsoft.com/office/officeart/2005/8/layout/vList5"/>
    <dgm:cxn modelId="{978DC4A9-6320-4660-A4A8-8E87E105EE83}" type="presParOf" srcId="{1EA4999C-1CDD-4789-BC0E-FC98728304BC}" destId="{3A38D031-AC89-4E85-8BFB-1A10E97768EA}" srcOrd="21" destOrd="0" presId="urn:microsoft.com/office/officeart/2005/8/layout/vList5"/>
    <dgm:cxn modelId="{022F5310-F6FC-4841-8345-422AE2CDEB09}" type="presParOf" srcId="{1EA4999C-1CDD-4789-BC0E-FC98728304BC}" destId="{C68F0970-85DF-4981-B723-A4C7470C3B05}" srcOrd="22" destOrd="0" presId="urn:microsoft.com/office/officeart/2005/8/layout/vList5"/>
    <dgm:cxn modelId="{A3CEAF1A-D3C1-4719-85D3-49AEDBC6B4D2}" type="presParOf" srcId="{C68F0970-85DF-4981-B723-A4C7470C3B05}" destId="{1CCFEB6F-04C7-44DD-8092-A626251CFF5E}" srcOrd="0" destOrd="0" presId="urn:microsoft.com/office/officeart/2005/8/layout/vList5"/>
    <dgm:cxn modelId="{1ED8E4FF-CEDD-487B-8B6D-054F90BBB337}" type="presParOf" srcId="{1EA4999C-1CDD-4789-BC0E-FC98728304BC}" destId="{E1E16295-5D61-48CF-8F93-A341F9497BEF}" srcOrd="23" destOrd="0" presId="urn:microsoft.com/office/officeart/2005/8/layout/vList5"/>
    <dgm:cxn modelId="{4FD57C2E-694A-4ECE-A456-5F1F639633D5}" type="presParOf" srcId="{1EA4999C-1CDD-4789-BC0E-FC98728304BC}" destId="{1FF012EB-FE06-4153-AD45-8D10B1C62304}" srcOrd="24" destOrd="0" presId="urn:microsoft.com/office/officeart/2005/8/layout/vList5"/>
    <dgm:cxn modelId="{776D56F0-AEF1-416A-A196-5A94FBE53AAE}" type="presParOf" srcId="{1FF012EB-FE06-4153-AD45-8D10B1C62304}" destId="{B728638F-A40A-461F-B7F9-0E535E770A2F}" srcOrd="0" destOrd="0" presId="urn:microsoft.com/office/officeart/2005/8/layout/vList5"/>
    <dgm:cxn modelId="{43DD5596-C343-4DE2-8BCD-A02AFAAD14AE}" type="presParOf" srcId="{1EA4999C-1CDD-4789-BC0E-FC98728304BC}" destId="{8CE6BCA4-59FC-41E7-9F01-3F80D6FC91AE}" srcOrd="25" destOrd="0" presId="urn:microsoft.com/office/officeart/2005/8/layout/vList5"/>
    <dgm:cxn modelId="{173026CF-1AC9-4DA0-B993-5781125D0D91}" type="presParOf" srcId="{1EA4999C-1CDD-4789-BC0E-FC98728304BC}" destId="{A0C72585-3CD8-4A80-AEFF-BE51B9547B7C}" srcOrd="26" destOrd="0" presId="urn:microsoft.com/office/officeart/2005/8/layout/vList5"/>
    <dgm:cxn modelId="{2C3F7670-3F58-4908-ABA9-9917D295CBD0}" type="presParOf" srcId="{A0C72585-3CD8-4A80-AEFF-BE51B9547B7C}" destId="{855DA6A9-7970-4337-A1E8-49247F8C1B81}" srcOrd="0" destOrd="0" presId="urn:microsoft.com/office/officeart/2005/8/layout/vList5"/>
    <dgm:cxn modelId="{279D03F0-2933-42BD-94AB-9EDE6228D29A}" type="presParOf" srcId="{1EA4999C-1CDD-4789-BC0E-FC98728304BC}" destId="{76BF794C-6D5F-4A91-BB53-CED15EF4EF2F}" srcOrd="27" destOrd="0" presId="urn:microsoft.com/office/officeart/2005/8/layout/vList5"/>
    <dgm:cxn modelId="{59CF0CC0-20C4-4CBA-81FD-BEE59E508390}" type="presParOf" srcId="{1EA4999C-1CDD-4789-BC0E-FC98728304BC}" destId="{1C465062-D22A-494A-BCA1-97C213751E72}" srcOrd="28" destOrd="0" presId="urn:microsoft.com/office/officeart/2005/8/layout/vList5"/>
    <dgm:cxn modelId="{F1B3D54E-3D0B-4008-93AC-EAE1D9945877}" type="presParOf" srcId="{1C465062-D22A-494A-BCA1-97C213751E72}" destId="{E27A9335-6A24-48BB-86D4-90D9418C3BDC}" srcOrd="0" destOrd="0" presId="urn:microsoft.com/office/officeart/2005/8/layout/vList5"/>
    <dgm:cxn modelId="{C86351C7-1ED4-40D4-A1A8-6374A4E1767E}" type="presParOf" srcId="{1EA4999C-1CDD-4789-BC0E-FC98728304BC}" destId="{69F47E1A-8A68-4039-A033-B79C034ADF24}" srcOrd="29" destOrd="0" presId="urn:microsoft.com/office/officeart/2005/8/layout/vList5"/>
    <dgm:cxn modelId="{4E421DD9-B14A-4F65-B6F6-40E8B01DBAB2}" type="presParOf" srcId="{1EA4999C-1CDD-4789-BC0E-FC98728304BC}" destId="{CAB4E0A0-A084-4F9E-9DFD-9BEF3042EA55}" srcOrd="30" destOrd="0" presId="urn:microsoft.com/office/officeart/2005/8/layout/vList5"/>
    <dgm:cxn modelId="{992C56F4-C896-4C73-80E4-6810D5B9E6B3}" type="presParOf" srcId="{CAB4E0A0-A084-4F9E-9DFD-9BEF3042EA55}" destId="{FF637D72-09B1-4B83-B119-5E5BF7A2816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560150-B414-4978-9514-07C173BFA3B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0825E96-166C-4E7B-B0BD-191F9542208A}">
      <dgm:prSet/>
      <dgm:spPr/>
      <dgm:t>
        <a:bodyPr/>
        <a:lstStyle/>
        <a:p>
          <a:r>
            <a:rPr lang="en-US" b="1"/>
            <a:t>Core Findings:</a:t>
          </a:r>
          <a:endParaRPr lang="en-US"/>
        </a:p>
      </dgm:t>
    </dgm:pt>
    <dgm:pt modelId="{F13B16B6-04C9-4892-ADEA-3531ED482657}" type="parTrans" cxnId="{08C4018B-A3CB-4E45-8E27-D2C74448A30E}">
      <dgm:prSet/>
      <dgm:spPr/>
      <dgm:t>
        <a:bodyPr/>
        <a:lstStyle/>
        <a:p>
          <a:endParaRPr lang="en-US"/>
        </a:p>
      </dgm:t>
    </dgm:pt>
    <dgm:pt modelId="{4B51F4BC-0F96-4B98-A490-9D752432F0D2}" type="sibTrans" cxnId="{08C4018B-A3CB-4E45-8E27-D2C74448A30E}">
      <dgm:prSet/>
      <dgm:spPr/>
      <dgm:t>
        <a:bodyPr/>
        <a:lstStyle/>
        <a:p>
          <a:endParaRPr lang="en-US"/>
        </a:p>
      </dgm:t>
    </dgm:pt>
    <dgm:pt modelId="{CCE65351-CFB5-447B-83D5-181035EDCFA9}">
      <dgm:prSet custT="1"/>
      <dgm:spPr/>
      <dgm:t>
        <a:bodyPr/>
        <a:lstStyle/>
        <a:p>
          <a:pPr algn="l"/>
          <a:r>
            <a:rPr lang="en-US" sz="2800" dirty="0"/>
            <a:t>Quantitative evidence linking structural prompt patterns to coding success probability.</a:t>
          </a:r>
        </a:p>
      </dgm:t>
    </dgm:pt>
    <dgm:pt modelId="{34153E3C-C31A-4DB5-BDD0-89F6C2720CEC}" type="parTrans" cxnId="{02E3E6E1-0993-4C4E-81B2-3F8FAA639DA6}">
      <dgm:prSet/>
      <dgm:spPr/>
      <dgm:t>
        <a:bodyPr/>
        <a:lstStyle/>
        <a:p>
          <a:endParaRPr lang="en-US"/>
        </a:p>
      </dgm:t>
    </dgm:pt>
    <dgm:pt modelId="{BEA92686-0C1A-4FE8-BACD-D90699F6B327}" type="sibTrans" cxnId="{02E3E6E1-0993-4C4E-81B2-3F8FAA639DA6}">
      <dgm:prSet/>
      <dgm:spPr/>
      <dgm:t>
        <a:bodyPr/>
        <a:lstStyle/>
        <a:p>
          <a:endParaRPr lang="en-US"/>
        </a:p>
      </dgm:t>
    </dgm:pt>
    <dgm:pt modelId="{CE191D2F-C9B3-46EA-A4D4-FD55EBBB65D4}">
      <dgm:prSet custT="1"/>
      <dgm:spPr/>
      <dgm:t>
        <a:bodyPr/>
        <a:lstStyle/>
        <a:p>
          <a:pPr algn="l"/>
          <a:r>
            <a:rPr lang="en-US" sz="2800" dirty="0"/>
            <a:t>Statistically significant predictors identified through multivariable regression modeling.</a:t>
          </a:r>
        </a:p>
      </dgm:t>
    </dgm:pt>
    <dgm:pt modelId="{497C924F-EBCC-44EC-AB67-239A46D2123F}" type="parTrans" cxnId="{E2F0A1A2-A118-4CC8-B61F-928A974C8B00}">
      <dgm:prSet/>
      <dgm:spPr/>
      <dgm:t>
        <a:bodyPr/>
        <a:lstStyle/>
        <a:p>
          <a:endParaRPr lang="en-US"/>
        </a:p>
      </dgm:t>
    </dgm:pt>
    <dgm:pt modelId="{2F2EBF4F-69C9-4E36-A1D9-B7A8FE24C697}" type="sibTrans" cxnId="{E2F0A1A2-A118-4CC8-B61F-928A974C8B00}">
      <dgm:prSet/>
      <dgm:spPr/>
      <dgm:t>
        <a:bodyPr/>
        <a:lstStyle/>
        <a:p>
          <a:endParaRPr lang="en-US"/>
        </a:p>
      </dgm:t>
    </dgm:pt>
    <dgm:pt modelId="{430A923D-65D4-498F-8E24-B4C18825388E}">
      <dgm:prSet custT="1"/>
      <dgm:spPr/>
      <dgm:t>
        <a:bodyPr/>
        <a:lstStyle/>
        <a:p>
          <a:pPr algn="l"/>
          <a:r>
            <a:rPr lang="en-US" sz="2800" dirty="0"/>
            <a:t>Clear differentiation between high-performing and low-performing prompting behaviors.</a:t>
          </a:r>
        </a:p>
      </dgm:t>
    </dgm:pt>
    <dgm:pt modelId="{4B762CAF-A1B3-4ABF-A83D-BB7238ED5DA2}" type="parTrans" cxnId="{DB47A30B-3535-45D0-8A5A-CE8C1BF7296D}">
      <dgm:prSet/>
      <dgm:spPr/>
      <dgm:t>
        <a:bodyPr/>
        <a:lstStyle/>
        <a:p>
          <a:endParaRPr lang="en-US"/>
        </a:p>
      </dgm:t>
    </dgm:pt>
    <dgm:pt modelId="{0DF7A3E4-431E-4D17-B1B8-F9130F6B17E1}" type="sibTrans" cxnId="{DB47A30B-3535-45D0-8A5A-CE8C1BF7296D}">
      <dgm:prSet/>
      <dgm:spPr/>
      <dgm:t>
        <a:bodyPr/>
        <a:lstStyle/>
        <a:p>
          <a:endParaRPr lang="en-US"/>
        </a:p>
      </dgm:t>
    </dgm:pt>
    <dgm:pt modelId="{969EA918-A569-47DC-A4E6-97C14E0D296F}">
      <dgm:prSet/>
      <dgm:spPr/>
      <dgm:t>
        <a:bodyPr/>
        <a:lstStyle/>
        <a:p>
          <a:r>
            <a:rPr lang="en-US" b="1"/>
            <a:t>Practical Impact:</a:t>
          </a:r>
          <a:endParaRPr lang="en-US"/>
        </a:p>
      </dgm:t>
    </dgm:pt>
    <dgm:pt modelId="{8027A3E9-198F-4A8A-857B-B2869CEFCF6A}" type="parTrans" cxnId="{C73C5CD5-65AB-4646-9162-B9F35838A200}">
      <dgm:prSet/>
      <dgm:spPr/>
      <dgm:t>
        <a:bodyPr/>
        <a:lstStyle/>
        <a:p>
          <a:endParaRPr lang="en-US"/>
        </a:p>
      </dgm:t>
    </dgm:pt>
    <dgm:pt modelId="{829C14C3-601C-471E-A68E-F3ECFAD451EA}" type="sibTrans" cxnId="{C73C5CD5-65AB-4646-9162-B9F35838A200}">
      <dgm:prSet/>
      <dgm:spPr/>
      <dgm:t>
        <a:bodyPr/>
        <a:lstStyle/>
        <a:p>
          <a:endParaRPr lang="en-US"/>
        </a:p>
      </dgm:t>
    </dgm:pt>
    <dgm:pt modelId="{0AD5689A-E438-48CD-8E4F-FD73EB286318}">
      <dgm:prSet custT="1"/>
      <dgm:spPr/>
      <dgm:t>
        <a:bodyPr/>
        <a:lstStyle/>
        <a:p>
          <a:r>
            <a:rPr lang="en-US" sz="2800"/>
            <a:t>Data-driven guidelines for effective developer prompt engineering.</a:t>
          </a:r>
        </a:p>
      </dgm:t>
    </dgm:pt>
    <dgm:pt modelId="{64B37D0D-3023-46DB-B857-C77D6301953D}" type="parTrans" cxnId="{8312E1FE-E515-4EE0-A8BE-4CACC4D41531}">
      <dgm:prSet/>
      <dgm:spPr/>
      <dgm:t>
        <a:bodyPr/>
        <a:lstStyle/>
        <a:p>
          <a:endParaRPr lang="en-US"/>
        </a:p>
      </dgm:t>
    </dgm:pt>
    <dgm:pt modelId="{09B45610-5CCD-4E11-8700-A0C5F15C5970}" type="sibTrans" cxnId="{8312E1FE-E515-4EE0-A8BE-4CACC4D41531}">
      <dgm:prSet/>
      <dgm:spPr/>
      <dgm:t>
        <a:bodyPr/>
        <a:lstStyle/>
        <a:p>
          <a:endParaRPr lang="en-US"/>
        </a:p>
      </dgm:t>
    </dgm:pt>
    <dgm:pt modelId="{CE535F0C-48D5-4E57-8292-111DEA3889C4}">
      <dgm:prSet custT="1"/>
      <dgm:spPr/>
      <dgm:t>
        <a:bodyPr/>
        <a:lstStyle/>
        <a:p>
          <a:r>
            <a:rPr lang="en-US" sz="2800" dirty="0"/>
            <a:t>Actionable insights to improve reliability of AI-assisted coding workflows.</a:t>
          </a:r>
        </a:p>
      </dgm:t>
    </dgm:pt>
    <dgm:pt modelId="{390AA119-F5A6-4FFD-B06F-AD2B2B2CA5EA}" type="parTrans" cxnId="{F972579A-6EFB-4D51-A3D8-AA6444BD79CB}">
      <dgm:prSet/>
      <dgm:spPr/>
      <dgm:t>
        <a:bodyPr/>
        <a:lstStyle/>
        <a:p>
          <a:endParaRPr lang="en-US"/>
        </a:p>
      </dgm:t>
    </dgm:pt>
    <dgm:pt modelId="{970DD66E-A7D5-4ECA-99E8-EFFC33B4C4A6}" type="sibTrans" cxnId="{F972579A-6EFB-4D51-A3D8-AA6444BD79CB}">
      <dgm:prSet/>
      <dgm:spPr/>
      <dgm:t>
        <a:bodyPr/>
        <a:lstStyle/>
        <a:p>
          <a:endParaRPr lang="en-US"/>
        </a:p>
      </dgm:t>
    </dgm:pt>
    <dgm:pt modelId="{273D0665-5F46-4FF8-A320-7ADD508EDA04}">
      <dgm:prSet custT="1"/>
      <dgm:spPr/>
      <dgm:t>
        <a:bodyPr/>
        <a:lstStyle/>
        <a:p>
          <a:r>
            <a:rPr lang="en-US" sz="2800" dirty="0"/>
            <a:t>Framework for evaluating prompt quality in real-world development settings.</a:t>
          </a:r>
        </a:p>
      </dgm:t>
    </dgm:pt>
    <dgm:pt modelId="{4B33C071-AF67-451F-B3CD-D0C7151DE8FE}" type="parTrans" cxnId="{4339BB99-2B98-42D7-AA4D-6CAFB157FD00}">
      <dgm:prSet/>
      <dgm:spPr/>
      <dgm:t>
        <a:bodyPr/>
        <a:lstStyle/>
        <a:p>
          <a:endParaRPr lang="en-US"/>
        </a:p>
      </dgm:t>
    </dgm:pt>
    <dgm:pt modelId="{5560CBE9-51AB-4A10-9C7C-11FEBF6C9AD8}" type="sibTrans" cxnId="{4339BB99-2B98-42D7-AA4D-6CAFB157FD00}">
      <dgm:prSet/>
      <dgm:spPr/>
      <dgm:t>
        <a:bodyPr/>
        <a:lstStyle/>
        <a:p>
          <a:endParaRPr lang="en-US"/>
        </a:p>
      </dgm:t>
    </dgm:pt>
    <dgm:pt modelId="{EE6D5B02-9F72-4FCE-A66E-9BA7BFC21CCA}">
      <dgm:prSet/>
      <dgm:spPr/>
      <dgm:t>
        <a:bodyPr/>
        <a:lstStyle/>
        <a:p>
          <a:r>
            <a:rPr lang="en-US" b="1"/>
            <a:t>Research Contributions:</a:t>
          </a:r>
          <a:endParaRPr lang="en-US"/>
        </a:p>
      </dgm:t>
    </dgm:pt>
    <dgm:pt modelId="{8783BC1C-0EDB-4025-B655-A2AC8FF10118}" type="parTrans" cxnId="{B9171356-251C-45D1-9281-D8B641A2752F}">
      <dgm:prSet/>
      <dgm:spPr/>
      <dgm:t>
        <a:bodyPr/>
        <a:lstStyle/>
        <a:p>
          <a:endParaRPr lang="en-US"/>
        </a:p>
      </dgm:t>
    </dgm:pt>
    <dgm:pt modelId="{8038EE7F-E7BD-420F-995F-BB89F2BF8176}" type="sibTrans" cxnId="{B9171356-251C-45D1-9281-D8B641A2752F}">
      <dgm:prSet/>
      <dgm:spPr/>
      <dgm:t>
        <a:bodyPr/>
        <a:lstStyle/>
        <a:p>
          <a:endParaRPr lang="en-US"/>
        </a:p>
      </dgm:t>
    </dgm:pt>
    <dgm:pt modelId="{5BBFD60A-4A60-4988-928F-97490CC6CDAF}">
      <dgm:prSet custT="1"/>
      <dgm:spPr/>
      <dgm:t>
        <a:bodyPr/>
        <a:lstStyle/>
        <a:p>
          <a:r>
            <a:rPr lang="en-US" sz="2800" dirty="0"/>
            <a:t>Advances empirical software engineering through large-scale workflow mining.</a:t>
          </a:r>
        </a:p>
      </dgm:t>
    </dgm:pt>
    <dgm:pt modelId="{A583D61B-3502-477B-AF92-3E49DED89A7A}" type="parTrans" cxnId="{7FC0E987-767A-4E0A-9AAD-9E100EAA41E6}">
      <dgm:prSet/>
      <dgm:spPr/>
      <dgm:t>
        <a:bodyPr/>
        <a:lstStyle/>
        <a:p>
          <a:endParaRPr lang="en-US"/>
        </a:p>
      </dgm:t>
    </dgm:pt>
    <dgm:pt modelId="{A1F656BC-5911-47E1-87C8-7633C83F4E14}" type="sibTrans" cxnId="{7FC0E987-767A-4E0A-9AAD-9E100EAA41E6}">
      <dgm:prSet/>
      <dgm:spPr/>
      <dgm:t>
        <a:bodyPr/>
        <a:lstStyle/>
        <a:p>
          <a:endParaRPr lang="en-US"/>
        </a:p>
      </dgm:t>
    </dgm:pt>
    <dgm:pt modelId="{2CDAFF52-A78A-4798-8541-2CB9F9BF40C3}">
      <dgm:prSet custT="1"/>
      <dgm:spPr/>
      <dgm:t>
        <a:bodyPr/>
        <a:lstStyle/>
        <a:p>
          <a:r>
            <a:rPr lang="en-US" sz="2800" dirty="0"/>
            <a:t>Extends prompt engineering research with feature-level statistical analysis.</a:t>
          </a:r>
        </a:p>
      </dgm:t>
    </dgm:pt>
    <dgm:pt modelId="{0A8F39D5-AAC4-4679-833B-C3057BE0C0F6}" type="parTrans" cxnId="{239A2688-6B09-41C9-AA1F-9D478F1B9BFA}">
      <dgm:prSet/>
      <dgm:spPr/>
      <dgm:t>
        <a:bodyPr/>
        <a:lstStyle/>
        <a:p>
          <a:endParaRPr lang="en-US"/>
        </a:p>
      </dgm:t>
    </dgm:pt>
    <dgm:pt modelId="{7E02627D-CAD2-4856-9A07-63EFFB5D5BDF}" type="sibTrans" cxnId="{239A2688-6B09-41C9-AA1F-9D478F1B9BFA}">
      <dgm:prSet/>
      <dgm:spPr/>
      <dgm:t>
        <a:bodyPr/>
        <a:lstStyle/>
        <a:p>
          <a:endParaRPr lang="en-US"/>
        </a:p>
      </dgm:t>
    </dgm:pt>
    <dgm:pt modelId="{8C6A970A-611E-40B6-B72C-4DFB61F3DC79}">
      <dgm:prSet custT="1"/>
      <dgm:spPr/>
      <dgm:t>
        <a:bodyPr/>
        <a:lstStyle/>
        <a:p>
          <a:r>
            <a:rPr lang="en-US" sz="2800" dirty="0"/>
            <a:t>Contributes to understanding of human–AI collaborative coding dynamics.</a:t>
          </a:r>
        </a:p>
      </dgm:t>
    </dgm:pt>
    <dgm:pt modelId="{C1CDD113-BB2F-444F-9CC3-74FD2B5308A0}" type="parTrans" cxnId="{34686E7B-2DDB-416A-AAD1-65B2A9744206}">
      <dgm:prSet/>
      <dgm:spPr/>
      <dgm:t>
        <a:bodyPr/>
        <a:lstStyle/>
        <a:p>
          <a:endParaRPr lang="en-US"/>
        </a:p>
      </dgm:t>
    </dgm:pt>
    <dgm:pt modelId="{70A83F02-95BC-4F06-8E95-11576FDB6297}" type="sibTrans" cxnId="{34686E7B-2DDB-416A-AAD1-65B2A9744206}">
      <dgm:prSet/>
      <dgm:spPr/>
      <dgm:t>
        <a:bodyPr/>
        <a:lstStyle/>
        <a:p>
          <a:endParaRPr lang="en-US"/>
        </a:p>
      </dgm:t>
    </dgm:pt>
    <dgm:pt modelId="{FE185A5A-1FDF-4134-A00A-D063D853A545}" type="pres">
      <dgm:prSet presAssocID="{35560150-B414-4978-9514-07C173BFA3B0}" presName="Name0" presStyleCnt="0">
        <dgm:presLayoutVars>
          <dgm:dir/>
          <dgm:animLvl val="lvl"/>
          <dgm:resizeHandles val="exact"/>
        </dgm:presLayoutVars>
      </dgm:prSet>
      <dgm:spPr/>
    </dgm:pt>
    <dgm:pt modelId="{972D0EF9-CB98-4FF0-A235-4B168005FE0A}" type="pres">
      <dgm:prSet presAssocID="{10825E96-166C-4E7B-B0BD-191F9542208A}" presName="composite" presStyleCnt="0"/>
      <dgm:spPr/>
    </dgm:pt>
    <dgm:pt modelId="{BD3BD602-3C40-48A9-B911-5C82D76DE5A8}" type="pres">
      <dgm:prSet presAssocID="{10825E96-166C-4E7B-B0BD-191F9542208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F835270-4F61-45D5-A9D3-9F8A23FEC7D3}" type="pres">
      <dgm:prSet presAssocID="{10825E96-166C-4E7B-B0BD-191F9542208A}" presName="desTx" presStyleLbl="alignAccFollowNode1" presStyleIdx="0" presStyleCnt="3">
        <dgm:presLayoutVars>
          <dgm:bulletEnabled val="1"/>
        </dgm:presLayoutVars>
      </dgm:prSet>
      <dgm:spPr/>
    </dgm:pt>
    <dgm:pt modelId="{89A4C1C0-5FE8-4975-8F53-3A32C611AD46}" type="pres">
      <dgm:prSet presAssocID="{4B51F4BC-0F96-4B98-A490-9D752432F0D2}" presName="space" presStyleCnt="0"/>
      <dgm:spPr/>
    </dgm:pt>
    <dgm:pt modelId="{703D4314-46A8-4D18-A883-AD298CFB0037}" type="pres">
      <dgm:prSet presAssocID="{969EA918-A569-47DC-A4E6-97C14E0D296F}" presName="composite" presStyleCnt="0"/>
      <dgm:spPr/>
    </dgm:pt>
    <dgm:pt modelId="{212507F9-DFEF-4EDF-81F7-3995FDB70265}" type="pres">
      <dgm:prSet presAssocID="{969EA918-A569-47DC-A4E6-97C14E0D296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E8B92D-775A-48EA-922C-7917313C0E97}" type="pres">
      <dgm:prSet presAssocID="{969EA918-A569-47DC-A4E6-97C14E0D296F}" presName="desTx" presStyleLbl="alignAccFollowNode1" presStyleIdx="1" presStyleCnt="3">
        <dgm:presLayoutVars>
          <dgm:bulletEnabled val="1"/>
        </dgm:presLayoutVars>
      </dgm:prSet>
      <dgm:spPr/>
    </dgm:pt>
    <dgm:pt modelId="{314CEDB3-13C6-4DE0-B409-11E701163882}" type="pres">
      <dgm:prSet presAssocID="{829C14C3-601C-471E-A68E-F3ECFAD451EA}" presName="space" presStyleCnt="0"/>
      <dgm:spPr/>
    </dgm:pt>
    <dgm:pt modelId="{07E9F0B7-2DC5-480F-AC41-3FB891B5A750}" type="pres">
      <dgm:prSet presAssocID="{EE6D5B02-9F72-4FCE-A66E-9BA7BFC21CCA}" presName="composite" presStyleCnt="0"/>
      <dgm:spPr/>
    </dgm:pt>
    <dgm:pt modelId="{2FBAF739-8A69-45EF-BE8C-2FAC3FB71F66}" type="pres">
      <dgm:prSet presAssocID="{EE6D5B02-9F72-4FCE-A66E-9BA7BFC21CC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BB625BA-7A30-43EC-BD19-AAB9699F822A}" type="pres">
      <dgm:prSet presAssocID="{EE6D5B02-9F72-4FCE-A66E-9BA7BFC21CC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B47A30B-3535-45D0-8A5A-CE8C1BF7296D}" srcId="{10825E96-166C-4E7B-B0BD-191F9542208A}" destId="{430A923D-65D4-498F-8E24-B4C18825388E}" srcOrd="2" destOrd="0" parTransId="{4B762CAF-A1B3-4ABF-A83D-BB7238ED5DA2}" sibTransId="{0DF7A3E4-431E-4D17-B1B8-F9130F6B17E1}"/>
    <dgm:cxn modelId="{77971D11-5BAC-4223-8061-709774722618}" type="presOf" srcId="{0AD5689A-E438-48CD-8E4F-FD73EB286318}" destId="{47E8B92D-775A-48EA-922C-7917313C0E97}" srcOrd="0" destOrd="0" presId="urn:microsoft.com/office/officeart/2005/8/layout/hList1"/>
    <dgm:cxn modelId="{B46B8B13-9C88-423A-A5A2-352DF43E549B}" type="presOf" srcId="{CCE65351-CFB5-447B-83D5-181035EDCFA9}" destId="{1F835270-4F61-45D5-A9D3-9F8A23FEC7D3}" srcOrd="0" destOrd="0" presId="urn:microsoft.com/office/officeart/2005/8/layout/hList1"/>
    <dgm:cxn modelId="{21200C1B-80C8-4788-B0AD-D0FE8C6BCAE2}" type="presOf" srcId="{CE191D2F-C9B3-46EA-A4D4-FD55EBBB65D4}" destId="{1F835270-4F61-45D5-A9D3-9F8A23FEC7D3}" srcOrd="0" destOrd="1" presId="urn:microsoft.com/office/officeart/2005/8/layout/hList1"/>
    <dgm:cxn modelId="{C84E2023-D56B-4F26-B6EC-F6DC165A6B26}" type="presOf" srcId="{5BBFD60A-4A60-4988-928F-97490CC6CDAF}" destId="{FBB625BA-7A30-43EC-BD19-AAB9699F822A}" srcOrd="0" destOrd="0" presId="urn:microsoft.com/office/officeart/2005/8/layout/hList1"/>
    <dgm:cxn modelId="{A2A1B627-2C24-4A3A-AE50-74555736E0C0}" type="presOf" srcId="{8C6A970A-611E-40B6-B72C-4DFB61F3DC79}" destId="{FBB625BA-7A30-43EC-BD19-AAB9699F822A}" srcOrd="0" destOrd="2" presId="urn:microsoft.com/office/officeart/2005/8/layout/hList1"/>
    <dgm:cxn modelId="{9DD34735-9618-41C8-8BE9-AD2B1092BBD9}" type="presOf" srcId="{430A923D-65D4-498F-8E24-B4C18825388E}" destId="{1F835270-4F61-45D5-A9D3-9F8A23FEC7D3}" srcOrd="0" destOrd="2" presId="urn:microsoft.com/office/officeart/2005/8/layout/hList1"/>
    <dgm:cxn modelId="{EC5E594F-767D-4E84-9BE5-B1F04941DE82}" type="presOf" srcId="{EE6D5B02-9F72-4FCE-A66E-9BA7BFC21CCA}" destId="{2FBAF739-8A69-45EF-BE8C-2FAC3FB71F66}" srcOrd="0" destOrd="0" presId="urn:microsoft.com/office/officeart/2005/8/layout/hList1"/>
    <dgm:cxn modelId="{B9171356-251C-45D1-9281-D8B641A2752F}" srcId="{35560150-B414-4978-9514-07C173BFA3B0}" destId="{EE6D5B02-9F72-4FCE-A66E-9BA7BFC21CCA}" srcOrd="2" destOrd="0" parTransId="{8783BC1C-0EDB-4025-B655-A2AC8FF10118}" sibTransId="{8038EE7F-E7BD-420F-995F-BB89F2BF8176}"/>
    <dgm:cxn modelId="{21E9D877-A3C1-4B30-9D1A-7D73B2542CCE}" type="presOf" srcId="{35560150-B414-4978-9514-07C173BFA3B0}" destId="{FE185A5A-1FDF-4134-A00A-D063D853A545}" srcOrd="0" destOrd="0" presId="urn:microsoft.com/office/officeart/2005/8/layout/hList1"/>
    <dgm:cxn modelId="{34686E7B-2DDB-416A-AAD1-65B2A9744206}" srcId="{EE6D5B02-9F72-4FCE-A66E-9BA7BFC21CCA}" destId="{8C6A970A-611E-40B6-B72C-4DFB61F3DC79}" srcOrd="2" destOrd="0" parTransId="{C1CDD113-BB2F-444F-9CC3-74FD2B5308A0}" sibTransId="{70A83F02-95BC-4F06-8E95-11576FDB6297}"/>
    <dgm:cxn modelId="{7FC0E987-767A-4E0A-9AAD-9E100EAA41E6}" srcId="{EE6D5B02-9F72-4FCE-A66E-9BA7BFC21CCA}" destId="{5BBFD60A-4A60-4988-928F-97490CC6CDAF}" srcOrd="0" destOrd="0" parTransId="{A583D61B-3502-477B-AF92-3E49DED89A7A}" sibTransId="{A1F656BC-5911-47E1-87C8-7633C83F4E14}"/>
    <dgm:cxn modelId="{239A2688-6B09-41C9-AA1F-9D478F1B9BFA}" srcId="{EE6D5B02-9F72-4FCE-A66E-9BA7BFC21CCA}" destId="{2CDAFF52-A78A-4798-8541-2CB9F9BF40C3}" srcOrd="1" destOrd="0" parTransId="{0A8F39D5-AAC4-4679-833B-C3057BE0C0F6}" sibTransId="{7E02627D-CAD2-4856-9A07-63EFFB5D5BDF}"/>
    <dgm:cxn modelId="{08C4018B-A3CB-4E45-8E27-D2C74448A30E}" srcId="{35560150-B414-4978-9514-07C173BFA3B0}" destId="{10825E96-166C-4E7B-B0BD-191F9542208A}" srcOrd="0" destOrd="0" parTransId="{F13B16B6-04C9-4892-ADEA-3531ED482657}" sibTransId="{4B51F4BC-0F96-4B98-A490-9D752432F0D2}"/>
    <dgm:cxn modelId="{2C554091-1111-4152-86C6-45894CF090CE}" type="presOf" srcId="{10825E96-166C-4E7B-B0BD-191F9542208A}" destId="{BD3BD602-3C40-48A9-B911-5C82D76DE5A8}" srcOrd="0" destOrd="0" presId="urn:microsoft.com/office/officeart/2005/8/layout/hList1"/>
    <dgm:cxn modelId="{4339BB99-2B98-42D7-AA4D-6CAFB157FD00}" srcId="{969EA918-A569-47DC-A4E6-97C14E0D296F}" destId="{273D0665-5F46-4FF8-A320-7ADD508EDA04}" srcOrd="2" destOrd="0" parTransId="{4B33C071-AF67-451F-B3CD-D0C7151DE8FE}" sibTransId="{5560CBE9-51AB-4A10-9C7C-11FEBF6C9AD8}"/>
    <dgm:cxn modelId="{AF4F009A-B342-4583-B318-F5E44F60A7B5}" type="presOf" srcId="{273D0665-5F46-4FF8-A320-7ADD508EDA04}" destId="{47E8B92D-775A-48EA-922C-7917313C0E97}" srcOrd="0" destOrd="2" presId="urn:microsoft.com/office/officeart/2005/8/layout/hList1"/>
    <dgm:cxn modelId="{F972579A-6EFB-4D51-A3D8-AA6444BD79CB}" srcId="{969EA918-A569-47DC-A4E6-97C14E0D296F}" destId="{CE535F0C-48D5-4E57-8292-111DEA3889C4}" srcOrd="1" destOrd="0" parTransId="{390AA119-F5A6-4FFD-B06F-AD2B2B2CA5EA}" sibTransId="{970DD66E-A7D5-4ECA-99E8-EFFC33B4C4A6}"/>
    <dgm:cxn modelId="{E2F0A1A2-A118-4CC8-B61F-928A974C8B00}" srcId="{10825E96-166C-4E7B-B0BD-191F9542208A}" destId="{CE191D2F-C9B3-46EA-A4D4-FD55EBBB65D4}" srcOrd="1" destOrd="0" parTransId="{497C924F-EBCC-44EC-AB67-239A46D2123F}" sibTransId="{2F2EBF4F-69C9-4E36-A1D9-B7A8FE24C697}"/>
    <dgm:cxn modelId="{1C3767C0-3A2C-40B2-93F0-7DB385DC7370}" type="presOf" srcId="{CE535F0C-48D5-4E57-8292-111DEA3889C4}" destId="{47E8B92D-775A-48EA-922C-7917313C0E97}" srcOrd="0" destOrd="1" presId="urn:microsoft.com/office/officeart/2005/8/layout/hList1"/>
    <dgm:cxn modelId="{C73C5CD5-65AB-4646-9162-B9F35838A200}" srcId="{35560150-B414-4978-9514-07C173BFA3B0}" destId="{969EA918-A569-47DC-A4E6-97C14E0D296F}" srcOrd="1" destOrd="0" parTransId="{8027A3E9-198F-4A8A-857B-B2869CEFCF6A}" sibTransId="{829C14C3-601C-471E-A68E-F3ECFAD451EA}"/>
    <dgm:cxn modelId="{02E3E6E1-0993-4C4E-81B2-3F8FAA639DA6}" srcId="{10825E96-166C-4E7B-B0BD-191F9542208A}" destId="{CCE65351-CFB5-447B-83D5-181035EDCFA9}" srcOrd="0" destOrd="0" parTransId="{34153E3C-C31A-4DB5-BDD0-89F6C2720CEC}" sibTransId="{BEA92686-0C1A-4FE8-BACD-D90699F6B327}"/>
    <dgm:cxn modelId="{8B0C6AEE-6C68-46E2-B645-835D4A256688}" type="presOf" srcId="{969EA918-A569-47DC-A4E6-97C14E0D296F}" destId="{212507F9-DFEF-4EDF-81F7-3995FDB70265}" srcOrd="0" destOrd="0" presId="urn:microsoft.com/office/officeart/2005/8/layout/hList1"/>
    <dgm:cxn modelId="{64841CF5-FED5-4A98-BF15-F7584DA606A0}" type="presOf" srcId="{2CDAFF52-A78A-4798-8541-2CB9F9BF40C3}" destId="{FBB625BA-7A30-43EC-BD19-AAB9699F822A}" srcOrd="0" destOrd="1" presId="urn:microsoft.com/office/officeart/2005/8/layout/hList1"/>
    <dgm:cxn modelId="{8312E1FE-E515-4EE0-A8BE-4CACC4D41531}" srcId="{969EA918-A569-47DC-A4E6-97C14E0D296F}" destId="{0AD5689A-E438-48CD-8E4F-FD73EB286318}" srcOrd="0" destOrd="0" parTransId="{64B37D0D-3023-46DB-B857-C77D6301953D}" sibTransId="{09B45610-5CCD-4E11-8700-A0C5F15C5970}"/>
    <dgm:cxn modelId="{10EE980E-BA30-43D7-A6F9-6116E1376ED4}" type="presParOf" srcId="{FE185A5A-1FDF-4134-A00A-D063D853A545}" destId="{972D0EF9-CB98-4FF0-A235-4B168005FE0A}" srcOrd="0" destOrd="0" presId="urn:microsoft.com/office/officeart/2005/8/layout/hList1"/>
    <dgm:cxn modelId="{43FBF181-7673-4BC0-9542-577C857CA8F6}" type="presParOf" srcId="{972D0EF9-CB98-4FF0-A235-4B168005FE0A}" destId="{BD3BD602-3C40-48A9-B911-5C82D76DE5A8}" srcOrd="0" destOrd="0" presId="urn:microsoft.com/office/officeart/2005/8/layout/hList1"/>
    <dgm:cxn modelId="{9D2D59FD-F10C-4E9D-B130-0A2E96BF0766}" type="presParOf" srcId="{972D0EF9-CB98-4FF0-A235-4B168005FE0A}" destId="{1F835270-4F61-45D5-A9D3-9F8A23FEC7D3}" srcOrd="1" destOrd="0" presId="urn:microsoft.com/office/officeart/2005/8/layout/hList1"/>
    <dgm:cxn modelId="{CF8E6C5E-9137-4A6A-BBF7-A0B94DBDD7F8}" type="presParOf" srcId="{FE185A5A-1FDF-4134-A00A-D063D853A545}" destId="{89A4C1C0-5FE8-4975-8F53-3A32C611AD46}" srcOrd="1" destOrd="0" presId="urn:microsoft.com/office/officeart/2005/8/layout/hList1"/>
    <dgm:cxn modelId="{A273257B-4989-4C53-9942-F30153DBBE17}" type="presParOf" srcId="{FE185A5A-1FDF-4134-A00A-D063D853A545}" destId="{703D4314-46A8-4D18-A883-AD298CFB0037}" srcOrd="2" destOrd="0" presId="urn:microsoft.com/office/officeart/2005/8/layout/hList1"/>
    <dgm:cxn modelId="{E33E952C-3676-44AF-9076-D00096959329}" type="presParOf" srcId="{703D4314-46A8-4D18-A883-AD298CFB0037}" destId="{212507F9-DFEF-4EDF-81F7-3995FDB70265}" srcOrd="0" destOrd="0" presId="urn:microsoft.com/office/officeart/2005/8/layout/hList1"/>
    <dgm:cxn modelId="{5A47DEC5-FECC-4AC6-811D-6B2E539DF5C7}" type="presParOf" srcId="{703D4314-46A8-4D18-A883-AD298CFB0037}" destId="{47E8B92D-775A-48EA-922C-7917313C0E97}" srcOrd="1" destOrd="0" presId="urn:microsoft.com/office/officeart/2005/8/layout/hList1"/>
    <dgm:cxn modelId="{8B50777E-39B4-4539-B591-DAB565F98765}" type="presParOf" srcId="{FE185A5A-1FDF-4134-A00A-D063D853A545}" destId="{314CEDB3-13C6-4DE0-B409-11E701163882}" srcOrd="3" destOrd="0" presId="urn:microsoft.com/office/officeart/2005/8/layout/hList1"/>
    <dgm:cxn modelId="{1B64CEFE-EC44-48B5-8D88-BC1AC4B3D805}" type="presParOf" srcId="{FE185A5A-1FDF-4134-A00A-D063D853A545}" destId="{07E9F0B7-2DC5-480F-AC41-3FB891B5A750}" srcOrd="4" destOrd="0" presId="urn:microsoft.com/office/officeart/2005/8/layout/hList1"/>
    <dgm:cxn modelId="{07ECFD48-66BF-4EBA-AF0E-99FB80206595}" type="presParOf" srcId="{07E9F0B7-2DC5-480F-AC41-3FB891B5A750}" destId="{2FBAF739-8A69-45EF-BE8C-2FAC3FB71F66}" srcOrd="0" destOrd="0" presId="urn:microsoft.com/office/officeart/2005/8/layout/hList1"/>
    <dgm:cxn modelId="{EC3A7A29-176C-4C93-BC7C-95EF88E4476D}" type="presParOf" srcId="{07E9F0B7-2DC5-480F-AC41-3FB891B5A750}" destId="{FBB625BA-7A30-43EC-BD19-AAB9699F822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6819B5-DCFA-481F-988C-4E4B7A85C4C2}">
      <dsp:nvSpPr>
        <dsp:cNvPr id="0" name=""/>
        <dsp:cNvSpPr/>
      </dsp:nvSpPr>
      <dsp:spPr>
        <a:xfrm>
          <a:off x="517059" y="282871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STEP 1 — Descriptive Analysis</a:t>
          </a:r>
        </a:p>
      </dsp:txBody>
      <dsp:txXfrm>
        <a:off x="540214" y="306026"/>
        <a:ext cx="4803292" cy="428029"/>
      </dsp:txXfrm>
    </dsp:sp>
    <dsp:sp modelId="{D29A62D9-C1CD-4F87-B012-7114BF1DEAB4}">
      <dsp:nvSpPr>
        <dsp:cNvPr id="0" name=""/>
        <dsp:cNvSpPr/>
      </dsp:nvSpPr>
      <dsp:spPr>
        <a:xfrm>
          <a:off x="517059" y="916746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Analyze distribution of structural prompt features (length, constraints, examples)</a:t>
          </a:r>
        </a:p>
      </dsp:txBody>
      <dsp:txXfrm>
        <a:off x="540214" y="939901"/>
        <a:ext cx="4803292" cy="428029"/>
      </dsp:txXfrm>
    </dsp:sp>
    <dsp:sp modelId="{BF0CB5AF-22EE-4E1F-AC55-C0695FE43CB9}">
      <dsp:nvSpPr>
        <dsp:cNvPr id="0" name=""/>
        <dsp:cNvSpPr/>
      </dsp:nvSpPr>
      <dsp:spPr>
        <a:xfrm>
          <a:off x="517059" y="1373943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Examine conversation-level metrics such as iteration depth</a:t>
          </a:r>
        </a:p>
      </dsp:txBody>
      <dsp:txXfrm>
        <a:off x="540214" y="1397098"/>
        <a:ext cx="4803292" cy="428029"/>
      </dsp:txXfrm>
    </dsp:sp>
    <dsp:sp modelId="{41D24B9F-98AF-4A30-ABBB-241B7C2176E1}">
      <dsp:nvSpPr>
        <dsp:cNvPr id="0" name=""/>
        <dsp:cNvSpPr/>
      </dsp:nvSpPr>
      <dsp:spPr>
        <a:xfrm>
          <a:off x="517059" y="1831145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Identify overall behavioral patterns in developer–</a:t>
          </a:r>
          <a:r>
            <a:rPr lang="en-US" sz="1200" kern="1200"/>
            <a:t>LLM interactions</a:t>
          </a:r>
          <a:endParaRPr lang="en-US" sz="1200" kern="1200" dirty="0"/>
        </a:p>
      </dsp:txBody>
      <dsp:txXfrm>
        <a:off x="540214" y="1854300"/>
        <a:ext cx="4803292" cy="428029"/>
      </dsp:txXfrm>
    </dsp:sp>
    <dsp:sp modelId="{3E83A2C6-8361-47D3-9DA7-F2F1B8CED997}">
      <dsp:nvSpPr>
        <dsp:cNvPr id="0" name=""/>
        <dsp:cNvSpPr/>
      </dsp:nvSpPr>
      <dsp:spPr>
        <a:xfrm>
          <a:off x="7832248" y="260008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STEP 2 — Correlation Analysis</a:t>
          </a:r>
        </a:p>
      </dsp:txBody>
      <dsp:txXfrm>
        <a:off x="7855403" y="283163"/>
        <a:ext cx="4803292" cy="428029"/>
      </dsp:txXfrm>
    </dsp:sp>
    <dsp:sp modelId="{FFCEB148-0419-4718-9189-06A4F4D7D472}">
      <dsp:nvSpPr>
        <dsp:cNvPr id="0" name=""/>
        <dsp:cNvSpPr/>
      </dsp:nvSpPr>
      <dsp:spPr>
        <a:xfrm>
          <a:off x="7832248" y="840543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Compute pairwise correlations between features and success labels</a:t>
          </a:r>
        </a:p>
      </dsp:txBody>
      <dsp:txXfrm>
        <a:off x="7855403" y="863698"/>
        <a:ext cx="4803292" cy="428029"/>
      </dsp:txXfrm>
    </dsp:sp>
    <dsp:sp modelId="{215AB43C-85C8-4695-B63A-E2524A383C59}">
      <dsp:nvSpPr>
        <dsp:cNvPr id="0" name=""/>
        <dsp:cNvSpPr/>
      </dsp:nvSpPr>
      <dsp:spPr>
        <a:xfrm>
          <a:off x="7832248" y="1297745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Identify statistically meaningful preliminary associations</a:t>
          </a:r>
        </a:p>
      </dsp:txBody>
      <dsp:txXfrm>
        <a:off x="7855403" y="1320900"/>
        <a:ext cx="4803292" cy="428029"/>
      </dsp:txXfrm>
    </dsp:sp>
    <dsp:sp modelId="{4079D36F-0909-4536-A444-07DA94D3D60E}">
      <dsp:nvSpPr>
        <dsp:cNvPr id="0" name=""/>
        <dsp:cNvSpPr/>
      </dsp:nvSpPr>
      <dsp:spPr>
        <a:xfrm>
          <a:off x="7832248" y="1754942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Detect multicollinearity among predictors</a:t>
          </a:r>
        </a:p>
      </dsp:txBody>
      <dsp:txXfrm>
        <a:off x="7855403" y="1778097"/>
        <a:ext cx="4803292" cy="428029"/>
      </dsp:txXfrm>
    </dsp:sp>
    <dsp:sp modelId="{D9DD44BB-5FD7-4B83-99A7-3CAA5AAEC81C}">
      <dsp:nvSpPr>
        <dsp:cNvPr id="0" name=""/>
        <dsp:cNvSpPr/>
      </dsp:nvSpPr>
      <dsp:spPr>
        <a:xfrm>
          <a:off x="7832248" y="3736146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STEP 3 — Logistic Regression Modeling</a:t>
          </a:r>
        </a:p>
      </dsp:txBody>
      <dsp:txXfrm>
        <a:off x="7855403" y="3759301"/>
        <a:ext cx="4803292" cy="428029"/>
      </dsp:txXfrm>
    </dsp:sp>
    <dsp:sp modelId="{5E38B613-BFE0-46E0-B717-0BB50A743691}">
      <dsp:nvSpPr>
        <dsp:cNvPr id="0" name=""/>
        <dsp:cNvSpPr/>
      </dsp:nvSpPr>
      <dsp:spPr>
        <a:xfrm>
          <a:off x="7832248" y="4345744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Model probability of conversation success</a:t>
          </a:r>
        </a:p>
      </dsp:txBody>
      <dsp:txXfrm>
        <a:off x="7855403" y="4368899"/>
        <a:ext cx="4803292" cy="428029"/>
      </dsp:txXfrm>
    </dsp:sp>
    <dsp:sp modelId="{1282EC3E-9C20-4320-8D6E-98A7F8A787B6}">
      <dsp:nvSpPr>
        <dsp:cNvPr id="0" name=""/>
        <dsp:cNvSpPr/>
      </dsp:nvSpPr>
      <dsp:spPr>
        <a:xfrm>
          <a:off x="7832248" y="4802946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Estimate effect sizes of structural and behavioral features</a:t>
          </a:r>
        </a:p>
      </dsp:txBody>
      <dsp:txXfrm>
        <a:off x="7855403" y="4826101"/>
        <a:ext cx="4803292" cy="428029"/>
      </dsp:txXfrm>
    </dsp:sp>
    <dsp:sp modelId="{1CCFEB6F-04C7-44DD-8092-A626251CFF5E}">
      <dsp:nvSpPr>
        <dsp:cNvPr id="0" name=""/>
        <dsp:cNvSpPr/>
      </dsp:nvSpPr>
      <dsp:spPr>
        <a:xfrm>
          <a:off x="7832248" y="5260148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Control for metadata variables (language, context, source)</a:t>
          </a:r>
        </a:p>
      </dsp:txBody>
      <dsp:txXfrm>
        <a:off x="7855403" y="5283303"/>
        <a:ext cx="4803292" cy="428029"/>
      </dsp:txXfrm>
    </dsp:sp>
    <dsp:sp modelId="{B728638F-A40A-461F-B7F9-0E535E770A2F}">
      <dsp:nvSpPr>
        <dsp:cNvPr id="0" name=""/>
        <dsp:cNvSpPr/>
      </dsp:nvSpPr>
      <dsp:spPr>
        <a:xfrm>
          <a:off x="593246" y="3736146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STEP 4 — Robustness &amp; Validation</a:t>
          </a:r>
        </a:p>
      </dsp:txBody>
      <dsp:txXfrm>
        <a:off x="616401" y="3759301"/>
        <a:ext cx="4803292" cy="428029"/>
      </dsp:txXfrm>
    </dsp:sp>
    <dsp:sp modelId="{855DA6A9-7970-4337-A1E8-49247F8C1B81}">
      <dsp:nvSpPr>
        <dsp:cNvPr id="0" name=""/>
        <dsp:cNvSpPr/>
      </dsp:nvSpPr>
      <dsp:spPr>
        <a:xfrm>
          <a:off x="593246" y="4357731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 alternative success definitions</a:t>
          </a:r>
        </a:p>
      </dsp:txBody>
      <dsp:txXfrm>
        <a:off x="616401" y="4380886"/>
        <a:ext cx="4803292" cy="428029"/>
      </dsp:txXfrm>
    </dsp:sp>
    <dsp:sp modelId="{E27A9335-6A24-48BB-86D4-90D9418C3BDC}">
      <dsp:nvSpPr>
        <dsp:cNvPr id="0" name=""/>
        <dsp:cNvSpPr/>
      </dsp:nvSpPr>
      <dsp:spPr>
        <a:xfrm>
          <a:off x="593246" y="4802946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Perform subgroup analysis by programming language/context</a:t>
          </a:r>
        </a:p>
      </dsp:txBody>
      <dsp:txXfrm>
        <a:off x="616401" y="4826101"/>
        <a:ext cx="4803292" cy="428029"/>
      </dsp:txXfrm>
    </dsp:sp>
    <dsp:sp modelId="{FF637D72-09B1-4B83-B119-5E5BF7A28160}">
      <dsp:nvSpPr>
        <dsp:cNvPr id="0" name=""/>
        <dsp:cNvSpPr/>
      </dsp:nvSpPr>
      <dsp:spPr>
        <a:xfrm>
          <a:off x="593246" y="5260144"/>
          <a:ext cx="4849602" cy="474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Validate consistency and stability of results</a:t>
          </a:r>
        </a:p>
      </dsp:txBody>
      <dsp:txXfrm>
        <a:off x="616401" y="5283299"/>
        <a:ext cx="4803292" cy="428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BD602-3C40-48A9-B911-5C82D76DE5A8}">
      <dsp:nvSpPr>
        <dsp:cNvPr id="0" name=""/>
        <dsp:cNvSpPr/>
      </dsp:nvSpPr>
      <dsp:spPr>
        <a:xfrm>
          <a:off x="4333" y="10993"/>
          <a:ext cx="4224980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Core Findings:</a:t>
          </a:r>
          <a:endParaRPr lang="en-US" sz="2200" kern="1200"/>
        </a:p>
      </dsp:txBody>
      <dsp:txXfrm>
        <a:off x="4333" y="10993"/>
        <a:ext cx="4224980" cy="633600"/>
      </dsp:txXfrm>
    </dsp:sp>
    <dsp:sp modelId="{1F835270-4F61-45D5-A9D3-9F8A23FEC7D3}">
      <dsp:nvSpPr>
        <dsp:cNvPr id="0" name=""/>
        <dsp:cNvSpPr/>
      </dsp:nvSpPr>
      <dsp:spPr>
        <a:xfrm>
          <a:off x="4333" y="644593"/>
          <a:ext cx="4224980" cy="56766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Quantitative evidence linking structural prompt patterns to coding success probability.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Statistically significant predictors identified through multivariable regression modeling.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Clear differentiation between high-performing and low-performing prompting behaviors.</a:t>
          </a:r>
        </a:p>
      </dsp:txBody>
      <dsp:txXfrm>
        <a:off x="4333" y="644593"/>
        <a:ext cx="4224980" cy="5676659"/>
      </dsp:txXfrm>
    </dsp:sp>
    <dsp:sp modelId="{212507F9-DFEF-4EDF-81F7-3995FDB70265}">
      <dsp:nvSpPr>
        <dsp:cNvPr id="0" name=""/>
        <dsp:cNvSpPr/>
      </dsp:nvSpPr>
      <dsp:spPr>
        <a:xfrm>
          <a:off x="4820811" y="10993"/>
          <a:ext cx="4224980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Practical Impact:</a:t>
          </a:r>
          <a:endParaRPr lang="en-US" sz="2200" kern="1200"/>
        </a:p>
      </dsp:txBody>
      <dsp:txXfrm>
        <a:off x="4820811" y="10993"/>
        <a:ext cx="4224980" cy="633600"/>
      </dsp:txXfrm>
    </dsp:sp>
    <dsp:sp modelId="{47E8B92D-775A-48EA-922C-7917313C0E97}">
      <dsp:nvSpPr>
        <dsp:cNvPr id="0" name=""/>
        <dsp:cNvSpPr/>
      </dsp:nvSpPr>
      <dsp:spPr>
        <a:xfrm>
          <a:off x="4820811" y="644593"/>
          <a:ext cx="4224980" cy="56766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Data-driven guidelines for effective developer prompt engineering.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Actionable insights to improve reliability of AI-assisted coding workflows.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Framework for evaluating prompt quality in real-world development settings.</a:t>
          </a:r>
        </a:p>
      </dsp:txBody>
      <dsp:txXfrm>
        <a:off x="4820811" y="644593"/>
        <a:ext cx="4224980" cy="5676659"/>
      </dsp:txXfrm>
    </dsp:sp>
    <dsp:sp modelId="{2FBAF739-8A69-45EF-BE8C-2FAC3FB71F66}">
      <dsp:nvSpPr>
        <dsp:cNvPr id="0" name=""/>
        <dsp:cNvSpPr/>
      </dsp:nvSpPr>
      <dsp:spPr>
        <a:xfrm>
          <a:off x="9637289" y="10993"/>
          <a:ext cx="4224980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Research Contributions:</a:t>
          </a:r>
          <a:endParaRPr lang="en-US" sz="2200" kern="1200"/>
        </a:p>
      </dsp:txBody>
      <dsp:txXfrm>
        <a:off x="9637289" y="10993"/>
        <a:ext cx="4224980" cy="633600"/>
      </dsp:txXfrm>
    </dsp:sp>
    <dsp:sp modelId="{FBB625BA-7A30-43EC-BD19-AAB9699F822A}">
      <dsp:nvSpPr>
        <dsp:cNvPr id="0" name=""/>
        <dsp:cNvSpPr/>
      </dsp:nvSpPr>
      <dsp:spPr>
        <a:xfrm>
          <a:off x="9637289" y="644593"/>
          <a:ext cx="4224980" cy="56766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Advances empirical software engineering through large-scale workflow mining.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Extends prompt engineering research with feature-level statistical analysis.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Contributes to understanding of human–AI collaborative coding dynamics.</a:t>
          </a:r>
        </a:p>
      </dsp:txBody>
      <dsp:txXfrm>
        <a:off x="9637289" y="644593"/>
        <a:ext cx="4224980" cy="5676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IST-SE/DevGPT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5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9.png"/><Relationship Id="rId10" Type="http://schemas.openxmlformats.org/officeDocument/2006/relationships/image" Target="../media/image8.svg"/><Relationship Id="rId4" Type="http://schemas.openxmlformats.org/officeDocument/2006/relationships/diagramData" Target="../diagrams/data1.xml"/><Relationship Id="rId9" Type="http://schemas.openxmlformats.org/officeDocument/2006/relationships/image" Target="../media/image7.png"/><Relationship Id="rId1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668325" y="3846186"/>
            <a:ext cx="12951349" cy="169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9"/>
              </a:lnSpc>
            </a:pPr>
            <a:r>
              <a:rPr lang="en-US" sz="4906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PROMPT PATTERN MINING IN VIBE CODING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2982" y="6041546"/>
            <a:ext cx="10162036" cy="235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Teja Reddy Mandadi</a:t>
            </a:r>
          </a:p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Visesh Bentula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Umapathi Konduri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Gray abstract line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396193" y="2104738"/>
            <a:ext cx="12741423" cy="6077524"/>
            <a:chOff x="0" y="0"/>
            <a:chExt cx="16988563" cy="8103366"/>
          </a:xfrm>
        </p:grpSpPr>
        <p:sp>
          <p:nvSpPr>
            <p:cNvPr id="4" name="TextBox 4"/>
            <p:cNvSpPr txBox="1"/>
            <p:nvPr/>
          </p:nvSpPr>
          <p:spPr>
            <a:xfrm>
              <a:off x="0" y="2770171"/>
              <a:ext cx="16988563" cy="533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1628" lvl="1" indent="-275814" algn="l">
                <a:lnSpc>
                  <a:spcPts val="357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5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Large Language Models (LLMs) are increasingly integrated into software development workflows.</a:t>
              </a:r>
            </a:p>
            <a:p>
              <a:pPr marL="551628" lvl="1" indent="-275814" algn="l">
                <a:lnSpc>
                  <a:spcPts val="357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5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Developers rely on conversational prompting to generate, refine, and debug code.</a:t>
              </a:r>
            </a:p>
            <a:p>
              <a:pPr marL="551628" lvl="1" indent="-275814" algn="l">
                <a:lnSpc>
                  <a:spcPts val="357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5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However, prompt quality and structure vary significantly across users.</a:t>
              </a:r>
            </a:p>
            <a:p>
              <a:pPr marL="551628" lvl="1" indent="-275814" algn="l">
                <a:lnSpc>
                  <a:spcPts val="357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5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Our project investigates which measurable prompt patterns are associated with more successful coding interactions.</a:t>
              </a:r>
            </a:p>
            <a:p>
              <a:pPr marL="551628" lvl="1" indent="-275814" algn="l">
                <a:lnSpc>
                  <a:spcPts val="357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55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We frame this as an empirical software engineering study using real-world developer–LLM conversations.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0975"/>
              <a:ext cx="16988563" cy="1740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3F3D3E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INTRODUCTION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393" y="1653595"/>
            <a:ext cx="12345213" cy="2035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59"/>
              </a:lnSpc>
            </a:pPr>
            <a:r>
              <a:rPr lang="en-US" sz="7236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BACKGROUND - LLMS IN SOFTWARE ENGINEERING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9452" y="6705626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Code generation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9452" y="5761355"/>
            <a:ext cx="2746646" cy="77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853" u="none" strike="noStrik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LLMs such as ChatGPT and Codex are used for: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945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9452" y="7032806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Bug fixing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73602" y="5761355"/>
            <a:ext cx="2746646" cy="1804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Studies show productivity improvements but also highlight risks such as hallucinated or insecure code.</a:t>
            </a:r>
          </a:p>
          <a:p>
            <a:pPr marL="0" lvl="0" indent="0" algn="l">
              <a:lnSpc>
                <a:spcPts val="2039"/>
              </a:lnSpc>
            </a:pPr>
            <a:endParaRPr lang="en-US" sz="185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77360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9452" y="7359986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Refactoring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67752" y="5761355"/>
            <a:ext cx="2746646" cy="223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8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Research from empirical software engineering and ACM/IEEE venues shows that output quality is highly sensitive to prompt design.</a:t>
            </a:r>
          </a:p>
          <a:p>
            <a:pPr marL="0" lvl="0" indent="0" algn="l">
              <a:lnSpc>
                <a:spcPts val="1998"/>
              </a:lnSpc>
            </a:pPr>
            <a:endParaRPr lang="en-US" sz="181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6775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9452" y="7686566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Documentation writing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61902" y="5761355"/>
            <a:ext cx="2746646" cy="1804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Security-focused studies emphasize the importance of structured, well-defined prompts to reduce vulnerabilities.</a:t>
            </a:r>
          </a:p>
          <a:p>
            <a:pPr marL="0" lvl="0" indent="0" algn="l">
              <a:lnSpc>
                <a:spcPts val="2039"/>
              </a:lnSpc>
            </a:pPr>
            <a:endParaRPr lang="en-US" sz="185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6190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9452" y="8984864"/>
            <a:ext cx="14729096" cy="54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Insight:</a:t>
            </a:r>
          </a:p>
          <a:p>
            <a:pPr algn="l">
              <a:lnSpc>
                <a:spcPts val="2235"/>
              </a:lnSpc>
              <a:spcBef>
                <a:spcPct val="0"/>
              </a:spcBef>
            </a:pPr>
            <a:r>
              <a:rPr lang="en-US" sz="17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Understanding how developers structure prompts is critical to improving reliability and effectiveness of AI-assisted 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730" y="1821479"/>
            <a:ext cx="13298540" cy="252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0"/>
              </a:lnSpc>
            </a:pPr>
            <a:r>
              <a:rPr lang="en-US" sz="5973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BACKGROUND - VIBE CODING &amp; PROMPTING BEHAVIOR</a:t>
            </a:r>
          </a:p>
          <a:p>
            <a:pPr marL="0" lvl="0" indent="0" algn="ctr">
              <a:lnSpc>
                <a:spcPts val="6570"/>
              </a:lnSpc>
            </a:pPr>
            <a:endParaRPr lang="en-US" sz="5973" b="1">
              <a:solidFill>
                <a:srgbClr val="000000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73331" y="6480224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Adding constraints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9452" y="5761355"/>
            <a:ext cx="2746646" cy="129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“Vibe</a:t>
            </a:r>
            <a:r>
              <a:rPr lang="en-US" sz="1853" u="none" strike="noStrik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coding” refers to interactive, iterative collaboration between developer and LLM.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 lang="en-US" sz="1853" u="none" strike="noStrik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7945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73331" y="6807404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Providing examples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73602" y="5761355"/>
            <a:ext cx="2746646" cy="51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Developers refine prompts by: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7360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73331" y="7134584"/>
            <a:ext cx="2746646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Requesting formatting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67752" y="5761355"/>
            <a:ext cx="2746646" cy="148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8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Prior studies show prompting strategy significantly impacts code correctness and usability.</a:t>
            </a:r>
          </a:p>
          <a:p>
            <a:pPr marL="0" lvl="0" indent="0" algn="l">
              <a:lnSpc>
                <a:spcPts val="1998"/>
              </a:lnSpc>
            </a:pPr>
            <a:endParaRPr lang="en-US" sz="181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6775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3331" y="7461165"/>
            <a:ext cx="3370669" cy="29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correcting model outputs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61902" y="5761355"/>
            <a:ext cx="2746646" cy="206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However, most existing work uses controlled experiments rather than large-scale real-world conversation analysis.</a:t>
            </a:r>
          </a:p>
          <a:p>
            <a:pPr marL="0" lvl="0" indent="0" algn="l">
              <a:lnSpc>
                <a:spcPts val="2039"/>
              </a:lnSpc>
            </a:pPr>
            <a:endParaRPr lang="en-US" sz="185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61902" y="4645147"/>
            <a:ext cx="27466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9452" y="8984864"/>
            <a:ext cx="14729096" cy="8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Research Gap:</a:t>
            </a:r>
          </a:p>
          <a:p>
            <a:pPr algn="l">
              <a:lnSpc>
                <a:spcPts val="2235"/>
              </a:lnSpc>
              <a:spcBef>
                <a:spcPct val="0"/>
              </a:spcBef>
            </a:pPr>
            <a:r>
              <a:rPr lang="en-US" sz="17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 is limited quantitative evidence on which prompt patterns consistently lead to successful coding outcomes in natural developer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297" y="2426245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19297" y="3910197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019297" y="5412679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3066887"/>
            <a:ext cx="7324149" cy="3563783"/>
            <a:chOff x="0" y="0"/>
            <a:chExt cx="9765532" cy="4751711"/>
          </a:xfrm>
        </p:grpSpPr>
        <p:sp>
          <p:nvSpPr>
            <p:cNvPr id="6" name="TextBox 6"/>
            <p:cNvSpPr txBox="1"/>
            <p:nvPr/>
          </p:nvSpPr>
          <p:spPr>
            <a:xfrm>
              <a:off x="0" y="-142875"/>
              <a:ext cx="9765532" cy="3769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50"/>
                </a:lnSpc>
              </a:pPr>
              <a:r>
                <a:rPr lang="en-US" sz="5100" b="1">
                  <a:solidFill>
                    <a:srgbClr val="545454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RELATED WORK I – DEVELOPER–LLM INTERACTION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010877"/>
              <a:ext cx="9765532" cy="740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05100" y="2538397"/>
            <a:ext cx="5854200" cy="8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Springer – Empirical Software Engineering (2024)</a:t>
            </a:r>
          </a:p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Analyzes ChatGPT use in GitHub PRs and Issues</a:t>
            </a:r>
          </a:p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Identifies iterative refinement patterns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05100" y="4019838"/>
            <a:ext cx="5854200" cy="8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DevGPT (Xiao et al., arXiv)</a:t>
            </a:r>
          </a:p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Introduces large-scale dataset of developer–ChatGPT conversations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05100" y="5660432"/>
            <a:ext cx="5854200" cy="54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Wu et al. (ACM Conference)</a:t>
            </a:r>
          </a:p>
          <a:p>
            <a:pPr marL="0" lvl="0" indent="0"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Extracts prompt patterns from DevGPT dialogues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822323"/>
            <a:ext cx="16019676" cy="83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sz="2421">
                <a:solidFill>
                  <a:srgbClr val="545454"/>
                </a:solidFill>
                <a:latin typeface="Alexandria"/>
                <a:ea typeface="Alexandria"/>
                <a:cs typeface="Alexandria"/>
                <a:sym typeface="Alexandria"/>
              </a:rPr>
              <a:t> GAP:  EXISTING WORK IDENTIFIES PATTERNS BUT LACKS MULTIVARIABLE STATISTICAL MODELING OF STRUCTURAL PROMPT FEATURES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019297" y="6802778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493407" y="6783728"/>
            <a:ext cx="5854200" cy="137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Prompting Techniques for Secure Code Generation (arXiv)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Evaluates prompting effects on secure coding outcomes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297" y="2580019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19297" y="4250012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019297" y="5929426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8"/>
                </a:lnTo>
                <a:lnTo>
                  <a:pt x="0" y="1064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2095337"/>
            <a:ext cx="7324149" cy="5506883"/>
            <a:chOff x="0" y="0"/>
            <a:chExt cx="9765532" cy="7342511"/>
          </a:xfrm>
        </p:grpSpPr>
        <p:sp>
          <p:nvSpPr>
            <p:cNvPr id="6" name="TextBox 6"/>
            <p:cNvSpPr txBox="1"/>
            <p:nvPr/>
          </p:nvSpPr>
          <p:spPr>
            <a:xfrm>
              <a:off x="0" y="-142875"/>
              <a:ext cx="9765532" cy="6360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50"/>
                </a:lnSpc>
              </a:pPr>
              <a:r>
                <a:rPr lang="en-US" sz="5100" b="1">
                  <a:solidFill>
                    <a:srgbClr val="545454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RELATED WORK II – DEVELOPER–PROMPT ENGINEERING TECHNIQUES</a:t>
              </a:r>
            </a:p>
            <a:p>
              <a:pPr marL="0" lvl="0" indent="0" algn="l">
                <a:lnSpc>
                  <a:spcPts val="7650"/>
                </a:lnSpc>
              </a:pPr>
              <a:endParaRPr lang="en-US" sz="5100" b="1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601677"/>
              <a:ext cx="9765532" cy="740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05100" y="2692171"/>
            <a:ext cx="5854200" cy="8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IEEE ICSME 2025 – Prompting Matters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Controlled evaluation of prompting techniques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05100" y="4221540"/>
            <a:ext cx="5854200" cy="110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Elsevier (ScienceDirect) – Unleashing the Potential of Prompt Engineering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Structured prompts improve reliability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05100" y="5900955"/>
            <a:ext cx="5854200" cy="110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Improving ChatGPT Prompt for Code Generation (arXiv)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Comparison of prompting strategies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7075" y="9254929"/>
            <a:ext cx="16019676" cy="40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sz="2421">
                <a:solidFill>
                  <a:srgbClr val="545454"/>
                </a:solidFill>
                <a:latin typeface="Alexandria"/>
                <a:ea typeface="Alexandria"/>
                <a:cs typeface="Alexandria"/>
                <a:sym typeface="Alexandria"/>
              </a:rPr>
              <a:t> MOST STUDIES RELY ON CONTROLLED EXPERIMENTS, NOT REAL-WORLD WORKFLOW MINING.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019297" y="7492978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405100" y="7467018"/>
            <a:ext cx="5854200" cy="110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Prompt Alchemy (arXiv)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Automatic iterative refinement improves performance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609562"/>
            <a:ext cx="7324149" cy="6478433"/>
            <a:chOff x="0" y="0"/>
            <a:chExt cx="9765532" cy="8637911"/>
          </a:xfrm>
        </p:grpSpPr>
        <p:sp>
          <p:nvSpPr>
            <p:cNvPr id="3" name="TextBox 3"/>
            <p:cNvSpPr txBox="1"/>
            <p:nvPr/>
          </p:nvSpPr>
          <p:spPr>
            <a:xfrm>
              <a:off x="0" y="-142875"/>
              <a:ext cx="9765532" cy="7656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50"/>
                </a:lnSpc>
              </a:pPr>
              <a:r>
                <a:rPr lang="en-US" sz="5100" b="1">
                  <a:solidFill>
                    <a:srgbClr val="545454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RELATED WORK III – BROADER CONTEXT &amp; CONCEPTUAL FOUNDATIONS</a:t>
              </a:r>
            </a:p>
            <a:p>
              <a:pPr marL="0" lvl="0" indent="0" algn="l">
                <a:lnSpc>
                  <a:spcPts val="7650"/>
                </a:lnSpc>
              </a:pPr>
              <a:endParaRPr lang="en-US" sz="5100" b="1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endParaRPr>
            </a:p>
            <a:p>
              <a:pPr marL="0" lvl="0" indent="0" algn="l">
                <a:lnSpc>
                  <a:spcPts val="7650"/>
                </a:lnSpc>
              </a:pPr>
              <a:endParaRPr lang="en-US" sz="5100" b="1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897077"/>
              <a:ext cx="9765532" cy="740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7075" y="9254929"/>
            <a:ext cx="16019676" cy="83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sz="2421">
                <a:solidFill>
                  <a:srgbClr val="545454"/>
                </a:solidFill>
                <a:latin typeface="Alexandria"/>
                <a:ea typeface="Alexandria"/>
                <a:cs typeface="Alexandria"/>
                <a:sym typeface="Alexandria"/>
              </a:rPr>
              <a:t>THESE WORKS ESTABLISH IMPORTANCE OF PROMPTING, BUT NONE PERFORM LARGE-SCALE STATISTICAL MINING OF STRUCTURAL PROMPT FEATURES IN REAL-WORLD CODING WORKFLOWS.</a:t>
            </a:r>
          </a:p>
        </p:txBody>
      </p:sp>
      <p:sp>
        <p:nvSpPr>
          <p:cNvPr id="6" name="Freeform 6"/>
          <p:cNvSpPr/>
          <p:nvPr/>
        </p:nvSpPr>
        <p:spPr>
          <a:xfrm>
            <a:off x="10019297" y="2580019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019297" y="4250012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019297" y="5929426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8"/>
                </a:lnTo>
                <a:lnTo>
                  <a:pt x="0" y="1064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405100" y="2415946"/>
            <a:ext cx="5854200" cy="137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SN Computer Science (Springer) – LLMs for Code Generation Review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Systematic overview of LLM use in software engineering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05100" y="4359652"/>
            <a:ext cx="5854200" cy="8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ACM – LLM Security Hardening Study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Highlights reliability and vulnerability risks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05100" y="5762842"/>
            <a:ext cx="5854200" cy="137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Frontiers in Education – Prompt Engineering as a Skill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Establishes prompt design as an emerging competency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019297" y="7492978"/>
            <a:ext cx="1064217" cy="1064217"/>
          </a:xfrm>
          <a:custGeom>
            <a:avLst/>
            <a:gdLst/>
            <a:ahLst/>
            <a:cxnLst/>
            <a:rect l="l" t="t" r="r" b="b"/>
            <a:pathLst>
              <a:path w="1064217" h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405100" y="7605130"/>
            <a:ext cx="5854200" cy="8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Prompt Pattern Catalog (Technical Report)</a:t>
            </a:r>
          </a:p>
          <a:p>
            <a:pPr algn="l">
              <a:lnSpc>
                <a:spcPts val="2235"/>
              </a:lnSpc>
            </a:pPr>
            <a:r>
              <a:rPr lang="en-US" sz="171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Formalizes reusable prompt structures</a:t>
            </a:r>
          </a:p>
          <a:p>
            <a:pPr marL="0" lvl="0" indent="0" algn="l">
              <a:lnSpc>
                <a:spcPts val="2235"/>
              </a:lnSpc>
            </a:pPr>
            <a:endParaRPr lang="en-US" sz="171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30422" y="5138738"/>
            <a:ext cx="7418719" cy="9525"/>
          </a:xfrm>
          <a:prstGeom prst="rect">
            <a:avLst/>
          </a:prstGeom>
          <a:solidFill>
            <a:srgbClr val="A6A6A6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7884316" cy="10287000"/>
          </a:xfrm>
          <a:prstGeom prst="rect">
            <a:avLst/>
          </a:prstGeom>
          <a:solidFill>
            <a:srgbClr val="A6A6A6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14910" y="4409438"/>
            <a:ext cx="5435446" cy="150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5"/>
              </a:lnSpc>
            </a:pPr>
            <a:r>
              <a:rPr lang="en-US" sz="535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RESEARCH GAP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023034" y="1837339"/>
            <a:ext cx="5926107" cy="2055403"/>
            <a:chOff x="0" y="0"/>
            <a:chExt cx="7901476" cy="2740538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790147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765" b="1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From prior literature: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1490"/>
              <a:ext cx="7901476" cy="1909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9728" lvl="1" indent="-219864" algn="l">
                <a:lnSpc>
                  <a:spcPts val="2851"/>
                </a:lnSpc>
                <a:buFont typeface="Arial"/>
                <a:buChar char="•"/>
              </a:pPr>
              <a:r>
                <a:rPr lang="en-US" sz="2036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Prompt engineering improves output</a:t>
              </a:r>
            </a:p>
            <a:p>
              <a:pPr marL="439728" lvl="1" indent="-219864" algn="l">
                <a:lnSpc>
                  <a:spcPts val="2851"/>
                </a:lnSpc>
                <a:buFont typeface="Arial"/>
                <a:buChar char="•"/>
              </a:pPr>
              <a:r>
                <a:rPr lang="en-US" sz="2036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Developers iteratively refine prompts</a:t>
              </a:r>
            </a:p>
            <a:p>
              <a:pPr marL="439728" lvl="1" indent="-219864" algn="l">
                <a:lnSpc>
                  <a:spcPts val="2851"/>
                </a:lnSpc>
                <a:buFont typeface="Arial"/>
                <a:buChar char="•"/>
              </a:pPr>
              <a:r>
                <a:rPr lang="en-US" sz="2036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LLM output quality varies significantly</a:t>
              </a:r>
            </a:p>
            <a:p>
              <a:pPr algn="l">
                <a:lnSpc>
                  <a:spcPts val="2851"/>
                </a:lnSpc>
              </a:pPr>
              <a:endParaRPr lang="en-US" sz="203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23034" y="6276191"/>
            <a:ext cx="5926107" cy="2417353"/>
            <a:chOff x="0" y="0"/>
            <a:chExt cx="7901476" cy="3223138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790147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765" b="1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Missing: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31490"/>
              <a:ext cx="7901476" cy="2391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9728" lvl="1" indent="-219864" algn="l">
                <a:lnSpc>
                  <a:spcPts val="2851"/>
                </a:lnSpc>
                <a:buFont typeface="Arial"/>
                <a:buChar char="•"/>
              </a:pPr>
              <a:r>
                <a:rPr lang="en-US" sz="2036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Feature-level mining of prompt structure</a:t>
              </a:r>
            </a:p>
            <a:p>
              <a:pPr marL="439728" lvl="1" indent="-219864" algn="l">
                <a:lnSpc>
                  <a:spcPts val="2851"/>
                </a:lnSpc>
                <a:buFont typeface="Arial"/>
                <a:buChar char="•"/>
              </a:pPr>
              <a:r>
                <a:rPr lang="en-US" sz="2036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Statistical modeling of prompt success</a:t>
              </a:r>
            </a:p>
            <a:p>
              <a:pPr marL="439728" lvl="1" indent="-219864" algn="l">
                <a:lnSpc>
                  <a:spcPts val="2851"/>
                </a:lnSpc>
                <a:buFont typeface="Arial"/>
                <a:buChar char="•"/>
              </a:pPr>
              <a:r>
                <a:rPr lang="en-US" sz="2036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Regression analysis controlling for context</a:t>
              </a:r>
            </a:p>
            <a:p>
              <a:pPr algn="l">
                <a:lnSpc>
                  <a:spcPts val="2851"/>
                </a:lnSpc>
              </a:pPr>
              <a:endParaRPr lang="en-US" sz="203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0" y="1904014"/>
            <a:ext cx="1402784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 b="1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6342866"/>
            <a:ext cx="1402784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 b="1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295775"/>
            <a:ext cx="4549535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72"/>
              </a:lnSpc>
            </a:pPr>
            <a:r>
              <a:rPr lang="en-US" sz="5560" b="1" u="none" strike="noStrike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RESEARCH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76574" y="2323213"/>
            <a:ext cx="10197076" cy="41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7"/>
              </a:lnSpc>
            </a:pPr>
            <a:r>
              <a:rPr lang="en-US" sz="257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Ext</a:t>
            </a:r>
            <a:r>
              <a:rPr lang="en-US" sz="2574" strike="noStrik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ract measurable prompt features from real conversations.</a:t>
            </a:r>
          </a:p>
        </p:txBody>
      </p:sp>
      <p:sp>
        <p:nvSpPr>
          <p:cNvPr id="4" name="Freeform 4"/>
          <p:cNvSpPr/>
          <p:nvPr/>
        </p:nvSpPr>
        <p:spPr>
          <a:xfrm>
            <a:off x="6612693" y="2251105"/>
            <a:ext cx="590482" cy="590482"/>
          </a:xfrm>
          <a:custGeom>
            <a:avLst/>
            <a:gdLst/>
            <a:ahLst/>
            <a:cxnLst/>
            <a:rect l="l" t="t" r="r" b="b"/>
            <a:pathLst>
              <a:path w="590482" h="590482">
                <a:moveTo>
                  <a:pt x="0" y="0"/>
                </a:moveTo>
                <a:lnTo>
                  <a:pt x="590483" y="0"/>
                </a:lnTo>
                <a:lnTo>
                  <a:pt x="590483" y="590482"/>
                </a:lnTo>
                <a:lnTo>
                  <a:pt x="0" y="590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576574" y="3972774"/>
            <a:ext cx="10197076" cy="342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2"/>
              </a:lnSpc>
            </a:pPr>
            <a:r>
              <a:rPr lang="en-US" sz="2179" strike="noStrik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Quantitatively analyze structural and behavioral prompt characteristics.</a:t>
            </a:r>
          </a:p>
        </p:txBody>
      </p:sp>
      <p:sp>
        <p:nvSpPr>
          <p:cNvPr id="6" name="Freeform 6"/>
          <p:cNvSpPr/>
          <p:nvPr/>
        </p:nvSpPr>
        <p:spPr>
          <a:xfrm>
            <a:off x="6612693" y="3817539"/>
            <a:ext cx="590482" cy="590482"/>
          </a:xfrm>
          <a:custGeom>
            <a:avLst/>
            <a:gdLst/>
            <a:ahLst/>
            <a:cxnLst/>
            <a:rect l="l" t="t" r="r" b="b"/>
            <a:pathLst>
              <a:path w="590482" h="590482">
                <a:moveTo>
                  <a:pt x="0" y="0"/>
                </a:moveTo>
                <a:lnTo>
                  <a:pt x="590483" y="0"/>
                </a:lnTo>
                <a:lnTo>
                  <a:pt x="590483" y="590482"/>
                </a:lnTo>
                <a:lnTo>
                  <a:pt x="0" y="590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576574" y="5456392"/>
            <a:ext cx="10197076" cy="41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</a:pPr>
            <a:r>
              <a:rPr lang="en-US" sz="2623" strike="noStrik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 statistical predictors of successful coding outcomes.</a:t>
            </a:r>
          </a:p>
        </p:txBody>
      </p:sp>
      <p:sp>
        <p:nvSpPr>
          <p:cNvPr id="8" name="Freeform 8"/>
          <p:cNvSpPr/>
          <p:nvPr/>
        </p:nvSpPr>
        <p:spPr>
          <a:xfrm>
            <a:off x="6612693" y="5383973"/>
            <a:ext cx="590482" cy="590482"/>
          </a:xfrm>
          <a:custGeom>
            <a:avLst/>
            <a:gdLst/>
            <a:ahLst/>
            <a:cxnLst/>
            <a:rect l="l" t="t" r="r" b="b"/>
            <a:pathLst>
              <a:path w="590482" h="590482">
                <a:moveTo>
                  <a:pt x="0" y="0"/>
                </a:moveTo>
                <a:lnTo>
                  <a:pt x="590483" y="0"/>
                </a:lnTo>
                <a:lnTo>
                  <a:pt x="590483" y="590482"/>
                </a:lnTo>
                <a:lnTo>
                  <a:pt x="0" y="590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76574" y="7022826"/>
            <a:ext cx="10197076" cy="41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</a:pPr>
            <a:r>
              <a:rPr lang="en-US" sz="2623" strike="noStrik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interpretable, reproducible results.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612693" y="6950406"/>
            <a:ext cx="590482" cy="590482"/>
          </a:xfrm>
          <a:custGeom>
            <a:avLst/>
            <a:gdLst/>
            <a:ahLst/>
            <a:cxnLst/>
            <a:rect l="l" t="t" r="r" b="b"/>
            <a:pathLst>
              <a:path w="590482" h="590482">
                <a:moveTo>
                  <a:pt x="0" y="0"/>
                </a:moveTo>
                <a:lnTo>
                  <a:pt x="590483" y="0"/>
                </a:lnTo>
                <a:lnTo>
                  <a:pt x="590483" y="590483"/>
                </a:lnTo>
                <a:lnTo>
                  <a:pt x="0" y="590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6612693" y="3322533"/>
            <a:ext cx="1116095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612693" y="4888967"/>
            <a:ext cx="1116095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612693" y="6455400"/>
            <a:ext cx="1116095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6612693" y="8021834"/>
            <a:ext cx="1116095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7571" y="7571"/>
            <a:ext cx="9463895" cy="9448753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-5400000">
            <a:off x="12176837" y="5199775"/>
            <a:ext cx="1016492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85850"/>
            <a:ext cx="4026437" cy="143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4"/>
              </a:lnSpc>
            </a:pPr>
            <a:r>
              <a:rPr lang="en-US" sz="5177" b="1">
                <a:solidFill>
                  <a:srgbClr val="E9E9E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RESEARCH QUESTIONS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79228" y="1409700"/>
            <a:ext cx="6558586" cy="2328478"/>
            <a:chOff x="0" y="0"/>
            <a:chExt cx="8744782" cy="3104637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8744782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b="1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RQ1: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19249"/>
              <a:ext cx="8744782" cy="2285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6"/>
                </a:lnSpc>
              </a:pPr>
              <a:r>
                <a:rPr lang="en-US" sz="2324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Which structural prompt features (length, constraints, examples, formatting instructions) are associated with successful coding conversations?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79228" y="4296929"/>
            <a:ext cx="6558586" cy="1890328"/>
            <a:chOff x="0" y="0"/>
            <a:chExt cx="8744782" cy="252043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8744782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b="1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RQ2: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19249"/>
              <a:ext cx="8744782" cy="1701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6"/>
                </a:lnSpc>
              </a:pPr>
              <a:r>
                <a:rPr lang="en-US" sz="2324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How does iterative behavior (number of turns, refinement prompts, correction cycles) influence success probability?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79228" y="7184157"/>
            <a:ext cx="6558586" cy="1890328"/>
            <a:chOff x="0" y="0"/>
            <a:chExt cx="8744782" cy="252043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57150"/>
              <a:ext cx="8744782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b="1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RQ3: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19249"/>
              <a:ext cx="8744782" cy="1701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6"/>
                </a:lnSpc>
              </a:pPr>
              <a:r>
                <a:rPr lang="en-US" sz="2324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After controlling for metadata (language, model type, source context), which features remain statistically significant?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089441" y="2001483"/>
            <a:ext cx="339718" cy="33971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089441" y="4973641"/>
            <a:ext cx="339718" cy="33971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89441" y="7945799"/>
            <a:ext cx="339718" cy="33971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w="9525" cap="flat">
            <a:solidFill>
              <a:srgbClr val="E9E9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159908"/>
            <a:ext cx="8022194" cy="1199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63"/>
              </a:lnSpc>
            </a:pPr>
            <a:r>
              <a:rPr lang="en-US" sz="4441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RESEARCH METHODOLOGY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4728816"/>
            <a:ext cx="13866603" cy="30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2"/>
              </a:lnSpc>
            </a:pPr>
            <a:r>
              <a:rPr lang="en-US" sz="218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Empirical software engineering approach:</a:t>
            </a:r>
          </a:p>
          <a:p>
            <a:pPr marL="0" lvl="0" indent="0" algn="l">
              <a:lnSpc>
                <a:spcPts val="3052"/>
              </a:lnSpc>
            </a:pPr>
            <a:endParaRPr lang="en-US" sz="218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70763" lvl="1" indent="-235381" algn="l">
              <a:lnSpc>
                <a:spcPts val="3052"/>
              </a:lnSpc>
              <a:buAutoNum type="arabicPeriod"/>
            </a:pPr>
            <a:r>
              <a:rPr lang="en-US" sz="218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preprocessing</a:t>
            </a:r>
          </a:p>
          <a:p>
            <a:pPr marL="470763" lvl="1" indent="-235381" algn="l">
              <a:lnSpc>
                <a:spcPts val="3052"/>
              </a:lnSpc>
              <a:buAutoNum type="arabicPeriod"/>
            </a:pPr>
            <a:r>
              <a:rPr lang="en-US" sz="218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Feature extraction</a:t>
            </a:r>
          </a:p>
          <a:p>
            <a:pPr marL="470763" lvl="1" indent="-235381" algn="l">
              <a:lnSpc>
                <a:spcPts val="3052"/>
              </a:lnSpc>
              <a:buAutoNum type="arabicPeriod"/>
            </a:pPr>
            <a:r>
              <a:rPr lang="en-US" sz="218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Success labeling</a:t>
            </a:r>
          </a:p>
          <a:p>
            <a:pPr marL="470763" lvl="1" indent="-235381" algn="l">
              <a:lnSpc>
                <a:spcPts val="3052"/>
              </a:lnSpc>
              <a:buAutoNum type="arabicPeriod"/>
            </a:pPr>
            <a:r>
              <a:rPr lang="en-US" sz="218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Statistical analysis</a:t>
            </a:r>
          </a:p>
          <a:p>
            <a:pPr marL="0" lvl="0" indent="0" algn="l">
              <a:lnSpc>
                <a:spcPts val="3052"/>
              </a:lnSpc>
            </a:pPr>
            <a:endParaRPr lang="en-US" sz="218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0" lvl="0" indent="0" algn="l">
              <a:lnSpc>
                <a:spcPts val="3052"/>
              </a:lnSpc>
            </a:pPr>
            <a:r>
              <a:rPr lang="en-US" sz="218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Pipeline designed to be reproducible and interpretable.</a:t>
            </a: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046" y="3191725"/>
            <a:ext cx="10010284" cy="0"/>
          </a:xfrm>
          <a:prstGeom prst="line">
            <a:avLst/>
          </a:prstGeom>
          <a:ln w="104775" cap="flat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5400000">
            <a:off x="4058378" y="6839965"/>
            <a:ext cx="4446144" cy="0"/>
          </a:xfrm>
          <a:prstGeom prst="line">
            <a:avLst/>
          </a:prstGeom>
          <a:ln w="9525" cap="rnd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9873289" y="6839965"/>
            <a:ext cx="4446144" cy="0"/>
          </a:xfrm>
          <a:prstGeom prst="line">
            <a:avLst/>
          </a:prstGeom>
          <a:ln w="9525" cap="rnd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132594" y="4616893"/>
            <a:ext cx="4875064" cy="2982404"/>
            <a:chOff x="0" y="-28575"/>
            <a:chExt cx="6500086" cy="3976537"/>
          </a:xfrm>
        </p:grpSpPr>
        <p:sp>
          <p:nvSpPr>
            <p:cNvPr id="6" name="TextBox 6"/>
            <p:cNvSpPr txBox="1"/>
            <p:nvPr/>
          </p:nvSpPr>
          <p:spPr>
            <a:xfrm>
              <a:off x="0" y="-28575"/>
              <a:ext cx="6500086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dirty="0">
                  <a:solidFill>
                    <a:srgbClr val="3F3D3E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DATASET: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44550"/>
              <a:ext cx="6231539" cy="3103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00"/>
                </a:lnSpc>
              </a:pPr>
              <a:r>
                <a:rPr lang="en-US" sz="2000" b="1" dirty="0" err="1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DevGPT</a:t>
              </a:r>
              <a:r>
                <a:rPr lang="en-US" sz="2000" b="1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 dataset (Xiao et al.)</a:t>
              </a:r>
            </a:p>
            <a:p>
              <a:pPr marL="342900" lvl="0" indent="-342900">
                <a:lnSpc>
                  <a:spcPts val="26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Real-world developer-ChatGPT conversations</a:t>
              </a:r>
            </a:p>
            <a:p>
              <a:pPr marL="342900" lvl="0" indent="-342900">
                <a:lnSpc>
                  <a:spcPts val="26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Extracted from </a:t>
              </a:r>
              <a:r>
                <a:rPr lang="en-US" sz="2000" dirty="0" err="1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Github</a:t>
              </a:r>
              <a:r>
                <a:rPr lang="en-US" sz="20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 Repositories</a:t>
              </a:r>
            </a:p>
            <a:p>
              <a:pPr marL="342900" lvl="0" indent="-342900">
                <a:lnSpc>
                  <a:spcPts val="26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Large-scale, natural workflow data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54914" y="4616893"/>
            <a:ext cx="4666956" cy="1270000"/>
            <a:chOff x="0" y="0"/>
            <a:chExt cx="6222608" cy="1693333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6222608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dirty="0">
                  <a:solidFill>
                    <a:srgbClr val="3F3D3E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UNIT OF ANALYSIS: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44550"/>
              <a:ext cx="6222608" cy="84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2600"/>
                </a:lnSpc>
                <a:buFont typeface="Arial"/>
                <a:buChar char="•"/>
              </a:pPr>
              <a:r>
                <a:rPr lang="en-US" sz="200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Individual prompts</a:t>
              </a:r>
            </a:p>
            <a:p>
              <a:pPr marL="431801" lvl="1" indent="-215900" algn="l">
                <a:lnSpc>
                  <a:spcPts val="2600"/>
                </a:lnSpc>
                <a:buFont typeface="Arial"/>
                <a:buChar char="•"/>
              </a:pPr>
              <a:r>
                <a:rPr lang="en-US" sz="200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Entire conversation threads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36168" y="4616893"/>
            <a:ext cx="5403506" cy="4649206"/>
            <a:chOff x="0" y="-28575"/>
            <a:chExt cx="7204675" cy="619894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7204675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3F3D3E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PROCESSING STEPS: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44549"/>
              <a:ext cx="6301334" cy="5325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97010" lvl="1" algn="l">
                <a:lnSpc>
                  <a:spcPts val="2372"/>
                </a:lnSpc>
              </a:pPr>
              <a:r>
                <a:rPr lang="en-US" sz="1825" b="1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Conversation Parsing: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Load and parse JSON files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Extract turns, metadata, and thread structure</a:t>
              </a:r>
            </a:p>
            <a:p>
              <a:pPr marL="197010" lvl="1" algn="l">
                <a:lnSpc>
                  <a:spcPts val="2372"/>
                </a:lnSpc>
              </a:pPr>
              <a:r>
                <a:rPr lang="en-US" sz="1825" b="1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Data Cleaning: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Remove duplicates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Filter incomplete threads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Normalize text content</a:t>
              </a:r>
            </a:p>
            <a:p>
              <a:pPr marL="197010" lvl="1" algn="l">
                <a:lnSpc>
                  <a:spcPts val="2372"/>
                </a:lnSpc>
              </a:pPr>
              <a:r>
                <a:rPr lang="en-US" sz="1825" b="1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Data Structuring: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Turn-level dataset (prompt-focused analysis)</a:t>
              </a:r>
            </a:p>
            <a:p>
              <a:pPr marL="539910" lvl="1" indent="-342900" algn="l">
                <a:lnSpc>
                  <a:spcPts val="2372"/>
                </a:lnSpc>
                <a:buFont typeface="Arial" panose="020B0604020202020204" pitchFamily="34" charset="0"/>
                <a:buChar char="•"/>
              </a:pPr>
              <a:r>
                <a:rPr lang="en-US" sz="1825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Conversation-level dataset (behavioral analysis)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81045" y="1521085"/>
            <a:ext cx="12558753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293"/>
              </a:lnSpc>
            </a:pPr>
            <a:r>
              <a:rPr lang="en-US" sz="6911" b="1" dirty="0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COLLECTION PLAN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E1ABE-8839-5C34-050F-FC835D537CD0}"/>
              </a:ext>
            </a:extLst>
          </p:cNvPr>
          <p:cNvSpPr txBox="1"/>
          <p:nvPr/>
        </p:nvSpPr>
        <p:spPr>
          <a:xfrm>
            <a:off x="5602761" y="9477792"/>
            <a:ext cx="67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et" panose="020B0604020202020204" charset="0"/>
              </a:rPr>
              <a:t>Dataset link: </a:t>
            </a:r>
            <a:r>
              <a:rPr lang="en-US" dirty="0">
                <a:latin typeface="Garet" panose="020B0604020202020204" charset="0"/>
                <a:hlinkClick r:id="rId2"/>
              </a:rPr>
              <a:t>github.com/NAIST-SE/</a:t>
            </a:r>
            <a:r>
              <a:rPr lang="en-US" dirty="0" err="1">
                <a:latin typeface="Garet" panose="020B0604020202020204" charset="0"/>
                <a:hlinkClick r:id="rId2"/>
              </a:rPr>
              <a:t>DevGPT</a:t>
            </a:r>
            <a:endParaRPr lang="en-US" dirty="0">
              <a:latin typeface="Garet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96193" y="2259525"/>
            <a:ext cx="12741423" cy="7334407"/>
            <a:chOff x="0" y="114300"/>
            <a:chExt cx="16988563" cy="9779208"/>
          </a:xfrm>
        </p:grpSpPr>
        <p:sp>
          <p:nvSpPr>
            <p:cNvPr id="3" name="TextBox 3"/>
            <p:cNvSpPr txBox="1"/>
            <p:nvPr/>
          </p:nvSpPr>
          <p:spPr>
            <a:xfrm>
              <a:off x="0" y="2113601"/>
              <a:ext cx="16988563" cy="7779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73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We extract measurable prompt features:</a:t>
              </a:r>
              <a:br>
                <a:rPr lang="en-US" sz="2800" b="1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</a:br>
              <a:endParaRPr lang="en-US" sz="28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marL="342900" lvl="0" indent="-342900" algn="just">
                <a:lnSpc>
                  <a:spcPts val="3473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Extracted structural features such as prompt length, constraints, examples, and formatting instructions using rule-based pattern detection.  </a:t>
              </a:r>
            </a:p>
            <a:p>
              <a:pPr marL="342900" lvl="0" indent="-342900" algn="just">
                <a:lnSpc>
                  <a:spcPts val="3473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Engineered behavioral features including iteration depth and correction/refinement cycles at the conversation level.  </a:t>
              </a:r>
            </a:p>
            <a:p>
              <a:pPr marL="342900" lvl="0" indent="-342900" algn="just">
                <a:lnSpc>
                  <a:spcPts val="3473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Applied regex-driven, reproducible text processing to ensure objective and scalable feature extraction.  </a:t>
              </a:r>
            </a:p>
            <a:p>
              <a:pPr marL="342900" lvl="0" indent="-342900" algn="just">
                <a:lnSpc>
                  <a:spcPts val="3473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Structured outputs into turn-level and conversation-level datasets for statistical modeling and regression analysis. </a:t>
              </a:r>
            </a:p>
            <a:p>
              <a:pPr lvl="0">
                <a:lnSpc>
                  <a:spcPts val="3473"/>
                </a:lnSpc>
                <a:spcBef>
                  <a:spcPct val="0"/>
                </a:spcBef>
              </a:pPr>
              <a:endParaRPr lang="en-US" sz="28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marL="0" lvl="0" indent="0" algn="l">
                <a:lnSpc>
                  <a:spcPts val="3473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All features are text‑based and reproducible.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4300"/>
              <a:ext cx="16988563" cy="1151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38"/>
                </a:lnSpc>
              </a:pPr>
              <a:r>
                <a:rPr lang="en-US" sz="6238" b="1">
                  <a:solidFill>
                    <a:srgbClr val="545454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FEATURE EXTRACTION DESIGN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366841"/>
            <a:ext cx="8022194" cy="794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1"/>
              </a:lnSpc>
            </a:pPr>
            <a:r>
              <a:rPr lang="en-US" sz="5715" b="1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SUCCESS DEFINITION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4728816"/>
            <a:ext cx="13866603" cy="476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2"/>
              </a:lnSpc>
            </a:pPr>
            <a:r>
              <a:rPr lang="en-US" sz="2400" b="1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Because execution validation is outside scope, we define success using:</a:t>
            </a:r>
          </a:p>
          <a:p>
            <a:pPr marL="0" lvl="0" indent="0" algn="l">
              <a:lnSpc>
                <a:spcPts val="3052"/>
              </a:lnSpc>
            </a:pPr>
            <a:endParaRPr lang="en-US" sz="2400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70763" lvl="1" indent="-235381" algn="just">
              <a:lnSpc>
                <a:spcPts val="3052"/>
              </a:lnSpc>
              <a:buFont typeface="Arial"/>
              <a:buChar char="•"/>
            </a:pPr>
            <a:r>
              <a:rPr lang="en-US" sz="24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Defined success using observable conversational signals since direct code execution validation was outside scope.  </a:t>
            </a:r>
          </a:p>
          <a:p>
            <a:pPr marL="470763" lvl="1" indent="-235381" algn="just">
              <a:lnSpc>
                <a:spcPts val="3052"/>
              </a:lnSpc>
              <a:buFont typeface="Arial"/>
              <a:buChar char="•"/>
            </a:pPr>
            <a:r>
              <a:rPr lang="en-US" sz="24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Labeled conversations as successful when explicit positive confirmations and final code outputs were present.  </a:t>
            </a:r>
          </a:p>
          <a:p>
            <a:pPr marL="470763" lvl="1" indent="-235381" algn="just">
              <a:lnSpc>
                <a:spcPts val="3052"/>
              </a:lnSpc>
              <a:buFont typeface="Arial"/>
              <a:buChar char="•"/>
            </a:pPr>
            <a:r>
              <a:rPr lang="en-US" sz="24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Incorporated behavioral indicators such as reduced iteration depth and absence of corrective follow-ups.  </a:t>
            </a:r>
          </a:p>
          <a:p>
            <a:pPr marL="470763" lvl="1" indent="-235381" algn="just">
              <a:lnSpc>
                <a:spcPts val="3052"/>
              </a:lnSpc>
              <a:buFont typeface="Arial"/>
              <a:buChar char="•"/>
            </a:pPr>
            <a:r>
              <a:rPr lang="en-US" sz="24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Applied conservative labeling criteria to minimize false positives and avoid overestimating success rates. </a:t>
            </a:r>
          </a:p>
          <a:p>
            <a:pPr marL="0" lvl="0" indent="0" algn="l">
              <a:lnSpc>
                <a:spcPts val="3052"/>
              </a:lnSpc>
            </a:pPr>
            <a:br>
              <a:rPr lang="en-US" sz="24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</a:br>
            <a:r>
              <a:rPr lang="en-US" sz="24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We use conservative labeling to avoid overestimating success.</a:t>
            </a: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343400" y="342900"/>
            <a:ext cx="9205169" cy="861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8"/>
              </a:lnSpc>
            </a:pPr>
            <a:r>
              <a:rPr lang="en-US" sz="50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EXPERIMENTAL PLAN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55EE321-B6B6-9B5A-D30B-D8622433B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556592"/>
              </p:ext>
            </p:extLst>
          </p:nvPr>
        </p:nvGraphicFramePr>
        <p:xfrm>
          <a:off x="2073744" y="1635956"/>
          <a:ext cx="13471119" cy="7946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Graphic 8" descr="Arrow: Straight with solid fill">
            <a:extLst>
              <a:ext uri="{FF2B5EF4-FFF2-40B4-BE49-F238E27FC236}">
                <a16:creationId xmlns:a16="http://schemas.microsoft.com/office/drawing/2014/main" id="{B9732F42-1BBA-4CF2-2164-AD13283008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1277" y="5750700"/>
            <a:ext cx="914400" cy="914400"/>
          </a:xfrm>
          <a:prstGeom prst="rect">
            <a:avLst/>
          </a:prstGeom>
        </p:spPr>
      </p:pic>
      <p:pic>
        <p:nvPicPr>
          <p:cNvPr id="11" name="Graphic 10" descr="Arrow: Rotate right with solid fill">
            <a:extLst>
              <a:ext uri="{FF2B5EF4-FFF2-40B4-BE49-F238E27FC236}">
                <a16:creationId xmlns:a16="http://schemas.microsoft.com/office/drawing/2014/main" id="{BBB6171A-EC1D-8F68-DB09-51923F8188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01400" y="4056142"/>
            <a:ext cx="914400" cy="914400"/>
          </a:xfrm>
          <a:prstGeom prst="rect">
            <a:avLst/>
          </a:prstGeom>
        </p:spPr>
      </p:pic>
      <p:pic>
        <p:nvPicPr>
          <p:cNvPr id="13" name="Graphic 12" descr="Arrow: Slight curve with solid fill">
            <a:extLst>
              <a:ext uri="{FF2B5EF4-FFF2-40B4-BE49-F238E27FC236}">
                <a16:creationId xmlns:a16="http://schemas.microsoft.com/office/drawing/2014/main" id="{CC1186FC-8F46-0360-63C6-50980EDB02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29600" y="24765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0" y="1257300"/>
            <a:ext cx="8915400" cy="741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76"/>
              </a:lnSpc>
            </a:pPr>
            <a:r>
              <a:rPr lang="en-US" sz="54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EXPECTED OUTCOMES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6A2BCAF-E8E7-B558-606B-C7ED5AE3F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3138879"/>
              </p:ext>
            </p:extLst>
          </p:nvPr>
        </p:nvGraphicFramePr>
        <p:xfrm>
          <a:off x="1828800" y="2628900"/>
          <a:ext cx="13866603" cy="6332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utoShape 4"/>
          <p:cNvSpPr/>
          <p:nvPr/>
        </p:nvSpPr>
        <p:spPr>
          <a:xfrm>
            <a:off x="2210699" y="2476500"/>
            <a:ext cx="13844095" cy="0"/>
          </a:xfrm>
          <a:prstGeom prst="line">
            <a:avLst/>
          </a:prstGeom>
          <a:ln w="38100" cap="flat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67724" y="419100"/>
            <a:ext cx="8022194" cy="14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76"/>
              </a:lnSpc>
            </a:pPr>
            <a:r>
              <a:rPr lang="en-US" sz="54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REFERENCES</a:t>
            </a:r>
          </a:p>
          <a:p>
            <a:pPr marL="0" lvl="0" indent="0" algn="l">
              <a:lnSpc>
                <a:spcPts val="5676"/>
              </a:lnSpc>
            </a:pPr>
            <a:endParaRPr lang="en-US" sz="5405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94611" y="1874631"/>
            <a:ext cx="13866603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3200" b="1" dirty="0"/>
              <a:t>Peer-Reviewed References</a:t>
            </a:r>
          </a:p>
          <a:p>
            <a:pPr>
              <a:buNone/>
            </a:pPr>
            <a:r>
              <a:rPr lang="en-US" sz="3200" b="1" dirty="0"/>
              <a:t>[1]</a:t>
            </a:r>
            <a:r>
              <a:rPr lang="en-US" sz="3200" dirty="0"/>
              <a:t> An Empirical Study on Developers’ Shared Conversations with ChatGPT in GitHub PRs and Issues.</a:t>
            </a:r>
            <a:br>
              <a:rPr lang="en-US" sz="3200" dirty="0"/>
            </a:br>
            <a:r>
              <a:rPr lang="en-US" sz="3200" i="1" dirty="0"/>
              <a:t>Empirical Software Engineering (Springer), 2024.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[2]</a:t>
            </a:r>
            <a:r>
              <a:rPr lang="en-US" sz="3200" dirty="0"/>
              <a:t> Wu et al. (2024). ChatGPT Chats Decoded: Uncovering Prompt Patterns for Superior Solutions in Software Development.</a:t>
            </a:r>
            <a:br>
              <a:rPr lang="en-US" sz="3200" dirty="0"/>
            </a:br>
            <a:r>
              <a:rPr lang="en-US" sz="3200" i="1" dirty="0"/>
              <a:t>ACM Conference Proceedings.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[3]</a:t>
            </a:r>
            <a:r>
              <a:rPr lang="en-US" sz="3200" dirty="0"/>
              <a:t> Usage of Large Language Models for Code Generation Tasks: A Review.</a:t>
            </a:r>
            <a:br>
              <a:rPr lang="en-US" sz="3200" dirty="0"/>
            </a:br>
            <a:r>
              <a:rPr lang="en-US" sz="3200" i="1" dirty="0"/>
              <a:t>SN Computer Science (Springer), 2025.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[4]</a:t>
            </a:r>
            <a:r>
              <a:rPr lang="en-US" sz="3200" dirty="0"/>
              <a:t> Prompting Matters: Assessing the Effect of Prompting Techniques on LLM-Generated Class Code.</a:t>
            </a:r>
            <a:br>
              <a:rPr lang="en-US" sz="3200" dirty="0"/>
            </a:br>
            <a:r>
              <a:rPr lang="en-US" sz="3200" i="1" dirty="0"/>
              <a:t>IEEE ICSME, 2025.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[5]</a:t>
            </a:r>
            <a:r>
              <a:rPr lang="en-US" sz="3200" dirty="0"/>
              <a:t> Unleashing the Potential of Prompt Engineering for Large Language Models.</a:t>
            </a:r>
            <a:br>
              <a:rPr lang="en-US" sz="3200" dirty="0"/>
            </a:br>
            <a:r>
              <a:rPr lang="en-US" sz="3200" i="1" dirty="0"/>
              <a:t>Elsevier / ScienceDirect, 2025.</a:t>
            </a:r>
            <a:endParaRPr lang="en-US" sz="3200" dirty="0"/>
          </a:p>
        </p:txBody>
      </p:sp>
      <p:sp>
        <p:nvSpPr>
          <p:cNvPr id="4" name="AutoShape 4"/>
          <p:cNvSpPr/>
          <p:nvPr/>
        </p:nvSpPr>
        <p:spPr>
          <a:xfrm>
            <a:off x="1676400" y="1638300"/>
            <a:ext cx="13844095" cy="0"/>
          </a:xfrm>
          <a:prstGeom prst="line">
            <a:avLst/>
          </a:prstGeom>
          <a:ln w="38100" cap="flat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98204" y="419100"/>
            <a:ext cx="8022194" cy="14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76"/>
              </a:lnSpc>
            </a:pPr>
            <a:r>
              <a:rPr lang="en-US" sz="54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REFERENCES</a:t>
            </a:r>
          </a:p>
          <a:p>
            <a:pPr marL="0" lvl="0" indent="0" algn="l">
              <a:lnSpc>
                <a:spcPts val="5676"/>
              </a:lnSpc>
            </a:pPr>
            <a:endParaRPr lang="en-US" sz="5405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81200" y="1604486"/>
            <a:ext cx="13600255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200" dirty="0"/>
              <a:t>[6] Large Language Models for Code: Security Hardening and Adversarial Testing.</a:t>
            </a:r>
            <a:br>
              <a:rPr lang="en-US" sz="3200" dirty="0"/>
            </a:br>
            <a:r>
              <a:rPr lang="en-US" sz="3200" dirty="0"/>
              <a:t>ACM Conference Proceedings.</a:t>
            </a:r>
          </a:p>
          <a:p>
            <a:pPr>
              <a:buNone/>
            </a:pPr>
            <a:r>
              <a:rPr lang="en-US" sz="3200" dirty="0"/>
              <a:t>[7] Prompting Techniques for Secure Code Generation: A Systematic Investigation.</a:t>
            </a:r>
            <a:br>
              <a:rPr lang="en-US" sz="3200" dirty="0"/>
            </a:br>
            <a:r>
              <a:rPr lang="en-US" sz="3200" dirty="0" err="1"/>
              <a:t>arXiv</a:t>
            </a:r>
            <a:r>
              <a:rPr lang="en-US" sz="3200" dirty="0"/>
              <a:t>, 2024.</a:t>
            </a:r>
          </a:p>
          <a:p>
            <a:pPr>
              <a:buNone/>
            </a:pPr>
            <a:r>
              <a:rPr lang="en-US" sz="3200" dirty="0"/>
              <a:t>[8] Xiao et al. </a:t>
            </a:r>
            <a:r>
              <a:rPr lang="en-US" sz="3200" i="1" dirty="0" err="1"/>
              <a:t>DevGPT</a:t>
            </a:r>
            <a:r>
              <a:rPr lang="en-US" sz="3200" i="1" dirty="0"/>
              <a:t>: Studying Developer–ChatGPT Conversations.</a:t>
            </a:r>
            <a:br>
              <a:rPr lang="en-US" sz="3200" dirty="0"/>
            </a:br>
            <a:r>
              <a:rPr lang="en-US" sz="3200" dirty="0" err="1"/>
              <a:t>arXiv</a:t>
            </a:r>
            <a:r>
              <a:rPr lang="en-US" sz="3200" dirty="0"/>
              <a:t>, 2023.</a:t>
            </a:r>
          </a:p>
          <a:p>
            <a:pPr>
              <a:buNone/>
            </a:pPr>
            <a:r>
              <a:rPr lang="en-US" sz="3200" dirty="0"/>
              <a:t>[9] Ye et al. </a:t>
            </a:r>
            <a:r>
              <a:rPr lang="en-US" sz="3200" i="1" dirty="0"/>
              <a:t>Prompt Alchemy: Automatic Prompt Refinement for Code Generation.</a:t>
            </a:r>
            <a:br>
              <a:rPr lang="en-US" sz="3200" dirty="0"/>
            </a:br>
            <a:r>
              <a:rPr lang="en-US" sz="3200" dirty="0" err="1"/>
              <a:t>arXiv</a:t>
            </a:r>
            <a:r>
              <a:rPr lang="en-US" sz="3200" dirty="0"/>
              <a:t>, 2025.</a:t>
            </a:r>
          </a:p>
          <a:p>
            <a:pPr>
              <a:buNone/>
            </a:pPr>
            <a:r>
              <a:rPr lang="en-US" sz="3200" dirty="0"/>
              <a:t>[10] Liu et al. </a:t>
            </a:r>
            <a:r>
              <a:rPr lang="en-US" sz="3200" i="1" dirty="0"/>
              <a:t>Improving ChatGPT Prompt for Code Generation.</a:t>
            </a:r>
            <a:br>
              <a:rPr lang="en-US" sz="3200" dirty="0"/>
            </a:br>
            <a:r>
              <a:rPr lang="en-US" sz="3200" dirty="0" err="1"/>
              <a:t>arXiv</a:t>
            </a:r>
            <a:r>
              <a:rPr lang="en-US" sz="3200" dirty="0"/>
              <a:t>, 2023.</a:t>
            </a:r>
          </a:p>
          <a:p>
            <a:pPr>
              <a:buNone/>
            </a:pPr>
            <a:r>
              <a:rPr lang="en-US" sz="3200" dirty="0"/>
              <a:t>[11] Schmidt et al. </a:t>
            </a:r>
            <a:r>
              <a:rPr lang="en-US" sz="3200" i="1" dirty="0"/>
              <a:t>A Prompt Pattern Catalog to Enhance Prompt Engineering.</a:t>
            </a:r>
            <a:br>
              <a:rPr lang="en-US" sz="3200" dirty="0"/>
            </a:br>
            <a:r>
              <a:rPr lang="en-US" sz="3200" dirty="0"/>
              <a:t>Technical Report.</a:t>
            </a:r>
          </a:p>
          <a:p>
            <a:pPr>
              <a:buNone/>
            </a:pPr>
            <a:r>
              <a:rPr lang="en-US" sz="3200" dirty="0"/>
              <a:t>[12] </a:t>
            </a:r>
            <a:r>
              <a:rPr lang="en-US" sz="3200" i="1" dirty="0"/>
              <a:t>Prompt Engineering as a Next-Gen Skill.</a:t>
            </a:r>
            <a:br>
              <a:rPr lang="en-US" sz="3200" dirty="0"/>
            </a:br>
            <a:r>
              <a:rPr lang="en-US" sz="3200" dirty="0"/>
              <a:t>Frontiers in Education, 2024.</a:t>
            </a:r>
          </a:p>
        </p:txBody>
      </p:sp>
      <p:sp>
        <p:nvSpPr>
          <p:cNvPr id="4" name="AutoShape 4"/>
          <p:cNvSpPr/>
          <p:nvPr/>
        </p:nvSpPr>
        <p:spPr>
          <a:xfrm>
            <a:off x="1752600" y="1409700"/>
            <a:ext cx="13844095" cy="0"/>
          </a:xfrm>
          <a:prstGeom prst="line">
            <a:avLst/>
          </a:prstGeom>
          <a:ln w="38100" cap="flat">
            <a:solidFill>
              <a:srgbClr val="3F3D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1426</Words>
  <Application>Microsoft Office PowerPoint</Application>
  <PresentationFormat>Custom</PresentationFormat>
  <Paragraphs>186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Garet Bold</vt:lpstr>
      <vt:lpstr>Arial</vt:lpstr>
      <vt:lpstr>Alexandria Bold</vt:lpstr>
      <vt:lpstr>Garet</vt:lpstr>
      <vt:lpstr>Alexandria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Pattern Mining in Vibe Coding</dc:title>
  <cp:lastModifiedBy>Visesh Bentula</cp:lastModifiedBy>
  <cp:revision>4</cp:revision>
  <dcterms:created xsi:type="dcterms:W3CDTF">2006-08-16T00:00:00Z</dcterms:created>
  <dcterms:modified xsi:type="dcterms:W3CDTF">2026-03-02T23:20:48Z</dcterms:modified>
  <dc:identifier>DAHCcrdkvHY</dc:identifier>
</cp:coreProperties>
</file>