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ileron Bold" panose="020B0604020202020204" charset="0"/>
      <p:regular r:id="rId10"/>
    </p:embeddedFont>
    <p:embeddedFont>
      <p:font typeface="Canva Sans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256" b="-51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670972" y="3733392"/>
            <a:ext cx="14948203" cy="1410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2"/>
              </a:lnSpc>
            </a:pPr>
            <a:r>
              <a:rPr lang="en-US" sz="6058" spc="-290">
                <a:solidFill>
                  <a:srgbClr val="F4F1EB"/>
                </a:solidFill>
                <a:latin typeface="Canva Sans"/>
                <a:ea typeface="Canva Sans"/>
                <a:cs typeface="Canva Sans"/>
                <a:sym typeface="Canva Sans"/>
              </a:rPr>
              <a:t>Hybrid Vulnerability Detection using KLEE and Static Analysis on WSL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66675" y="3600450"/>
            <a:ext cx="466889" cy="3086100"/>
            <a:chOff x="0" y="0"/>
            <a:chExt cx="122967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2967" cy="812800"/>
            </a:xfrm>
            <a:custGeom>
              <a:avLst/>
              <a:gdLst/>
              <a:ahLst/>
              <a:cxnLst/>
              <a:rect l="l" t="t" r="r" b="b"/>
              <a:pathLst>
                <a:path w="122967" h="812800">
                  <a:moveTo>
                    <a:pt x="0" y="0"/>
                  </a:moveTo>
                  <a:lnTo>
                    <a:pt x="122967" y="0"/>
                  </a:lnTo>
                  <a:lnTo>
                    <a:pt x="12296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1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22967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889932" y="3600450"/>
            <a:ext cx="466889" cy="3086100"/>
            <a:chOff x="0" y="0"/>
            <a:chExt cx="122967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2967" cy="812800"/>
            </a:xfrm>
            <a:custGeom>
              <a:avLst/>
              <a:gdLst/>
              <a:ahLst/>
              <a:cxnLst/>
              <a:rect l="l" t="t" r="r" b="b"/>
              <a:pathLst>
                <a:path w="122967" h="812800">
                  <a:moveTo>
                    <a:pt x="0" y="0"/>
                  </a:moveTo>
                  <a:lnTo>
                    <a:pt x="122967" y="0"/>
                  </a:lnTo>
                  <a:lnTo>
                    <a:pt x="12296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1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2967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382764" y="7632652"/>
            <a:ext cx="4547977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4F1EB"/>
                </a:solidFill>
                <a:latin typeface="Aileron"/>
                <a:ea typeface="Aileron"/>
                <a:cs typeface="Aileron"/>
                <a:sym typeface="Aileron"/>
              </a:rPr>
              <a:t>BY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F4F1EB"/>
                </a:solidFill>
                <a:latin typeface="Canva Sans"/>
                <a:ea typeface="Canva Sans"/>
                <a:cs typeface="Canva Sans"/>
                <a:sym typeface="Canva Sans"/>
              </a:rPr>
              <a:t>VISESH BENTULA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6A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409700"/>
            <a:ext cx="7637448" cy="3132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05"/>
              </a:lnSpc>
            </a:pPr>
            <a:r>
              <a:rPr lang="en-US" sz="13264" spc="-636">
                <a:solidFill>
                  <a:srgbClr val="F4F1EB"/>
                </a:solidFill>
                <a:latin typeface="Aileron Light"/>
                <a:ea typeface="Aileron Light"/>
                <a:cs typeface="Aileron Light"/>
                <a:sym typeface="Aileron Light"/>
              </a:rPr>
              <a:t>Table of contents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999819" y="1522589"/>
            <a:ext cx="4602016" cy="40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599">
                <a:solidFill>
                  <a:srgbClr val="F4F1EB"/>
                </a:solidFill>
                <a:latin typeface="Aileron Light"/>
                <a:ea typeface="Aileron Light"/>
                <a:cs typeface="Aileron Light"/>
                <a:sym typeface="Aileron Light"/>
              </a:rPr>
              <a:t>Problem Statement &amp; 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99819" y="2658062"/>
            <a:ext cx="5259481" cy="40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599">
                <a:solidFill>
                  <a:srgbClr val="F4F1EB"/>
                </a:solidFill>
                <a:latin typeface="Aileron Light"/>
                <a:ea typeface="Aileron Light"/>
                <a:cs typeface="Aileron Light"/>
                <a:sym typeface="Aileron Light"/>
              </a:rPr>
              <a:t>Research Questions &amp; 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99819" y="3793534"/>
            <a:ext cx="4602016" cy="40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599">
                <a:solidFill>
                  <a:srgbClr val="F4F1EB"/>
                </a:solidFill>
                <a:latin typeface="Aileron Light"/>
                <a:ea typeface="Aileron Light"/>
                <a:cs typeface="Aileron Light"/>
                <a:sym typeface="Aileron Light"/>
              </a:rPr>
              <a:t>Related Work &amp; Tools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99819" y="4929007"/>
            <a:ext cx="5259481" cy="40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599">
                <a:solidFill>
                  <a:srgbClr val="F4F1EB"/>
                </a:solidFill>
                <a:latin typeface="Aileron Light"/>
                <a:ea typeface="Aileron Light"/>
                <a:cs typeface="Aileron Light"/>
                <a:sym typeface="Aileron Light"/>
              </a:rPr>
              <a:t>Proposed Approach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99819" y="6064480"/>
            <a:ext cx="4602016" cy="40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599">
                <a:solidFill>
                  <a:srgbClr val="F4F1EB"/>
                </a:solidFill>
                <a:latin typeface="Aileron Light"/>
                <a:ea typeface="Aileron Light"/>
                <a:cs typeface="Aileron Light"/>
                <a:sym typeface="Aileron Light"/>
              </a:rPr>
              <a:t>Expected Output &amp; 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92788" y="1607679"/>
            <a:ext cx="1584978" cy="321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3"/>
              </a:lnSpc>
            </a:pPr>
            <a:r>
              <a:rPr lang="en-US" sz="2599" spc="-124" dirty="0">
                <a:solidFill>
                  <a:srgbClr val="F4F1EB"/>
                </a:solidFill>
                <a:latin typeface="Aileron"/>
                <a:ea typeface="Aileron"/>
                <a:cs typeface="Aileron"/>
                <a:sym typeface="Aileron"/>
              </a:rPr>
              <a:t>Slide: 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92788" y="2737475"/>
            <a:ext cx="1584978" cy="321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4"/>
              </a:lnSpc>
            </a:pPr>
            <a:r>
              <a:rPr lang="en-US" sz="2600" spc="-124" dirty="0">
                <a:solidFill>
                  <a:srgbClr val="F4F1EB"/>
                </a:solidFill>
                <a:latin typeface="Aileron"/>
                <a:ea typeface="Aileron"/>
                <a:cs typeface="Aileron"/>
                <a:sym typeface="Aileron"/>
              </a:rPr>
              <a:t>Slide: 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92788" y="3867272"/>
            <a:ext cx="1584978" cy="321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4"/>
              </a:lnSpc>
            </a:pPr>
            <a:r>
              <a:rPr lang="en-US" sz="2600" spc="-124" dirty="0">
                <a:solidFill>
                  <a:srgbClr val="F4F1EB"/>
                </a:solidFill>
                <a:latin typeface="Aileron"/>
                <a:ea typeface="Aileron"/>
                <a:cs typeface="Aileron"/>
                <a:sym typeface="Aileron"/>
              </a:rPr>
              <a:t>Slide: 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92788" y="4997069"/>
            <a:ext cx="1584978" cy="321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4"/>
              </a:lnSpc>
            </a:pPr>
            <a:r>
              <a:rPr lang="en-US" sz="2600" spc="-124" dirty="0">
                <a:solidFill>
                  <a:srgbClr val="F4F1EB"/>
                </a:solidFill>
                <a:latin typeface="Aileron"/>
                <a:ea typeface="Aileron"/>
                <a:cs typeface="Aileron"/>
                <a:sym typeface="Aileron"/>
              </a:rPr>
              <a:t>Slide: 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92788" y="6126866"/>
            <a:ext cx="1584978" cy="321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4"/>
              </a:lnSpc>
            </a:pPr>
            <a:r>
              <a:rPr lang="en-US" sz="2600" spc="-124" dirty="0">
                <a:solidFill>
                  <a:srgbClr val="F4F1EB"/>
                </a:solidFill>
                <a:latin typeface="Aileron"/>
                <a:ea typeface="Aileron"/>
                <a:cs typeface="Aileron"/>
                <a:sym typeface="Aileron"/>
              </a:rPr>
              <a:t>Slide: 7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1293231"/>
            <a:ext cx="400214" cy="3086100"/>
            <a:chOff x="0" y="0"/>
            <a:chExt cx="105406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1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75769" y="0"/>
            <a:ext cx="2312231" cy="10287000"/>
            <a:chOff x="0" y="0"/>
            <a:chExt cx="3082974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42507" r="42507"/>
            <a:stretch>
              <a:fillRect/>
            </a:stretch>
          </p:blipFill>
          <p:spPr>
            <a:xfrm>
              <a:off x="0" y="0"/>
              <a:ext cx="3082974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028700" y="1133475"/>
            <a:ext cx="14646522" cy="4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3799" b="1" spc="-182" dirty="0">
                <a:solidFill>
                  <a:srgbClr val="3C6AA9"/>
                </a:solidFill>
                <a:latin typeface="Aileron Light"/>
                <a:ea typeface="Aileron Light"/>
                <a:cs typeface="Aileron Light"/>
                <a:sym typeface="Aileron Light"/>
              </a:rPr>
              <a:t>Problem Statement &amp; Motivation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5040" y="1973132"/>
            <a:ext cx="14965902" cy="8835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577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Problem Statement:</a:t>
            </a:r>
          </a:p>
          <a:p>
            <a:pPr algn="just">
              <a:lnSpc>
                <a:spcPts val="5779"/>
              </a:lnSpc>
            </a:pPr>
            <a:r>
              <a:rPr lang="en-US" sz="3399" dirty="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C/C++ applications are vulnerable to serious memory-related bugs such as buffer overflows, null-pointer dereferences, and use-after-free issues. Static analysis tools often produce false positives and lack runtime context, while symbolic execution tools like KLEE offer high precision but suffer from path explosion and performance bottlenecks.</a:t>
            </a:r>
          </a:p>
          <a:p>
            <a:pPr marL="734059" lvl="1" indent="-367030" algn="l">
              <a:lnSpc>
                <a:spcPts val="577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Motivation:</a:t>
            </a:r>
          </a:p>
          <a:p>
            <a:pPr algn="l">
              <a:lnSpc>
                <a:spcPts val="5779"/>
              </a:lnSpc>
            </a:pPr>
            <a:r>
              <a:rPr lang="en-US" sz="3399" dirty="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To bridge this gap, we aim to integrate static analysis and symbolic execution to form a hybrid system that improves bug detection accuracy and reduces false positives while remaining computationally feasible on commodity systems via WSL.</a:t>
            </a:r>
          </a:p>
          <a:p>
            <a:pPr algn="l">
              <a:lnSpc>
                <a:spcPts val="5100"/>
              </a:lnSpc>
            </a:pPr>
            <a:endParaRPr dirty="0"/>
          </a:p>
        </p:txBody>
      </p:sp>
      <p:grpSp>
        <p:nvGrpSpPr>
          <p:cNvPr id="6" name="Group 6"/>
          <p:cNvGrpSpPr/>
          <p:nvPr/>
        </p:nvGrpSpPr>
        <p:grpSpPr>
          <a:xfrm>
            <a:off x="0" y="1274181"/>
            <a:ext cx="400214" cy="3086100"/>
            <a:chOff x="0" y="0"/>
            <a:chExt cx="105406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A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6364" y="0"/>
            <a:ext cx="6111636" cy="10287000"/>
            <a:chOff x="0" y="0"/>
            <a:chExt cx="8148848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30196" r="30196"/>
            <a:stretch>
              <a:fillRect/>
            </a:stretch>
          </p:blipFill>
          <p:spPr>
            <a:xfrm>
              <a:off x="0" y="0"/>
              <a:ext cx="8148848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400214" y="1083728"/>
            <a:ext cx="7317763" cy="4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2"/>
              </a:lnSpc>
            </a:pPr>
            <a:r>
              <a:rPr lang="en-US" sz="3800" b="1" spc="-182" dirty="0">
                <a:solidFill>
                  <a:srgbClr val="3C6AA9"/>
                </a:solidFill>
                <a:latin typeface="Aileron Light"/>
                <a:ea typeface="Aileron Light"/>
                <a:cs typeface="Aileron Light"/>
                <a:sym typeface="Aileron Light"/>
              </a:rPr>
              <a:t>Research Questions &amp; 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0214" y="1542075"/>
            <a:ext cx="11100646" cy="874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3134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Research Questions:</a:t>
            </a:r>
          </a:p>
          <a:p>
            <a:pPr marL="676769" lvl="1" indent="-338384" algn="l">
              <a:lnSpc>
                <a:spcPts val="5328"/>
              </a:lnSpc>
              <a:buFont typeface="Arial"/>
              <a:buChar char="•"/>
            </a:pPr>
            <a:r>
              <a:rPr lang="en-US" sz="3134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Can static analysis guide symbolic execution to improve path selection?</a:t>
            </a:r>
          </a:p>
          <a:p>
            <a:pPr marL="676769" lvl="1" indent="-338384" algn="l">
              <a:lnSpc>
                <a:spcPts val="5328"/>
              </a:lnSpc>
              <a:buFont typeface="Arial"/>
              <a:buChar char="•"/>
            </a:pPr>
            <a:r>
              <a:rPr lang="en-US" sz="3134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Does hybrid analysis reduce KLEE’s path explosion issue while maintaining accuracy?</a:t>
            </a:r>
          </a:p>
          <a:p>
            <a:pPr marL="676769" lvl="1" indent="-338384" algn="l">
              <a:lnSpc>
                <a:spcPts val="5328"/>
              </a:lnSpc>
              <a:buFont typeface="Arial"/>
              <a:buChar char="•"/>
            </a:pPr>
            <a:r>
              <a:rPr lang="en-US" sz="3134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Can this approach be automated for real-world vulnerability testing?</a:t>
            </a:r>
          </a:p>
          <a:p>
            <a:pPr algn="l">
              <a:lnSpc>
                <a:spcPts val="5328"/>
              </a:lnSpc>
            </a:pPr>
            <a:r>
              <a:rPr lang="en-US" sz="3134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Objectives:</a:t>
            </a:r>
          </a:p>
          <a:p>
            <a:pPr marL="676769" lvl="1" indent="-338384" algn="l">
              <a:lnSpc>
                <a:spcPts val="5328"/>
              </a:lnSpc>
              <a:buFont typeface="Arial"/>
              <a:buChar char="•"/>
            </a:pPr>
            <a:r>
              <a:rPr lang="en-US" sz="3134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Combine Clang Static Analyzer with KLEE on WSL.</a:t>
            </a:r>
          </a:p>
          <a:p>
            <a:pPr marL="676769" lvl="1" indent="-338384" algn="l">
              <a:lnSpc>
                <a:spcPts val="5328"/>
              </a:lnSpc>
              <a:buFont typeface="Arial"/>
              <a:buChar char="•"/>
            </a:pPr>
            <a:r>
              <a:rPr lang="en-US" sz="3134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Validate static warnings by generating real inputs.</a:t>
            </a:r>
          </a:p>
          <a:p>
            <a:pPr marL="676769" lvl="1" indent="-338384" algn="l">
              <a:lnSpc>
                <a:spcPts val="5328"/>
              </a:lnSpc>
              <a:buFont typeface="Arial"/>
              <a:buChar char="•"/>
            </a:pPr>
            <a:r>
              <a:rPr lang="en-US" sz="3134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Apply on vulnerable datasets and evaluate precision and efficiency.</a:t>
            </a:r>
          </a:p>
          <a:p>
            <a:pPr algn="l">
              <a:lnSpc>
                <a:spcPts val="5328"/>
              </a:lnSpc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0" y="1274181"/>
            <a:ext cx="400214" cy="3086100"/>
            <a:chOff x="0" y="0"/>
            <a:chExt cx="105406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A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6364" y="0"/>
            <a:ext cx="6111636" cy="10287000"/>
            <a:chOff x="0" y="0"/>
            <a:chExt cx="8148848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30196" r="30196"/>
            <a:stretch>
              <a:fillRect/>
            </a:stretch>
          </p:blipFill>
          <p:spPr>
            <a:xfrm>
              <a:off x="0" y="0"/>
              <a:ext cx="8148848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709320" y="537845"/>
            <a:ext cx="9628440" cy="46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3999" b="1" spc="-191" dirty="0">
                <a:solidFill>
                  <a:srgbClr val="3C6AA9"/>
                </a:solidFill>
                <a:latin typeface="Aileron Light"/>
                <a:ea typeface="Aileron Light"/>
                <a:cs typeface="Aileron Light"/>
                <a:sym typeface="Aileron Light"/>
              </a:rPr>
              <a:t>Related Work &amp; Tools Used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7187" y="1227773"/>
            <a:ext cx="11719177" cy="955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40"/>
              </a:lnSpc>
            </a:pPr>
            <a:r>
              <a:rPr lang="en-US" sz="32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Related Work:</a:t>
            </a:r>
          </a:p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[ISSTA’22] Combined Static &amp; Dynamic Symbolic Execution showed up to 4× performance gain in bug confirmation using guided symbolic execution.</a:t>
            </a:r>
          </a:p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Juliet Test Suite is widely used for benchmarking memory errors across multiple CWE categories.</a:t>
            </a:r>
          </a:p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KLEE has shown success in detecting real-world bugs using LLVM-IR.</a:t>
            </a:r>
          </a:p>
          <a:p>
            <a:pPr algn="l">
              <a:lnSpc>
                <a:spcPts val="5440"/>
              </a:lnSpc>
            </a:pPr>
            <a:r>
              <a:rPr lang="en-US" sz="32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Tools Used:</a:t>
            </a:r>
          </a:p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KLEE: Symbolic execution engine</a:t>
            </a:r>
          </a:p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Clang Static Analyzer: Lightweight static bug detector</a:t>
            </a:r>
          </a:p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LLVM &amp; WSL: IR generation and execution environment</a:t>
            </a:r>
          </a:p>
          <a:p>
            <a:pPr marL="690881" lvl="1" indent="-345440" algn="l">
              <a:lnSpc>
                <a:spcPts val="54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Juliet Dataset: Vulnerable C/C++ benchmark</a:t>
            </a:r>
          </a:p>
          <a:p>
            <a:pPr algn="l">
              <a:lnSpc>
                <a:spcPts val="5440"/>
              </a:lnSpc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0" y="1274181"/>
            <a:ext cx="400214" cy="3086100"/>
            <a:chOff x="0" y="0"/>
            <a:chExt cx="105406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A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15527" y="0"/>
            <a:ext cx="3172473" cy="10287000"/>
            <a:chOff x="0" y="0"/>
            <a:chExt cx="4229964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39720" r="39720"/>
            <a:stretch>
              <a:fillRect/>
            </a:stretch>
          </p:blipFill>
          <p:spPr>
            <a:xfrm>
              <a:off x="0" y="0"/>
              <a:ext cx="4229964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709320" y="384175"/>
            <a:ext cx="604409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3999" spc="-191">
                <a:solidFill>
                  <a:srgbClr val="3C6AA9"/>
                </a:solidFill>
                <a:latin typeface="Aileron Light"/>
                <a:ea typeface="Aileron Light"/>
                <a:cs typeface="Aileron Light"/>
                <a:sym typeface="Aileron Light"/>
              </a:rPr>
              <a:t>Proposed Approachls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627" y="1022350"/>
            <a:ext cx="14633900" cy="9264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0"/>
              </a:lnSpc>
            </a:pPr>
            <a:r>
              <a:rPr lang="en-US" sz="31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Step-by-Step Workflow:</a:t>
            </a:r>
          </a:p>
          <a:p>
            <a:pPr marL="669291" lvl="1" indent="-334646" algn="l">
              <a:lnSpc>
                <a:spcPts val="527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Static Analysis: Use Clang Static Analyzer to identify potentially vulnerable code segments.</a:t>
            </a:r>
          </a:p>
          <a:p>
            <a:pPr marL="669291" lvl="1" indent="-334646" algn="l">
              <a:lnSpc>
                <a:spcPts val="527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Compile to LLVM IR: Convert target code to bitcode (.bc) using Clang.</a:t>
            </a:r>
          </a:p>
          <a:p>
            <a:pPr marL="669291" lvl="1" indent="-334646" algn="l">
              <a:lnSpc>
                <a:spcPts val="527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Guided Symbolic Execution:Use KLEE with targeted input generation (e.g., --sym-arg) and guided execution (--exit-on-error-location) based on static analysis warnings.</a:t>
            </a:r>
          </a:p>
          <a:p>
            <a:pPr marL="669291" lvl="1" indent="-334646" algn="l">
              <a:lnSpc>
                <a:spcPts val="527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Validate &amp; Compare: Match KLEE’s findings against static reports and generate test inputs that confirm real bugs.</a:t>
            </a:r>
          </a:p>
          <a:p>
            <a:pPr algn="l">
              <a:lnSpc>
                <a:spcPts val="5270"/>
              </a:lnSpc>
            </a:pPr>
            <a:r>
              <a:rPr lang="en-US" sz="31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Expected Benefits:</a:t>
            </a:r>
          </a:p>
          <a:p>
            <a:pPr marL="669291" lvl="1" indent="-334646" algn="l">
              <a:lnSpc>
                <a:spcPts val="527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High true-positive rate</a:t>
            </a:r>
          </a:p>
          <a:p>
            <a:pPr marL="669291" lvl="1" indent="-334646" algn="l">
              <a:lnSpc>
                <a:spcPts val="527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Reduced execution time</a:t>
            </a:r>
          </a:p>
          <a:p>
            <a:pPr marL="669291" lvl="1" indent="-334646" algn="l">
              <a:lnSpc>
                <a:spcPts val="5270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Scalable on WSL-based systems</a:t>
            </a:r>
          </a:p>
          <a:p>
            <a:pPr algn="l">
              <a:lnSpc>
                <a:spcPts val="5100"/>
              </a:lnSpc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0" y="1274181"/>
            <a:ext cx="400214" cy="3086100"/>
            <a:chOff x="0" y="0"/>
            <a:chExt cx="105406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A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23057" y="0"/>
            <a:ext cx="3064943" cy="10287000"/>
            <a:chOff x="0" y="0"/>
            <a:chExt cx="4086591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40068" r="40068"/>
            <a:stretch>
              <a:fillRect/>
            </a:stretch>
          </p:blipFill>
          <p:spPr>
            <a:xfrm>
              <a:off x="0" y="0"/>
              <a:ext cx="4086591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028700" y="1114425"/>
            <a:ext cx="7743765" cy="388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3399" b="1" spc="-163" dirty="0">
                <a:solidFill>
                  <a:srgbClr val="3C6AA9"/>
                </a:solidFill>
                <a:latin typeface="Aileron Light"/>
                <a:ea typeface="Aileron Light"/>
                <a:cs typeface="Aileron Light"/>
                <a:sym typeface="Aileron Light"/>
              </a:rPr>
              <a:t>Expected Output &amp; 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909760"/>
            <a:ext cx="13761025" cy="8023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9"/>
              </a:lnSpc>
            </a:pPr>
            <a:r>
              <a:rPr lang="en-US" sz="3399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Expected Output:</a:t>
            </a:r>
          </a:p>
          <a:p>
            <a:pPr marL="734059" lvl="1" indent="-367030" algn="l">
              <a:lnSpc>
                <a:spcPts val="57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Test cases that confirm real vulnerabilities with concrete inputs.</a:t>
            </a:r>
          </a:p>
          <a:p>
            <a:pPr marL="734059" lvl="1" indent="-367030" algn="l">
              <a:lnSpc>
                <a:spcPts val="57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Reduced number of false positives from static analysis.</a:t>
            </a:r>
          </a:p>
          <a:p>
            <a:pPr marL="734059" lvl="1" indent="-367030" algn="l">
              <a:lnSpc>
                <a:spcPts val="577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Performance benchmark comparing guided vs. unguided KLEE runs.</a:t>
            </a:r>
          </a:p>
          <a:p>
            <a:pPr algn="l">
              <a:lnSpc>
                <a:spcPts val="5779"/>
              </a:lnSpc>
            </a:pPr>
            <a:r>
              <a:rPr lang="en-US" sz="3399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Conclusion:</a:t>
            </a:r>
          </a:p>
          <a:p>
            <a:pPr algn="l">
              <a:lnSpc>
                <a:spcPts val="5779"/>
              </a:lnSpc>
            </a:pPr>
            <a:r>
              <a:rPr lang="en-US" sz="3399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 The combination of symbolic execution and static analysis on WSL offers a scalable, accurate, and efficient way to analyze C/C++ programs for security vulnerabilities. This hybrid model balances the coverage of static analysis with the precision of symbolic execution, making it ideal for academic and real-world applications.</a:t>
            </a:r>
          </a:p>
          <a:p>
            <a:pPr algn="l">
              <a:lnSpc>
                <a:spcPts val="5779"/>
              </a:lnSpc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0" y="1274181"/>
            <a:ext cx="400214" cy="3086100"/>
            <a:chOff x="0" y="0"/>
            <a:chExt cx="105406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" cy="812800"/>
            </a:xfrm>
            <a:custGeom>
              <a:avLst/>
              <a:gdLst/>
              <a:ahLst/>
              <a:cxnLst/>
              <a:rect l="l" t="t" r="r" b="b"/>
              <a:pathLst>
                <a:path w="105406" h="812800">
                  <a:moveTo>
                    <a:pt x="0" y="0"/>
                  </a:moveTo>
                  <a:lnTo>
                    <a:pt x="105406" y="0"/>
                  </a:lnTo>
                  <a:lnTo>
                    <a:pt x="10540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C6AA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540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987559" y="6111708"/>
            <a:ext cx="831288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4F1EB"/>
                </a:solidFill>
                <a:latin typeface="Aileron"/>
                <a:ea typeface="Aileron"/>
                <a:cs typeface="Aileron"/>
                <a:sym typeface="Aileron"/>
              </a:rPr>
              <a:t>WWW.REALLYGREATSITE.COM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7743" y="3633829"/>
            <a:ext cx="15072514" cy="221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19"/>
              </a:lnSpc>
            </a:pPr>
            <a:r>
              <a:rPr lang="en-US" sz="18000" spc="-864">
                <a:solidFill>
                  <a:srgbClr val="F4F1EB"/>
                </a:solidFill>
                <a:latin typeface="Aileron Light"/>
                <a:ea typeface="Aileron Light"/>
                <a:cs typeface="Aileron Light"/>
                <a:sym typeface="Aileron Light"/>
              </a:rPr>
              <a:t>Thank you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66675" y="3600450"/>
            <a:ext cx="466889" cy="3086100"/>
            <a:chOff x="0" y="0"/>
            <a:chExt cx="122967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967" cy="812800"/>
            </a:xfrm>
            <a:custGeom>
              <a:avLst/>
              <a:gdLst/>
              <a:ahLst/>
              <a:cxnLst/>
              <a:rect l="l" t="t" r="r" b="b"/>
              <a:pathLst>
                <a:path w="122967" h="812800">
                  <a:moveTo>
                    <a:pt x="0" y="0"/>
                  </a:moveTo>
                  <a:lnTo>
                    <a:pt x="122967" y="0"/>
                  </a:lnTo>
                  <a:lnTo>
                    <a:pt x="12296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1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2967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889932" y="3600450"/>
            <a:ext cx="466889" cy="3086100"/>
            <a:chOff x="0" y="0"/>
            <a:chExt cx="122967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2967" cy="812800"/>
            </a:xfrm>
            <a:custGeom>
              <a:avLst/>
              <a:gdLst/>
              <a:ahLst/>
              <a:cxnLst/>
              <a:rect l="l" t="t" r="r" b="b"/>
              <a:pathLst>
                <a:path w="122967" h="812800">
                  <a:moveTo>
                    <a:pt x="0" y="0"/>
                  </a:moveTo>
                  <a:lnTo>
                    <a:pt x="122967" y="0"/>
                  </a:lnTo>
                  <a:lnTo>
                    <a:pt x="12296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F1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2967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509</Words>
  <Application>Microsoft Office PowerPoint</Application>
  <PresentationFormat>Custom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Aileron Light</vt:lpstr>
      <vt:lpstr>Aileron</vt:lpstr>
      <vt:lpstr>Arial</vt:lpstr>
      <vt:lpstr>Canva Sans</vt:lpstr>
      <vt:lpstr>Aileron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Vulnerability Detection using KLEE and Static Analysis on WSL</dc:title>
  <cp:lastModifiedBy>Visesh Bentula</cp:lastModifiedBy>
  <cp:revision>3</cp:revision>
  <dcterms:created xsi:type="dcterms:W3CDTF">2006-08-16T00:00:00Z</dcterms:created>
  <dcterms:modified xsi:type="dcterms:W3CDTF">2025-07-03T17:29:06Z</dcterms:modified>
  <dc:identifier>DAGsIM8w9M0</dc:identifier>
</cp:coreProperties>
</file>