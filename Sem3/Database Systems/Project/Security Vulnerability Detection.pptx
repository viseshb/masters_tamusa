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lexandria Bold" charset="1" panose="00000000000000000000"/>
      <p:regular r:id="rId17"/>
    </p:embeddedFont>
    <p:embeddedFont>
      <p:font typeface="Garet" charset="1" panose="00000000000000000000"/>
      <p:regular r:id="rId18"/>
    </p:embeddedFont>
    <p:embeddedFont>
      <p:font typeface="Garet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24285" y="3622468"/>
            <a:ext cx="12439430" cy="1623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9"/>
              </a:lnSpc>
            </a:pPr>
            <a:r>
              <a:rPr lang="en-US" b="true" sz="4706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SECURITY VULNERABILITY DETECTION IN PYTHON USING GRAPH DATABASES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62982" y="7411054"/>
            <a:ext cx="10162036" cy="77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By Visesh Bentula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1415" y="1067666"/>
            <a:ext cx="9205169" cy="101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28"/>
              </a:lnSpc>
            </a:pPr>
            <a:r>
              <a:rPr lang="en-US" b="true" sz="58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73217" y="3068870"/>
            <a:ext cx="11400286" cy="490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4621" indent="-277310" lvl="1">
              <a:lnSpc>
                <a:spcPts val="3596"/>
              </a:lnSpc>
              <a:buFont typeface="Arial"/>
              <a:buChar char="•"/>
            </a:pPr>
            <a:r>
              <a:rPr lang="en-US" sz="25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Modern software systems increasingly suffer from security vulnerabilities due to unsafe coding practices such as unsanitized input, insecure deserialization, or hard-coded secrets.</a:t>
            </a:r>
          </a:p>
          <a:p>
            <a:pPr algn="just" marL="554621" indent="-277310" lvl="1">
              <a:lnSpc>
                <a:spcPts val="3596"/>
              </a:lnSpc>
              <a:buFont typeface="Arial"/>
              <a:buChar char="•"/>
            </a:pPr>
            <a:r>
              <a:rPr lang="en-US" sz="25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Traditional static analyzers detect issues linearly in code but fail to visualize inter-function relationships that cause real attack chains.</a:t>
            </a:r>
          </a:p>
          <a:p>
            <a:pPr algn="just" marL="554621" indent="-277310" lvl="1">
              <a:lnSpc>
                <a:spcPts val="3596"/>
              </a:lnSpc>
              <a:buFont typeface="Arial"/>
              <a:buChar char="•"/>
            </a:pPr>
            <a:r>
              <a:rPr lang="en-US" sz="25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Goal: Build a graph-based vulnerability analysis system that models code structure and function dependencies inside a Neo4j graph database, enabling both query-driven detection and interactive visualization of insecure patterns.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1196906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145885" y="1676807"/>
            <a:ext cx="5996230" cy="4850408"/>
          </a:xfrm>
          <a:custGeom>
            <a:avLst/>
            <a:gdLst/>
            <a:ahLst/>
            <a:cxnLst/>
            <a:rect r="r" b="b" t="t" l="l"/>
            <a:pathLst>
              <a:path h="4850408" w="5996230">
                <a:moveTo>
                  <a:pt x="0" y="0"/>
                </a:moveTo>
                <a:lnTo>
                  <a:pt x="5996230" y="0"/>
                </a:lnTo>
                <a:lnTo>
                  <a:pt x="5996230" y="4850408"/>
                </a:lnTo>
                <a:lnTo>
                  <a:pt x="0" y="48504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26" r="0" b="-82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41415" y="515972"/>
            <a:ext cx="9205169" cy="920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8"/>
              </a:lnSpc>
            </a:pPr>
            <a:r>
              <a:rPr lang="en-US" b="true" sz="53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MOTIVATING EXAMPLES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1514" y="7056530"/>
            <a:ext cx="14388233" cy="2766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58"/>
              </a:lnSpc>
            </a:pPr>
            <a:r>
              <a:rPr lang="en-US" sz="197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Traditional static analyzers can flag individual insecure statements but fail to show how they connect across the program. For example, a vulnerability may originate in one function, propagate through several helper functions, and finally reach a dangerous sink like system, eval, or open.</a:t>
            </a:r>
          </a:p>
          <a:p>
            <a:pPr algn="just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By converting source code into a graph of functions, variables, and CALLS relationships, Neo4j reveals hidden execution paths and helps identify how data flows into vulnerable operations. This graph-based view exposes attack chains, dependency clusters, and critical points of failure that conventional line-by-line analysis cannot uncover.</a:t>
            </a:r>
          </a:p>
          <a:p>
            <a:pPr algn="just">
              <a:lnSpc>
                <a:spcPts val="2758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1415" y="923925"/>
            <a:ext cx="9205169" cy="93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8"/>
              </a:lnSpc>
            </a:pPr>
            <a:r>
              <a:rPr lang="en-US" b="true" sz="54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RESEARCH QUESTIONS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9735" y="2883379"/>
            <a:ext cx="15028529" cy="637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How can source code be represented as a property graph that captures both structural and semantic relationships?</a:t>
            </a:r>
          </a:p>
          <a:p>
            <a:pPr algn="just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Can AST (Abstract Syntax Tree) parsing automatically extract these relationships for any Python program?</a:t>
            </a:r>
          </a:p>
          <a:p>
            <a:pPr algn="just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How effectively can Cypher queries in Neo4j detect patterns corresponding to known vulnerabilities (e.g., use of eval, system, or pickle)?</a:t>
            </a:r>
          </a:p>
          <a:p>
            <a:pPr algn="just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Does a graph-based view improve developers’ ability to trace and remediate vulnerabilities compared with conventional static analysis?</a:t>
            </a:r>
          </a:p>
          <a:p>
            <a:pPr algn="just">
              <a:lnSpc>
                <a:spcPts val="4576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1415" y="449100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RELATED 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56927" y="2379860"/>
            <a:ext cx="16075573" cy="752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CodeQL (GitHub, 2022)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Uses query-based static analysis on large code databases.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Limitation: Requires complex query syntax and per-project customization.</a:t>
            </a: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Joern (ShiftLeft)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Converts C/C++ source code into a graph IR (Code Property Graph) for vulnerability discovery.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Limitation: Limited Python support + heavy setup requirements.</a:t>
            </a: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Semgrep (2023)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Rule-based, fast pattern matching for insecure code snippets.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Limitation: Finds single-line or small-pattern vulnerabilities; cannot trace multi-function flows</a:t>
            </a:r>
            <a:r>
              <a:rPr lang="en-US" b="true" sz="2399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.</a:t>
            </a: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Graph Neural Networks (ICSE 2020)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Applies ML on graph representations of code for vulnerability classification.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Limitation: Needs large labeled datasets and significant compute resources.</a:t>
            </a: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Juliet Test Suite (NSA/NIST)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Industry-standard benchmark containing thousands of synthetic vulnerabilities across multiple CWE categories.</a:t>
            </a: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Limitation: Official suite supports C/C++ and Java; no Python version exists, requiring projects to manually recreate Juliet-style vulnerable code for Python analysis.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1415" y="904875"/>
            <a:ext cx="9205169" cy="972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8"/>
              </a:lnSpc>
            </a:pPr>
            <a:r>
              <a:rPr lang="en-US" b="true" sz="55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PROPOSED APPROACH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60520" y="2189082"/>
            <a:ext cx="16361944" cy="6750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6"/>
              </a:lnSpc>
            </a:pPr>
            <a:r>
              <a:rPr lang="en-US" sz="25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System Architecture</a:t>
            </a:r>
          </a:p>
          <a:p>
            <a:pPr algn="just" marL="554621" indent="-277310" lvl="1">
              <a:lnSpc>
                <a:spcPts val="3596"/>
              </a:lnSpc>
              <a:buAutoNum type="arabicPeriod" startAt="1"/>
            </a:pPr>
            <a:r>
              <a:rPr lang="en-US" sz="25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5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 Parsing: Extract functions, calls, and variable assignments from Python source code.</a:t>
            </a:r>
          </a:p>
          <a:p>
            <a:pPr algn="just" marL="554621" indent="-277310" lvl="1">
              <a:lnSpc>
                <a:spcPts val="3596"/>
              </a:lnSpc>
              <a:buAutoNum type="arabicPeriod" startAt="1"/>
            </a:pPr>
            <a:r>
              <a:rPr lang="en-US" sz="25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Graph Construction: Convert functions/variables into Neo4j nodes; CALLS become directed edges.</a:t>
            </a:r>
          </a:p>
          <a:p>
            <a:pPr algn="just" marL="554621" indent="-277310" lvl="1">
              <a:lnSpc>
                <a:spcPts val="3596"/>
              </a:lnSpc>
              <a:buAutoNum type="arabicPeriod" startAt="1"/>
            </a:pPr>
            <a:r>
              <a:rPr lang="en-US" sz="25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Neo4j Upload: Store the program graph in Neo4j Aura Cloud using the Python driver.</a:t>
            </a:r>
          </a:p>
          <a:p>
            <a:pPr algn="just" marL="554621" indent="-277310" lvl="1">
              <a:lnSpc>
                <a:spcPts val="3596"/>
              </a:lnSpc>
              <a:buAutoNum type="arabicPeriod" startAt="1"/>
            </a:pPr>
            <a:r>
              <a:rPr lang="en-US" sz="25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Vulnerability Detection: Use Cypher rules to identify CWE patterns (CWE-22, 78, 94, 259, 327, 502).</a:t>
            </a:r>
          </a:p>
          <a:p>
            <a:pPr algn="just" marL="554621" indent="-277310" lvl="1">
              <a:lnSpc>
                <a:spcPts val="3596"/>
              </a:lnSpc>
              <a:buAutoNum type="arabicPeriod" startAt="1"/>
            </a:pPr>
            <a:r>
              <a:rPr lang="en-US" sz="25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Labeling &amp; Visualization: Tag vulnerable nodes with CWE labels and color-code them for clarity.</a:t>
            </a:r>
          </a:p>
          <a:p>
            <a:pPr algn="just">
              <a:lnSpc>
                <a:spcPts val="3596"/>
              </a:lnSpc>
            </a:pPr>
            <a:r>
              <a:rPr lang="en-US" sz="25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Advantages</a:t>
            </a:r>
          </a:p>
          <a:p>
            <a:pPr algn="just" marL="554621" indent="-277310" lvl="1">
              <a:lnSpc>
                <a:spcPts val="3596"/>
              </a:lnSpc>
              <a:buFont typeface="Arial"/>
              <a:buChar char="•"/>
            </a:pPr>
            <a:r>
              <a:rPr lang="en-US" sz="25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Unified view of data flow and call relationships</a:t>
            </a:r>
          </a:p>
          <a:p>
            <a:pPr algn="just" marL="554621" indent="-277310" lvl="1">
              <a:lnSpc>
                <a:spcPts val="3596"/>
              </a:lnSpc>
              <a:buFont typeface="Arial"/>
              <a:buChar char="•"/>
            </a:pPr>
            <a:r>
              <a:rPr lang="en-US" sz="25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Reveals hidden attack paths across functions</a:t>
            </a:r>
          </a:p>
          <a:p>
            <a:pPr algn="just" marL="554621" indent="-277310" lvl="1">
              <a:lnSpc>
                <a:spcPts val="3596"/>
              </a:lnSpc>
              <a:buFont typeface="Arial"/>
              <a:buChar char="•"/>
            </a:pPr>
            <a:r>
              <a:rPr lang="en-US" sz="25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Easily extendable with new vulnerability rules</a:t>
            </a:r>
          </a:p>
          <a:p>
            <a:pPr algn="just" marL="554621" indent="-277310" lvl="1">
              <a:lnSpc>
                <a:spcPts val="3596"/>
              </a:lnSpc>
              <a:buFont typeface="Arial"/>
              <a:buChar char="•"/>
            </a:pPr>
            <a:r>
              <a:rPr lang="en-US" sz="25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Lightweight, fast, and highly visual</a:t>
            </a:r>
          </a:p>
          <a:p>
            <a:pPr algn="just">
              <a:lnSpc>
                <a:spcPts val="4016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75759" y="650592"/>
            <a:ext cx="10789680" cy="680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b="true" sz="39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SYSTEM STATUS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21514" y="1882760"/>
            <a:ext cx="15437786" cy="758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2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Analysis Summary</a:t>
            </a:r>
          </a:p>
          <a:p>
            <a:pPr algn="l" marL="489852" indent="-244926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Successfully parsed and analyzed a vulnerable Python script (~200 lines).</a:t>
            </a:r>
          </a:p>
          <a:p>
            <a:pPr algn="l" marL="489852" indent="-244926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Extracted the full code structure using AST, generating:</a:t>
            </a:r>
          </a:p>
          <a:p>
            <a:pPr algn="l" marL="979705" indent="-326568" lvl="2">
              <a:lnSpc>
                <a:spcPts val="3176"/>
              </a:lnSpc>
              <a:buFont typeface="Arial"/>
              <a:buChar char="⚬"/>
            </a:pP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77 nodes (functions + v</a:t>
            </a: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ariables)</a:t>
            </a:r>
          </a:p>
          <a:p>
            <a:pPr algn="l" marL="979705" indent="-326568" lvl="2">
              <a:lnSpc>
                <a:spcPts val="3176"/>
              </a:lnSpc>
              <a:buFont typeface="Arial"/>
              <a:buChar char="⚬"/>
            </a:pP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76 CALLS relationships</a:t>
            </a:r>
          </a:p>
          <a:p>
            <a:pPr algn="l" marL="489852" indent="-244926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Entire program represented as a Neo4j graph for interactive exploration.</a:t>
            </a:r>
          </a:p>
          <a:p>
            <a:pPr algn="l">
              <a:lnSpc>
                <a:spcPts val="3176"/>
              </a:lnSpc>
            </a:pPr>
            <a:r>
              <a:rPr lang="en-US" sz="22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Detected Vulnerabilities</a:t>
            </a:r>
          </a:p>
          <a:p>
            <a:pPr algn="l">
              <a:lnSpc>
                <a:spcPts val="3176"/>
              </a:lnSpc>
            </a:pPr>
            <a:r>
              <a:rPr lang="en-US" sz="22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Automatically identified and labeled 6 CWE categories:</a:t>
            </a:r>
          </a:p>
          <a:p>
            <a:pPr algn="l" marL="489852" indent="-244926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CWE-259 — </a:t>
            </a: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Hard-coded secrets (6 nodes)</a:t>
            </a:r>
          </a:p>
          <a:p>
            <a:pPr algn="l" marL="489852" indent="-244926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CWE-22 — </a:t>
            </a: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Path traversal from unsafe open() (4 nodes)</a:t>
            </a:r>
          </a:p>
          <a:p>
            <a:pPr algn="l" marL="489852" indent="-244926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CWE-78 — OS command injection (system, Popen) (3 nodes)</a:t>
            </a:r>
          </a:p>
          <a:p>
            <a:pPr algn="l" marL="489852" indent="-244926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CWE-94 — Unsafe eval() execution (1 node)</a:t>
            </a:r>
          </a:p>
          <a:p>
            <a:pPr algn="l" marL="489852" indent="-244926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CWE-502 — Insecure deserialization (pickle.loads) (1 node)</a:t>
            </a:r>
          </a:p>
          <a:p>
            <a:pPr algn="l" marL="489852" indent="-244926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CWE-327 — Weak cryptographic hashing (MD5) (1 node)</a:t>
            </a:r>
          </a:p>
          <a:p>
            <a:pPr algn="l">
              <a:lnSpc>
                <a:spcPts val="3176"/>
              </a:lnSpc>
            </a:pPr>
            <a:r>
              <a:rPr lang="en-US" sz="22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Total vulnerable nodes detected: 16</a:t>
            </a:r>
          </a:p>
          <a:p>
            <a:pPr algn="l">
              <a:lnSpc>
                <a:spcPts val="3176"/>
              </a:lnSpc>
            </a:pPr>
            <a:r>
              <a:rPr lang="en-US" sz="22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G</a:t>
            </a:r>
            <a:r>
              <a:rPr lang="en-US" sz="22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raph Output</a:t>
            </a:r>
          </a:p>
          <a:p>
            <a:pPr algn="l" marL="489852" indent="-244926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Vulnerable nodes are tagged with :Vulnerable and their specific CWE labels.</a:t>
            </a:r>
          </a:p>
          <a:p>
            <a:pPr algn="l" marL="489852" indent="-244926" lvl="1">
              <a:lnSpc>
                <a:spcPts val="3176"/>
              </a:lnSpc>
              <a:buFont typeface="Arial"/>
              <a:buChar char="•"/>
            </a:pP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Ne</a:t>
            </a:r>
            <a:r>
              <a:rPr lang="en-US" sz="2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o4j Browser renders a color-coded vulnerability map.</a:t>
            </a:r>
          </a:p>
          <a:p>
            <a:pPr algn="l">
              <a:lnSpc>
                <a:spcPts val="3176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59636" y="1597857"/>
            <a:ext cx="7591938" cy="794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6"/>
              </a:lnSpc>
            </a:pPr>
            <a:r>
              <a:rPr lang="en-US" sz="23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CODE ANALYSIS RESULTS (Console Output)</a:t>
            </a:r>
          </a:p>
          <a:p>
            <a:pPr algn="l" marL="511442" indent="-25572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The A</a:t>
            </a:r>
            <a:r>
              <a:rPr lang="en-US" sz="23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ST-based analyzer successfully scanned the Python script and extracted all functions, variables, and API usages.</a:t>
            </a:r>
          </a:p>
          <a:p>
            <a:pPr algn="l" marL="511442" indent="-25572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Detected</a:t>
            </a:r>
            <a:r>
              <a:rPr lang="en-US" sz="23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hard-coded secrets (CWE-259), dangerous function calls, and vulne</a:t>
            </a:r>
            <a:r>
              <a:rPr lang="en-US" sz="23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rable patterns directly from the source code.</a:t>
            </a:r>
          </a:p>
          <a:p>
            <a:pPr algn="l" marL="511442" indent="-25572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23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ese console results confirm that the static analysis phase correctly identifies risky values and insecure operations before graph processing.</a:t>
            </a:r>
          </a:p>
          <a:p>
            <a:pPr algn="l">
              <a:lnSpc>
                <a:spcPts val="3316"/>
              </a:lnSpc>
            </a:pPr>
          </a:p>
          <a:p>
            <a:pPr algn="l">
              <a:lnSpc>
                <a:spcPts val="3316"/>
              </a:lnSpc>
            </a:pPr>
          </a:p>
          <a:p>
            <a:pPr algn="l">
              <a:lnSpc>
                <a:spcPts val="3316"/>
              </a:lnSpc>
            </a:pPr>
            <a:r>
              <a:rPr lang="en-US" sz="23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Interpretation:</a:t>
            </a:r>
          </a:p>
          <a:p>
            <a:pPr algn="l">
              <a:lnSpc>
                <a:spcPts val="3316"/>
              </a:lnSpc>
            </a:pPr>
            <a:r>
              <a:rPr lang="en-US" sz="23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3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hese outputs validate that the AST analyzer is correctly flagging unsafe code patterns and dangerous API calls b</a:t>
            </a:r>
            <a:r>
              <a:rPr lang="en-US" sz="23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ef</a:t>
            </a:r>
            <a:r>
              <a:rPr lang="en-US" sz="23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ore they are uploaded to Neo4j.</a:t>
            </a:r>
          </a:p>
          <a:p>
            <a:pPr algn="l">
              <a:lnSpc>
                <a:spcPts val="331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87728" y="1635957"/>
            <a:ext cx="7867351" cy="3912121"/>
          </a:xfrm>
          <a:custGeom>
            <a:avLst/>
            <a:gdLst/>
            <a:ahLst/>
            <a:cxnLst/>
            <a:rect r="r" b="b" t="t" l="l"/>
            <a:pathLst>
              <a:path h="3912121" w="7867351">
                <a:moveTo>
                  <a:pt x="0" y="0"/>
                </a:moveTo>
                <a:lnTo>
                  <a:pt x="7867351" y="0"/>
                </a:lnTo>
                <a:lnTo>
                  <a:pt x="7867351" y="3912121"/>
                </a:lnTo>
                <a:lnTo>
                  <a:pt x="0" y="39121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87728" y="5852969"/>
            <a:ext cx="7867351" cy="2200850"/>
          </a:xfrm>
          <a:custGeom>
            <a:avLst/>
            <a:gdLst/>
            <a:ahLst/>
            <a:cxnLst/>
            <a:rect r="r" b="b" t="t" l="l"/>
            <a:pathLst>
              <a:path h="2200850" w="7867351">
                <a:moveTo>
                  <a:pt x="0" y="0"/>
                </a:moveTo>
                <a:lnTo>
                  <a:pt x="7867351" y="0"/>
                </a:lnTo>
                <a:lnTo>
                  <a:pt x="7867351" y="2200850"/>
                </a:lnTo>
                <a:lnTo>
                  <a:pt x="0" y="22008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19" t="-2015" r="-604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75759" y="650592"/>
            <a:ext cx="10789680" cy="680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b="true" sz="39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23018"/>
            <a:ext cx="8469513" cy="7082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6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NEO4J GRAPH ANALYSIS RESULTS</a:t>
            </a:r>
          </a:p>
          <a:p>
            <a:pPr algn="l" marL="360316" indent="-180158" lvl="1">
              <a:lnSpc>
                <a:spcPts val="2336"/>
              </a:lnSpc>
              <a:buFont typeface="Arial"/>
              <a:buChar char="•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Successfully uploaded extracted AST graph into Neo4j Aura.</a:t>
            </a:r>
          </a:p>
          <a:p>
            <a:pPr algn="l" marL="360316" indent="-180158" lvl="1">
              <a:lnSpc>
                <a:spcPts val="2336"/>
              </a:lnSpc>
              <a:buFont typeface="Arial"/>
              <a:buChar char="•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Generated a complete program graph with:</a:t>
            </a:r>
          </a:p>
          <a:p>
            <a:pPr algn="l" marL="720631" indent="-240210" lvl="2">
              <a:lnSpc>
                <a:spcPts val="2336"/>
              </a:lnSpc>
              <a:buFont typeface="Arial"/>
              <a:buChar char="⚬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77 total nodes (functions + variables)</a:t>
            </a:r>
          </a:p>
          <a:p>
            <a:pPr algn="l" marL="720631" indent="-240210" lvl="2">
              <a:lnSpc>
                <a:spcPts val="2336"/>
              </a:lnSpc>
              <a:buFont typeface="Arial"/>
              <a:buChar char="⚬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76 CALLS edges</a:t>
            </a:r>
          </a:p>
          <a:p>
            <a:pPr algn="l" marL="360316" indent="-180158" lvl="1">
              <a:lnSpc>
                <a:spcPts val="2336"/>
              </a:lnSpc>
              <a:buFont typeface="Arial"/>
              <a:buChar char="•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Applied CWE d</a:t>
            </a: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etecti</a:t>
            </a: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on rules, automatically tagging 16 vulne</a:t>
            </a: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rable nodes.</a:t>
            </a:r>
          </a:p>
          <a:p>
            <a:pPr algn="l">
              <a:lnSpc>
                <a:spcPts val="2336"/>
              </a:lnSpc>
            </a:pPr>
            <a:r>
              <a:rPr lang="en-US" sz="16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CWE-Based Vulnerabilities Identified</a:t>
            </a:r>
          </a:p>
          <a:p>
            <a:pPr algn="l" marL="360316" indent="-180158" lvl="1">
              <a:lnSpc>
                <a:spcPts val="2336"/>
              </a:lnSpc>
              <a:buFont typeface="Arial"/>
              <a:buChar char="•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CWE-259: Hard-coded Secrets (6)</a:t>
            </a:r>
          </a:p>
          <a:p>
            <a:pPr algn="l" marL="360316" indent="-180158" lvl="1">
              <a:lnSpc>
                <a:spcPts val="2336"/>
              </a:lnSpc>
              <a:buFont typeface="Arial"/>
              <a:buChar char="•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CWE-22: Path Traversal (4)</a:t>
            </a:r>
          </a:p>
          <a:p>
            <a:pPr algn="l" marL="360316" indent="-180158" lvl="1">
              <a:lnSpc>
                <a:spcPts val="2336"/>
              </a:lnSpc>
              <a:buFont typeface="Arial"/>
              <a:buChar char="•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CWE-78: OS Command Injection (3)</a:t>
            </a:r>
          </a:p>
          <a:p>
            <a:pPr algn="l" marL="360316" indent="-180158" lvl="1">
              <a:lnSpc>
                <a:spcPts val="2336"/>
              </a:lnSpc>
              <a:buFont typeface="Arial"/>
              <a:buChar char="•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CWE-94: Unsafe eval() (1)</a:t>
            </a:r>
          </a:p>
          <a:p>
            <a:pPr algn="l" marL="360316" indent="-180158" lvl="1">
              <a:lnSpc>
                <a:spcPts val="2336"/>
              </a:lnSpc>
              <a:buFont typeface="Arial"/>
              <a:buChar char="•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CWE-502: Insecure Deserialization (1)</a:t>
            </a:r>
          </a:p>
          <a:p>
            <a:pPr algn="l" marL="360316" indent="-180158" lvl="1">
              <a:lnSpc>
                <a:spcPts val="2336"/>
              </a:lnSpc>
              <a:buFont typeface="Arial"/>
              <a:buChar char="•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CWE-327: Weak Hashing (1)</a:t>
            </a:r>
          </a:p>
          <a:p>
            <a:pPr algn="l">
              <a:lnSpc>
                <a:spcPts val="2336"/>
              </a:lnSpc>
            </a:pPr>
            <a:r>
              <a:rPr lang="en-US" sz="16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Graph </a:t>
            </a:r>
            <a:r>
              <a:rPr lang="en-US" sz="16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Interpretation</a:t>
            </a:r>
          </a:p>
          <a:p>
            <a:pPr algn="l" marL="360316" indent="-180158" lvl="1">
              <a:lnSpc>
                <a:spcPts val="2336"/>
              </a:lnSpc>
              <a:buFont typeface="Arial"/>
              <a:buChar char="•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eo4j visually highlights vulnerable nodes using color-coded CWE labels.</a:t>
            </a:r>
          </a:p>
          <a:p>
            <a:pPr algn="l" marL="360316" indent="-180158" lvl="1">
              <a:lnSpc>
                <a:spcPts val="2336"/>
              </a:lnSpc>
              <a:buFont typeface="Arial"/>
              <a:buChar char="•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Clear attack paths emerge:</a:t>
            </a:r>
          </a:p>
          <a:p>
            <a:pPr algn="l" marL="720631" indent="-240210" lvl="2">
              <a:lnSpc>
                <a:spcPts val="2336"/>
              </a:lnSpc>
              <a:buFont typeface="Arial"/>
              <a:buChar char="⚬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main_demo -&gt; list_directory -&gt; system</a:t>
            </a:r>
          </a:p>
          <a:p>
            <a:pPr algn="l" marL="720631" indent="-240210" lvl="2">
              <a:lnSpc>
                <a:spcPts val="2336"/>
              </a:lnSpc>
              <a:buFont typeface="Arial"/>
              <a:buChar char="⚬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main_demo -&gt; calculate_expression -&gt; eval</a:t>
            </a:r>
          </a:p>
          <a:p>
            <a:pPr algn="l" marL="720631" indent="-240210" lvl="2">
              <a:lnSpc>
                <a:spcPts val="2336"/>
              </a:lnSpc>
              <a:buFont typeface="Arial"/>
              <a:buChar char="⚬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main_demo -&gt; load_profile -&gt; loads</a:t>
            </a:r>
          </a:p>
          <a:p>
            <a:pPr algn="l" marL="360316" indent="-180158" lvl="1">
              <a:lnSpc>
                <a:spcPts val="2336"/>
              </a:lnSpc>
              <a:buFont typeface="Arial"/>
              <a:buChar char="•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The graph reveals how normal functions lead into dangerous sinks.</a:t>
            </a:r>
          </a:p>
          <a:p>
            <a:pPr algn="l">
              <a:lnSpc>
                <a:spcPts val="2336"/>
              </a:lnSpc>
            </a:pPr>
            <a:r>
              <a:rPr lang="en-US" sz="16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Screenshot includes:</a:t>
            </a:r>
          </a:p>
          <a:p>
            <a:pPr algn="l" marL="360316" indent="-180158" lvl="1">
              <a:lnSpc>
                <a:spcPts val="2336"/>
              </a:lnSpc>
              <a:buFont typeface="Arial"/>
              <a:buChar char="•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Full graph (77 nodes)</a:t>
            </a:r>
          </a:p>
          <a:p>
            <a:pPr algn="l" marL="360316" indent="-180158" lvl="1">
              <a:lnSpc>
                <a:spcPts val="2336"/>
              </a:lnSpc>
              <a:buFont typeface="Arial"/>
              <a:buChar char="•"/>
            </a:pP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Vuln</a:t>
            </a: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1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rability subgraph (16 vulnerable nodes, color-coded)</a:t>
            </a:r>
          </a:p>
          <a:p>
            <a:pPr algn="l">
              <a:lnSpc>
                <a:spcPts val="233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79787" y="1507947"/>
            <a:ext cx="7706043" cy="3814491"/>
          </a:xfrm>
          <a:custGeom>
            <a:avLst/>
            <a:gdLst/>
            <a:ahLst/>
            <a:cxnLst/>
            <a:rect r="r" b="b" t="t" l="l"/>
            <a:pathLst>
              <a:path h="3814491" w="7706043">
                <a:moveTo>
                  <a:pt x="0" y="0"/>
                </a:moveTo>
                <a:lnTo>
                  <a:pt x="7706043" y="0"/>
                </a:lnTo>
                <a:lnTo>
                  <a:pt x="7706043" y="3814492"/>
                </a:lnTo>
                <a:lnTo>
                  <a:pt x="0" y="38144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79787" y="5503414"/>
            <a:ext cx="7706043" cy="3605550"/>
          </a:xfrm>
          <a:custGeom>
            <a:avLst/>
            <a:gdLst/>
            <a:ahLst/>
            <a:cxnLst/>
            <a:rect r="r" b="b" t="t" l="l"/>
            <a:pathLst>
              <a:path h="3605550" w="7706043">
                <a:moveTo>
                  <a:pt x="0" y="0"/>
                </a:moveTo>
                <a:lnTo>
                  <a:pt x="7706043" y="0"/>
                </a:lnTo>
                <a:lnTo>
                  <a:pt x="7706043" y="3605550"/>
                </a:lnTo>
                <a:lnTo>
                  <a:pt x="0" y="36055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096" r="0" b="-209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17577" y="348684"/>
            <a:ext cx="10789680" cy="680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b="true" sz="39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06460" y="2336302"/>
            <a:ext cx="15675081" cy="654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7"/>
              </a:lnSpc>
            </a:pPr>
            <a:r>
              <a:rPr lang="en-US" sz="2326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Key Takeaways</a:t>
            </a:r>
          </a:p>
          <a:p>
            <a:pPr algn="l" marL="502303" indent="-251151" lvl="1">
              <a:lnSpc>
                <a:spcPts val="3257"/>
              </a:lnSpc>
              <a:buFont typeface="Arial"/>
              <a:buChar char="•"/>
            </a:pP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Transforming code into a function variable call graph enab</a:t>
            </a: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les d</a:t>
            </a: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eeper i</a:t>
            </a: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nsight than traditional static analysis.</a:t>
            </a:r>
          </a:p>
          <a:p>
            <a:pPr algn="l" marL="502303" indent="-251151" lvl="1">
              <a:lnSpc>
                <a:spcPts val="3257"/>
              </a:lnSpc>
              <a:buFont typeface="Arial"/>
              <a:buChar char="•"/>
            </a:pP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Neo4j visualization cle</a:t>
            </a: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arly exposes how vulnerabilities propagate through chains of function calls.</a:t>
            </a:r>
          </a:p>
          <a:p>
            <a:pPr algn="l" marL="502303" indent="-251151" lvl="1">
              <a:lnSpc>
                <a:spcPts val="3257"/>
              </a:lnSpc>
              <a:buFont typeface="Arial"/>
              <a:buChar char="•"/>
            </a:pP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The</a:t>
            </a: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system successfully detects and classifies 6 major CWE c</a:t>
            </a: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tegories, identifying 16 vulnerable nodes from the analyzed Python code.</a:t>
            </a:r>
          </a:p>
          <a:p>
            <a:pPr algn="l" marL="502303" indent="-251151" lvl="1">
              <a:lnSpc>
                <a:spcPts val="3257"/>
              </a:lnSpc>
              <a:buFont typeface="Arial"/>
              <a:buChar char="•"/>
            </a:pP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ttack paths such as main_demo -&gt; list_directory -&gt; system and calculate_expression -&gt; eval highlight high-risk execution flows that are invisible in linear code review.</a:t>
            </a:r>
          </a:p>
          <a:p>
            <a:pPr algn="l">
              <a:lnSpc>
                <a:spcPts val="3257"/>
              </a:lnSpc>
            </a:pPr>
            <a:r>
              <a:rPr lang="en-US" sz="2326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Strengths of the Approach</a:t>
            </a:r>
          </a:p>
          <a:p>
            <a:pPr algn="l" marL="502303" indent="-251151" lvl="1">
              <a:lnSpc>
                <a:spcPts val="3257"/>
              </a:lnSpc>
              <a:buFont typeface="Arial"/>
              <a:buChar char="•"/>
            </a:pP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Context-aware vulnerability detection using graph queries (Cypher).</a:t>
            </a:r>
          </a:p>
          <a:p>
            <a:pPr algn="l" marL="502303" indent="-251151" lvl="1">
              <a:lnSpc>
                <a:spcPts val="3257"/>
              </a:lnSpc>
              <a:buFont typeface="Arial"/>
              <a:buChar char="•"/>
            </a:pP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Visual clarity through color-coded CWE nodes.</a:t>
            </a:r>
          </a:p>
          <a:p>
            <a:pPr algn="l" marL="502303" indent="-251151" lvl="1">
              <a:lnSpc>
                <a:spcPts val="3257"/>
              </a:lnSpc>
              <a:buFont typeface="Arial"/>
              <a:buChar char="•"/>
            </a:pP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Easily extensible for new rules, larger codebases, or multi-file analysis.</a:t>
            </a:r>
          </a:p>
          <a:p>
            <a:pPr algn="l">
              <a:lnSpc>
                <a:spcPts val="3257"/>
              </a:lnSpc>
            </a:pPr>
            <a:r>
              <a:rPr lang="en-US" sz="2326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Overall Conclusion</a:t>
            </a:r>
          </a:p>
          <a:p>
            <a:pPr algn="l">
              <a:lnSpc>
                <a:spcPts val="3257"/>
              </a:lnSpc>
            </a:pP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This</a:t>
            </a: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graph-based static analysis system provides a powerful way to und</a:t>
            </a: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32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rstand, detect, and visualize vulnerabilities, making it a valuable complement to traditional security scanning tools.</a:t>
            </a:r>
          </a:p>
          <a:p>
            <a:pPr algn="l">
              <a:lnSpc>
                <a:spcPts val="3257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17577" y="348684"/>
            <a:ext cx="10789680" cy="680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b="true" sz="39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68325" y="4041844"/>
            <a:ext cx="12951349" cy="197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b="true" sz="1150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DAG32YKCSis</dc:identifier>
  <dcterms:modified xsi:type="dcterms:W3CDTF">2011-08-01T06:04:30Z</dcterms:modified>
  <cp:revision>1</cp:revision>
  <dc:title>Security Vulnerability Detection</dc:title>
</cp:coreProperties>
</file>