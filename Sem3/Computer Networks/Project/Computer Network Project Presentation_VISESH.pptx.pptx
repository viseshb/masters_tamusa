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TT Hoves Bold" charset="1" panose="02000003020000060003"/>
      <p:regular r:id="rId36"/>
    </p:embeddedFont>
    <p:embeddedFont>
      <p:font typeface="TT Hoves" charset="1" panose="02000003020000060003"/>
      <p:regular r:id="rId37"/>
    </p:embeddedFont>
    <p:embeddedFont>
      <p:font typeface="Public Sans" charset="1" panose="00000000000000000000"/>
      <p:regular r:id="rId39"/>
    </p:embeddedFont>
    <p:embeddedFont>
      <p:font typeface="Public Sans Bold" charset="1" panose="0000000000000000000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notesMasters/notesMaster1.xml" Type="http://schemas.openxmlformats.org/officeDocument/2006/relationships/notesMaster"/><Relationship Id="rId34" Target="theme/theme2.xml" Type="http://schemas.openxmlformats.org/officeDocument/2006/relationships/theme"/><Relationship Id="rId35" Target="notesSlides/notesSlide1.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notesSlides/notesSlide2.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notesSlides/notesSlide3.xml" Type="http://schemas.openxmlformats.org/officeDocument/2006/relationships/notesSlide"/><Relationship Id="rId41" Target="notesSlides/notesSlide4.xml" Type="http://schemas.openxmlformats.org/officeDocument/2006/relationships/notesSlide"/><Relationship Id="rId42" Target="notesSlides/notesSlide5.xml" Type="http://schemas.openxmlformats.org/officeDocument/2006/relationships/notesSlide"/><Relationship Id="rId43" Target="fonts/font43.fntdata" Type="http://schemas.openxmlformats.org/officeDocument/2006/relationships/font"/><Relationship Id="rId44" Target="notesSlides/notesSlide6.xml" Type="http://schemas.openxmlformats.org/officeDocument/2006/relationships/notesSlide"/><Relationship Id="rId45" Target="notesSlides/notesSlide7.xml" Type="http://schemas.openxmlformats.org/officeDocument/2006/relationships/notesSlide"/><Relationship Id="rId46" Target="notesSlides/notesSlide8.xml" Type="http://schemas.openxmlformats.org/officeDocument/2006/relationships/notesSlide"/><Relationship Id="rId47" Target="notesSlides/notesSlide9.xml" Type="http://schemas.openxmlformats.org/officeDocument/2006/relationships/notesSlide"/><Relationship Id="rId48" Target="notesSlides/notesSlide10.xml" Type="http://schemas.openxmlformats.org/officeDocument/2006/relationships/notesSlide"/><Relationship Id="rId49" Target="notesSlides/notesSlide11.xml" Type="http://schemas.openxmlformats.org/officeDocument/2006/relationships/notesSlide"/><Relationship Id="rId5" Target="tableStyles.xml" Type="http://schemas.openxmlformats.org/officeDocument/2006/relationships/tableStyles"/><Relationship Id="rId50" Target="notesSlides/notesSlide12.xml" Type="http://schemas.openxmlformats.org/officeDocument/2006/relationships/notesSlide"/><Relationship Id="rId51" Target="notesSlides/notesSlide13.xml" Type="http://schemas.openxmlformats.org/officeDocument/2006/relationships/notesSlide"/><Relationship Id="rId52" Target="notesSlides/notesSlide14.xml" Type="http://schemas.openxmlformats.org/officeDocument/2006/relationships/notesSlide"/><Relationship Id="rId53" Target="notesSlides/notesSlide15.xml" Type="http://schemas.openxmlformats.org/officeDocument/2006/relationships/notesSlide"/><Relationship Id="rId54" Target="notesSlides/notesSlide16.xml" Type="http://schemas.openxmlformats.org/officeDocument/2006/relationships/notesSlide"/><Relationship Id="rId55" Target="notesSlides/notesSlide17.xml" Type="http://schemas.openxmlformats.org/officeDocument/2006/relationships/notesSlide"/><Relationship Id="rId56" Target="notesSlides/notesSlide18.xml" Type="http://schemas.openxmlformats.org/officeDocument/2006/relationships/notesSlide"/><Relationship Id="rId57" Target="notesSlides/notesSlide19.xml" Type="http://schemas.openxmlformats.org/officeDocument/2006/relationships/notesSlide"/><Relationship Id="rId58" Target="notesSlides/notesSlide20.xml" Type="http://schemas.openxmlformats.org/officeDocument/2006/relationships/notesSlide"/><Relationship Id="rId59" Target="notesSlides/notesSlide21.xml" Type="http://schemas.openxmlformats.org/officeDocument/2006/relationships/notesSlide"/><Relationship Id="rId6" Target="slides/slide1.xml" Type="http://schemas.openxmlformats.org/officeDocument/2006/relationships/slide"/><Relationship Id="rId60" Target="notesSlides/notesSlide22.xml" Type="http://schemas.openxmlformats.org/officeDocument/2006/relationships/notesSlide"/><Relationship Id="rId61" Target="notesSlides/notesSlide23.xml" Type="http://schemas.openxmlformats.org/officeDocument/2006/relationships/notesSlide"/><Relationship Id="rId62" Target="notesSlides/notesSlide24.xml" Type="http://schemas.openxmlformats.org/officeDocument/2006/relationships/notesSlide"/><Relationship Id="rId63" Target="notesSlides/notesSlide25.xml" Type="http://schemas.openxmlformats.org/officeDocument/2006/relationships/notesSlide"/><Relationship Id="rId64" Target="notesSlides/notesSlide26.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sshuttle forwards traffic from your computer through an SSH tunnel to another computer.</a:t>
            </a:r>
          </a:p>
          <a:p>
            <a:r>
              <a:rPr lang="en-US"/>
              <a:t> Unlike a normal SSH tunnel where you forward only one port, sshuttle can forward an entire subnet of traffic.</a:t>
            </a:r>
          </a:p>
          <a:p>
            <a:r>
              <a:rPr lang="en-US"/>
              <a:t>This makes it feel like you’re on the remote network, without needing special VPN software.</a:t>
            </a:r>
          </a:p>
          <a:p>
            <a:r>
              <a:rPr lang="en-US"/>
              <a:t/>
            </a:r>
          </a:p>
          <a:p>
            <a:r>
              <a:rPr lang="en-US"/>
              <a:t>“sshuttle is like a quick, lightweight VPN built on top of SSH. It captures TCP traffic and forwards it through an SSH tunnel. The big advantage is that it’s very easy to set up and doesn’t require complex configuration. It’s useful for debugging or when we want temporary connectivity, especially in firewalled environments. The downside is that sshuttle only supports TCP traffic — so things like pings or UDP traffic won’t work. Conceptually, you can think of sshuttle as a lightweight shortcut between nodes.”</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“WireGuard is a modern VPN protocol that’s designed to be simple, secure, and very fast. It creates an encrypted tunnel between machines, so everything sent across it is protected.</a:t>
            </a:r>
          </a:p>
          <a:p>
            <a:r>
              <a:rPr lang="en-US"/>
              <a:t>Unlike sshuttle, WireGuard supports all types of traffic: TCP, UDP, and ICMP. It’s easy to configure and has less overhead compared to older VPNs. Because of this, it’s often used in real-world production networks as well as in research environments like FABRIC. In short, WireGuard is ideal when we want long-term, secure, and flexible communication.”</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Static routing is the manual way of telling computers how to reach each other. Instead of relying on automatic routing, we explicitly define the path using commands like ip route.</a:t>
            </a:r>
          </a:p>
          <a:p>
            <a:r>
              <a:rPr lang="en-US"/>
              <a:t>The main advantage is that we get full control and transparency — we know exactly where the traffic is going. It also supports all types of protocols without needing tunneling.</a:t>
            </a:r>
          </a:p>
          <a:p>
            <a:r>
              <a:rPr lang="en-US"/>
              <a:t>However, static routing is not encrypted, and it’s less flexible. If the network changes, we have to manually update the routes. Conceptually, static routing is like a hard-coded map of the network.”</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
            </a:r>
          </a:p>
          <a:p>
            <a:r>
              <a:rPr lang="en-US"/>
              <a:t>This slide shows the two main steps to set up our FABRIC environment. On the left, we import and configure the FABlib library using a token and project ID — basically our login key and project name. We also verify that the environment is ready. On the right, we create a slice, which is like our own private mini-lab inside FABRIC. We define networks, add three nodes, connect them, and then submit the slice request. Once that’s done, FABRIC gives us a set of machines that we can use for testing sshuttle, WireGuard, and static routing.</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“With sshuttle, we created an SSH-based tunnel through Node2. A dummy route allowed Node1 to reach Node3’s subnet. Node1 successfully connected to Node3 using TCP, and the routing table confirmed traffic redirection.</a:t>
            </a:r>
          </a:p>
          <a:p>
            <a:r>
              <a:rPr lang="en-US"/>
              <a:t>However, sshuttle only supports TCP, so pings and UDP traffic don’t work.</a:t>
            </a:r>
          </a:p>
          <a:p>
            <a:r>
              <a:rPr lang="en-US"/>
              <a:t>In conclusion, sshuttle is best for quick connectivity or debugging but not for full-scale networking.”</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“WireGuard was installed and configured on all three nodes, creating an overlay network in the 10.0.0.x range.</a:t>
            </a:r>
          </a:p>
          <a:p>
            <a:r>
              <a:rPr lang="en-US"/>
              <a:t>Node1 and Node3 communicated successfully over the tunnel, and Node1 reached Node3’s underlay IP. A TCP test confirmed SSH access as well.</a:t>
            </a:r>
          </a:p>
          <a:p>
            <a:r>
              <a:rPr lang="en-US"/>
              <a:t>However, Node3 could not ping Node1’s underlay address, showing 100% packet loss. This was expected, because WireGuard only forwards traffic defined in the AllowedIPs setting, and Node2 wasn’t configured with NAT or forwarding rules.</a:t>
            </a:r>
          </a:p>
          <a:p>
            <a:r>
              <a:rPr lang="en-US"/>
              <a:t>So the packet loss isn’t an error — it simply shows that the tunnel was isolated from the underlay network. Overall, WireGuard provided full end-to-end encrypted connectivity and is very reliable.”</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“For static routing, I stopped sshuttle and WireGuard to avoid conflicts. Then, I enabled IP forwarding on Node2 so it could act as a router.</a:t>
            </a:r>
          </a:p>
          <a:p>
            <a:r>
              <a:rPr lang="en-US"/>
              <a:t>I added static routes on Node1 and Node3 pointing through Node2. The pings confirmed successful connectivity between Node1 and Node3, and the routing tables showed the correct static entries.</a:t>
            </a:r>
          </a:p>
          <a:p>
            <a:r>
              <a:rPr lang="en-US"/>
              <a:t>The limitation is that static routing doesn’t encrypt the traffic, and routes need manual updates if the network changes.</a:t>
            </a:r>
          </a:p>
          <a:p>
            <a:r>
              <a:rPr lang="en-US"/>
              <a:t>The conclusion is that static routing is reliable for experiments and learning, but less secure and flexible compared to WireGuard.”</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“For static routing, I stopped sshuttle and WireGuard to avoid conflicts. Then, I enabled IP forwarding on Node2 so it could act as a router.</a:t>
            </a:r>
          </a:p>
          <a:p>
            <a:r>
              <a:rPr lang="en-US"/>
              <a:t>I added static routes on Node1 and Node3 pointing through Node2. The pings confirmed successful connectivity between Node1 and Node3, and the routing tables showed the correct static entries.</a:t>
            </a:r>
          </a:p>
          <a:p>
            <a:r>
              <a:rPr lang="en-US"/>
              <a:t>The limitation is that static routing doesn’t encrypt the traffic, and routes need manual updates if the network changes.</a:t>
            </a:r>
          </a:p>
          <a:p>
            <a:r>
              <a:rPr lang="en-US"/>
              <a:t>The conclusion is that static routing is reliable for experiments and learning, but less secure and flexible compared to WireGuard.”</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“For static routing, I stopped sshuttle and WireGuard to avoid conflicts. Then, I enabled IP forwarding on Node2 so it could act as a router.</a:t>
            </a:r>
          </a:p>
          <a:p>
            <a:r>
              <a:rPr lang="en-US"/>
              <a:t>I added static routes on Node1 and Node3 pointing through Node2. The pings confirmed successful connectivity between Node1 and Node3, and the routing tables showed the correct static entries.</a:t>
            </a:r>
          </a:p>
          <a:p>
            <a:r>
              <a:rPr lang="en-US"/>
              <a:t>The limitation is that static routing doesn’t encrypt the traffic, and routes need manual updates if the network changes.</a:t>
            </a:r>
          </a:p>
          <a:p>
            <a:r>
              <a:rPr lang="en-US"/>
              <a:t>The conclusion is that static routing is reliable for experiments and learning, but less secure and flexible compared to WireGuard.”</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“For static routing, I stopped sshuttle and WireGuard to avoid conflicts. Then, I enabled IP forwarding on Node2 so it could act as a router.</a:t>
            </a:r>
          </a:p>
          <a:p>
            <a:r>
              <a:rPr lang="en-US"/>
              <a:t>I added static routes on Node1 and Node3 pointing through Node2. The pings confirmed successful connectivity between Node1 and Node3, and the routing tables showed the correct static entries.</a:t>
            </a:r>
          </a:p>
          <a:p>
            <a:r>
              <a:rPr lang="en-US"/>
              <a:t>The limitation is that static routing doesn’t encrypt the traffic, and routes need manual updates if the network changes.</a:t>
            </a:r>
          </a:p>
          <a:p>
            <a:r>
              <a:rPr lang="en-US"/>
              <a:t>The conclusion is that static routing is reliable for experiments and learning, but less secure and flexible compared to WireGuard.”</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“In the future, I plan to extend this project by repeating the same experiments on other platforms such as NS3, OMNeT++, and Chameleon Cloud. By doing this, I can compare sshuttle, WireGuard, and static routing not only on FABRIC but also in simulation and cloud environments. This broader evaluation will help me analyze how these tools perform in terms of scalability, flexibility, and efficiency.</a:t>
            </a:r>
          </a:p>
          <a:p>
            <a:r>
              <a:rPr lang="en-US"/>
              <a:t>After the comparison, I want to go one step further by making my own contribution. This could mean improving one of the tools, integrating features from multiple approaches, or even designing a hybrid solution. I will carry this through the full cycle proposal, design, implementation, and testing and then compare my results with both my own experiments and findings from related research.</a:t>
            </a:r>
          </a:p>
          <a:p>
            <a:r>
              <a:rPr lang="en-US"/>
              <a:t>Finally, I plan to bring everything together in a well-structured research paper, following the proper format, and also submit a complete codebase that reflects the work I’ve done.”</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“For static routing, I stopped sshuttle and WireGuard to avoid conflicts. Then, I enabled IP forwarding on Node2 so it could act as a router.</a:t>
            </a:r>
          </a:p>
          <a:p>
            <a:r>
              <a:rPr lang="en-US"/>
              <a:t>I added static routes on Node1 and Node3 pointing through Node2. The pings confirmed successful connectivity between Node1 and Node3, and the routing tables showed the correct static entries.</a:t>
            </a:r>
          </a:p>
          <a:p>
            <a:r>
              <a:rPr lang="en-US"/>
              <a:t>The limitation is that static routing doesn’t encrypt the traffic, and routes need manual updates if the network changes.</a:t>
            </a:r>
          </a:p>
          <a:p>
            <a:r>
              <a:rPr lang="en-US"/>
              <a:t>The conclusion is that static routing is reliable for experiments and learning, but less secure and flexible compared to WireGuard.”</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“For static routing, I stopped sshuttle and WireGuard to avoid conflicts. Then, I enabled IP forwarding on Node2 so it could act as a router.</a:t>
            </a:r>
          </a:p>
          <a:p>
            <a:r>
              <a:rPr lang="en-US"/>
              <a:t>I added static routes on Node1 and Node3 pointing through Node2. The pings confirmed successful connectivity between Node1 and Node3, and the routing tables showed the correct static entries.</a:t>
            </a:r>
          </a:p>
          <a:p>
            <a:r>
              <a:rPr lang="en-US"/>
              <a:t>The limitation is that static routing doesn’t encrypt the traffic, and routes need manual updates if the network changes.</a:t>
            </a:r>
          </a:p>
          <a:p>
            <a:r>
              <a:rPr lang="en-US"/>
              <a:t>The conclusion is that static routing is reliable for experiments and learning, but less secure and flexible compared to WireGuard.”</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Encountered a routing issue in OMNeT++ WireGuard mode — Node1 reports “Destination Unreachable” for 10.0.1.2 due to missing overlay route. Will fix by 30th submission to enable successful UDP communication over the encrypted tunnel.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Encountered a routing issue in OMNeT++ WireGuard mode — Node1 reports “Destination Unreachable” for 10.0.1.2 due to missing overlay route. Will fix by 30th submission to enable successful UDP communication over the encrypted tunnel.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Encountered a routing issue in OMNeT++ WireGuard mode — Node1 reports “Destination Unreachable” for 10.0.1.2 due to missing overlay route. Will fix by 30th submission to enable successful UDP communication over the encrypted tunnel.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Encountered a routing issue in OMNeT++ WireGuard mode — Node1 reports “Destination Unreachable” for 10.0.1.2 due to missing overlay route. Will fix by 30th submission to enable successful UDP communication over the encrypted tunnel.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Encountered a routing issue in OMNeT++ WireGuard mode — Node1 reports “Destination Unreachable” for 10.0.1.2 due to missing overlay route. Will fix by 30th submission to enable successful UDP communication over the encrypted tunnel.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Encountered a routing issue in OMNeT++ WireGuard mode — Node1 reports “Destination Unreachable” for 10.0.1.2 due to missing overlay route. Will fix by 30th submission to enable successful UDP communication over the encrypted tunnel.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Encountered a routing issue in OMNeT++ WireGuard mode — Node1 reports “Destination Unreachable” for 10.0.1.2 due to missing overlay route. Will fix by 30th submission to enable successful UDP communication over the encrypted tunnel.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Encountered a routing issue in OMNeT++ WireGuard mode — Node1 reports “Destination Unreachable” for 10.0.1.2 due to missing overlay route. Will fix by 30th submission to enable successful UDP communication over the encrypted tunnel.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Encountered a routing issue in OMNeT++ WireGuard mode — Node1 reports “Destination Unreachable” for 10.0.1.2 due to missing overlay route. Will fix by 30th submission to enable successful UDP communication over the encrypted tunnel.</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4.png" Type="http://schemas.openxmlformats.org/officeDocument/2006/relationships/image"/><Relationship Id="rId4" Target="../media/image15.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2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2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2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5.png" Type="http://schemas.openxmlformats.org/officeDocument/2006/relationships/image"/><Relationship Id="rId6" Target="../media/image3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0107576" y="-2295434"/>
            <a:ext cx="11221859" cy="11221859"/>
          </a:xfrm>
          <a:custGeom>
            <a:avLst/>
            <a:gdLst/>
            <a:ahLst/>
            <a:cxnLst/>
            <a:rect r="r" b="b" t="t" l="l"/>
            <a:pathLst>
              <a:path h="11221859" w="11221859">
                <a:moveTo>
                  <a:pt x="0" y="0"/>
                </a:moveTo>
                <a:lnTo>
                  <a:pt x="11221859" y="0"/>
                </a:lnTo>
                <a:lnTo>
                  <a:pt x="11221859" y="11221859"/>
                </a:lnTo>
                <a:lnTo>
                  <a:pt x="0" y="1122185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696258" y="-667519"/>
            <a:ext cx="19680517" cy="1921483"/>
          </a:xfrm>
          <a:custGeom>
            <a:avLst/>
            <a:gdLst/>
            <a:ahLst/>
            <a:cxnLst/>
            <a:rect r="r" b="b" t="t" l="l"/>
            <a:pathLst>
              <a:path h="1921483" w="19680517">
                <a:moveTo>
                  <a:pt x="0" y="0"/>
                </a:moveTo>
                <a:lnTo>
                  <a:pt x="19680517" y="0"/>
                </a:lnTo>
                <a:lnTo>
                  <a:pt x="19680517" y="1921483"/>
                </a:lnTo>
                <a:lnTo>
                  <a:pt x="0" y="19214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4" id="4"/>
          <p:cNvSpPr txBox="true"/>
          <p:nvPr/>
        </p:nvSpPr>
        <p:spPr>
          <a:xfrm rot="0">
            <a:off x="1647781" y="3195184"/>
            <a:ext cx="14958573" cy="2299146"/>
          </a:xfrm>
          <a:prstGeom prst="rect">
            <a:avLst/>
          </a:prstGeom>
        </p:spPr>
        <p:txBody>
          <a:bodyPr anchor="t" rtlCol="false" tIns="0" lIns="0" bIns="0" rIns="0">
            <a:spAutoFit/>
          </a:bodyPr>
          <a:lstStyle/>
          <a:p>
            <a:pPr algn="l">
              <a:lnSpc>
                <a:spcPts val="6339"/>
              </a:lnSpc>
            </a:pPr>
            <a:r>
              <a:rPr lang="en-US" b="true" sz="6744" spc="-330">
                <a:solidFill>
                  <a:srgbClr val="343434"/>
                </a:solidFill>
                <a:latin typeface="TT Hoves Bold"/>
                <a:ea typeface="TT Hoves Bold"/>
                <a:cs typeface="TT Hoves Bold"/>
                <a:sym typeface="TT Hoves Bold"/>
              </a:rPr>
              <a:t>End-to-End VM Connectivity Across Subnets Using sshuttle, WireGuard, and Static Routing</a:t>
            </a:r>
          </a:p>
        </p:txBody>
      </p:sp>
      <p:sp>
        <p:nvSpPr>
          <p:cNvPr name="TextBox 5" id="5"/>
          <p:cNvSpPr txBox="true"/>
          <p:nvPr/>
        </p:nvSpPr>
        <p:spPr>
          <a:xfrm rot="0">
            <a:off x="1647781" y="7790915"/>
            <a:ext cx="6924038" cy="492301"/>
          </a:xfrm>
          <a:prstGeom prst="rect">
            <a:avLst/>
          </a:prstGeom>
        </p:spPr>
        <p:txBody>
          <a:bodyPr anchor="t" rtlCol="false" tIns="0" lIns="0" bIns="0" rIns="0">
            <a:spAutoFit/>
          </a:bodyPr>
          <a:lstStyle/>
          <a:p>
            <a:pPr algn="l">
              <a:lnSpc>
                <a:spcPts val="4380"/>
              </a:lnSpc>
            </a:pPr>
            <a:r>
              <a:rPr lang="en-US" sz="4381" spc="-87">
                <a:solidFill>
                  <a:srgbClr val="343434"/>
                </a:solidFill>
                <a:latin typeface="TT Hoves"/>
                <a:ea typeface="TT Hoves"/>
                <a:cs typeface="TT Hoves"/>
                <a:sym typeface="TT Hoves"/>
              </a:rPr>
              <a:t>Presented by Visesh Bentula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0107576" y="-2295434"/>
            <a:ext cx="11221859" cy="11221859"/>
          </a:xfrm>
          <a:custGeom>
            <a:avLst/>
            <a:gdLst/>
            <a:ahLst/>
            <a:cxnLst/>
            <a:rect r="r" b="b" t="t" l="l"/>
            <a:pathLst>
              <a:path h="11221859" w="11221859">
                <a:moveTo>
                  <a:pt x="0" y="0"/>
                </a:moveTo>
                <a:lnTo>
                  <a:pt x="11221859" y="0"/>
                </a:lnTo>
                <a:lnTo>
                  <a:pt x="11221859" y="11221859"/>
                </a:lnTo>
                <a:lnTo>
                  <a:pt x="0" y="1122185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696258" y="-667519"/>
            <a:ext cx="19680517" cy="1921483"/>
          </a:xfrm>
          <a:custGeom>
            <a:avLst/>
            <a:gdLst/>
            <a:ahLst/>
            <a:cxnLst/>
            <a:rect r="r" b="b" t="t" l="l"/>
            <a:pathLst>
              <a:path h="1921483" w="19680517">
                <a:moveTo>
                  <a:pt x="0" y="0"/>
                </a:moveTo>
                <a:lnTo>
                  <a:pt x="19680517" y="0"/>
                </a:lnTo>
                <a:lnTo>
                  <a:pt x="19680517" y="1921483"/>
                </a:lnTo>
                <a:lnTo>
                  <a:pt x="0" y="19214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342476" y="3374496"/>
            <a:ext cx="13164678" cy="3538007"/>
            <a:chOff x="0" y="0"/>
            <a:chExt cx="17552904" cy="4717343"/>
          </a:xfrm>
        </p:grpSpPr>
        <p:sp>
          <p:nvSpPr>
            <p:cNvPr name="Freeform 5" id="5"/>
            <p:cNvSpPr/>
            <p:nvPr/>
          </p:nvSpPr>
          <p:spPr>
            <a:xfrm flipH="false" flipV="false" rot="0">
              <a:off x="0" y="0"/>
              <a:ext cx="17552924" cy="4717288"/>
            </a:xfrm>
            <a:custGeom>
              <a:avLst/>
              <a:gdLst/>
              <a:ahLst/>
              <a:cxnLst/>
              <a:rect r="r" b="b" t="t" l="l"/>
              <a:pathLst>
                <a:path h="4717288" w="17552924">
                  <a:moveTo>
                    <a:pt x="0" y="0"/>
                  </a:moveTo>
                  <a:lnTo>
                    <a:pt x="17552924" y="0"/>
                  </a:lnTo>
                  <a:lnTo>
                    <a:pt x="17552924" y="4717288"/>
                  </a:lnTo>
                  <a:lnTo>
                    <a:pt x="0" y="4717288"/>
                  </a:lnTo>
                  <a:lnTo>
                    <a:pt x="0" y="0"/>
                  </a:lnTo>
                  <a:close/>
                </a:path>
              </a:pathLst>
            </a:custGeom>
            <a:blipFill>
              <a:blip r:embed="rId7"/>
              <a:stretch>
                <a:fillRect l="0" t="-97" r="0" b="-98"/>
              </a:stretch>
            </a:blipFill>
          </p:spPr>
        </p:sp>
      </p:grpSp>
      <p:sp>
        <p:nvSpPr>
          <p:cNvPr name="TextBox 6" id="6"/>
          <p:cNvSpPr txBox="true"/>
          <p:nvPr/>
        </p:nvSpPr>
        <p:spPr>
          <a:xfrm rot="0">
            <a:off x="4572823" y="1906539"/>
            <a:ext cx="9142354" cy="622475"/>
          </a:xfrm>
          <a:prstGeom prst="rect">
            <a:avLst/>
          </a:prstGeom>
        </p:spPr>
        <p:txBody>
          <a:bodyPr anchor="t" rtlCol="false" tIns="0" lIns="0" bIns="0" rIns="0">
            <a:spAutoFit/>
          </a:bodyPr>
          <a:lstStyle/>
          <a:p>
            <a:pPr algn="l">
              <a:lnSpc>
                <a:spcPts val="5380"/>
              </a:lnSpc>
            </a:pPr>
            <a:r>
              <a:rPr lang="en-US" b="true" sz="5381" spc="-107">
                <a:solidFill>
                  <a:srgbClr val="343434"/>
                </a:solidFill>
                <a:latin typeface="TT Hoves Bold"/>
                <a:ea typeface="TT Hoves Bold"/>
                <a:cs typeface="TT Hoves Bold"/>
                <a:sym typeface="TT Hoves Bold"/>
              </a:rPr>
              <a:t>Network topology (FABRIC)</a:t>
            </a:r>
          </a:p>
        </p:txBody>
      </p:sp>
      <p:sp>
        <p:nvSpPr>
          <p:cNvPr name="TextBox 7" id="7"/>
          <p:cNvSpPr txBox="true"/>
          <p:nvPr/>
        </p:nvSpPr>
        <p:spPr>
          <a:xfrm rot="0">
            <a:off x="0" y="7264929"/>
            <a:ext cx="18288000" cy="1438911"/>
          </a:xfrm>
          <a:prstGeom prst="rect">
            <a:avLst/>
          </a:prstGeom>
        </p:spPr>
        <p:txBody>
          <a:bodyPr anchor="t" rtlCol="false" tIns="0" lIns="0" bIns="0" rIns="0">
            <a:spAutoFit/>
          </a:bodyPr>
          <a:lstStyle/>
          <a:p>
            <a:pPr algn="just">
              <a:lnSpc>
                <a:spcPts val="3639"/>
              </a:lnSpc>
            </a:pPr>
            <a:r>
              <a:rPr lang="en-US" sz="2599">
                <a:solidFill>
                  <a:srgbClr val="343434"/>
                </a:solidFill>
                <a:latin typeface="Public Sans"/>
                <a:ea typeface="Public Sans"/>
                <a:cs typeface="Public Sans"/>
                <a:sym typeface="Public Sans"/>
              </a:rPr>
              <a:t>This is the network slice I created on FABRIC. Node1 and Node3 are on two separate subnets, and Node2 sits in the middle with two network interfaces. Node2 acts like a router or bridge, and I tested three methods  sshuttle, WireGuard, and static routing  to achieve end-to-end connectivity between Node1 and Node3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0107576" y="-2295434"/>
            <a:ext cx="11221859" cy="11221859"/>
          </a:xfrm>
          <a:custGeom>
            <a:avLst/>
            <a:gdLst/>
            <a:ahLst/>
            <a:cxnLst/>
            <a:rect r="r" b="b" t="t" l="l"/>
            <a:pathLst>
              <a:path h="11221859" w="11221859">
                <a:moveTo>
                  <a:pt x="0" y="0"/>
                </a:moveTo>
                <a:lnTo>
                  <a:pt x="11221859" y="0"/>
                </a:lnTo>
                <a:lnTo>
                  <a:pt x="11221859" y="11221859"/>
                </a:lnTo>
                <a:lnTo>
                  <a:pt x="0" y="1122185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696258" y="-667519"/>
            <a:ext cx="19680517" cy="1921483"/>
          </a:xfrm>
          <a:custGeom>
            <a:avLst/>
            <a:gdLst/>
            <a:ahLst/>
            <a:cxnLst/>
            <a:rect r="r" b="b" t="t" l="l"/>
            <a:pathLst>
              <a:path h="1921483" w="19680517">
                <a:moveTo>
                  <a:pt x="0" y="0"/>
                </a:moveTo>
                <a:lnTo>
                  <a:pt x="19680517" y="0"/>
                </a:lnTo>
                <a:lnTo>
                  <a:pt x="19680517" y="1921483"/>
                </a:lnTo>
                <a:lnTo>
                  <a:pt x="0" y="19214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6628228" y="3233285"/>
            <a:ext cx="5031545" cy="3820429"/>
            <a:chOff x="0" y="0"/>
            <a:chExt cx="6708727" cy="5093905"/>
          </a:xfrm>
        </p:grpSpPr>
        <p:sp>
          <p:nvSpPr>
            <p:cNvPr name="Freeform 5" id="5"/>
            <p:cNvSpPr/>
            <p:nvPr/>
          </p:nvSpPr>
          <p:spPr>
            <a:xfrm flipH="false" flipV="false" rot="0">
              <a:off x="0" y="0"/>
              <a:ext cx="6708775" cy="5093970"/>
            </a:xfrm>
            <a:custGeom>
              <a:avLst/>
              <a:gdLst/>
              <a:ahLst/>
              <a:cxnLst/>
              <a:rect r="r" b="b" t="t" l="l"/>
              <a:pathLst>
                <a:path h="5093970" w="6708775">
                  <a:moveTo>
                    <a:pt x="0" y="0"/>
                  </a:moveTo>
                  <a:lnTo>
                    <a:pt x="6708775" y="0"/>
                  </a:lnTo>
                  <a:lnTo>
                    <a:pt x="6708775" y="5093970"/>
                  </a:lnTo>
                  <a:lnTo>
                    <a:pt x="0" y="5093970"/>
                  </a:lnTo>
                  <a:lnTo>
                    <a:pt x="0" y="0"/>
                  </a:lnTo>
                  <a:close/>
                </a:path>
              </a:pathLst>
            </a:custGeom>
            <a:blipFill>
              <a:blip r:embed="rId7"/>
              <a:stretch>
                <a:fillRect l="0" t="0" r="0" b="1"/>
              </a:stretch>
            </a:blipFill>
          </p:spPr>
        </p:sp>
      </p:grpSp>
      <p:grpSp>
        <p:nvGrpSpPr>
          <p:cNvPr name="Group 6" id="6"/>
          <p:cNvGrpSpPr/>
          <p:nvPr/>
        </p:nvGrpSpPr>
        <p:grpSpPr>
          <a:xfrm rot="0">
            <a:off x="1028700" y="3233285"/>
            <a:ext cx="4873441" cy="3820429"/>
            <a:chOff x="0" y="0"/>
            <a:chExt cx="6497921" cy="5093905"/>
          </a:xfrm>
        </p:grpSpPr>
        <p:sp>
          <p:nvSpPr>
            <p:cNvPr name="Freeform 7" id="7"/>
            <p:cNvSpPr/>
            <p:nvPr/>
          </p:nvSpPr>
          <p:spPr>
            <a:xfrm flipH="false" flipV="false" rot="0">
              <a:off x="0" y="0"/>
              <a:ext cx="6497955" cy="5093970"/>
            </a:xfrm>
            <a:custGeom>
              <a:avLst/>
              <a:gdLst/>
              <a:ahLst/>
              <a:cxnLst/>
              <a:rect r="r" b="b" t="t" l="l"/>
              <a:pathLst>
                <a:path h="5093970" w="6497955">
                  <a:moveTo>
                    <a:pt x="0" y="0"/>
                  </a:moveTo>
                  <a:lnTo>
                    <a:pt x="6497955" y="0"/>
                  </a:lnTo>
                  <a:lnTo>
                    <a:pt x="6497955" y="5093970"/>
                  </a:lnTo>
                  <a:lnTo>
                    <a:pt x="0" y="5093970"/>
                  </a:lnTo>
                  <a:lnTo>
                    <a:pt x="0" y="0"/>
                  </a:lnTo>
                  <a:close/>
                </a:path>
              </a:pathLst>
            </a:custGeom>
            <a:blipFill>
              <a:blip r:embed="rId8"/>
              <a:stretch>
                <a:fillRect l="0" t="0" r="0" b="1"/>
              </a:stretch>
            </a:blipFill>
          </p:spPr>
        </p:sp>
      </p:grpSp>
      <p:grpSp>
        <p:nvGrpSpPr>
          <p:cNvPr name="Group 8" id="8"/>
          <p:cNvGrpSpPr/>
          <p:nvPr/>
        </p:nvGrpSpPr>
        <p:grpSpPr>
          <a:xfrm rot="0">
            <a:off x="12383672" y="3233285"/>
            <a:ext cx="4936209" cy="3820429"/>
            <a:chOff x="0" y="0"/>
            <a:chExt cx="6581612" cy="5093905"/>
          </a:xfrm>
        </p:grpSpPr>
        <p:sp>
          <p:nvSpPr>
            <p:cNvPr name="Freeform 9" id="9"/>
            <p:cNvSpPr/>
            <p:nvPr/>
          </p:nvSpPr>
          <p:spPr>
            <a:xfrm flipH="false" flipV="false" rot="0">
              <a:off x="0" y="0"/>
              <a:ext cx="6581648" cy="5093970"/>
            </a:xfrm>
            <a:custGeom>
              <a:avLst/>
              <a:gdLst/>
              <a:ahLst/>
              <a:cxnLst/>
              <a:rect r="r" b="b" t="t" l="l"/>
              <a:pathLst>
                <a:path h="5093970" w="6581648">
                  <a:moveTo>
                    <a:pt x="0" y="0"/>
                  </a:moveTo>
                  <a:lnTo>
                    <a:pt x="6581648" y="0"/>
                  </a:lnTo>
                  <a:lnTo>
                    <a:pt x="6581648" y="5093970"/>
                  </a:lnTo>
                  <a:lnTo>
                    <a:pt x="0" y="5093970"/>
                  </a:lnTo>
                  <a:lnTo>
                    <a:pt x="0" y="0"/>
                  </a:lnTo>
                  <a:close/>
                </a:path>
              </a:pathLst>
            </a:custGeom>
            <a:blipFill>
              <a:blip r:embed="rId9"/>
              <a:stretch>
                <a:fillRect l="0" t="0" r="0" b="1"/>
              </a:stretch>
            </a:blipFill>
          </p:spPr>
        </p:sp>
      </p:grpSp>
      <p:sp>
        <p:nvSpPr>
          <p:cNvPr name="TextBox 10" id="10"/>
          <p:cNvSpPr txBox="true"/>
          <p:nvPr/>
        </p:nvSpPr>
        <p:spPr>
          <a:xfrm rot="0">
            <a:off x="2921376" y="1876750"/>
            <a:ext cx="12445249" cy="622475"/>
          </a:xfrm>
          <a:prstGeom prst="rect">
            <a:avLst/>
          </a:prstGeom>
        </p:spPr>
        <p:txBody>
          <a:bodyPr anchor="t" rtlCol="false" tIns="0" lIns="0" bIns="0" rIns="0">
            <a:spAutoFit/>
          </a:bodyPr>
          <a:lstStyle/>
          <a:p>
            <a:pPr algn="l">
              <a:lnSpc>
                <a:spcPts val="5380"/>
              </a:lnSpc>
            </a:pPr>
            <a:r>
              <a:rPr lang="en-US" b="true" sz="5381" spc="-107">
                <a:solidFill>
                  <a:srgbClr val="343434"/>
                </a:solidFill>
                <a:latin typeface="TT Hoves Bold"/>
                <a:ea typeface="TT Hoves Bold"/>
                <a:cs typeface="TT Hoves Bold"/>
                <a:sym typeface="TT Hoves Bold"/>
              </a:rPr>
              <a:t>Network topology from NetAnim (NS3)</a:t>
            </a:r>
          </a:p>
        </p:txBody>
      </p:sp>
      <p:sp>
        <p:nvSpPr>
          <p:cNvPr name="TextBox 11" id="11"/>
          <p:cNvSpPr txBox="true"/>
          <p:nvPr/>
        </p:nvSpPr>
        <p:spPr>
          <a:xfrm rot="0">
            <a:off x="0" y="7283979"/>
            <a:ext cx="18288000" cy="2148840"/>
          </a:xfrm>
          <a:prstGeom prst="rect">
            <a:avLst/>
          </a:prstGeom>
        </p:spPr>
        <p:txBody>
          <a:bodyPr anchor="t" rtlCol="false" tIns="0" lIns="0" bIns="0" rIns="0">
            <a:spAutoFit/>
          </a:bodyPr>
          <a:lstStyle/>
          <a:p>
            <a:pPr algn="just">
              <a:lnSpc>
                <a:spcPts val="3359"/>
              </a:lnSpc>
            </a:pPr>
            <a:r>
              <a:rPr lang="en-US" sz="2399">
                <a:solidFill>
                  <a:srgbClr val="343434"/>
                </a:solidFill>
                <a:latin typeface="Public Sans"/>
                <a:ea typeface="Public Sans"/>
                <a:cs typeface="Public Sans"/>
                <a:sym typeface="Public Sans"/>
              </a:rPr>
              <a:t>This ns-3 topology replicates the architecture from the FABRIC testbed with three nodes Node1 (Shore), Node2 (Relay), and Node3 (Ship) connected via two point-to-point links. Node2 serves as a router bridging two subnets. Three methods were tested for end-to-end connectivity between Node1 and Node3: Static Routing, WireGuard-style overlay, and sshuttle-style TCP relay, enabling comparison of throughput, delay, and packet loss across different routing and tunneling setups.</a:t>
            </a:r>
          </a:p>
          <a:p>
            <a:pPr algn="just">
              <a:lnSpc>
                <a:spcPts val="3359"/>
              </a:lnSpc>
            </a:pPr>
          </a:p>
        </p:txBody>
      </p:sp>
      <p:sp>
        <p:nvSpPr>
          <p:cNvPr name="TextBox 12" id="12"/>
          <p:cNvSpPr txBox="true"/>
          <p:nvPr/>
        </p:nvSpPr>
        <p:spPr>
          <a:xfrm rot="0">
            <a:off x="8080486" y="2727825"/>
            <a:ext cx="1541978" cy="505461"/>
          </a:xfrm>
          <a:prstGeom prst="rect">
            <a:avLst/>
          </a:prstGeom>
        </p:spPr>
        <p:txBody>
          <a:bodyPr anchor="t" rtlCol="false" tIns="0" lIns="0" bIns="0" rIns="0">
            <a:spAutoFit/>
          </a:bodyPr>
          <a:lstStyle/>
          <a:p>
            <a:pPr algn="ctr">
              <a:lnSpc>
                <a:spcPts val="3639"/>
              </a:lnSpc>
            </a:pPr>
            <a:r>
              <a:rPr lang="en-US" sz="2599">
                <a:solidFill>
                  <a:srgbClr val="343434"/>
                </a:solidFill>
                <a:latin typeface="TT Hoves"/>
                <a:ea typeface="TT Hoves"/>
                <a:cs typeface="TT Hoves"/>
                <a:sym typeface="TT Hoves"/>
              </a:rPr>
              <a:t>Wireguard</a:t>
            </a:r>
          </a:p>
        </p:txBody>
      </p:sp>
      <p:sp>
        <p:nvSpPr>
          <p:cNvPr name="TextBox 13" id="13"/>
          <p:cNvSpPr txBox="true"/>
          <p:nvPr/>
        </p:nvSpPr>
        <p:spPr>
          <a:xfrm rot="0">
            <a:off x="2036551" y="2727825"/>
            <a:ext cx="2857738" cy="505461"/>
          </a:xfrm>
          <a:prstGeom prst="rect">
            <a:avLst/>
          </a:prstGeom>
        </p:spPr>
        <p:txBody>
          <a:bodyPr anchor="t" rtlCol="false" tIns="0" lIns="0" bIns="0" rIns="0">
            <a:spAutoFit/>
          </a:bodyPr>
          <a:lstStyle/>
          <a:p>
            <a:pPr algn="ctr">
              <a:lnSpc>
                <a:spcPts val="3639"/>
              </a:lnSpc>
            </a:pPr>
            <a:r>
              <a:rPr lang="en-US" sz="2599">
                <a:solidFill>
                  <a:srgbClr val="343434"/>
                </a:solidFill>
                <a:latin typeface="TT Hoves"/>
                <a:ea typeface="TT Hoves"/>
                <a:cs typeface="TT Hoves"/>
                <a:sym typeface="TT Hoves"/>
              </a:rPr>
              <a:t>sshuttle</a:t>
            </a:r>
          </a:p>
        </p:txBody>
      </p:sp>
      <p:sp>
        <p:nvSpPr>
          <p:cNvPr name="TextBox 14" id="14"/>
          <p:cNvSpPr txBox="true"/>
          <p:nvPr/>
        </p:nvSpPr>
        <p:spPr>
          <a:xfrm rot="0">
            <a:off x="13422908" y="2727825"/>
            <a:ext cx="2857738" cy="505461"/>
          </a:xfrm>
          <a:prstGeom prst="rect">
            <a:avLst/>
          </a:prstGeom>
        </p:spPr>
        <p:txBody>
          <a:bodyPr anchor="t" rtlCol="false" tIns="0" lIns="0" bIns="0" rIns="0">
            <a:spAutoFit/>
          </a:bodyPr>
          <a:lstStyle/>
          <a:p>
            <a:pPr algn="ctr">
              <a:lnSpc>
                <a:spcPts val="3639"/>
              </a:lnSpc>
            </a:pPr>
            <a:r>
              <a:rPr lang="en-US" sz="2599">
                <a:solidFill>
                  <a:srgbClr val="343434"/>
                </a:solidFill>
                <a:latin typeface="TT Hoves"/>
                <a:ea typeface="TT Hoves"/>
                <a:cs typeface="TT Hoves"/>
                <a:sym typeface="TT Hoves"/>
              </a:rPr>
              <a:t>static</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0107576" y="-2295434"/>
            <a:ext cx="11221859" cy="11221859"/>
          </a:xfrm>
          <a:custGeom>
            <a:avLst/>
            <a:gdLst/>
            <a:ahLst/>
            <a:cxnLst/>
            <a:rect r="r" b="b" t="t" l="l"/>
            <a:pathLst>
              <a:path h="11221859" w="11221859">
                <a:moveTo>
                  <a:pt x="0" y="0"/>
                </a:moveTo>
                <a:lnTo>
                  <a:pt x="11221859" y="0"/>
                </a:lnTo>
                <a:lnTo>
                  <a:pt x="11221859" y="11221859"/>
                </a:lnTo>
                <a:lnTo>
                  <a:pt x="0" y="1122185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696258" y="-667519"/>
            <a:ext cx="19680517" cy="1921483"/>
          </a:xfrm>
          <a:custGeom>
            <a:avLst/>
            <a:gdLst/>
            <a:ahLst/>
            <a:cxnLst/>
            <a:rect r="r" b="b" t="t" l="l"/>
            <a:pathLst>
              <a:path h="1921483" w="19680517">
                <a:moveTo>
                  <a:pt x="0" y="0"/>
                </a:moveTo>
                <a:lnTo>
                  <a:pt x="19680517" y="0"/>
                </a:lnTo>
                <a:lnTo>
                  <a:pt x="19680517" y="1921483"/>
                </a:lnTo>
                <a:lnTo>
                  <a:pt x="0" y="19214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4145110" y="3022724"/>
            <a:ext cx="9659794" cy="4241552"/>
            <a:chOff x="0" y="0"/>
            <a:chExt cx="12879725" cy="5655403"/>
          </a:xfrm>
        </p:grpSpPr>
        <p:sp>
          <p:nvSpPr>
            <p:cNvPr name="Freeform 5" id="5"/>
            <p:cNvSpPr/>
            <p:nvPr/>
          </p:nvSpPr>
          <p:spPr>
            <a:xfrm flipH="false" flipV="false" rot="0">
              <a:off x="0" y="0"/>
              <a:ext cx="12879705" cy="5655437"/>
            </a:xfrm>
            <a:custGeom>
              <a:avLst/>
              <a:gdLst/>
              <a:ahLst/>
              <a:cxnLst/>
              <a:rect r="r" b="b" t="t" l="l"/>
              <a:pathLst>
                <a:path h="5655437" w="12879705">
                  <a:moveTo>
                    <a:pt x="0" y="0"/>
                  </a:moveTo>
                  <a:lnTo>
                    <a:pt x="12879705" y="0"/>
                  </a:lnTo>
                  <a:lnTo>
                    <a:pt x="12879705" y="5655437"/>
                  </a:lnTo>
                  <a:lnTo>
                    <a:pt x="0" y="5655437"/>
                  </a:lnTo>
                  <a:lnTo>
                    <a:pt x="0" y="0"/>
                  </a:lnTo>
                  <a:close/>
                </a:path>
              </a:pathLst>
            </a:custGeom>
            <a:blipFill>
              <a:blip r:embed="rId7"/>
              <a:stretch>
                <a:fillRect l="0" t="0" r="0" b="0"/>
              </a:stretch>
            </a:blipFill>
          </p:spPr>
        </p:sp>
      </p:grpSp>
      <p:sp>
        <p:nvSpPr>
          <p:cNvPr name="TextBox 6" id="6"/>
          <p:cNvSpPr txBox="true"/>
          <p:nvPr/>
        </p:nvSpPr>
        <p:spPr>
          <a:xfrm rot="0">
            <a:off x="4145110" y="2098242"/>
            <a:ext cx="9997780" cy="622475"/>
          </a:xfrm>
          <a:prstGeom prst="rect">
            <a:avLst/>
          </a:prstGeom>
        </p:spPr>
        <p:txBody>
          <a:bodyPr anchor="t" rtlCol="false" tIns="0" lIns="0" bIns="0" rIns="0">
            <a:spAutoFit/>
          </a:bodyPr>
          <a:lstStyle/>
          <a:p>
            <a:pPr algn="l">
              <a:lnSpc>
                <a:spcPts val="5380"/>
              </a:lnSpc>
            </a:pPr>
            <a:r>
              <a:rPr lang="en-US" b="true" sz="5381" spc="-107">
                <a:solidFill>
                  <a:srgbClr val="343434"/>
                </a:solidFill>
                <a:latin typeface="TT Hoves Bold"/>
                <a:ea typeface="TT Hoves Bold"/>
                <a:cs typeface="TT Hoves Bold"/>
                <a:sym typeface="TT Hoves Bold"/>
              </a:rPr>
              <a:t>Network topology (Omnet++)</a:t>
            </a:r>
          </a:p>
        </p:txBody>
      </p:sp>
      <p:sp>
        <p:nvSpPr>
          <p:cNvPr name="TextBox 7" id="7"/>
          <p:cNvSpPr txBox="true"/>
          <p:nvPr/>
        </p:nvSpPr>
        <p:spPr>
          <a:xfrm rot="0">
            <a:off x="0" y="7521597"/>
            <a:ext cx="18288000" cy="2148840"/>
          </a:xfrm>
          <a:prstGeom prst="rect">
            <a:avLst/>
          </a:prstGeom>
        </p:spPr>
        <p:txBody>
          <a:bodyPr anchor="t" rtlCol="false" tIns="0" lIns="0" bIns="0" rIns="0">
            <a:spAutoFit/>
          </a:bodyPr>
          <a:lstStyle/>
          <a:p>
            <a:pPr algn="just">
              <a:lnSpc>
                <a:spcPts val="3359"/>
              </a:lnSpc>
            </a:pPr>
            <a:r>
              <a:rPr lang="en-US" sz="2399">
                <a:solidFill>
                  <a:srgbClr val="343434"/>
                </a:solidFill>
                <a:latin typeface="Public Sans"/>
                <a:ea typeface="Public Sans"/>
                <a:cs typeface="Public Sans"/>
                <a:sym typeface="Public Sans"/>
              </a:rPr>
              <a:t>This topology was simulated in OMNeT++ using the same three-node structure across all modes. Node1 (Shore) and Node3 (Ship) are on separate subnets, while Node2 (Relay) sits in between with two interfaces acting as a router or forwarding bridge. Using the same physical layout, three approaches Static Routing, WireGuard-style overlay, and sshuttle-style TCP relay were configured to establish end-to-end communication between Node1 and Node3. Each mode was implemented through different application and routing configurations to evaluate how tunneling and forwarding methods affect overall network performance.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4524714" y="3447421"/>
            <a:ext cx="10177701" cy="5494598"/>
          </a:xfrm>
          <a:prstGeom prst="rect">
            <a:avLst/>
          </a:prstGeom>
        </p:spPr>
        <p:txBody>
          <a:bodyPr anchor="t" rtlCol="false" tIns="0" lIns="0" bIns="0" rIns="0">
            <a:spAutoFit/>
          </a:bodyPr>
          <a:lstStyle/>
          <a:p>
            <a:pPr algn="just" marL="610205" indent="-203402" lvl="2">
              <a:lnSpc>
                <a:spcPts val="3603"/>
              </a:lnSpc>
              <a:buFont typeface="Arial"/>
              <a:buChar char="⚬"/>
            </a:pPr>
            <a:r>
              <a:rPr lang="en-US" sz="2669" spc="159">
                <a:solidFill>
                  <a:srgbClr val="343434"/>
                </a:solidFill>
                <a:latin typeface="Public Sans"/>
                <a:ea typeface="Public Sans"/>
                <a:cs typeface="Public Sans"/>
                <a:sym typeface="Public Sans"/>
              </a:rPr>
              <a:t>sshuttle is a user-space VPN-like tool that forwards TCP traffic over an existing SSH connection.</a:t>
            </a:r>
          </a:p>
          <a:p>
            <a:pPr algn="just" marL="610205" indent="-203402" lvl="2">
              <a:lnSpc>
                <a:spcPts val="3603"/>
              </a:lnSpc>
              <a:buFont typeface="Arial"/>
              <a:buChar char="⚬"/>
            </a:pPr>
            <a:r>
              <a:rPr lang="en-US" sz="2669" spc="159">
                <a:solidFill>
                  <a:srgbClr val="343434"/>
                </a:solidFill>
                <a:latin typeface="Public Sans"/>
                <a:ea typeface="Public Sans"/>
                <a:cs typeface="Public Sans"/>
                <a:sym typeface="Public Sans"/>
              </a:rPr>
              <a:t>It works by intercepting traffic on one node and tunneling it transparently through another node.</a:t>
            </a:r>
          </a:p>
          <a:p>
            <a:pPr algn="just" marL="610205" indent="-203402" lvl="2">
              <a:lnSpc>
                <a:spcPts val="3603"/>
              </a:lnSpc>
              <a:buFont typeface="Arial"/>
              <a:buChar char="⚬"/>
            </a:pPr>
            <a:r>
              <a:rPr lang="en-US" b="true" sz="2669" spc="159">
                <a:solidFill>
                  <a:srgbClr val="343434"/>
                </a:solidFill>
                <a:latin typeface="Public Sans Bold"/>
                <a:ea typeface="Public Sans Bold"/>
                <a:cs typeface="Public Sans Bold"/>
                <a:sym typeface="Public Sans Bold"/>
              </a:rPr>
              <a:t>Advantages:</a:t>
            </a:r>
            <a:r>
              <a:rPr lang="en-US" sz="2669" spc="159">
                <a:solidFill>
                  <a:srgbClr val="343434"/>
                </a:solidFill>
                <a:latin typeface="Public Sans"/>
                <a:ea typeface="Public Sans"/>
                <a:cs typeface="Public Sans"/>
                <a:sym typeface="Public Sans"/>
              </a:rPr>
              <a:t> quick setup, no need for root-level routing changes, useful for debugging or bypassing firewall restrictions.</a:t>
            </a:r>
          </a:p>
          <a:p>
            <a:pPr algn="just" marL="610205" indent="-203402" lvl="2">
              <a:lnSpc>
                <a:spcPts val="3603"/>
              </a:lnSpc>
              <a:buFont typeface="Arial"/>
              <a:buChar char="⚬"/>
            </a:pPr>
            <a:r>
              <a:rPr lang="en-US" b="true" sz="2669" spc="159">
                <a:solidFill>
                  <a:srgbClr val="343434"/>
                </a:solidFill>
                <a:latin typeface="Public Sans Bold"/>
                <a:ea typeface="Public Sans Bold"/>
                <a:cs typeface="Public Sans Bold"/>
                <a:sym typeface="Public Sans Bold"/>
              </a:rPr>
              <a:t>Limitation:</a:t>
            </a:r>
            <a:r>
              <a:rPr lang="en-US" sz="2669" spc="159">
                <a:solidFill>
                  <a:srgbClr val="343434"/>
                </a:solidFill>
                <a:latin typeface="Public Sans"/>
                <a:ea typeface="Public Sans"/>
                <a:cs typeface="Public Sans"/>
                <a:sym typeface="Public Sans"/>
              </a:rPr>
              <a:t> only supports TCP traffic; does not handle UDP or ICMP packets (e.g., ping).</a:t>
            </a:r>
          </a:p>
          <a:p>
            <a:pPr algn="just" marL="610205" indent="-203402" lvl="2">
              <a:lnSpc>
                <a:spcPts val="3603"/>
              </a:lnSpc>
              <a:buFont typeface="Arial"/>
              <a:buChar char="⚬"/>
            </a:pPr>
            <a:r>
              <a:rPr lang="en-US" sz="2669" spc="159">
                <a:solidFill>
                  <a:srgbClr val="343434"/>
                </a:solidFill>
                <a:latin typeface="Public Sans"/>
                <a:ea typeface="Public Sans"/>
                <a:cs typeface="Public Sans"/>
                <a:sym typeface="Public Sans"/>
              </a:rPr>
              <a:t>Conceptually, sshuttle is a lightweight alternative to static routing or VPNs.</a:t>
            </a:r>
          </a:p>
          <a:p>
            <a:pPr algn="just" marL="610205" indent="-203402" lvl="2">
              <a:lnSpc>
                <a:spcPts val="3333"/>
              </a:lnSpc>
            </a:pPr>
          </a:p>
        </p:txBody>
      </p:sp>
      <p:sp>
        <p:nvSpPr>
          <p:cNvPr name="TextBox 3" id="3"/>
          <p:cNvSpPr txBox="true"/>
          <p:nvPr/>
        </p:nvSpPr>
        <p:spPr>
          <a:xfrm rot="0">
            <a:off x="4524714" y="1257300"/>
            <a:ext cx="8394740" cy="981003"/>
          </a:xfrm>
          <a:prstGeom prst="rect">
            <a:avLst/>
          </a:prstGeom>
        </p:spPr>
        <p:txBody>
          <a:bodyPr anchor="t" rtlCol="false" tIns="0" lIns="0" bIns="0" rIns="0">
            <a:spAutoFit/>
          </a:bodyPr>
          <a:lstStyle/>
          <a:p>
            <a:pPr algn="l">
              <a:lnSpc>
                <a:spcPts val="8396"/>
              </a:lnSpc>
            </a:pPr>
            <a:r>
              <a:rPr lang="en-US" b="true" sz="7996" spc="-391">
                <a:solidFill>
                  <a:srgbClr val="343434"/>
                </a:solidFill>
                <a:latin typeface="TT Hoves Bold"/>
                <a:ea typeface="TT Hoves Bold"/>
                <a:cs typeface="TT Hoves Bold"/>
                <a:sym typeface="TT Hoves Bold"/>
              </a:rPr>
              <a:t>What is sshuttle?</a:t>
            </a:r>
          </a:p>
        </p:txBody>
      </p:sp>
      <p:sp>
        <p:nvSpPr>
          <p:cNvPr name="Freeform 4" id="4"/>
          <p:cNvSpPr/>
          <p:nvPr/>
        </p:nvSpPr>
        <p:spPr>
          <a:xfrm flipH="false" flipV="false" rot="0">
            <a:off x="9560011" y="-2564899"/>
            <a:ext cx="16075318" cy="16075318"/>
          </a:xfrm>
          <a:custGeom>
            <a:avLst/>
            <a:gdLst/>
            <a:ahLst/>
            <a:cxnLst/>
            <a:rect r="r" b="b" t="t" l="l"/>
            <a:pathLst>
              <a:path h="16075318" w="16075318">
                <a:moveTo>
                  <a:pt x="0" y="0"/>
                </a:moveTo>
                <a:lnTo>
                  <a:pt x="16075318" y="0"/>
                </a:lnTo>
                <a:lnTo>
                  <a:pt x="16075318" y="16075318"/>
                </a:lnTo>
                <a:lnTo>
                  <a:pt x="0" y="16075318"/>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96258" y="-1193133"/>
            <a:ext cx="5220972" cy="12095887"/>
          </a:xfrm>
          <a:custGeom>
            <a:avLst/>
            <a:gdLst/>
            <a:ahLst/>
            <a:cxnLst/>
            <a:rect r="r" b="b" t="t" l="l"/>
            <a:pathLst>
              <a:path h="12095887" w="5220972">
                <a:moveTo>
                  <a:pt x="0" y="0"/>
                </a:moveTo>
                <a:lnTo>
                  <a:pt x="5220972" y="0"/>
                </a:lnTo>
                <a:lnTo>
                  <a:pt x="5220972" y="12095887"/>
                </a:lnTo>
                <a:lnTo>
                  <a:pt x="0" y="120958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696258" y="7010400"/>
            <a:ext cx="5508869" cy="3899426"/>
          </a:xfrm>
          <a:prstGeom prst="rect">
            <a:avLst/>
          </a:prstGeom>
        </p:spPr>
        <p:txBody>
          <a:bodyPr anchor="t" rtlCol="false" tIns="0" lIns="0" bIns="0" rIns="0">
            <a:spAutoFit/>
          </a:bodyPr>
          <a:lstStyle/>
          <a:p>
            <a:pPr algn="ctr">
              <a:lnSpc>
                <a:spcPts val="35614"/>
              </a:lnSpc>
            </a:pPr>
            <a:r>
              <a:rPr lang="en-US" b="true" sz="37888" spc="-1855">
                <a:solidFill>
                  <a:srgbClr val="EFEFEF"/>
                </a:solidFill>
                <a:latin typeface="TT Hoves Bold"/>
                <a:ea typeface="TT Hoves Bold"/>
                <a:cs typeface="TT Hoves Bold"/>
                <a:sym typeface="TT Hoves Bold"/>
              </a:rPr>
              <a:t>01</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706356" y="3161722"/>
            <a:ext cx="10518980" cy="6620453"/>
          </a:xfrm>
          <a:prstGeom prst="rect">
            <a:avLst/>
          </a:prstGeom>
        </p:spPr>
        <p:txBody>
          <a:bodyPr anchor="t" rtlCol="false" tIns="0" lIns="0" bIns="0" rIns="0">
            <a:spAutoFit/>
          </a:bodyPr>
          <a:lstStyle/>
          <a:p>
            <a:pPr algn="just" marL="678785" indent="-226262" lvl="2">
              <a:lnSpc>
                <a:spcPts val="4008"/>
              </a:lnSpc>
              <a:buFont typeface="Arial"/>
              <a:buChar char="⚬"/>
            </a:pPr>
            <a:r>
              <a:rPr lang="en-US" sz="2969" spc="177">
                <a:solidFill>
                  <a:srgbClr val="343434"/>
                </a:solidFill>
                <a:latin typeface="Public Sans"/>
                <a:ea typeface="Public Sans"/>
                <a:cs typeface="Public Sans"/>
                <a:sym typeface="Public Sans"/>
              </a:rPr>
              <a:t>WireGuard is a modern, high-performance VPN protocol designed to be simple yet highly secure.</a:t>
            </a:r>
          </a:p>
          <a:p>
            <a:pPr algn="just" marL="678785" indent="-226262" lvl="2">
              <a:lnSpc>
                <a:spcPts val="4008"/>
              </a:lnSpc>
              <a:buFont typeface="Arial"/>
              <a:buChar char="⚬"/>
            </a:pPr>
            <a:r>
              <a:rPr lang="en-US" sz="2969" spc="177">
                <a:solidFill>
                  <a:srgbClr val="343434"/>
                </a:solidFill>
                <a:latin typeface="Public Sans"/>
                <a:ea typeface="Public Sans"/>
                <a:cs typeface="Public Sans"/>
                <a:sym typeface="Public Sans"/>
              </a:rPr>
              <a:t>It creates an encrypted point-to-point tunnel using a small set of cryptographic primitives.</a:t>
            </a:r>
          </a:p>
          <a:p>
            <a:pPr algn="just" marL="678785" indent="-226262" lvl="2">
              <a:lnSpc>
                <a:spcPts val="4008"/>
              </a:lnSpc>
            </a:pPr>
            <a:r>
              <a:rPr lang="en-US" b="true" sz="2969" spc="177">
                <a:solidFill>
                  <a:srgbClr val="343434"/>
                </a:solidFill>
                <a:latin typeface="Public Sans Bold"/>
                <a:ea typeface="Public Sans Bold"/>
                <a:cs typeface="Public Sans Bold"/>
                <a:sym typeface="Public Sans Bold"/>
              </a:rPr>
              <a:t>Advantages:</a:t>
            </a:r>
          </a:p>
          <a:p>
            <a:pPr algn="just" marL="678785" indent="-226262" lvl="2">
              <a:lnSpc>
                <a:spcPts val="4008"/>
              </a:lnSpc>
              <a:buFont typeface="Arial"/>
              <a:buChar char="⚬"/>
            </a:pPr>
            <a:r>
              <a:rPr lang="en-US" sz="2969" spc="177">
                <a:solidFill>
                  <a:srgbClr val="343434"/>
                </a:solidFill>
                <a:latin typeface="Public Sans"/>
                <a:ea typeface="Public Sans"/>
                <a:cs typeface="Public Sans"/>
                <a:sym typeface="Public Sans"/>
              </a:rPr>
              <a:t>Strong encryption with minimal overhead</a:t>
            </a:r>
          </a:p>
          <a:p>
            <a:pPr algn="just" marL="678785" indent="-226262" lvl="2">
              <a:lnSpc>
                <a:spcPts val="4008"/>
              </a:lnSpc>
              <a:buFont typeface="Arial"/>
              <a:buChar char="⚬"/>
            </a:pPr>
            <a:r>
              <a:rPr lang="en-US" sz="2969" spc="177">
                <a:solidFill>
                  <a:srgbClr val="343434"/>
                </a:solidFill>
                <a:latin typeface="Public Sans"/>
                <a:ea typeface="Public Sans"/>
                <a:cs typeface="Public Sans"/>
                <a:sym typeface="Public Sans"/>
              </a:rPr>
              <a:t>Supports all traffic types (TCP, UDP, ICMP)</a:t>
            </a:r>
          </a:p>
          <a:p>
            <a:pPr algn="just" marL="678785" indent="-226262" lvl="2">
              <a:lnSpc>
                <a:spcPts val="4008"/>
              </a:lnSpc>
              <a:buFont typeface="Arial"/>
              <a:buChar char="⚬"/>
            </a:pPr>
            <a:r>
              <a:rPr lang="en-US" sz="2969" spc="177">
                <a:solidFill>
                  <a:srgbClr val="343434"/>
                </a:solidFill>
                <a:latin typeface="Public Sans"/>
                <a:ea typeface="Public Sans"/>
                <a:cs typeface="Public Sans"/>
                <a:sym typeface="Public Sans"/>
              </a:rPr>
              <a:t>Faster and easier to configure compared to traditional VPNs</a:t>
            </a:r>
          </a:p>
          <a:p>
            <a:pPr algn="just" marL="678785" indent="-226262" lvl="2">
              <a:lnSpc>
                <a:spcPts val="4008"/>
              </a:lnSpc>
              <a:buFont typeface="Arial"/>
              <a:buChar char="⚬"/>
            </a:pPr>
            <a:r>
              <a:rPr lang="en-US" sz="2969" spc="177">
                <a:solidFill>
                  <a:srgbClr val="343434"/>
                </a:solidFill>
                <a:latin typeface="Public Sans"/>
                <a:ea typeface="Public Sans"/>
                <a:cs typeface="Public Sans"/>
                <a:sym typeface="Public Sans"/>
              </a:rPr>
              <a:t>WireGuard is widely used in production networks and is well-suited for research testbeds like FABRIC.</a:t>
            </a:r>
          </a:p>
          <a:p>
            <a:pPr algn="just" marL="678785" indent="-226262" lvl="2">
              <a:lnSpc>
                <a:spcPts val="4008"/>
              </a:lnSpc>
            </a:pPr>
          </a:p>
        </p:txBody>
      </p:sp>
      <p:sp>
        <p:nvSpPr>
          <p:cNvPr name="TextBox 3" id="3"/>
          <p:cNvSpPr txBox="true"/>
          <p:nvPr/>
        </p:nvSpPr>
        <p:spPr>
          <a:xfrm rot="0">
            <a:off x="2706356" y="1460227"/>
            <a:ext cx="9516086" cy="981003"/>
          </a:xfrm>
          <a:prstGeom prst="rect">
            <a:avLst/>
          </a:prstGeom>
        </p:spPr>
        <p:txBody>
          <a:bodyPr anchor="t" rtlCol="false" tIns="0" lIns="0" bIns="0" rIns="0">
            <a:spAutoFit/>
          </a:bodyPr>
          <a:lstStyle/>
          <a:p>
            <a:pPr algn="l">
              <a:lnSpc>
                <a:spcPts val="8396"/>
              </a:lnSpc>
            </a:pPr>
            <a:r>
              <a:rPr lang="en-US" b="true" sz="7996" spc="-391">
                <a:solidFill>
                  <a:srgbClr val="343434"/>
                </a:solidFill>
                <a:latin typeface="TT Hoves Bold"/>
                <a:ea typeface="TT Hoves Bold"/>
                <a:cs typeface="TT Hoves Bold"/>
                <a:sym typeface="TT Hoves Bold"/>
              </a:rPr>
              <a:t>What is WireGuard?</a:t>
            </a:r>
          </a:p>
        </p:txBody>
      </p:sp>
      <p:sp>
        <p:nvSpPr>
          <p:cNvPr name="Freeform 4" id="4"/>
          <p:cNvSpPr/>
          <p:nvPr/>
        </p:nvSpPr>
        <p:spPr>
          <a:xfrm flipH="false" flipV="false" rot="0">
            <a:off x="9560011" y="-2564899"/>
            <a:ext cx="16075318" cy="16075318"/>
          </a:xfrm>
          <a:custGeom>
            <a:avLst/>
            <a:gdLst/>
            <a:ahLst/>
            <a:cxnLst/>
            <a:rect r="r" b="b" t="t" l="l"/>
            <a:pathLst>
              <a:path h="16075318" w="16075318">
                <a:moveTo>
                  <a:pt x="0" y="0"/>
                </a:moveTo>
                <a:lnTo>
                  <a:pt x="16075318" y="0"/>
                </a:lnTo>
                <a:lnTo>
                  <a:pt x="16075318" y="16075318"/>
                </a:lnTo>
                <a:lnTo>
                  <a:pt x="0" y="16075318"/>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96258" y="-1193133"/>
            <a:ext cx="2222590" cy="12095887"/>
          </a:xfrm>
          <a:custGeom>
            <a:avLst/>
            <a:gdLst/>
            <a:ahLst/>
            <a:cxnLst/>
            <a:rect r="r" b="b" t="t" l="l"/>
            <a:pathLst>
              <a:path h="12095887" w="2222590">
                <a:moveTo>
                  <a:pt x="0" y="0"/>
                </a:moveTo>
                <a:lnTo>
                  <a:pt x="2222590" y="0"/>
                </a:lnTo>
                <a:lnTo>
                  <a:pt x="2222590" y="12095887"/>
                </a:lnTo>
                <a:lnTo>
                  <a:pt x="0" y="120958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2601687" y="7339660"/>
            <a:ext cx="7498697" cy="3899426"/>
          </a:xfrm>
          <a:prstGeom prst="rect">
            <a:avLst/>
          </a:prstGeom>
        </p:spPr>
        <p:txBody>
          <a:bodyPr anchor="t" rtlCol="false" tIns="0" lIns="0" bIns="0" rIns="0">
            <a:spAutoFit/>
          </a:bodyPr>
          <a:lstStyle/>
          <a:p>
            <a:pPr algn="ctr">
              <a:lnSpc>
                <a:spcPts val="35614"/>
              </a:lnSpc>
            </a:pPr>
            <a:r>
              <a:rPr lang="en-US" b="true" sz="37888" spc="-1855">
                <a:solidFill>
                  <a:srgbClr val="343434"/>
                </a:solidFill>
                <a:latin typeface="TT Hoves Bold"/>
                <a:ea typeface="TT Hoves Bold"/>
                <a:cs typeface="TT Hoves Bold"/>
                <a:sym typeface="TT Hoves Bold"/>
              </a:rPr>
              <a:t>02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2706356" y="2966705"/>
            <a:ext cx="10177701" cy="7125278"/>
          </a:xfrm>
          <a:prstGeom prst="rect">
            <a:avLst/>
          </a:prstGeom>
        </p:spPr>
        <p:txBody>
          <a:bodyPr anchor="t" rtlCol="false" tIns="0" lIns="0" bIns="0" rIns="0">
            <a:spAutoFit/>
          </a:bodyPr>
          <a:lstStyle/>
          <a:p>
            <a:pPr algn="just" marL="678785" indent="-226262" lvl="2">
              <a:lnSpc>
                <a:spcPts val="4008"/>
              </a:lnSpc>
              <a:buFont typeface="Arial"/>
              <a:buChar char="⚬"/>
            </a:pPr>
            <a:r>
              <a:rPr lang="en-US" sz="2969" spc="177">
                <a:solidFill>
                  <a:srgbClr val="343434"/>
                </a:solidFill>
                <a:latin typeface="Public Sans"/>
                <a:ea typeface="Public Sans"/>
                <a:cs typeface="Public Sans"/>
                <a:sym typeface="Public Sans"/>
              </a:rPr>
              <a:t>Static routing is the manual configuration of network paths using commands like ip route.</a:t>
            </a:r>
          </a:p>
          <a:p>
            <a:pPr algn="just" marL="678785" indent="-226262" lvl="2">
              <a:lnSpc>
                <a:spcPts val="4008"/>
              </a:lnSpc>
              <a:buFont typeface="Arial"/>
              <a:buChar char="⚬"/>
            </a:pPr>
            <a:r>
              <a:rPr lang="en-US" sz="2969" spc="177">
                <a:solidFill>
                  <a:srgbClr val="343434"/>
                </a:solidFill>
                <a:latin typeface="Public Sans"/>
                <a:ea typeface="Public Sans"/>
                <a:cs typeface="Public Sans"/>
                <a:sym typeface="Public Sans"/>
              </a:rPr>
              <a:t>Each node is explicitly told which gateway to use to reach another subnet.</a:t>
            </a:r>
          </a:p>
          <a:p>
            <a:pPr algn="just" marL="678785" indent="-226262" lvl="2">
              <a:lnSpc>
                <a:spcPts val="4008"/>
              </a:lnSpc>
              <a:buFont typeface="Arial"/>
              <a:buChar char="⚬"/>
            </a:pPr>
            <a:r>
              <a:rPr lang="en-US" sz="2969" spc="177">
                <a:solidFill>
                  <a:srgbClr val="343434"/>
                </a:solidFill>
                <a:latin typeface="Public Sans"/>
                <a:ea typeface="Public Sans"/>
                <a:cs typeface="Public Sans"/>
                <a:sym typeface="Public Sans"/>
              </a:rPr>
              <a:t>Advantages: full control, transparency, works for all protocols without tunneling overhead.</a:t>
            </a:r>
          </a:p>
          <a:p>
            <a:pPr algn="just" marL="678785" indent="-226262" lvl="2">
              <a:lnSpc>
                <a:spcPts val="4008"/>
              </a:lnSpc>
            </a:pPr>
            <a:r>
              <a:rPr lang="en-US" b="true" sz="2969" spc="177">
                <a:solidFill>
                  <a:srgbClr val="343434"/>
                </a:solidFill>
                <a:latin typeface="Public Sans Bold"/>
                <a:ea typeface="Public Sans Bold"/>
                <a:cs typeface="Public Sans Bold"/>
                <a:sym typeface="Public Sans Bold"/>
              </a:rPr>
              <a:t>Limitations:</a:t>
            </a:r>
          </a:p>
          <a:p>
            <a:pPr algn="just" marL="678785" indent="-226262" lvl="2">
              <a:lnSpc>
                <a:spcPts val="4008"/>
              </a:lnSpc>
              <a:buFont typeface="Arial"/>
              <a:buChar char="⚬"/>
            </a:pPr>
            <a:r>
              <a:rPr lang="en-US" sz="2969" spc="177">
                <a:solidFill>
                  <a:srgbClr val="343434"/>
                </a:solidFill>
                <a:latin typeface="Public Sans"/>
                <a:ea typeface="Public Sans"/>
                <a:cs typeface="Public Sans"/>
                <a:sym typeface="Public Sans"/>
              </a:rPr>
              <a:t>Not encrypted (unlike WireGuard)</a:t>
            </a:r>
          </a:p>
          <a:p>
            <a:pPr algn="just" marL="678785" indent="-226262" lvl="2">
              <a:lnSpc>
                <a:spcPts val="4008"/>
              </a:lnSpc>
              <a:buFont typeface="Arial"/>
              <a:buChar char="⚬"/>
            </a:pPr>
            <a:r>
              <a:rPr lang="en-US" sz="2969" spc="177">
                <a:solidFill>
                  <a:srgbClr val="343434"/>
                </a:solidFill>
                <a:latin typeface="Public Sans"/>
                <a:ea typeface="Public Sans"/>
                <a:cs typeface="Public Sans"/>
                <a:sym typeface="Public Sans"/>
              </a:rPr>
              <a:t>Inflexible, any change in the network requires manual updates.</a:t>
            </a:r>
          </a:p>
          <a:p>
            <a:pPr algn="just" marL="678785" indent="-226262" lvl="2">
              <a:lnSpc>
                <a:spcPts val="4008"/>
              </a:lnSpc>
              <a:buFont typeface="Arial"/>
              <a:buChar char="⚬"/>
            </a:pPr>
            <a:r>
              <a:rPr lang="en-US" sz="2969" spc="177">
                <a:solidFill>
                  <a:srgbClr val="343434"/>
                </a:solidFill>
                <a:latin typeface="Public Sans"/>
                <a:ea typeface="Public Sans"/>
                <a:cs typeface="Public Sans"/>
                <a:sym typeface="Public Sans"/>
              </a:rPr>
              <a:t>Conceptually, static routing is like a hard-coded map that ensures traffic flows in a predictable way</a:t>
            </a:r>
          </a:p>
          <a:p>
            <a:pPr algn="just" marL="678785" indent="-226262" lvl="2">
              <a:lnSpc>
                <a:spcPts val="4008"/>
              </a:lnSpc>
            </a:pPr>
          </a:p>
        </p:txBody>
      </p:sp>
      <p:sp>
        <p:nvSpPr>
          <p:cNvPr name="TextBox 3" id="3"/>
          <p:cNvSpPr txBox="true"/>
          <p:nvPr/>
        </p:nvSpPr>
        <p:spPr>
          <a:xfrm rot="0">
            <a:off x="2706356" y="948308"/>
            <a:ext cx="10710564" cy="981003"/>
          </a:xfrm>
          <a:prstGeom prst="rect">
            <a:avLst/>
          </a:prstGeom>
        </p:spPr>
        <p:txBody>
          <a:bodyPr anchor="t" rtlCol="false" tIns="0" lIns="0" bIns="0" rIns="0">
            <a:spAutoFit/>
          </a:bodyPr>
          <a:lstStyle/>
          <a:p>
            <a:pPr algn="l">
              <a:lnSpc>
                <a:spcPts val="8396"/>
              </a:lnSpc>
            </a:pPr>
            <a:r>
              <a:rPr lang="en-US" b="true" sz="7996" spc="-391">
                <a:solidFill>
                  <a:srgbClr val="343434"/>
                </a:solidFill>
                <a:latin typeface="TT Hoves Bold"/>
                <a:ea typeface="TT Hoves Bold"/>
                <a:cs typeface="TT Hoves Bold"/>
                <a:sym typeface="TT Hoves Bold"/>
              </a:rPr>
              <a:t>What is Static Routing?</a:t>
            </a:r>
          </a:p>
        </p:txBody>
      </p:sp>
      <p:sp>
        <p:nvSpPr>
          <p:cNvPr name="Freeform 4" id="4"/>
          <p:cNvSpPr/>
          <p:nvPr/>
        </p:nvSpPr>
        <p:spPr>
          <a:xfrm flipH="false" flipV="false" rot="0">
            <a:off x="9560011" y="-2564899"/>
            <a:ext cx="16075318" cy="16075318"/>
          </a:xfrm>
          <a:custGeom>
            <a:avLst/>
            <a:gdLst/>
            <a:ahLst/>
            <a:cxnLst/>
            <a:rect r="r" b="b" t="t" l="l"/>
            <a:pathLst>
              <a:path h="16075318" w="16075318">
                <a:moveTo>
                  <a:pt x="0" y="0"/>
                </a:moveTo>
                <a:lnTo>
                  <a:pt x="16075318" y="0"/>
                </a:lnTo>
                <a:lnTo>
                  <a:pt x="16075318" y="16075318"/>
                </a:lnTo>
                <a:lnTo>
                  <a:pt x="0" y="16075318"/>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96258" y="-1193133"/>
            <a:ext cx="2222590" cy="12095887"/>
          </a:xfrm>
          <a:custGeom>
            <a:avLst/>
            <a:gdLst/>
            <a:ahLst/>
            <a:cxnLst/>
            <a:rect r="r" b="b" t="t" l="l"/>
            <a:pathLst>
              <a:path h="12095887" w="2222590">
                <a:moveTo>
                  <a:pt x="0" y="0"/>
                </a:moveTo>
                <a:lnTo>
                  <a:pt x="2222590" y="0"/>
                </a:lnTo>
                <a:lnTo>
                  <a:pt x="2222590" y="12095887"/>
                </a:lnTo>
                <a:lnTo>
                  <a:pt x="0" y="120958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2601687" y="7474322"/>
            <a:ext cx="7498697" cy="3899426"/>
          </a:xfrm>
          <a:prstGeom prst="rect">
            <a:avLst/>
          </a:prstGeom>
        </p:spPr>
        <p:txBody>
          <a:bodyPr anchor="t" rtlCol="false" tIns="0" lIns="0" bIns="0" rIns="0">
            <a:spAutoFit/>
          </a:bodyPr>
          <a:lstStyle/>
          <a:p>
            <a:pPr algn="ctr">
              <a:lnSpc>
                <a:spcPts val="35614"/>
              </a:lnSpc>
            </a:pPr>
            <a:r>
              <a:rPr lang="en-US" b="true" sz="37888" spc="-1855">
                <a:solidFill>
                  <a:srgbClr val="343434"/>
                </a:solidFill>
                <a:latin typeface="TT Hoves Bold"/>
                <a:ea typeface="TT Hoves Bold"/>
                <a:cs typeface="TT Hoves Bold"/>
                <a:sym typeface="TT Hoves Bold"/>
              </a:rPr>
              <a:t>03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175092" y="2378450"/>
            <a:ext cx="273982" cy="501104"/>
          </a:xfrm>
          <a:custGeom>
            <a:avLst/>
            <a:gdLst/>
            <a:ahLst/>
            <a:cxnLst/>
            <a:rect r="r" b="b" t="t" l="l"/>
            <a:pathLst>
              <a:path h="501104" w="273982">
                <a:moveTo>
                  <a:pt x="0" y="0"/>
                </a:moveTo>
                <a:lnTo>
                  <a:pt x="273982" y="0"/>
                </a:lnTo>
                <a:lnTo>
                  <a:pt x="273982" y="501104"/>
                </a:lnTo>
                <a:lnTo>
                  <a:pt x="0" y="501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547478" y="5330746"/>
            <a:ext cx="273982" cy="501104"/>
          </a:xfrm>
          <a:custGeom>
            <a:avLst/>
            <a:gdLst/>
            <a:ahLst/>
            <a:cxnLst/>
            <a:rect r="r" b="b" t="t" l="l"/>
            <a:pathLst>
              <a:path h="501104" w="273982">
                <a:moveTo>
                  <a:pt x="0" y="0"/>
                </a:moveTo>
                <a:lnTo>
                  <a:pt x="273982" y="0"/>
                </a:lnTo>
                <a:lnTo>
                  <a:pt x="273982" y="501104"/>
                </a:lnTo>
                <a:lnTo>
                  <a:pt x="0" y="501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75092" y="997222"/>
            <a:ext cx="12705194" cy="376947"/>
          </a:xfrm>
          <a:prstGeom prst="rect">
            <a:avLst/>
          </a:prstGeom>
        </p:spPr>
        <p:txBody>
          <a:bodyPr anchor="t" rtlCol="false" tIns="0" lIns="0" bIns="0" rIns="0">
            <a:spAutoFit/>
          </a:bodyPr>
          <a:lstStyle/>
          <a:p>
            <a:pPr algn="r">
              <a:lnSpc>
                <a:spcPts val="4227"/>
              </a:lnSpc>
            </a:pPr>
            <a:r>
              <a:rPr lang="en-US" b="true" sz="5871" spc="-287">
                <a:solidFill>
                  <a:srgbClr val="343434"/>
                </a:solidFill>
                <a:latin typeface="Public Sans Bold"/>
                <a:ea typeface="Public Sans Bold"/>
                <a:cs typeface="Public Sans Bold"/>
                <a:sym typeface="Public Sans Bold"/>
              </a:rPr>
              <a:t>FABRIC Setup (Token &amp; Slice Creation)</a:t>
            </a:r>
          </a:p>
        </p:txBody>
      </p:sp>
      <p:sp>
        <p:nvSpPr>
          <p:cNvPr name="Freeform 5" id="5"/>
          <p:cNvSpPr/>
          <p:nvPr/>
        </p:nvSpPr>
        <p:spPr>
          <a:xfrm flipH="false" flipV="false" rot="0">
            <a:off x="9555412" y="-7939543"/>
            <a:ext cx="14102688" cy="14102688"/>
          </a:xfrm>
          <a:custGeom>
            <a:avLst/>
            <a:gdLst/>
            <a:ahLst/>
            <a:cxnLst/>
            <a:rect r="r" b="b" t="t" l="l"/>
            <a:pathLst>
              <a:path h="14102688" w="14102688">
                <a:moveTo>
                  <a:pt x="0" y="0"/>
                </a:moveTo>
                <a:lnTo>
                  <a:pt x="14102688" y="0"/>
                </a:lnTo>
                <a:lnTo>
                  <a:pt x="14102688" y="14102688"/>
                </a:lnTo>
                <a:lnTo>
                  <a:pt x="0" y="14102688"/>
                </a:lnTo>
                <a:lnTo>
                  <a:pt x="0" y="0"/>
                </a:lnTo>
                <a:close/>
              </a:path>
            </a:pathLst>
          </a:custGeom>
          <a:blipFill>
            <a:blip r:embed="rId5">
              <a:alphaModFix amt="52000"/>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234095" y="3134100"/>
            <a:ext cx="8467012" cy="5005298"/>
            <a:chOff x="0" y="0"/>
            <a:chExt cx="11289349" cy="6673731"/>
          </a:xfrm>
        </p:grpSpPr>
        <p:sp>
          <p:nvSpPr>
            <p:cNvPr name="Freeform 7" id="7"/>
            <p:cNvSpPr/>
            <p:nvPr/>
          </p:nvSpPr>
          <p:spPr>
            <a:xfrm flipH="false" flipV="false" rot="0">
              <a:off x="0" y="0"/>
              <a:ext cx="11289411" cy="6673723"/>
            </a:xfrm>
            <a:custGeom>
              <a:avLst/>
              <a:gdLst/>
              <a:ahLst/>
              <a:cxnLst/>
              <a:rect r="r" b="b" t="t" l="l"/>
              <a:pathLst>
                <a:path h="6673723" w="11289411">
                  <a:moveTo>
                    <a:pt x="0" y="0"/>
                  </a:moveTo>
                  <a:lnTo>
                    <a:pt x="11289411" y="0"/>
                  </a:lnTo>
                  <a:lnTo>
                    <a:pt x="11289411" y="6673723"/>
                  </a:lnTo>
                  <a:lnTo>
                    <a:pt x="0" y="6673723"/>
                  </a:lnTo>
                  <a:lnTo>
                    <a:pt x="0" y="0"/>
                  </a:lnTo>
                  <a:close/>
                </a:path>
              </a:pathLst>
            </a:custGeom>
            <a:blipFill>
              <a:blip r:embed="rId7"/>
              <a:stretch>
                <a:fillRect l="-1288" t="0" r="-1287" b="0"/>
              </a:stretch>
            </a:blipFill>
          </p:spPr>
        </p:sp>
      </p:grpSp>
      <p:sp>
        <p:nvSpPr>
          <p:cNvPr name="Freeform 8" id="8"/>
          <p:cNvSpPr/>
          <p:nvPr/>
        </p:nvSpPr>
        <p:spPr>
          <a:xfrm flipH="false" flipV="false" rot="0">
            <a:off x="9487304" y="2378450"/>
            <a:ext cx="273982" cy="501104"/>
          </a:xfrm>
          <a:custGeom>
            <a:avLst/>
            <a:gdLst/>
            <a:ahLst/>
            <a:cxnLst/>
            <a:rect r="r" b="b" t="t" l="l"/>
            <a:pathLst>
              <a:path h="501104" w="273982">
                <a:moveTo>
                  <a:pt x="0" y="0"/>
                </a:moveTo>
                <a:lnTo>
                  <a:pt x="273982" y="0"/>
                </a:lnTo>
                <a:lnTo>
                  <a:pt x="273982" y="501104"/>
                </a:lnTo>
                <a:lnTo>
                  <a:pt x="0" y="5011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9" id="9"/>
          <p:cNvGrpSpPr/>
          <p:nvPr/>
        </p:nvGrpSpPr>
        <p:grpSpPr>
          <a:xfrm rot="0">
            <a:off x="9487304" y="3134100"/>
            <a:ext cx="7628294" cy="5768897"/>
            <a:chOff x="0" y="0"/>
            <a:chExt cx="10171059" cy="7691863"/>
          </a:xfrm>
        </p:grpSpPr>
        <p:sp>
          <p:nvSpPr>
            <p:cNvPr name="Freeform 10" id="10"/>
            <p:cNvSpPr/>
            <p:nvPr/>
          </p:nvSpPr>
          <p:spPr>
            <a:xfrm flipH="false" flipV="false" rot="0">
              <a:off x="0" y="0"/>
              <a:ext cx="10171049" cy="7691882"/>
            </a:xfrm>
            <a:custGeom>
              <a:avLst/>
              <a:gdLst/>
              <a:ahLst/>
              <a:cxnLst/>
              <a:rect r="r" b="b" t="t" l="l"/>
              <a:pathLst>
                <a:path h="7691882" w="10171049">
                  <a:moveTo>
                    <a:pt x="0" y="0"/>
                  </a:moveTo>
                  <a:lnTo>
                    <a:pt x="10171049" y="0"/>
                  </a:lnTo>
                  <a:lnTo>
                    <a:pt x="10171049" y="7691882"/>
                  </a:lnTo>
                  <a:lnTo>
                    <a:pt x="0" y="7691882"/>
                  </a:lnTo>
                  <a:lnTo>
                    <a:pt x="0" y="0"/>
                  </a:lnTo>
                  <a:close/>
                </a:path>
              </a:pathLst>
            </a:custGeom>
            <a:blipFill>
              <a:blip r:embed="rId8"/>
              <a:stretch>
                <a:fillRect l="0" t="-33" r="0" b="-33"/>
              </a:stretch>
            </a:blipFill>
          </p:spPr>
        </p:sp>
      </p:grpSp>
      <p:sp>
        <p:nvSpPr>
          <p:cNvPr name="TextBox 11" id="11"/>
          <p:cNvSpPr txBox="true"/>
          <p:nvPr/>
        </p:nvSpPr>
        <p:spPr>
          <a:xfrm rot="0">
            <a:off x="585807" y="2530850"/>
            <a:ext cx="2197323" cy="603251"/>
          </a:xfrm>
          <a:prstGeom prst="rect">
            <a:avLst/>
          </a:prstGeom>
        </p:spPr>
        <p:txBody>
          <a:bodyPr anchor="t" rtlCol="false" tIns="0" lIns="0" bIns="0" rIns="0">
            <a:spAutoFit/>
          </a:bodyPr>
          <a:lstStyle/>
          <a:p>
            <a:pPr algn="just">
              <a:lnSpc>
                <a:spcPts val="5149"/>
              </a:lnSpc>
            </a:pPr>
            <a:r>
              <a:rPr lang="en-US" sz="4999" b="true">
                <a:solidFill>
                  <a:srgbClr val="343434"/>
                </a:solidFill>
                <a:latin typeface="TT Hoves Bold"/>
                <a:ea typeface="TT Hoves Bold"/>
                <a:cs typeface="TT Hoves Bold"/>
                <a:sym typeface="TT Hoves Bold"/>
              </a:rPr>
              <a:t>01</a:t>
            </a:r>
          </a:p>
        </p:txBody>
      </p:sp>
      <p:sp>
        <p:nvSpPr>
          <p:cNvPr name="TextBox 12" id="12"/>
          <p:cNvSpPr txBox="true"/>
          <p:nvPr/>
        </p:nvSpPr>
        <p:spPr>
          <a:xfrm rot="0">
            <a:off x="9888802" y="2530850"/>
            <a:ext cx="2197323" cy="603251"/>
          </a:xfrm>
          <a:prstGeom prst="rect">
            <a:avLst/>
          </a:prstGeom>
        </p:spPr>
        <p:txBody>
          <a:bodyPr anchor="t" rtlCol="false" tIns="0" lIns="0" bIns="0" rIns="0">
            <a:spAutoFit/>
          </a:bodyPr>
          <a:lstStyle/>
          <a:p>
            <a:pPr algn="just">
              <a:lnSpc>
                <a:spcPts val="5149"/>
              </a:lnSpc>
            </a:pPr>
            <a:r>
              <a:rPr lang="en-US" sz="4999" b="true">
                <a:solidFill>
                  <a:srgbClr val="343434"/>
                </a:solidFill>
                <a:latin typeface="TT Hoves Bold"/>
                <a:ea typeface="TT Hoves Bold"/>
                <a:cs typeface="TT Hoves Bold"/>
                <a:sym typeface="TT Hoves Bold"/>
              </a:rPr>
              <a:t>02</a:t>
            </a:r>
          </a:p>
        </p:txBody>
      </p:sp>
      <p:sp>
        <p:nvSpPr>
          <p:cNvPr name="TextBox 13" id="13"/>
          <p:cNvSpPr txBox="true"/>
          <p:nvPr/>
        </p:nvSpPr>
        <p:spPr>
          <a:xfrm rot="0">
            <a:off x="12880286" y="-143424"/>
            <a:ext cx="6393149" cy="3315984"/>
          </a:xfrm>
          <a:prstGeom prst="rect">
            <a:avLst/>
          </a:prstGeom>
        </p:spPr>
        <p:txBody>
          <a:bodyPr anchor="t" rtlCol="false" tIns="0" lIns="0" bIns="0" rIns="0">
            <a:spAutoFit/>
          </a:bodyPr>
          <a:lstStyle/>
          <a:p>
            <a:pPr algn="ctr">
              <a:lnSpc>
                <a:spcPts val="30364"/>
              </a:lnSpc>
            </a:pPr>
            <a:r>
              <a:rPr lang="en-US" b="true" sz="32302" spc="-1582">
                <a:solidFill>
                  <a:srgbClr val="343434"/>
                </a:solidFill>
                <a:latin typeface="TT Hoves Bold"/>
                <a:ea typeface="TT Hoves Bold"/>
                <a:cs typeface="TT Hoves Bold"/>
                <a:sym typeface="TT Hoves Bold"/>
              </a:rPr>
              <a:t>04</a:t>
            </a:r>
          </a:p>
        </p:txBody>
      </p:sp>
      <p:sp>
        <p:nvSpPr>
          <p:cNvPr name="TextBox 14" id="14"/>
          <p:cNvSpPr txBox="true"/>
          <p:nvPr/>
        </p:nvSpPr>
        <p:spPr>
          <a:xfrm rot="0">
            <a:off x="14141979" y="9407688"/>
            <a:ext cx="3117321" cy="505461"/>
          </a:xfrm>
          <a:prstGeom prst="rect">
            <a:avLst/>
          </a:prstGeom>
        </p:spPr>
        <p:txBody>
          <a:bodyPr anchor="t" rtlCol="false" tIns="0" lIns="0" bIns="0" rIns="0">
            <a:spAutoFit/>
          </a:bodyPr>
          <a:lstStyle/>
          <a:p>
            <a:pPr algn="r">
              <a:lnSpc>
                <a:spcPts val="3639"/>
              </a:lnSpc>
            </a:pPr>
            <a:r>
              <a:rPr lang="en-US" sz="2599">
                <a:solidFill>
                  <a:srgbClr val="EFEFEF"/>
                </a:solidFill>
                <a:latin typeface="TT Hoves"/>
                <a:ea typeface="TT Hoves"/>
                <a:cs typeface="TT Hoves"/>
                <a:sym typeface="TT Hoves"/>
              </a:rPr>
              <a:t>Presentation 2024</a:t>
            </a:r>
          </a:p>
        </p:txBody>
      </p:sp>
      <p:sp>
        <p:nvSpPr>
          <p:cNvPr name="TextBox 15" id="15"/>
          <p:cNvSpPr txBox="true"/>
          <p:nvPr/>
        </p:nvSpPr>
        <p:spPr>
          <a:xfrm rot="0">
            <a:off x="1028700" y="9407688"/>
            <a:ext cx="3117321" cy="505461"/>
          </a:xfrm>
          <a:prstGeom prst="rect">
            <a:avLst/>
          </a:prstGeom>
        </p:spPr>
        <p:txBody>
          <a:bodyPr anchor="t" rtlCol="false" tIns="0" lIns="0" bIns="0" rIns="0">
            <a:spAutoFit/>
          </a:bodyPr>
          <a:lstStyle/>
          <a:p>
            <a:pPr algn="just">
              <a:lnSpc>
                <a:spcPts val="3639"/>
              </a:lnSpc>
            </a:pPr>
            <a:r>
              <a:rPr lang="en-US" sz="2599">
                <a:solidFill>
                  <a:srgbClr val="EFEFEF"/>
                </a:solidFill>
                <a:latin typeface="TT Hoves"/>
                <a:ea typeface="TT Hoves"/>
                <a:cs typeface="TT Hoves"/>
                <a:sym typeface="TT Hoves"/>
              </a:rPr>
              <a:t>Thynk Unlimited</a:t>
            </a:r>
          </a:p>
        </p:txBody>
      </p:sp>
      <p:sp>
        <p:nvSpPr>
          <p:cNvPr name="TextBox 16" id="16"/>
          <p:cNvSpPr txBox="true"/>
          <p:nvPr/>
        </p:nvSpPr>
        <p:spPr>
          <a:xfrm rot="0">
            <a:off x="7585339" y="9407688"/>
            <a:ext cx="3117321" cy="505461"/>
          </a:xfrm>
          <a:prstGeom prst="rect">
            <a:avLst/>
          </a:prstGeom>
        </p:spPr>
        <p:txBody>
          <a:bodyPr anchor="t" rtlCol="false" tIns="0" lIns="0" bIns="0" rIns="0">
            <a:spAutoFit/>
          </a:bodyPr>
          <a:lstStyle/>
          <a:p>
            <a:pPr algn="ctr">
              <a:lnSpc>
                <a:spcPts val="3639"/>
              </a:lnSpc>
            </a:pPr>
            <a:r>
              <a:rPr lang="en-US" sz="2599">
                <a:solidFill>
                  <a:srgbClr val="EFEFEF"/>
                </a:solidFill>
                <a:latin typeface="TT Hoves"/>
                <a:ea typeface="TT Hoves"/>
                <a:cs typeface="TT Hoves"/>
                <a:sym typeface="TT Hoves"/>
              </a:rPr>
              <a:t>Project</a:t>
            </a:r>
          </a:p>
        </p:txBody>
      </p:sp>
      <p:sp>
        <p:nvSpPr>
          <p:cNvPr name="TextBox 17" id="17"/>
          <p:cNvSpPr txBox="true"/>
          <p:nvPr/>
        </p:nvSpPr>
        <p:spPr>
          <a:xfrm rot="0">
            <a:off x="5484590" y="9407688"/>
            <a:ext cx="1406261" cy="505461"/>
          </a:xfrm>
          <a:prstGeom prst="rect">
            <a:avLst/>
          </a:prstGeom>
        </p:spPr>
        <p:txBody>
          <a:bodyPr anchor="t" rtlCol="false" tIns="0" lIns="0" bIns="0" rIns="0">
            <a:spAutoFit/>
          </a:bodyPr>
          <a:lstStyle/>
          <a:p>
            <a:pPr algn="ctr">
              <a:lnSpc>
                <a:spcPts val="3639"/>
              </a:lnSpc>
            </a:pPr>
            <a:r>
              <a:rPr lang="en-US" sz="2599">
                <a:solidFill>
                  <a:srgbClr val="EFEFEF"/>
                </a:solidFill>
                <a:latin typeface="TT Hoves"/>
                <a:ea typeface="TT Hoves"/>
                <a:cs typeface="TT Hoves"/>
                <a:sym typeface="TT Hoves"/>
              </a:rPr>
              <a:t>-</a:t>
            </a:r>
          </a:p>
        </p:txBody>
      </p:sp>
      <p:sp>
        <p:nvSpPr>
          <p:cNvPr name="TextBox 18" id="18"/>
          <p:cNvSpPr txBox="true"/>
          <p:nvPr/>
        </p:nvSpPr>
        <p:spPr>
          <a:xfrm rot="0">
            <a:off x="12330761" y="9407688"/>
            <a:ext cx="1406261" cy="505461"/>
          </a:xfrm>
          <a:prstGeom prst="rect">
            <a:avLst/>
          </a:prstGeom>
        </p:spPr>
        <p:txBody>
          <a:bodyPr anchor="t" rtlCol="false" tIns="0" lIns="0" bIns="0" rIns="0">
            <a:spAutoFit/>
          </a:bodyPr>
          <a:lstStyle/>
          <a:p>
            <a:pPr algn="ctr">
              <a:lnSpc>
                <a:spcPts val="3639"/>
              </a:lnSpc>
            </a:pPr>
            <a:r>
              <a:rPr lang="en-US" sz="2599">
                <a:solidFill>
                  <a:srgbClr val="EFEFEF"/>
                </a:solidFill>
                <a:latin typeface="TT Hoves"/>
                <a:ea typeface="TT Hoves"/>
                <a:cs typeface="TT Hoves"/>
                <a:sym typeface="TT Hoves"/>
              </a:rPr>
              <a:t>-</a:t>
            </a:r>
          </a:p>
        </p:txBody>
      </p:sp>
      <p:sp>
        <p:nvSpPr>
          <p:cNvPr name="TextBox 19" id="19"/>
          <p:cNvSpPr txBox="true"/>
          <p:nvPr/>
        </p:nvSpPr>
        <p:spPr>
          <a:xfrm rot="0">
            <a:off x="0" y="8950488"/>
            <a:ext cx="17752398" cy="962661"/>
          </a:xfrm>
          <a:prstGeom prst="rect">
            <a:avLst/>
          </a:prstGeom>
        </p:spPr>
        <p:txBody>
          <a:bodyPr anchor="t" rtlCol="false" tIns="0" lIns="0" bIns="0" rIns="0">
            <a:spAutoFit/>
          </a:bodyPr>
          <a:lstStyle/>
          <a:p>
            <a:pPr algn="ctr">
              <a:lnSpc>
                <a:spcPts val="3639"/>
              </a:lnSpc>
            </a:pPr>
            <a:r>
              <a:rPr lang="en-US" sz="2599">
                <a:solidFill>
                  <a:srgbClr val="000000"/>
                </a:solidFill>
                <a:latin typeface="TT Hoves"/>
                <a:ea typeface="TT Hoves"/>
                <a:cs typeface="TT Hoves"/>
                <a:sym typeface="TT Hoves"/>
              </a:rPr>
              <a:t>After completing the setup, I proceeded by following the research methodology and step-by-step process outlined in the project artifacts</a:t>
            </a:r>
          </a:p>
        </p:txBody>
      </p:sp>
      <p:sp>
        <p:nvSpPr>
          <p:cNvPr name="TextBox 20" id="20"/>
          <p:cNvSpPr txBox="true"/>
          <p:nvPr/>
        </p:nvSpPr>
        <p:spPr>
          <a:xfrm rot="0">
            <a:off x="1684469" y="1566429"/>
            <a:ext cx="7438906" cy="505461"/>
          </a:xfrm>
          <a:prstGeom prst="rect">
            <a:avLst/>
          </a:prstGeom>
        </p:spPr>
        <p:txBody>
          <a:bodyPr anchor="t" rtlCol="false" tIns="0" lIns="0" bIns="0" rIns="0">
            <a:spAutoFit/>
          </a:bodyPr>
          <a:lstStyle/>
          <a:p>
            <a:pPr algn="ctr">
              <a:lnSpc>
                <a:spcPts val="3639"/>
              </a:lnSpc>
            </a:pPr>
            <a:r>
              <a:rPr lang="en-US" sz="2599">
                <a:solidFill>
                  <a:srgbClr val="000000"/>
                </a:solidFill>
                <a:latin typeface="TT Hoves"/>
                <a:ea typeface="TT Hoves"/>
                <a:cs typeface="TT Hoves"/>
                <a:sym typeface="TT Hoves"/>
              </a:rPr>
              <a:t>Token = authentication key, Slice = mini network lab</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616717" y="1257300"/>
            <a:ext cx="8115300" cy="632633"/>
          </a:xfrm>
          <a:prstGeom prst="rect">
            <a:avLst/>
          </a:prstGeom>
        </p:spPr>
        <p:txBody>
          <a:bodyPr anchor="t" rtlCol="false" tIns="0" lIns="0" bIns="0" rIns="0">
            <a:spAutoFit/>
          </a:bodyPr>
          <a:lstStyle/>
          <a:p>
            <a:pPr algn="l">
              <a:lnSpc>
                <a:spcPts val="5509"/>
              </a:lnSpc>
            </a:pPr>
            <a:r>
              <a:rPr lang="en-US" b="true" sz="5679" spc="-266">
                <a:solidFill>
                  <a:srgbClr val="000000"/>
                </a:solidFill>
                <a:latin typeface="TT Hoves Bold"/>
                <a:ea typeface="TT Hoves Bold"/>
                <a:cs typeface="TT Hoves Bold"/>
                <a:sym typeface="TT Hoves Bold"/>
              </a:rPr>
              <a:t>Fabric (sshuttle Results)</a:t>
            </a:r>
          </a:p>
        </p:txBody>
      </p:sp>
      <p:sp>
        <p:nvSpPr>
          <p:cNvPr name="TextBox 3" id="3"/>
          <p:cNvSpPr txBox="true"/>
          <p:nvPr/>
        </p:nvSpPr>
        <p:spPr>
          <a:xfrm rot="0">
            <a:off x="616717" y="3899457"/>
            <a:ext cx="8939266" cy="5870837"/>
          </a:xfrm>
          <a:prstGeom prst="rect">
            <a:avLst/>
          </a:prstGeom>
        </p:spPr>
        <p:txBody>
          <a:bodyPr anchor="t" rtlCol="false" tIns="0" lIns="0" bIns="0" rIns="0">
            <a:spAutoFit/>
          </a:bodyPr>
          <a:lstStyle/>
          <a:p>
            <a:pPr algn="just">
              <a:lnSpc>
                <a:spcPts val="3131"/>
              </a:lnSpc>
            </a:pPr>
            <a:r>
              <a:rPr lang="en-US" b="true" sz="2319" spc="139">
                <a:solidFill>
                  <a:srgbClr val="000000"/>
                </a:solidFill>
                <a:latin typeface="TT Hoves Bold"/>
                <a:ea typeface="TT Hoves Bold"/>
                <a:cs typeface="TT Hoves Bold"/>
                <a:sym typeface="TT Hoves Bold"/>
              </a:rPr>
              <a:t>What Worked:</a:t>
            </a:r>
          </a:p>
          <a:p>
            <a:pPr algn="just" marL="530188" indent="-176729" lvl="2">
              <a:lnSpc>
                <a:spcPts val="3131"/>
              </a:lnSpc>
              <a:buFont typeface="Arial"/>
              <a:buChar char="⚬"/>
            </a:pPr>
            <a:r>
              <a:rPr lang="en-US" sz="2319" spc="139">
                <a:solidFill>
                  <a:srgbClr val="000000"/>
                </a:solidFill>
                <a:latin typeface="TT Hoves"/>
                <a:ea typeface="TT Hoves"/>
                <a:cs typeface="TT Hoves"/>
                <a:sym typeface="TT Hoves"/>
              </a:rPr>
              <a:t>sshuttle created an SSH-based tunnel through Node2</a:t>
            </a:r>
          </a:p>
          <a:p>
            <a:pPr algn="just" marL="530188" indent="-176729" lvl="2">
              <a:lnSpc>
                <a:spcPts val="3131"/>
              </a:lnSpc>
              <a:buFont typeface="Arial"/>
              <a:buChar char="⚬"/>
            </a:pPr>
            <a:r>
              <a:rPr lang="en-US" sz="2319" spc="139">
                <a:solidFill>
                  <a:srgbClr val="000000"/>
                </a:solidFill>
                <a:latin typeface="TT Hoves"/>
                <a:ea typeface="TT Hoves"/>
                <a:cs typeface="TT Hoves"/>
                <a:sym typeface="TT Hoves"/>
              </a:rPr>
              <a:t>A dummy route allowed Node1 to reach Node3’s subnet</a:t>
            </a:r>
          </a:p>
          <a:p>
            <a:pPr algn="just" marL="530188" indent="-176729" lvl="2">
              <a:lnSpc>
                <a:spcPts val="3131"/>
              </a:lnSpc>
              <a:buFont typeface="Arial"/>
              <a:buChar char="⚬"/>
            </a:pPr>
            <a:r>
              <a:rPr lang="en-US" sz="2319" spc="139">
                <a:solidFill>
                  <a:srgbClr val="000000"/>
                </a:solidFill>
                <a:latin typeface="TT Hoves"/>
                <a:ea typeface="TT Hoves"/>
                <a:cs typeface="TT Hoves"/>
                <a:sym typeface="TT Hoves"/>
              </a:rPr>
              <a:t>Node1 successfully connected to Node3 (TCP port 22)</a:t>
            </a:r>
          </a:p>
          <a:p>
            <a:pPr algn="just" marL="530188" indent="-176729" lvl="2">
              <a:lnSpc>
                <a:spcPts val="3131"/>
              </a:lnSpc>
              <a:buFont typeface="Arial"/>
              <a:buChar char="⚬"/>
            </a:pPr>
            <a:r>
              <a:rPr lang="en-US" sz="2319" spc="139">
                <a:solidFill>
                  <a:srgbClr val="000000"/>
                </a:solidFill>
                <a:latin typeface="TT Hoves"/>
                <a:ea typeface="TT Hoves"/>
                <a:cs typeface="TT Hoves"/>
                <a:sym typeface="TT Hoves"/>
              </a:rPr>
              <a:t>Routing table showed traffic for 192.168.2.0/24 redirected via 127.0.0.1</a:t>
            </a:r>
          </a:p>
          <a:p>
            <a:pPr algn="just" marL="530188" indent="-176729" lvl="2">
              <a:lnSpc>
                <a:spcPts val="3131"/>
              </a:lnSpc>
            </a:pPr>
            <a:r>
              <a:rPr lang="en-US" b="true" sz="2319" spc="139">
                <a:solidFill>
                  <a:srgbClr val="000000"/>
                </a:solidFill>
                <a:latin typeface="TT Hoves Bold"/>
                <a:ea typeface="TT Hoves Bold"/>
                <a:cs typeface="TT Hoves Bold"/>
                <a:sym typeface="TT Hoves Bold"/>
              </a:rPr>
              <a:t>What Failed / Limitation</a:t>
            </a:r>
          </a:p>
          <a:p>
            <a:pPr algn="just" marL="530188" indent="-176729" lvl="2">
              <a:lnSpc>
                <a:spcPts val="3131"/>
              </a:lnSpc>
              <a:buFont typeface="Arial"/>
              <a:buChar char="⚬"/>
            </a:pPr>
            <a:r>
              <a:rPr lang="en-US" sz="2319" spc="139">
                <a:solidFill>
                  <a:srgbClr val="000000"/>
                </a:solidFill>
                <a:latin typeface="TT Hoves"/>
                <a:ea typeface="TT Hoves"/>
                <a:cs typeface="TT Hoves"/>
                <a:sym typeface="TT Hoves"/>
              </a:rPr>
              <a:t>sshuttle only supports TCP traffic</a:t>
            </a:r>
          </a:p>
          <a:p>
            <a:pPr algn="just" marL="530188" indent="-176729" lvl="2">
              <a:lnSpc>
                <a:spcPts val="3131"/>
              </a:lnSpc>
              <a:buFont typeface="Arial"/>
              <a:buChar char="⚬"/>
            </a:pPr>
            <a:r>
              <a:rPr lang="en-US" sz="2319" spc="139">
                <a:solidFill>
                  <a:srgbClr val="000000"/>
                </a:solidFill>
                <a:latin typeface="TT Hoves"/>
                <a:ea typeface="TT Hoves"/>
                <a:cs typeface="TT Hoves"/>
                <a:sym typeface="TT Hoves"/>
              </a:rPr>
              <a:t>Does not handle ICMP (ping) or UDP</a:t>
            </a:r>
          </a:p>
          <a:p>
            <a:pPr algn="just" marL="530188" indent="-176729" lvl="2">
              <a:lnSpc>
                <a:spcPts val="3131"/>
              </a:lnSpc>
            </a:pPr>
            <a:r>
              <a:rPr lang="en-US" b="true" sz="2319" spc="139">
                <a:solidFill>
                  <a:srgbClr val="000000"/>
                </a:solidFill>
                <a:latin typeface="TT Hoves Bold"/>
                <a:ea typeface="TT Hoves Bold"/>
                <a:cs typeface="TT Hoves Bold"/>
                <a:sym typeface="TT Hoves Bold"/>
              </a:rPr>
              <a:t>Conclusion:</a:t>
            </a:r>
          </a:p>
          <a:p>
            <a:pPr algn="just" marL="530188" indent="-176729" lvl="2">
              <a:lnSpc>
                <a:spcPts val="3131"/>
              </a:lnSpc>
              <a:buFont typeface="Arial"/>
              <a:buChar char="⚬"/>
            </a:pPr>
            <a:r>
              <a:rPr lang="en-US" sz="2319" spc="139">
                <a:solidFill>
                  <a:srgbClr val="000000"/>
                </a:solidFill>
                <a:latin typeface="TT Hoves"/>
                <a:ea typeface="TT Hoves"/>
                <a:cs typeface="TT Hoves"/>
                <a:sym typeface="TT Hoves"/>
              </a:rPr>
              <a:t>sshuttle provided quick TCP connectivity with minimal setup</a:t>
            </a:r>
          </a:p>
          <a:p>
            <a:pPr algn="just" marL="530188" indent="-176729" lvl="2">
              <a:lnSpc>
                <a:spcPts val="3131"/>
              </a:lnSpc>
              <a:buFont typeface="Arial"/>
              <a:buChar char="⚬"/>
            </a:pPr>
            <a:r>
              <a:rPr lang="en-US" sz="2319" spc="139">
                <a:solidFill>
                  <a:srgbClr val="000000"/>
                </a:solidFill>
                <a:latin typeface="TT Hoves"/>
                <a:ea typeface="TT Hoves"/>
                <a:cs typeface="TT Hoves"/>
                <a:sym typeface="TT Hoves"/>
              </a:rPr>
              <a:t>Best suited for debugging or temporary access, not full connectivity</a:t>
            </a:r>
          </a:p>
          <a:p>
            <a:pPr algn="just" marL="530188" indent="-176729" lvl="2">
              <a:lnSpc>
                <a:spcPts val="3131"/>
              </a:lnSpc>
            </a:pPr>
          </a:p>
        </p:txBody>
      </p:sp>
      <p:sp>
        <p:nvSpPr>
          <p:cNvPr name="Freeform 4" id="4"/>
          <p:cNvSpPr/>
          <p:nvPr/>
        </p:nvSpPr>
        <p:spPr>
          <a:xfrm flipH="false" flipV="false" rot="0">
            <a:off x="8480781" y="-7939543"/>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642565" y="6251981"/>
            <a:ext cx="8217790" cy="5034430"/>
          </a:xfrm>
          <a:custGeom>
            <a:avLst/>
            <a:gdLst/>
            <a:ahLst/>
            <a:cxnLst/>
            <a:rect r="r" b="b" t="t" l="l"/>
            <a:pathLst>
              <a:path h="5034430" w="8217790">
                <a:moveTo>
                  <a:pt x="0" y="0"/>
                </a:moveTo>
                <a:lnTo>
                  <a:pt x="8217790" y="0"/>
                </a:lnTo>
                <a:lnTo>
                  <a:pt x="8217790" y="5034430"/>
                </a:lnTo>
                <a:lnTo>
                  <a:pt x="0" y="50344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9973862" y="361068"/>
            <a:ext cx="8314138" cy="5451183"/>
            <a:chOff x="0" y="0"/>
            <a:chExt cx="11085517" cy="7268244"/>
          </a:xfrm>
        </p:grpSpPr>
        <p:sp>
          <p:nvSpPr>
            <p:cNvPr name="Freeform 7" id="7"/>
            <p:cNvSpPr/>
            <p:nvPr/>
          </p:nvSpPr>
          <p:spPr>
            <a:xfrm flipH="false" flipV="false" rot="0">
              <a:off x="0" y="0"/>
              <a:ext cx="11085576" cy="7268210"/>
            </a:xfrm>
            <a:custGeom>
              <a:avLst/>
              <a:gdLst/>
              <a:ahLst/>
              <a:cxnLst/>
              <a:rect r="r" b="b" t="t" l="l"/>
              <a:pathLst>
                <a:path h="7268210" w="11085576">
                  <a:moveTo>
                    <a:pt x="0" y="0"/>
                  </a:moveTo>
                  <a:lnTo>
                    <a:pt x="11085576" y="0"/>
                  </a:lnTo>
                  <a:lnTo>
                    <a:pt x="11085576" y="7268210"/>
                  </a:lnTo>
                  <a:lnTo>
                    <a:pt x="0" y="7268210"/>
                  </a:lnTo>
                  <a:lnTo>
                    <a:pt x="0" y="0"/>
                  </a:lnTo>
                  <a:close/>
                </a:path>
              </a:pathLst>
            </a:custGeom>
            <a:blipFill>
              <a:blip r:embed="rId7"/>
              <a:stretch>
                <a:fillRect l="0" t="0" r="0" b="0"/>
              </a:stretch>
            </a:blipFill>
          </p:spPr>
        </p:sp>
      </p:grpSp>
      <p:sp>
        <p:nvSpPr>
          <p:cNvPr name="TextBox 8" id="8"/>
          <p:cNvSpPr txBox="true"/>
          <p:nvPr/>
        </p:nvSpPr>
        <p:spPr>
          <a:xfrm rot="0">
            <a:off x="14493378" y="7840572"/>
            <a:ext cx="6809176" cy="2887893"/>
          </a:xfrm>
          <a:prstGeom prst="rect">
            <a:avLst/>
          </a:prstGeom>
        </p:spPr>
        <p:txBody>
          <a:bodyPr anchor="t" rtlCol="false" tIns="0" lIns="0" bIns="0" rIns="0">
            <a:spAutoFit/>
          </a:bodyPr>
          <a:lstStyle/>
          <a:p>
            <a:pPr algn="l">
              <a:lnSpc>
                <a:spcPts val="26310"/>
              </a:lnSpc>
            </a:pPr>
            <a:r>
              <a:rPr lang="en-US" b="true" sz="27989" spc="-1371">
                <a:solidFill>
                  <a:srgbClr val="EFEFEF"/>
                </a:solidFill>
                <a:latin typeface="TT Hoves Bold"/>
                <a:ea typeface="TT Hoves Bold"/>
                <a:cs typeface="TT Hoves Bold"/>
                <a:sym typeface="TT Hoves Bold"/>
              </a:rPr>
              <a:t>05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836267" y="835129"/>
            <a:ext cx="9602303" cy="653842"/>
          </a:xfrm>
          <a:prstGeom prst="rect">
            <a:avLst/>
          </a:prstGeom>
        </p:spPr>
        <p:txBody>
          <a:bodyPr anchor="t" rtlCol="false" tIns="0" lIns="0" bIns="0" rIns="0">
            <a:spAutoFit/>
          </a:bodyPr>
          <a:lstStyle/>
          <a:p>
            <a:pPr algn="l">
              <a:lnSpc>
                <a:spcPts val="5896"/>
              </a:lnSpc>
            </a:pPr>
            <a:r>
              <a:rPr lang="en-US" b="true" sz="6078" spc="-284">
                <a:solidFill>
                  <a:srgbClr val="000000"/>
                </a:solidFill>
                <a:latin typeface="TT Hoves Bold"/>
                <a:ea typeface="TT Hoves Bold"/>
                <a:cs typeface="TT Hoves Bold"/>
                <a:sym typeface="TT Hoves Bold"/>
              </a:rPr>
              <a:t>Fabric (WireGuard Results)</a:t>
            </a:r>
          </a:p>
        </p:txBody>
      </p:sp>
      <p:sp>
        <p:nvSpPr>
          <p:cNvPr name="TextBox 3" id="3"/>
          <p:cNvSpPr txBox="true"/>
          <p:nvPr/>
        </p:nvSpPr>
        <p:spPr>
          <a:xfrm rot="0">
            <a:off x="836267" y="2243420"/>
            <a:ext cx="8939266" cy="6280412"/>
          </a:xfrm>
          <a:prstGeom prst="rect">
            <a:avLst/>
          </a:prstGeom>
        </p:spPr>
        <p:txBody>
          <a:bodyPr anchor="t" rtlCol="false" tIns="0" lIns="0" bIns="0" rIns="0">
            <a:spAutoFit/>
          </a:bodyPr>
          <a:lstStyle/>
          <a:p>
            <a:pPr algn="just">
              <a:lnSpc>
                <a:spcPts val="3131"/>
              </a:lnSpc>
            </a:pPr>
            <a:r>
              <a:rPr lang="en-US" b="true" sz="2319" spc="139">
                <a:solidFill>
                  <a:srgbClr val="000000"/>
                </a:solidFill>
                <a:latin typeface="Public Sans Bold"/>
                <a:ea typeface="Public Sans Bold"/>
                <a:cs typeface="Public Sans Bold"/>
                <a:sym typeface="Public Sans Bold"/>
              </a:rPr>
              <a:t>What Worked:</a:t>
            </a:r>
          </a:p>
          <a:p>
            <a:pPr algn="just" marL="530188" indent="-176729" lvl="2">
              <a:lnSpc>
                <a:spcPts val="3131"/>
              </a:lnSpc>
              <a:buFont typeface="Arial"/>
              <a:buChar char="⚬"/>
            </a:pPr>
            <a:r>
              <a:rPr lang="en-US" sz="2319" spc="139">
                <a:solidFill>
                  <a:srgbClr val="000000"/>
                </a:solidFill>
                <a:latin typeface="Public Sans"/>
                <a:ea typeface="Public Sans"/>
                <a:cs typeface="Public Sans"/>
                <a:sym typeface="Public Sans"/>
              </a:rPr>
              <a:t>Node1 ↔ Node3 tunnel communication (10.0.0.x) successful</a:t>
            </a:r>
          </a:p>
          <a:p>
            <a:pPr algn="just" marL="530188" indent="-176729" lvl="2">
              <a:lnSpc>
                <a:spcPts val="3131"/>
              </a:lnSpc>
              <a:buFont typeface="Arial"/>
              <a:buChar char="⚬"/>
            </a:pPr>
            <a:r>
              <a:rPr lang="en-US" sz="2319" spc="139">
                <a:solidFill>
                  <a:srgbClr val="000000"/>
                </a:solidFill>
                <a:latin typeface="Public Sans"/>
                <a:ea typeface="Public Sans"/>
                <a:cs typeface="Public Sans"/>
                <a:sym typeface="Public Sans"/>
              </a:rPr>
              <a:t>Node1 reached Node3’s underlay (192.168.2.2)</a:t>
            </a:r>
          </a:p>
          <a:p>
            <a:pPr algn="just" marL="530188" indent="-176729" lvl="2">
              <a:lnSpc>
                <a:spcPts val="3131"/>
              </a:lnSpc>
              <a:buFont typeface="Arial"/>
              <a:buChar char="⚬"/>
            </a:pPr>
            <a:r>
              <a:rPr lang="en-US" sz="2319" spc="139">
                <a:solidFill>
                  <a:srgbClr val="000000"/>
                </a:solidFill>
                <a:latin typeface="Public Sans"/>
                <a:ea typeface="Public Sans"/>
                <a:cs typeface="Public Sans"/>
                <a:sym typeface="Public Sans"/>
              </a:rPr>
              <a:t>TCP test confirmed SSH connectivity on port 22</a:t>
            </a:r>
          </a:p>
          <a:p>
            <a:pPr algn="just" marL="530188" indent="-176729" lvl="2">
              <a:lnSpc>
                <a:spcPts val="3131"/>
              </a:lnSpc>
            </a:pPr>
            <a:r>
              <a:rPr lang="en-US" b="true" sz="2319" spc="139">
                <a:solidFill>
                  <a:srgbClr val="000000"/>
                </a:solidFill>
                <a:latin typeface="Public Sans Bold"/>
                <a:ea typeface="Public Sans Bold"/>
                <a:cs typeface="Public Sans Bold"/>
                <a:sym typeface="Public Sans Bold"/>
              </a:rPr>
              <a:t>What Failed (100% Packet Loss):</a:t>
            </a:r>
          </a:p>
          <a:p>
            <a:pPr algn="just" marL="530188" indent="-176729" lvl="2">
              <a:lnSpc>
                <a:spcPts val="3131"/>
              </a:lnSpc>
              <a:buFont typeface="Arial"/>
              <a:buChar char="⚬"/>
            </a:pPr>
            <a:r>
              <a:rPr lang="en-US" sz="2319" spc="139">
                <a:solidFill>
                  <a:srgbClr val="000000"/>
                </a:solidFill>
                <a:latin typeface="Public Sans"/>
                <a:ea typeface="Public Sans"/>
                <a:cs typeface="Public Sans"/>
                <a:sym typeface="Public Sans"/>
              </a:rPr>
              <a:t>Node3 could not ping Node1’s underlay (192.168.1.1)</a:t>
            </a:r>
          </a:p>
          <a:p>
            <a:pPr algn="just" marL="530188" indent="-176729" lvl="2">
              <a:lnSpc>
                <a:spcPts val="3131"/>
              </a:lnSpc>
              <a:buFont typeface="Arial"/>
              <a:buChar char="⚬"/>
            </a:pPr>
            <a:r>
              <a:rPr lang="en-US" sz="2319" spc="139">
                <a:solidFill>
                  <a:srgbClr val="000000"/>
                </a:solidFill>
                <a:latin typeface="Public Sans"/>
                <a:ea typeface="Public Sans"/>
                <a:cs typeface="Public Sans"/>
                <a:sym typeface="Public Sans"/>
              </a:rPr>
              <a:t>Cause: WireGuard only forwards traffic defined in AllowedIPs</a:t>
            </a:r>
          </a:p>
          <a:p>
            <a:pPr algn="just" marL="530188" indent="-176729" lvl="2">
              <a:lnSpc>
                <a:spcPts val="3131"/>
              </a:lnSpc>
              <a:buFont typeface="Arial"/>
              <a:buChar char="⚬"/>
            </a:pPr>
            <a:r>
              <a:rPr lang="en-US" sz="2319" spc="139">
                <a:solidFill>
                  <a:srgbClr val="000000"/>
                </a:solidFill>
                <a:latin typeface="Public Sans"/>
                <a:ea typeface="Public Sans"/>
                <a:cs typeface="Public Sans"/>
                <a:sym typeface="Public Sans"/>
              </a:rPr>
              <a:t>Node2 lacked forwarding/NAT rules to bridge overlay → underlay</a:t>
            </a:r>
          </a:p>
          <a:p>
            <a:pPr algn="just" marL="530188" indent="-176729" lvl="2">
              <a:lnSpc>
                <a:spcPts val="3131"/>
              </a:lnSpc>
            </a:pPr>
            <a:r>
              <a:rPr lang="en-US" b="true" sz="2319" spc="139">
                <a:solidFill>
                  <a:srgbClr val="000000"/>
                </a:solidFill>
                <a:latin typeface="Public Sans Bold"/>
                <a:ea typeface="Public Sans Bold"/>
                <a:cs typeface="Public Sans Bold"/>
                <a:sym typeface="Public Sans Bold"/>
              </a:rPr>
              <a:t>Conclusion:</a:t>
            </a:r>
          </a:p>
          <a:p>
            <a:pPr algn="just" marL="530188" indent="-176729" lvl="2">
              <a:lnSpc>
                <a:spcPts val="3131"/>
              </a:lnSpc>
              <a:buFont typeface="Arial"/>
              <a:buChar char="⚬"/>
            </a:pPr>
            <a:r>
              <a:rPr lang="en-US" sz="2319" spc="139">
                <a:solidFill>
                  <a:srgbClr val="000000"/>
                </a:solidFill>
                <a:latin typeface="Public Sans"/>
                <a:ea typeface="Public Sans"/>
                <a:cs typeface="Public Sans"/>
                <a:sym typeface="Public Sans"/>
              </a:rPr>
              <a:t>The packet loss is expected, not an error in WireGuard</a:t>
            </a:r>
          </a:p>
          <a:p>
            <a:pPr algn="just" marL="530188" indent="-176729" lvl="2">
              <a:lnSpc>
                <a:spcPts val="3131"/>
              </a:lnSpc>
              <a:buFont typeface="Arial"/>
              <a:buChar char="⚬"/>
            </a:pPr>
            <a:r>
              <a:rPr lang="en-US" sz="2319" spc="139">
                <a:solidFill>
                  <a:srgbClr val="000000"/>
                </a:solidFill>
                <a:latin typeface="Public Sans"/>
                <a:ea typeface="Public Sans"/>
                <a:cs typeface="Public Sans"/>
                <a:sym typeface="Public Sans"/>
              </a:rPr>
              <a:t>To fix: enable forwarding/NAT on Node2 to allow overlay traffic to reach underlay IPs</a:t>
            </a:r>
          </a:p>
          <a:p>
            <a:pPr algn="just" marL="530188" indent="-176729" lvl="2">
              <a:lnSpc>
                <a:spcPts val="3131"/>
              </a:lnSpc>
            </a:pPr>
          </a:p>
        </p:txBody>
      </p:sp>
      <p:sp>
        <p:nvSpPr>
          <p:cNvPr name="Freeform 4" id="4"/>
          <p:cNvSpPr/>
          <p:nvPr/>
        </p:nvSpPr>
        <p:spPr>
          <a:xfrm flipH="false" flipV="false" rot="0">
            <a:off x="8480781" y="-7939543"/>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008222" y="6636772"/>
            <a:ext cx="8217790" cy="5034430"/>
          </a:xfrm>
          <a:custGeom>
            <a:avLst/>
            <a:gdLst/>
            <a:ahLst/>
            <a:cxnLst/>
            <a:rect r="r" b="b" t="t" l="l"/>
            <a:pathLst>
              <a:path h="5034430" w="8217790">
                <a:moveTo>
                  <a:pt x="0" y="0"/>
                </a:moveTo>
                <a:lnTo>
                  <a:pt x="8217790" y="0"/>
                </a:lnTo>
                <a:lnTo>
                  <a:pt x="8217790" y="5034430"/>
                </a:lnTo>
                <a:lnTo>
                  <a:pt x="0" y="50344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836267" y="8523831"/>
            <a:ext cx="11301259" cy="1158379"/>
            <a:chOff x="0" y="0"/>
            <a:chExt cx="15068345" cy="1544505"/>
          </a:xfrm>
        </p:grpSpPr>
        <p:sp>
          <p:nvSpPr>
            <p:cNvPr name="Freeform 7" id="7"/>
            <p:cNvSpPr/>
            <p:nvPr/>
          </p:nvSpPr>
          <p:spPr>
            <a:xfrm flipH="false" flipV="false" rot="0">
              <a:off x="0" y="0"/>
              <a:ext cx="15068296" cy="1544447"/>
            </a:xfrm>
            <a:custGeom>
              <a:avLst/>
              <a:gdLst/>
              <a:ahLst/>
              <a:cxnLst/>
              <a:rect r="r" b="b" t="t" l="l"/>
              <a:pathLst>
                <a:path h="1544447" w="15068296">
                  <a:moveTo>
                    <a:pt x="0" y="0"/>
                  </a:moveTo>
                  <a:lnTo>
                    <a:pt x="15068296" y="0"/>
                  </a:lnTo>
                  <a:lnTo>
                    <a:pt x="15068296" y="1544447"/>
                  </a:lnTo>
                  <a:lnTo>
                    <a:pt x="0" y="1544447"/>
                  </a:lnTo>
                  <a:lnTo>
                    <a:pt x="0" y="0"/>
                  </a:lnTo>
                  <a:close/>
                </a:path>
              </a:pathLst>
            </a:custGeom>
            <a:blipFill>
              <a:blip r:embed="rId7"/>
              <a:stretch>
                <a:fillRect l="0" t="-16" r="0" b="-20"/>
              </a:stretch>
            </a:blipFill>
          </p:spPr>
        </p:sp>
      </p:grpSp>
      <p:grpSp>
        <p:nvGrpSpPr>
          <p:cNvPr name="Group 8" id="8"/>
          <p:cNvGrpSpPr/>
          <p:nvPr/>
        </p:nvGrpSpPr>
        <p:grpSpPr>
          <a:xfrm rot="0">
            <a:off x="10952140" y="146263"/>
            <a:ext cx="6697214" cy="7987535"/>
            <a:chOff x="0" y="0"/>
            <a:chExt cx="8929619" cy="10650047"/>
          </a:xfrm>
        </p:grpSpPr>
        <p:sp>
          <p:nvSpPr>
            <p:cNvPr name="Freeform 9" id="9"/>
            <p:cNvSpPr/>
            <p:nvPr/>
          </p:nvSpPr>
          <p:spPr>
            <a:xfrm flipH="false" flipV="false" rot="0">
              <a:off x="0" y="0"/>
              <a:ext cx="8929624" cy="10650093"/>
            </a:xfrm>
            <a:custGeom>
              <a:avLst/>
              <a:gdLst/>
              <a:ahLst/>
              <a:cxnLst/>
              <a:rect r="r" b="b" t="t" l="l"/>
              <a:pathLst>
                <a:path h="10650093" w="8929624">
                  <a:moveTo>
                    <a:pt x="0" y="0"/>
                  </a:moveTo>
                  <a:lnTo>
                    <a:pt x="8929624" y="0"/>
                  </a:lnTo>
                  <a:lnTo>
                    <a:pt x="8929624" y="10650093"/>
                  </a:lnTo>
                  <a:lnTo>
                    <a:pt x="0" y="10650093"/>
                  </a:lnTo>
                  <a:lnTo>
                    <a:pt x="0" y="0"/>
                  </a:lnTo>
                  <a:close/>
                </a:path>
              </a:pathLst>
            </a:custGeom>
            <a:blipFill>
              <a:blip r:embed="rId8"/>
              <a:stretch>
                <a:fillRect l="0" t="-945" r="0" b="-944"/>
              </a:stretch>
            </a:blipFill>
          </p:spPr>
        </p:sp>
      </p:grpSp>
      <p:sp>
        <p:nvSpPr>
          <p:cNvPr name="TextBox 10" id="10"/>
          <p:cNvSpPr txBox="true"/>
          <p:nvPr/>
        </p:nvSpPr>
        <p:spPr>
          <a:xfrm rot="0">
            <a:off x="14880444" y="8571276"/>
            <a:ext cx="6473344" cy="2715913"/>
          </a:xfrm>
          <a:prstGeom prst="rect">
            <a:avLst/>
          </a:prstGeom>
        </p:spPr>
        <p:txBody>
          <a:bodyPr anchor="t" rtlCol="false" tIns="0" lIns="0" bIns="0" rIns="0">
            <a:spAutoFit/>
          </a:bodyPr>
          <a:lstStyle/>
          <a:p>
            <a:pPr algn="l">
              <a:lnSpc>
                <a:spcPts val="25012"/>
              </a:lnSpc>
            </a:pPr>
            <a:r>
              <a:rPr lang="en-US" b="true" sz="26608" spc="-1303">
                <a:solidFill>
                  <a:srgbClr val="EFEFEF"/>
                </a:solidFill>
                <a:latin typeface="TT Hoves Bold"/>
                <a:ea typeface="TT Hoves Bold"/>
                <a:cs typeface="TT Hoves Bold"/>
                <a:sym typeface="TT Hoves Bold"/>
              </a:rPr>
              <a:t>06</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779503"/>
            <a:ext cx="9602303" cy="803193"/>
          </a:xfrm>
          <a:prstGeom prst="rect">
            <a:avLst/>
          </a:prstGeom>
        </p:spPr>
        <p:txBody>
          <a:bodyPr anchor="t" rtlCol="false" tIns="0" lIns="0" bIns="0" rIns="0">
            <a:spAutoFit/>
          </a:bodyPr>
          <a:lstStyle/>
          <a:p>
            <a:pPr algn="l">
              <a:lnSpc>
                <a:spcPts val="7060"/>
              </a:lnSpc>
            </a:pPr>
            <a:r>
              <a:rPr lang="en-US" b="true" sz="7279" spc="-342">
                <a:solidFill>
                  <a:srgbClr val="000000"/>
                </a:solidFill>
                <a:latin typeface="TT Hoves Bold"/>
                <a:ea typeface="TT Hoves Bold"/>
                <a:cs typeface="TT Hoves Bold"/>
                <a:sym typeface="TT Hoves Bold"/>
              </a:rPr>
              <a:t> Fabric (Static Results)</a:t>
            </a:r>
          </a:p>
        </p:txBody>
      </p:sp>
      <p:sp>
        <p:nvSpPr>
          <p:cNvPr name="TextBox 3" id="3"/>
          <p:cNvSpPr txBox="true"/>
          <p:nvPr/>
        </p:nvSpPr>
        <p:spPr>
          <a:xfrm rot="0">
            <a:off x="1028700" y="1817494"/>
            <a:ext cx="8350239" cy="5698237"/>
          </a:xfrm>
          <a:prstGeom prst="rect">
            <a:avLst/>
          </a:prstGeom>
        </p:spPr>
        <p:txBody>
          <a:bodyPr anchor="t" rtlCol="false" tIns="0" lIns="0" bIns="0" rIns="0">
            <a:spAutoFit/>
          </a:bodyPr>
          <a:lstStyle/>
          <a:p>
            <a:pPr algn="just">
              <a:lnSpc>
                <a:spcPts val="2537"/>
              </a:lnSpc>
            </a:pPr>
            <a:r>
              <a:rPr lang="en-US" b="true" sz="1879" spc="111">
                <a:solidFill>
                  <a:srgbClr val="000000"/>
                </a:solidFill>
                <a:latin typeface="Public Sans Bold"/>
                <a:ea typeface="Public Sans Bold"/>
                <a:cs typeface="Public Sans Bold"/>
                <a:sym typeface="Public Sans Bold"/>
              </a:rPr>
              <a:t>What Worked</a:t>
            </a:r>
          </a:p>
          <a:p>
            <a:pPr algn="just" marL="429640" indent="-143213" lvl="2">
              <a:lnSpc>
                <a:spcPts val="2537"/>
              </a:lnSpc>
              <a:buFont typeface="Arial"/>
              <a:buChar char="⚬"/>
            </a:pPr>
            <a:r>
              <a:rPr lang="en-US" sz="1879" spc="111">
                <a:solidFill>
                  <a:srgbClr val="000000"/>
                </a:solidFill>
                <a:latin typeface="Public Sans"/>
                <a:ea typeface="Public Sans"/>
                <a:cs typeface="Public Sans"/>
                <a:sym typeface="Public Sans"/>
              </a:rPr>
              <a:t>WireGuard and sshuttle were stopped to avoid interference</a:t>
            </a:r>
          </a:p>
          <a:p>
            <a:pPr algn="just" marL="429640" indent="-143213" lvl="2">
              <a:lnSpc>
                <a:spcPts val="2537"/>
              </a:lnSpc>
              <a:buFont typeface="Arial"/>
              <a:buChar char="⚬"/>
            </a:pPr>
            <a:r>
              <a:rPr lang="en-US" sz="1879" spc="111">
                <a:solidFill>
                  <a:srgbClr val="000000"/>
                </a:solidFill>
                <a:latin typeface="Public Sans"/>
                <a:ea typeface="Public Sans"/>
                <a:cs typeface="Public Sans"/>
                <a:sym typeface="Public Sans"/>
              </a:rPr>
              <a:t>Node2 was configured with IP forwarding, acting as a router</a:t>
            </a:r>
          </a:p>
          <a:p>
            <a:pPr algn="just" marL="429640" indent="-143213" lvl="2">
              <a:lnSpc>
                <a:spcPts val="2537"/>
              </a:lnSpc>
              <a:buFont typeface="Arial"/>
              <a:buChar char="⚬"/>
            </a:pPr>
            <a:r>
              <a:rPr lang="en-US" sz="1879" spc="111">
                <a:solidFill>
                  <a:srgbClr val="000000"/>
                </a:solidFill>
                <a:latin typeface="Public Sans"/>
                <a:ea typeface="Public Sans"/>
                <a:cs typeface="Public Sans"/>
                <a:sym typeface="Public Sans"/>
              </a:rPr>
              <a:t>Static routes set via Node2’s interfaces:</a:t>
            </a:r>
          </a:p>
          <a:p>
            <a:pPr algn="just" marL="429640" indent="-143213" lvl="2">
              <a:lnSpc>
                <a:spcPts val="2537"/>
              </a:lnSpc>
              <a:buFont typeface="Arial"/>
              <a:buChar char="⚬"/>
            </a:pPr>
            <a:r>
              <a:rPr lang="en-US" sz="1879" spc="111">
                <a:solidFill>
                  <a:srgbClr val="000000"/>
                </a:solidFill>
                <a:latin typeface="Public Sans"/>
                <a:ea typeface="Public Sans"/>
                <a:cs typeface="Public Sans"/>
                <a:sym typeface="Public Sans"/>
              </a:rPr>
              <a:t>Node1 → Node3 via 192.168.1.2 (Node2)</a:t>
            </a:r>
          </a:p>
          <a:p>
            <a:pPr algn="just" marL="429640" indent="-143213" lvl="2">
              <a:lnSpc>
                <a:spcPts val="2537"/>
              </a:lnSpc>
              <a:buFont typeface="Arial"/>
              <a:buChar char="⚬"/>
            </a:pPr>
            <a:r>
              <a:rPr lang="en-US" sz="1879" spc="111">
                <a:solidFill>
                  <a:srgbClr val="000000"/>
                </a:solidFill>
                <a:latin typeface="Public Sans"/>
                <a:ea typeface="Public Sans"/>
                <a:cs typeface="Public Sans"/>
                <a:sym typeface="Public Sans"/>
              </a:rPr>
              <a:t>Node3 → Node1 via 192.168.2.1 (Node2)</a:t>
            </a:r>
          </a:p>
          <a:p>
            <a:pPr algn="just" marL="429640" indent="-143213" lvl="2">
              <a:lnSpc>
                <a:spcPts val="2537"/>
              </a:lnSpc>
              <a:buFont typeface="Arial"/>
              <a:buChar char="⚬"/>
            </a:pPr>
            <a:r>
              <a:rPr lang="en-US" sz="1879" spc="111">
                <a:solidFill>
                  <a:srgbClr val="000000"/>
                </a:solidFill>
                <a:latin typeface="Public Sans"/>
                <a:ea typeface="Public Sans"/>
                <a:cs typeface="Public Sans"/>
                <a:sym typeface="Public Sans"/>
              </a:rPr>
              <a:t>Ping confirmed connectivity between Node1 (192.168.1.1) ↔ Node3 (192.168.2.2)</a:t>
            </a:r>
          </a:p>
          <a:p>
            <a:pPr algn="just" marL="429640" indent="-143213" lvl="2">
              <a:lnSpc>
                <a:spcPts val="2537"/>
              </a:lnSpc>
              <a:buFont typeface="Arial"/>
              <a:buChar char="⚬"/>
            </a:pPr>
            <a:r>
              <a:rPr lang="en-US" sz="1879" spc="111">
                <a:solidFill>
                  <a:srgbClr val="000000"/>
                </a:solidFill>
                <a:latin typeface="Public Sans"/>
                <a:ea typeface="Public Sans"/>
                <a:cs typeface="Public Sans"/>
                <a:sym typeface="Public Sans"/>
              </a:rPr>
              <a:t>Routing tables showed correct static entries pointing to Node2</a:t>
            </a:r>
          </a:p>
          <a:p>
            <a:pPr algn="just" marL="429640" indent="-143213" lvl="2">
              <a:lnSpc>
                <a:spcPts val="2537"/>
              </a:lnSpc>
            </a:pPr>
            <a:r>
              <a:rPr lang="en-US" b="true" sz="1879" spc="111">
                <a:solidFill>
                  <a:srgbClr val="000000"/>
                </a:solidFill>
                <a:latin typeface="Public Sans Bold"/>
                <a:ea typeface="Public Sans Bold"/>
                <a:cs typeface="Public Sans Bold"/>
                <a:sym typeface="Public Sans Bold"/>
              </a:rPr>
              <a:t>What Failed / Limitation:</a:t>
            </a:r>
          </a:p>
          <a:p>
            <a:pPr algn="just" marL="429640" indent="-143213" lvl="2">
              <a:lnSpc>
                <a:spcPts val="2537"/>
              </a:lnSpc>
              <a:buFont typeface="Arial"/>
              <a:buChar char="⚬"/>
            </a:pPr>
            <a:r>
              <a:rPr lang="en-US" sz="1879" spc="111">
                <a:solidFill>
                  <a:srgbClr val="000000"/>
                </a:solidFill>
                <a:latin typeface="Public Sans"/>
                <a:ea typeface="Public Sans"/>
                <a:cs typeface="Public Sans"/>
                <a:sym typeface="Public Sans"/>
              </a:rPr>
              <a:t>No encryption — traffic flows in plain text</a:t>
            </a:r>
          </a:p>
          <a:p>
            <a:pPr algn="just" marL="429640" indent="-143213" lvl="2">
              <a:lnSpc>
                <a:spcPts val="2537"/>
              </a:lnSpc>
              <a:buFont typeface="Arial"/>
              <a:buChar char="⚬"/>
            </a:pPr>
            <a:r>
              <a:rPr lang="en-US" sz="1879" spc="111">
                <a:solidFill>
                  <a:srgbClr val="000000"/>
                </a:solidFill>
                <a:latin typeface="Public Sans"/>
                <a:ea typeface="Public Sans"/>
                <a:cs typeface="Public Sans"/>
                <a:sym typeface="Public Sans"/>
              </a:rPr>
              <a:t>Routes must be updated manually if the network changes</a:t>
            </a:r>
          </a:p>
          <a:p>
            <a:pPr algn="just" marL="429640" indent="-143213" lvl="2">
              <a:lnSpc>
                <a:spcPts val="2537"/>
              </a:lnSpc>
            </a:pPr>
            <a:r>
              <a:rPr lang="en-US" b="true" sz="1879" spc="111">
                <a:solidFill>
                  <a:srgbClr val="000000"/>
                </a:solidFill>
                <a:latin typeface="Public Sans Bold"/>
                <a:ea typeface="Public Sans Bold"/>
                <a:cs typeface="Public Sans Bold"/>
                <a:sym typeface="Public Sans Bold"/>
              </a:rPr>
              <a:t>Conclusion:</a:t>
            </a:r>
          </a:p>
          <a:p>
            <a:pPr algn="just" marL="429640" indent="-143213" lvl="2">
              <a:lnSpc>
                <a:spcPts val="2537"/>
              </a:lnSpc>
              <a:buFont typeface="Arial"/>
              <a:buChar char="⚬"/>
            </a:pPr>
            <a:r>
              <a:rPr lang="en-US" sz="1879" spc="111">
                <a:solidFill>
                  <a:srgbClr val="000000"/>
                </a:solidFill>
                <a:latin typeface="Public Sans"/>
                <a:ea typeface="Public Sans"/>
                <a:cs typeface="Public Sans"/>
                <a:sym typeface="Public Sans"/>
              </a:rPr>
              <a:t>Static routing delivered reliable end-to-end connectivity through Node2</a:t>
            </a:r>
          </a:p>
          <a:p>
            <a:pPr algn="just" marL="429640" indent="-143213" lvl="2">
              <a:lnSpc>
                <a:spcPts val="2537"/>
              </a:lnSpc>
              <a:buFont typeface="Arial"/>
              <a:buChar char="⚬"/>
            </a:pPr>
            <a:r>
              <a:rPr lang="en-US" sz="1879" spc="111">
                <a:solidFill>
                  <a:srgbClr val="000000"/>
                </a:solidFill>
                <a:latin typeface="Public Sans"/>
                <a:ea typeface="Public Sans"/>
                <a:cs typeface="Public Sans"/>
                <a:sym typeface="Public Sans"/>
              </a:rPr>
              <a:t>Useful for learning and controlled experiments, but less secure and flexible than WireGuard</a:t>
            </a:r>
          </a:p>
          <a:p>
            <a:pPr algn="just" marL="429640" indent="-143213" lvl="2">
              <a:lnSpc>
                <a:spcPts val="2537"/>
              </a:lnSpc>
            </a:pPr>
          </a:p>
        </p:txBody>
      </p:sp>
      <p:sp>
        <p:nvSpPr>
          <p:cNvPr name="Freeform 4" id="4"/>
          <p:cNvSpPr/>
          <p:nvPr/>
        </p:nvSpPr>
        <p:spPr>
          <a:xfrm flipH="false" flipV="false" rot="0">
            <a:off x="8480781" y="-7939543"/>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0631003" y="6124127"/>
            <a:ext cx="6423893" cy="3948153"/>
            <a:chOff x="0" y="0"/>
            <a:chExt cx="8565191" cy="5264204"/>
          </a:xfrm>
        </p:grpSpPr>
        <p:sp>
          <p:nvSpPr>
            <p:cNvPr name="Freeform 6" id="6"/>
            <p:cNvSpPr/>
            <p:nvPr/>
          </p:nvSpPr>
          <p:spPr>
            <a:xfrm flipH="false" flipV="false" rot="0">
              <a:off x="0" y="0"/>
              <a:ext cx="8565134" cy="5264150"/>
            </a:xfrm>
            <a:custGeom>
              <a:avLst/>
              <a:gdLst/>
              <a:ahLst/>
              <a:cxnLst/>
              <a:rect r="r" b="b" t="t" l="l"/>
              <a:pathLst>
                <a:path h="5264150" w="8565134">
                  <a:moveTo>
                    <a:pt x="0" y="0"/>
                  </a:moveTo>
                  <a:lnTo>
                    <a:pt x="8565134" y="0"/>
                  </a:lnTo>
                  <a:lnTo>
                    <a:pt x="8565134" y="5264150"/>
                  </a:lnTo>
                  <a:lnTo>
                    <a:pt x="0" y="5264150"/>
                  </a:lnTo>
                  <a:lnTo>
                    <a:pt x="0" y="0"/>
                  </a:lnTo>
                  <a:close/>
                </a:path>
              </a:pathLst>
            </a:custGeom>
            <a:blipFill>
              <a:blip r:embed="rId5"/>
              <a:stretch>
                <a:fillRect l="0" t="0" r="0" b="-1"/>
              </a:stretch>
            </a:blipFill>
          </p:spPr>
        </p:sp>
      </p:grpSp>
      <p:grpSp>
        <p:nvGrpSpPr>
          <p:cNvPr name="Group 7" id="7"/>
          <p:cNvGrpSpPr/>
          <p:nvPr/>
        </p:nvGrpSpPr>
        <p:grpSpPr>
          <a:xfrm rot="0">
            <a:off x="10631003" y="411993"/>
            <a:ext cx="6239815" cy="5712135"/>
            <a:chOff x="0" y="0"/>
            <a:chExt cx="8319753" cy="7616180"/>
          </a:xfrm>
        </p:grpSpPr>
        <p:sp>
          <p:nvSpPr>
            <p:cNvPr name="Freeform 8" id="8"/>
            <p:cNvSpPr/>
            <p:nvPr/>
          </p:nvSpPr>
          <p:spPr>
            <a:xfrm flipH="false" flipV="false" rot="0">
              <a:off x="0" y="0"/>
              <a:ext cx="8319770" cy="7616190"/>
            </a:xfrm>
            <a:custGeom>
              <a:avLst/>
              <a:gdLst/>
              <a:ahLst/>
              <a:cxnLst/>
              <a:rect r="r" b="b" t="t" l="l"/>
              <a:pathLst>
                <a:path h="7616190" w="8319770">
                  <a:moveTo>
                    <a:pt x="0" y="0"/>
                  </a:moveTo>
                  <a:lnTo>
                    <a:pt x="8319770" y="0"/>
                  </a:lnTo>
                  <a:lnTo>
                    <a:pt x="8319770" y="7616190"/>
                  </a:lnTo>
                  <a:lnTo>
                    <a:pt x="0" y="7616190"/>
                  </a:lnTo>
                  <a:lnTo>
                    <a:pt x="0" y="0"/>
                  </a:lnTo>
                  <a:close/>
                </a:path>
              </a:pathLst>
            </a:custGeom>
            <a:blipFill>
              <a:blip r:embed="rId6"/>
              <a:stretch>
                <a:fillRect l="0" t="0" r="0" b="0"/>
              </a:stretch>
            </a:blipFill>
          </p:spPr>
        </p:sp>
      </p:grpSp>
      <p:sp>
        <p:nvSpPr>
          <p:cNvPr name="TextBox 9" id="9"/>
          <p:cNvSpPr txBox="true"/>
          <p:nvPr/>
        </p:nvSpPr>
        <p:spPr>
          <a:xfrm rot="0">
            <a:off x="-1453218" y="8400408"/>
            <a:ext cx="6393149" cy="3315984"/>
          </a:xfrm>
          <a:prstGeom prst="rect">
            <a:avLst/>
          </a:prstGeom>
        </p:spPr>
        <p:txBody>
          <a:bodyPr anchor="t" rtlCol="false" tIns="0" lIns="0" bIns="0" rIns="0">
            <a:spAutoFit/>
          </a:bodyPr>
          <a:lstStyle/>
          <a:p>
            <a:pPr algn="ctr">
              <a:lnSpc>
                <a:spcPts val="30364"/>
              </a:lnSpc>
            </a:pPr>
            <a:r>
              <a:rPr lang="en-US" b="true" sz="32302" spc="-1582">
                <a:solidFill>
                  <a:srgbClr val="343434"/>
                </a:solidFill>
                <a:latin typeface="TT Hoves Bold"/>
                <a:ea typeface="TT Hoves Bold"/>
                <a:cs typeface="TT Hoves Bold"/>
                <a:sym typeface="TT Hoves Bold"/>
              </a:rPr>
              <a:t>07</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801093"/>
            <a:ext cx="8587857" cy="740964"/>
          </a:xfrm>
          <a:prstGeom prst="rect">
            <a:avLst/>
          </a:prstGeom>
        </p:spPr>
        <p:txBody>
          <a:bodyPr anchor="t" rtlCol="false" tIns="0" lIns="0" bIns="0" rIns="0">
            <a:spAutoFit/>
          </a:bodyPr>
          <a:lstStyle/>
          <a:p>
            <a:pPr algn="l">
              <a:lnSpc>
                <a:spcPts val="6576"/>
              </a:lnSpc>
            </a:pPr>
            <a:r>
              <a:rPr lang="en-US" b="true" sz="6779" spc="-318">
                <a:solidFill>
                  <a:srgbClr val="000000"/>
                </a:solidFill>
                <a:latin typeface="TT Hoves Bold"/>
                <a:ea typeface="TT Hoves Bold"/>
                <a:cs typeface="TT Hoves Bold"/>
                <a:sym typeface="TT Hoves Bold"/>
              </a:rPr>
              <a:t>NS3 (sshuttle Results)</a:t>
            </a:r>
          </a:p>
        </p:txBody>
      </p:sp>
      <p:sp>
        <p:nvSpPr>
          <p:cNvPr name="TextBox 3" id="3"/>
          <p:cNvSpPr txBox="true"/>
          <p:nvPr/>
        </p:nvSpPr>
        <p:spPr>
          <a:xfrm rot="0">
            <a:off x="9431821" y="1515180"/>
            <a:ext cx="8350239" cy="7743120"/>
          </a:xfrm>
          <a:prstGeom prst="rect">
            <a:avLst/>
          </a:prstGeom>
        </p:spPr>
        <p:txBody>
          <a:bodyPr anchor="t" rtlCol="false" tIns="0" lIns="0" bIns="0" rIns="0">
            <a:spAutoFit/>
          </a:bodyPr>
          <a:lstStyle/>
          <a:p>
            <a:pPr algn="just">
              <a:lnSpc>
                <a:spcPts val="2547"/>
              </a:lnSpc>
            </a:pPr>
            <a:r>
              <a:rPr lang="en-US" b="true" sz="1886" spc="112">
                <a:solidFill>
                  <a:srgbClr val="000000"/>
                </a:solidFill>
                <a:latin typeface="Public Sans Bold"/>
                <a:ea typeface="Public Sans Bold"/>
                <a:cs typeface="Public Sans Bold"/>
                <a:sym typeface="Public Sans Bold"/>
              </a:rPr>
              <a:t>What Worked</a:t>
            </a:r>
          </a:p>
          <a:p>
            <a:pPr algn="just" marL="431236" indent="-143745" lvl="2">
              <a:lnSpc>
                <a:spcPts val="2547"/>
              </a:lnSpc>
              <a:buFont typeface="Arial"/>
              <a:buChar char="⚬"/>
            </a:pPr>
            <a:r>
              <a:rPr lang="en-US" sz="1886" spc="112">
                <a:solidFill>
                  <a:srgbClr val="000000"/>
                </a:solidFill>
                <a:latin typeface="Public Sans"/>
                <a:ea typeface="Public Sans"/>
                <a:cs typeface="Public Sans"/>
                <a:sym typeface="Public Sans"/>
              </a:rPr>
              <a:t>Node2 successfully acted as a TCP proxy/relay, forwarding traffic between Node1 and Node3.</a:t>
            </a:r>
          </a:p>
          <a:p>
            <a:pPr algn="just" marL="431236" indent="-143745" lvl="2">
              <a:lnSpc>
                <a:spcPts val="2547"/>
              </a:lnSpc>
              <a:buFont typeface="Arial"/>
              <a:buChar char="⚬"/>
            </a:pPr>
            <a:r>
              <a:rPr lang="en-US" sz="1886" spc="112">
                <a:solidFill>
                  <a:srgbClr val="000000"/>
                </a:solidFill>
                <a:latin typeface="Public Sans"/>
                <a:ea typeface="Public Sans"/>
                <a:cs typeface="Public Sans"/>
                <a:sym typeface="Public Sans"/>
              </a:rPr>
              <a:t>The TCP client (Node1) established a connection with the sink (Node3) through Node2 without packet loss or routing errors.</a:t>
            </a:r>
          </a:p>
          <a:p>
            <a:pPr algn="just" marL="431236" indent="-143745" lvl="2">
              <a:lnSpc>
                <a:spcPts val="2547"/>
              </a:lnSpc>
              <a:buFont typeface="Arial"/>
              <a:buChar char="⚬"/>
            </a:pPr>
            <a:r>
              <a:rPr lang="en-US" sz="1886" spc="112">
                <a:solidFill>
                  <a:srgbClr val="000000"/>
                </a:solidFill>
                <a:latin typeface="Public Sans"/>
                <a:ea typeface="Public Sans"/>
                <a:cs typeface="Public Sans"/>
                <a:sym typeface="Public Sans"/>
              </a:rPr>
              <a:t>Flow Monitor results confirmed bidirectional data transfer with consistent throughput (~2.2 Mbps) and expected delay patterns.</a:t>
            </a:r>
          </a:p>
          <a:p>
            <a:pPr algn="just" marL="431236" indent="-143745" lvl="2">
              <a:lnSpc>
                <a:spcPts val="2547"/>
              </a:lnSpc>
              <a:buFont typeface="Arial"/>
              <a:buChar char="⚬"/>
            </a:pPr>
            <a:r>
              <a:rPr lang="en-US" sz="1886" spc="112">
                <a:solidFill>
                  <a:srgbClr val="000000"/>
                </a:solidFill>
                <a:latin typeface="Public Sans"/>
                <a:ea typeface="Public Sans"/>
                <a:cs typeface="Public Sans"/>
                <a:sym typeface="Public Sans"/>
              </a:rPr>
              <a:t>Simulation ran smoothly with correct IP forwarding and link configuration, verifying sshuttle-style tunneling logic.</a:t>
            </a:r>
          </a:p>
          <a:p>
            <a:pPr algn="just" marL="431236" indent="-143745" lvl="2">
              <a:lnSpc>
                <a:spcPts val="2547"/>
              </a:lnSpc>
            </a:pPr>
            <a:r>
              <a:rPr lang="en-US" b="true" sz="1886" spc="112">
                <a:solidFill>
                  <a:srgbClr val="000000"/>
                </a:solidFill>
                <a:latin typeface="Public Sans Bold"/>
                <a:ea typeface="Public Sans Bold"/>
                <a:cs typeface="Public Sans Bold"/>
                <a:sym typeface="Public Sans Bold"/>
              </a:rPr>
              <a:t>What Failed / Limitation:</a:t>
            </a:r>
          </a:p>
          <a:p>
            <a:pPr algn="just" marL="431236" indent="-143745" lvl="2">
              <a:lnSpc>
                <a:spcPts val="2547"/>
              </a:lnSpc>
              <a:buFont typeface="Arial"/>
              <a:buChar char="⚬"/>
            </a:pPr>
            <a:r>
              <a:rPr lang="en-US" sz="1886" spc="112">
                <a:solidFill>
                  <a:srgbClr val="000000"/>
                </a:solidFill>
                <a:latin typeface="Public Sans"/>
                <a:ea typeface="Public Sans"/>
                <a:cs typeface="Public Sans"/>
                <a:sym typeface="Public Sans"/>
              </a:rPr>
              <a:t>No real encryption or encapsulation acts as a TCP-level relay rather than a secure tunnel.</a:t>
            </a:r>
          </a:p>
          <a:p>
            <a:pPr algn="just" marL="431236" indent="-143745" lvl="2">
              <a:lnSpc>
                <a:spcPts val="2547"/>
              </a:lnSpc>
              <a:buFont typeface="Arial"/>
              <a:buChar char="⚬"/>
            </a:pPr>
            <a:r>
              <a:rPr lang="en-US" sz="1886" spc="112">
                <a:solidFill>
                  <a:srgbClr val="000000"/>
                </a:solidFill>
                <a:latin typeface="Public Sans"/>
                <a:ea typeface="Public Sans"/>
                <a:cs typeface="Public Sans"/>
                <a:sym typeface="Public Sans"/>
              </a:rPr>
              <a:t>Slightly higher end-to-end delay (~31 s total transmission) due to intermediate processing at Node2.</a:t>
            </a:r>
          </a:p>
          <a:p>
            <a:pPr algn="just" marL="431236" indent="-143745" lvl="2">
              <a:lnSpc>
                <a:spcPts val="2547"/>
              </a:lnSpc>
              <a:buFont typeface="Arial"/>
              <a:buChar char="⚬"/>
            </a:pPr>
            <a:r>
              <a:rPr lang="en-US" sz="1886" spc="112">
                <a:solidFill>
                  <a:srgbClr val="000000"/>
                </a:solidFill>
                <a:latin typeface="Public Sans"/>
                <a:ea typeface="Public Sans"/>
                <a:cs typeface="Public Sans"/>
                <a:sym typeface="Public Sans"/>
              </a:rPr>
              <a:t>Relies on a single forwarding node; failure at Node2 breaks connectivity.</a:t>
            </a:r>
          </a:p>
          <a:p>
            <a:pPr algn="just" marL="431236" indent="-143745" lvl="2">
              <a:lnSpc>
                <a:spcPts val="2547"/>
              </a:lnSpc>
            </a:pPr>
            <a:r>
              <a:rPr lang="en-US" b="true" sz="1886" spc="112">
                <a:solidFill>
                  <a:srgbClr val="000000"/>
                </a:solidFill>
                <a:latin typeface="Public Sans Bold"/>
                <a:ea typeface="Public Sans Bold"/>
                <a:cs typeface="Public Sans Bold"/>
                <a:sym typeface="Public Sans Bold"/>
              </a:rPr>
              <a:t>Conclusion:</a:t>
            </a:r>
          </a:p>
          <a:p>
            <a:pPr algn="just" marL="431236" indent="-143745" lvl="2">
              <a:lnSpc>
                <a:spcPts val="2547"/>
              </a:lnSpc>
              <a:buFont typeface="Arial"/>
              <a:buChar char="⚬"/>
            </a:pPr>
            <a:r>
              <a:rPr lang="en-US" sz="1886" spc="112">
                <a:solidFill>
                  <a:srgbClr val="000000"/>
                </a:solidFill>
                <a:latin typeface="Public Sans"/>
                <a:ea typeface="Public Sans"/>
                <a:cs typeface="Public Sans"/>
                <a:sym typeface="Public Sans"/>
              </a:rPr>
              <a:t>The sshuttle simulation successfully demonstrated application-level TCP forwarding across subnets using Node2 as a relay.</a:t>
            </a:r>
          </a:p>
          <a:p>
            <a:pPr algn="just" marL="431236" indent="-143745" lvl="2">
              <a:lnSpc>
                <a:spcPts val="2547"/>
              </a:lnSpc>
              <a:buFont typeface="Arial"/>
              <a:buChar char="⚬"/>
            </a:pPr>
            <a:r>
              <a:rPr lang="en-US" sz="1886" spc="112">
                <a:solidFill>
                  <a:srgbClr val="000000"/>
                </a:solidFill>
                <a:latin typeface="Public Sans"/>
                <a:ea typeface="Public Sans"/>
                <a:cs typeface="Public Sans"/>
                <a:sym typeface="Public Sans"/>
              </a:rPr>
              <a:t>It provides functional end-to-end communication similar to sshuttle in FABRIC, though with higher latency and no built-in security compared to the WireGuard overlay</a:t>
            </a:r>
          </a:p>
        </p:txBody>
      </p:sp>
      <p:sp>
        <p:nvSpPr>
          <p:cNvPr name="Freeform 4" id="4"/>
          <p:cNvSpPr/>
          <p:nvPr/>
        </p:nvSpPr>
        <p:spPr>
          <a:xfrm flipH="false" flipV="false" rot="0">
            <a:off x="8480781" y="-7939543"/>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594" y="2273638"/>
            <a:ext cx="9201212" cy="4185034"/>
            <a:chOff x="0" y="0"/>
            <a:chExt cx="12268283" cy="5580045"/>
          </a:xfrm>
        </p:grpSpPr>
        <p:sp>
          <p:nvSpPr>
            <p:cNvPr name="Freeform 6" id="6"/>
            <p:cNvSpPr/>
            <p:nvPr/>
          </p:nvSpPr>
          <p:spPr>
            <a:xfrm flipH="false" flipV="false" rot="0">
              <a:off x="0" y="0"/>
              <a:ext cx="12268327" cy="5579999"/>
            </a:xfrm>
            <a:custGeom>
              <a:avLst/>
              <a:gdLst/>
              <a:ahLst/>
              <a:cxnLst/>
              <a:rect r="r" b="b" t="t" l="l"/>
              <a:pathLst>
                <a:path h="5579999" w="12268327">
                  <a:moveTo>
                    <a:pt x="0" y="0"/>
                  </a:moveTo>
                  <a:lnTo>
                    <a:pt x="12268327" y="0"/>
                  </a:lnTo>
                  <a:lnTo>
                    <a:pt x="12268327" y="5579999"/>
                  </a:lnTo>
                  <a:lnTo>
                    <a:pt x="0" y="5579999"/>
                  </a:lnTo>
                  <a:lnTo>
                    <a:pt x="0" y="0"/>
                  </a:lnTo>
                  <a:close/>
                </a:path>
              </a:pathLst>
            </a:custGeom>
            <a:blipFill>
              <a:blip r:embed="rId5"/>
              <a:stretch>
                <a:fillRect l="0" t="-624" r="0" b="-624"/>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14761" y="801093"/>
            <a:ext cx="9420786" cy="740964"/>
          </a:xfrm>
          <a:prstGeom prst="rect">
            <a:avLst/>
          </a:prstGeom>
        </p:spPr>
        <p:txBody>
          <a:bodyPr anchor="t" rtlCol="false" tIns="0" lIns="0" bIns="0" rIns="0">
            <a:spAutoFit/>
          </a:bodyPr>
          <a:lstStyle/>
          <a:p>
            <a:pPr algn="l">
              <a:lnSpc>
                <a:spcPts val="6576"/>
              </a:lnSpc>
            </a:pPr>
            <a:r>
              <a:rPr lang="en-US" b="true" sz="6779" spc="-318">
                <a:solidFill>
                  <a:srgbClr val="000000"/>
                </a:solidFill>
                <a:latin typeface="TT Hoves Bold"/>
                <a:ea typeface="TT Hoves Bold"/>
                <a:cs typeface="TT Hoves Bold"/>
                <a:sym typeface="TT Hoves Bold"/>
              </a:rPr>
              <a:t>NS3 (Wireguard Results)</a:t>
            </a:r>
          </a:p>
        </p:txBody>
      </p:sp>
      <p:sp>
        <p:nvSpPr>
          <p:cNvPr name="TextBox 3" id="3"/>
          <p:cNvSpPr txBox="true"/>
          <p:nvPr/>
        </p:nvSpPr>
        <p:spPr>
          <a:xfrm rot="0">
            <a:off x="8688564" y="1732846"/>
            <a:ext cx="9331709" cy="7390796"/>
          </a:xfrm>
          <a:prstGeom prst="rect">
            <a:avLst/>
          </a:prstGeom>
        </p:spPr>
        <p:txBody>
          <a:bodyPr anchor="t" rtlCol="false" tIns="0" lIns="0" bIns="0" rIns="0">
            <a:spAutoFit/>
          </a:bodyPr>
          <a:lstStyle/>
          <a:p>
            <a:pPr algn="just">
              <a:lnSpc>
                <a:spcPts val="3072"/>
              </a:lnSpc>
            </a:pPr>
            <a:r>
              <a:rPr lang="en-US" b="true" sz="2276" spc="136">
                <a:solidFill>
                  <a:srgbClr val="000000"/>
                </a:solidFill>
                <a:latin typeface="Public Sans Bold"/>
                <a:ea typeface="Public Sans Bold"/>
                <a:cs typeface="Public Sans Bold"/>
                <a:sym typeface="Public Sans Bold"/>
              </a:rPr>
              <a:t>What Worked</a:t>
            </a:r>
          </a:p>
          <a:p>
            <a:pPr algn="just" marL="520372" indent="-173457" lvl="2">
              <a:lnSpc>
                <a:spcPts val="3072"/>
              </a:lnSpc>
              <a:buFont typeface="Arial"/>
              <a:buChar char="⚬"/>
            </a:pPr>
            <a:r>
              <a:rPr lang="en-US" sz="2276" spc="136">
                <a:solidFill>
                  <a:srgbClr val="000000"/>
                </a:solidFill>
                <a:latin typeface="Public Sans"/>
                <a:ea typeface="Public Sans"/>
                <a:cs typeface="Public Sans"/>
                <a:sym typeface="Public Sans"/>
              </a:rPr>
              <a:t>Successfully created a direct overlay link (10.0.0.0/24) between Node1 and Node3.</a:t>
            </a:r>
          </a:p>
          <a:p>
            <a:pPr algn="just" marL="520372" indent="-173457" lvl="2">
              <a:lnSpc>
                <a:spcPts val="3072"/>
              </a:lnSpc>
              <a:buFont typeface="Arial"/>
              <a:buChar char="⚬"/>
            </a:pPr>
            <a:r>
              <a:rPr lang="en-US" sz="2276" spc="136">
                <a:solidFill>
                  <a:srgbClr val="000000"/>
                </a:solidFill>
                <a:latin typeface="Public Sans"/>
                <a:ea typeface="Public Sans"/>
                <a:cs typeface="Public Sans"/>
                <a:sym typeface="Public Sans"/>
              </a:rPr>
              <a:t>Packets exchanged bidirectionally with zero loss and low delay (~0.007 s).</a:t>
            </a:r>
          </a:p>
          <a:p>
            <a:pPr algn="just" marL="520372" indent="-173457" lvl="2">
              <a:lnSpc>
                <a:spcPts val="3072"/>
              </a:lnSpc>
              <a:buFont typeface="Arial"/>
              <a:buChar char="⚬"/>
            </a:pPr>
            <a:r>
              <a:rPr lang="en-US" sz="2276" spc="136">
                <a:solidFill>
                  <a:srgbClr val="000000"/>
                </a:solidFill>
                <a:latin typeface="Public Sans"/>
                <a:ea typeface="Public Sans"/>
                <a:cs typeface="Public Sans"/>
                <a:sym typeface="Public Sans"/>
              </a:rPr>
              <a:t>Bypassed Node2 entirely, simulating an encrypted tunnel between endpoints.</a:t>
            </a:r>
          </a:p>
          <a:p>
            <a:pPr algn="just" marL="520372" indent="-173457" lvl="2">
              <a:lnSpc>
                <a:spcPts val="3072"/>
              </a:lnSpc>
              <a:buFont typeface="Arial"/>
              <a:buChar char="⚬"/>
            </a:pPr>
            <a:r>
              <a:rPr lang="en-US" sz="2276" spc="136">
                <a:solidFill>
                  <a:srgbClr val="000000"/>
                </a:solidFill>
                <a:latin typeface="Public Sans"/>
                <a:ea typeface="Public Sans"/>
                <a:cs typeface="Public Sans"/>
                <a:sym typeface="Public Sans"/>
              </a:rPr>
              <a:t>Flow Monitor confirmed stable throughput (~0.010 Mbps) and consistent latency.</a:t>
            </a:r>
          </a:p>
          <a:p>
            <a:pPr algn="just" marL="520372" indent="-173457" lvl="2">
              <a:lnSpc>
                <a:spcPts val="3072"/>
              </a:lnSpc>
            </a:pPr>
            <a:r>
              <a:rPr lang="en-US" b="true" sz="2276" spc="136">
                <a:solidFill>
                  <a:srgbClr val="000000"/>
                </a:solidFill>
                <a:latin typeface="Public Sans Bold"/>
                <a:ea typeface="Public Sans Bold"/>
                <a:cs typeface="Public Sans Bold"/>
                <a:sym typeface="Public Sans Bold"/>
              </a:rPr>
              <a:t>What Failed / Limitation:</a:t>
            </a:r>
          </a:p>
          <a:p>
            <a:pPr algn="just" marL="520372" indent="-173457" lvl="2">
              <a:lnSpc>
                <a:spcPts val="3072"/>
              </a:lnSpc>
              <a:buFont typeface="Arial"/>
              <a:buChar char="⚬"/>
            </a:pPr>
            <a:r>
              <a:rPr lang="en-US" sz="2276" spc="136">
                <a:solidFill>
                  <a:srgbClr val="000000"/>
                </a:solidFill>
                <a:latin typeface="Public Sans"/>
                <a:ea typeface="Public Sans"/>
                <a:cs typeface="Public Sans"/>
                <a:sym typeface="Public Sans"/>
              </a:rPr>
              <a:t>Encryption was only simulated no actual cryptographic overhead modeled.</a:t>
            </a:r>
          </a:p>
          <a:p>
            <a:pPr algn="just" marL="520372" indent="-173457" lvl="2">
              <a:lnSpc>
                <a:spcPts val="3072"/>
              </a:lnSpc>
              <a:buFont typeface="Arial"/>
              <a:buChar char="⚬"/>
            </a:pPr>
            <a:r>
              <a:rPr lang="en-US" sz="2276" spc="136">
                <a:solidFill>
                  <a:srgbClr val="000000"/>
                </a:solidFill>
                <a:latin typeface="Public Sans"/>
                <a:ea typeface="Public Sans"/>
                <a:cs typeface="Public Sans"/>
                <a:sym typeface="Public Sans"/>
              </a:rPr>
              <a:t>Overlay bypasses intermediate nodes, so routing adaptability isn’t tested.</a:t>
            </a:r>
          </a:p>
          <a:p>
            <a:pPr algn="just" marL="520372" indent="-173457" lvl="2">
              <a:lnSpc>
                <a:spcPts val="3072"/>
              </a:lnSpc>
            </a:pPr>
            <a:r>
              <a:rPr lang="en-US" b="true" sz="2276" spc="136">
                <a:solidFill>
                  <a:srgbClr val="000000"/>
                </a:solidFill>
                <a:latin typeface="Public Sans Bold"/>
                <a:ea typeface="Public Sans Bold"/>
                <a:cs typeface="Public Sans Bold"/>
                <a:sym typeface="Public Sans Bold"/>
              </a:rPr>
              <a:t>Conclusion:</a:t>
            </a:r>
          </a:p>
          <a:p>
            <a:pPr algn="just" marL="520372" indent="-173457" lvl="2">
              <a:lnSpc>
                <a:spcPts val="3072"/>
              </a:lnSpc>
              <a:buFont typeface="Arial"/>
              <a:buChar char="⚬"/>
            </a:pPr>
            <a:r>
              <a:rPr lang="en-US" sz="2276" spc="136">
                <a:solidFill>
                  <a:srgbClr val="000000"/>
                </a:solidFill>
                <a:latin typeface="Public Sans"/>
                <a:ea typeface="Public Sans"/>
                <a:cs typeface="Public Sans"/>
                <a:sym typeface="Public Sans"/>
              </a:rPr>
              <a:t>The WireGuard simulation achieved efficient, loss-free end-to-end delivery through a virtual tunnel.</a:t>
            </a:r>
          </a:p>
          <a:p>
            <a:pPr algn="just" marL="520372" indent="-173457" lvl="2">
              <a:lnSpc>
                <a:spcPts val="3072"/>
              </a:lnSpc>
              <a:buFont typeface="Arial"/>
              <a:buChar char="⚬"/>
            </a:pPr>
            <a:r>
              <a:rPr lang="en-US" sz="2276" spc="136">
                <a:solidFill>
                  <a:srgbClr val="000000"/>
                </a:solidFill>
                <a:latin typeface="Public Sans"/>
                <a:ea typeface="Public Sans"/>
                <a:cs typeface="Public Sans"/>
                <a:sym typeface="Public Sans"/>
              </a:rPr>
              <a:t> It represents a secure and low-latency overlay compared to static routing or sshuttle relay methods.</a:t>
            </a:r>
          </a:p>
        </p:txBody>
      </p:sp>
      <p:sp>
        <p:nvSpPr>
          <p:cNvPr name="Freeform 4" id="4"/>
          <p:cNvSpPr/>
          <p:nvPr/>
        </p:nvSpPr>
        <p:spPr>
          <a:xfrm flipH="false" flipV="false" rot="0">
            <a:off x="8480781" y="-7939543"/>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314761" y="1809046"/>
            <a:ext cx="8166021" cy="6338873"/>
            <a:chOff x="0" y="0"/>
            <a:chExt cx="10888028" cy="8451831"/>
          </a:xfrm>
        </p:grpSpPr>
        <p:sp>
          <p:nvSpPr>
            <p:cNvPr name="Freeform 6" id="6"/>
            <p:cNvSpPr/>
            <p:nvPr/>
          </p:nvSpPr>
          <p:spPr>
            <a:xfrm flipH="false" flipV="false" rot="0">
              <a:off x="0" y="0"/>
              <a:ext cx="10887964" cy="8451850"/>
            </a:xfrm>
            <a:custGeom>
              <a:avLst/>
              <a:gdLst/>
              <a:ahLst/>
              <a:cxnLst/>
              <a:rect r="r" b="b" t="t" l="l"/>
              <a:pathLst>
                <a:path h="8451850" w="10887964">
                  <a:moveTo>
                    <a:pt x="0" y="0"/>
                  </a:moveTo>
                  <a:lnTo>
                    <a:pt x="10887964" y="0"/>
                  </a:lnTo>
                  <a:lnTo>
                    <a:pt x="10887964" y="8451850"/>
                  </a:lnTo>
                  <a:lnTo>
                    <a:pt x="0" y="8451850"/>
                  </a:lnTo>
                  <a:lnTo>
                    <a:pt x="0" y="0"/>
                  </a:lnTo>
                  <a:close/>
                </a:path>
              </a:pathLst>
            </a:custGeom>
            <a:blipFill>
              <a:blip r:embed="rId5"/>
              <a:stretch>
                <a:fillRect l="0" t="-32" r="0" b="-32"/>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14761" y="801093"/>
            <a:ext cx="9420786" cy="740964"/>
          </a:xfrm>
          <a:prstGeom prst="rect">
            <a:avLst/>
          </a:prstGeom>
        </p:spPr>
        <p:txBody>
          <a:bodyPr anchor="t" rtlCol="false" tIns="0" lIns="0" bIns="0" rIns="0">
            <a:spAutoFit/>
          </a:bodyPr>
          <a:lstStyle/>
          <a:p>
            <a:pPr algn="l">
              <a:lnSpc>
                <a:spcPts val="6576"/>
              </a:lnSpc>
            </a:pPr>
            <a:r>
              <a:rPr lang="en-US" b="true" sz="6779" spc="-318">
                <a:solidFill>
                  <a:srgbClr val="000000"/>
                </a:solidFill>
                <a:latin typeface="TT Hoves Bold"/>
                <a:ea typeface="TT Hoves Bold"/>
                <a:cs typeface="TT Hoves Bold"/>
                <a:sym typeface="TT Hoves Bold"/>
              </a:rPr>
              <a:t>NS3 (static Results)</a:t>
            </a:r>
          </a:p>
        </p:txBody>
      </p:sp>
      <p:sp>
        <p:nvSpPr>
          <p:cNvPr name="TextBox 3" id="3"/>
          <p:cNvSpPr txBox="true"/>
          <p:nvPr/>
        </p:nvSpPr>
        <p:spPr>
          <a:xfrm rot="0">
            <a:off x="9144000" y="1713796"/>
            <a:ext cx="8876273" cy="7854758"/>
          </a:xfrm>
          <a:prstGeom prst="rect">
            <a:avLst/>
          </a:prstGeom>
        </p:spPr>
        <p:txBody>
          <a:bodyPr anchor="t" rtlCol="false" tIns="0" lIns="0" bIns="0" rIns="0">
            <a:spAutoFit/>
          </a:bodyPr>
          <a:lstStyle/>
          <a:p>
            <a:pPr algn="just">
              <a:lnSpc>
                <a:spcPts val="2937"/>
              </a:lnSpc>
            </a:pPr>
            <a:r>
              <a:rPr lang="en-US" b="true" sz="2176" spc="129">
                <a:solidFill>
                  <a:srgbClr val="000000"/>
                </a:solidFill>
                <a:latin typeface="Public Sans Bold"/>
                <a:ea typeface="Public Sans Bold"/>
                <a:cs typeface="Public Sans Bold"/>
                <a:sym typeface="Public Sans Bold"/>
              </a:rPr>
              <a:t>What Worked</a:t>
            </a:r>
          </a:p>
          <a:p>
            <a:pPr algn="just" marL="497513" indent="-165838" lvl="2">
              <a:lnSpc>
                <a:spcPts val="2937"/>
              </a:lnSpc>
              <a:buFont typeface="Arial"/>
              <a:buChar char="⚬"/>
            </a:pPr>
            <a:r>
              <a:rPr lang="en-US" sz="2176" spc="129">
                <a:solidFill>
                  <a:srgbClr val="000000"/>
                </a:solidFill>
                <a:latin typeface="Public Sans"/>
                <a:ea typeface="Public Sans"/>
                <a:cs typeface="Public Sans"/>
                <a:sym typeface="Public Sans"/>
              </a:rPr>
              <a:t>Node2 correctly functioned as a router between two subnets (192.168.1.0/24 and 192.168.2.0/24).</a:t>
            </a:r>
          </a:p>
          <a:p>
            <a:pPr algn="just" marL="497513" indent="-165838" lvl="2">
              <a:lnSpc>
                <a:spcPts val="2937"/>
              </a:lnSpc>
              <a:buFont typeface="Arial"/>
              <a:buChar char="⚬"/>
            </a:pPr>
            <a:r>
              <a:rPr lang="en-US" sz="2176" spc="129">
                <a:solidFill>
                  <a:srgbClr val="000000"/>
                </a:solidFill>
                <a:latin typeface="Public Sans"/>
                <a:ea typeface="Public Sans"/>
                <a:cs typeface="Public Sans"/>
                <a:sym typeface="Public Sans"/>
              </a:rPr>
              <a:t>Successful bidirectional packet exchange between Node1 and Node3 via Node2.</a:t>
            </a:r>
          </a:p>
          <a:p>
            <a:pPr algn="just" marL="497513" indent="-165838" lvl="2">
              <a:lnSpc>
                <a:spcPts val="2937"/>
              </a:lnSpc>
              <a:buFont typeface="Arial"/>
              <a:buChar char="⚬"/>
            </a:pPr>
            <a:r>
              <a:rPr lang="en-US" sz="2176" spc="129">
                <a:solidFill>
                  <a:srgbClr val="000000"/>
                </a:solidFill>
                <a:latin typeface="Public Sans"/>
                <a:ea typeface="Public Sans"/>
                <a:cs typeface="Public Sans"/>
                <a:sym typeface="Public Sans"/>
              </a:rPr>
              <a:t>Flow Monitor results showed zero packet loss, stable throughput (~0.010 Mbps), and minimal delay (~0.028 s).</a:t>
            </a:r>
          </a:p>
          <a:p>
            <a:pPr algn="just" marL="497513" indent="-165838" lvl="2">
              <a:lnSpc>
                <a:spcPts val="2937"/>
              </a:lnSpc>
              <a:buFont typeface="Arial"/>
              <a:buChar char="⚬"/>
            </a:pPr>
            <a:r>
              <a:rPr lang="en-US" sz="2176" spc="129">
                <a:solidFill>
                  <a:srgbClr val="000000"/>
                </a:solidFill>
                <a:latin typeface="Public Sans"/>
                <a:ea typeface="Public Sans"/>
                <a:cs typeface="Public Sans"/>
                <a:sym typeface="Public Sans"/>
              </a:rPr>
              <a:t>Routing tables correctly reflected static paths through Node2.</a:t>
            </a:r>
          </a:p>
          <a:p>
            <a:pPr algn="just" marL="497513" indent="-165838" lvl="2">
              <a:lnSpc>
                <a:spcPts val="2937"/>
              </a:lnSpc>
            </a:pPr>
            <a:r>
              <a:rPr lang="en-US" b="true" sz="2176" spc="129">
                <a:solidFill>
                  <a:srgbClr val="000000"/>
                </a:solidFill>
                <a:latin typeface="Public Sans Bold"/>
                <a:ea typeface="Public Sans Bold"/>
                <a:cs typeface="Public Sans Bold"/>
                <a:sym typeface="Public Sans Bold"/>
              </a:rPr>
              <a:t>What Failed / Limitation:</a:t>
            </a:r>
          </a:p>
          <a:p>
            <a:pPr algn="just" marL="497513" indent="-165838" lvl="2">
              <a:lnSpc>
                <a:spcPts val="2937"/>
              </a:lnSpc>
              <a:buFont typeface="Arial"/>
              <a:buChar char="⚬"/>
            </a:pPr>
            <a:r>
              <a:rPr lang="en-US" sz="2176" spc="129">
                <a:solidFill>
                  <a:srgbClr val="000000"/>
                </a:solidFill>
                <a:latin typeface="Public Sans"/>
                <a:ea typeface="Public Sans"/>
                <a:cs typeface="Public Sans"/>
                <a:sym typeface="Public Sans"/>
              </a:rPr>
              <a:t>No encryption or adaptive routing static routes must be configured manually.</a:t>
            </a:r>
          </a:p>
          <a:p>
            <a:pPr algn="just" marL="497513" indent="-165838" lvl="2">
              <a:lnSpc>
                <a:spcPts val="2937"/>
              </a:lnSpc>
              <a:buFont typeface="Arial"/>
              <a:buChar char="⚬"/>
            </a:pPr>
            <a:r>
              <a:rPr lang="en-US" sz="2176" spc="129">
                <a:solidFill>
                  <a:srgbClr val="000000"/>
                </a:solidFill>
                <a:latin typeface="Public Sans"/>
                <a:ea typeface="Public Sans"/>
                <a:cs typeface="Public Sans"/>
                <a:sym typeface="Public Sans"/>
              </a:rPr>
              <a:t>Not fault-tolerant; topology or route changes require manual updates.</a:t>
            </a:r>
          </a:p>
          <a:p>
            <a:pPr algn="just" marL="497513" indent="-165838" lvl="2">
              <a:lnSpc>
                <a:spcPts val="2937"/>
              </a:lnSpc>
            </a:pPr>
            <a:r>
              <a:rPr lang="en-US" b="true" sz="2176" spc="129">
                <a:solidFill>
                  <a:srgbClr val="000000"/>
                </a:solidFill>
                <a:latin typeface="Public Sans Bold"/>
                <a:ea typeface="Public Sans Bold"/>
                <a:cs typeface="Public Sans Bold"/>
                <a:sym typeface="Public Sans Bold"/>
              </a:rPr>
              <a:t>Conclusion:</a:t>
            </a:r>
          </a:p>
          <a:p>
            <a:pPr algn="just" marL="497513" indent="-165838" lvl="2">
              <a:lnSpc>
                <a:spcPts val="2937"/>
              </a:lnSpc>
              <a:buFont typeface="Arial"/>
              <a:buChar char="⚬"/>
            </a:pPr>
            <a:r>
              <a:rPr lang="en-US" sz="2176" spc="129">
                <a:solidFill>
                  <a:srgbClr val="000000"/>
                </a:solidFill>
                <a:latin typeface="Public Sans"/>
                <a:ea typeface="Public Sans"/>
                <a:cs typeface="Public Sans"/>
                <a:sym typeface="Public Sans"/>
              </a:rPr>
              <a:t>The static routing simulation demonstrated reliable and low-latency connectivity through Node2 using manual routes.</a:t>
            </a:r>
          </a:p>
          <a:p>
            <a:pPr algn="just" marL="497513" indent="-165838" lvl="2">
              <a:lnSpc>
                <a:spcPts val="2937"/>
              </a:lnSpc>
              <a:buFont typeface="Arial"/>
              <a:buChar char="⚬"/>
            </a:pPr>
            <a:r>
              <a:rPr lang="en-US" sz="2176" spc="129">
                <a:solidFill>
                  <a:srgbClr val="000000"/>
                </a:solidFill>
                <a:latin typeface="Public Sans"/>
                <a:ea typeface="Public Sans"/>
                <a:cs typeface="Public Sans"/>
                <a:sym typeface="Public Sans"/>
              </a:rPr>
              <a:t>It serves as a baseline configuration for comparison with the WireGuard and sshuttle modes in terms of security and flexibility.</a:t>
            </a:r>
          </a:p>
        </p:txBody>
      </p:sp>
      <p:sp>
        <p:nvSpPr>
          <p:cNvPr name="Freeform 4" id="4"/>
          <p:cNvSpPr/>
          <p:nvPr/>
        </p:nvSpPr>
        <p:spPr>
          <a:xfrm flipH="false" flipV="false" rot="0">
            <a:off x="8480781" y="-7939543"/>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314761" y="2109366"/>
            <a:ext cx="8637866" cy="6467602"/>
            <a:chOff x="0" y="0"/>
            <a:chExt cx="11517155" cy="8623469"/>
          </a:xfrm>
        </p:grpSpPr>
        <p:sp>
          <p:nvSpPr>
            <p:cNvPr name="Freeform 6" id="6"/>
            <p:cNvSpPr/>
            <p:nvPr/>
          </p:nvSpPr>
          <p:spPr>
            <a:xfrm flipH="false" flipV="false" rot="0">
              <a:off x="0" y="0"/>
              <a:ext cx="11517122" cy="8623427"/>
            </a:xfrm>
            <a:custGeom>
              <a:avLst/>
              <a:gdLst/>
              <a:ahLst/>
              <a:cxnLst/>
              <a:rect r="r" b="b" t="t" l="l"/>
              <a:pathLst>
                <a:path h="8623427" w="11517122">
                  <a:moveTo>
                    <a:pt x="0" y="0"/>
                  </a:moveTo>
                  <a:lnTo>
                    <a:pt x="11517122" y="0"/>
                  </a:lnTo>
                  <a:lnTo>
                    <a:pt x="11517122" y="8623427"/>
                  </a:lnTo>
                  <a:lnTo>
                    <a:pt x="0" y="8623427"/>
                  </a:lnTo>
                  <a:lnTo>
                    <a:pt x="0" y="0"/>
                  </a:lnTo>
                  <a:close/>
                </a:path>
              </a:pathLst>
            </a:custGeom>
            <a:blipFill>
              <a:blip r:embed="rId5"/>
              <a:stretch>
                <a:fillRect l="-2" t="0" r="-2" b="0"/>
              </a:stretch>
            </a:blipFill>
          </p:spPr>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8480781" y="-7939543"/>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433751" y="1734204"/>
            <a:ext cx="6283138" cy="6283138"/>
            <a:chOff x="0" y="0"/>
            <a:chExt cx="8377517" cy="8377517"/>
          </a:xfrm>
        </p:grpSpPr>
        <p:sp>
          <p:nvSpPr>
            <p:cNvPr name="Freeform 4" id="4"/>
            <p:cNvSpPr/>
            <p:nvPr/>
          </p:nvSpPr>
          <p:spPr>
            <a:xfrm flipH="false" flipV="false" rot="0">
              <a:off x="0" y="0"/>
              <a:ext cx="8377555" cy="8377555"/>
            </a:xfrm>
            <a:custGeom>
              <a:avLst/>
              <a:gdLst/>
              <a:ahLst/>
              <a:cxnLst/>
              <a:rect r="r" b="b" t="t" l="l"/>
              <a:pathLst>
                <a:path h="8377555" w="8377555">
                  <a:moveTo>
                    <a:pt x="0" y="0"/>
                  </a:moveTo>
                  <a:lnTo>
                    <a:pt x="8377555" y="0"/>
                  </a:lnTo>
                  <a:lnTo>
                    <a:pt x="8377555" y="8377555"/>
                  </a:lnTo>
                  <a:lnTo>
                    <a:pt x="0" y="8377555"/>
                  </a:lnTo>
                  <a:lnTo>
                    <a:pt x="0" y="0"/>
                  </a:lnTo>
                  <a:close/>
                </a:path>
              </a:pathLst>
            </a:custGeom>
            <a:blipFill>
              <a:blip r:embed="rId5"/>
              <a:stretch>
                <a:fillRect l="0" t="0" r="0" b="0"/>
              </a:stretch>
            </a:blipFill>
          </p:spPr>
        </p:sp>
      </p:grpSp>
      <p:grpSp>
        <p:nvGrpSpPr>
          <p:cNvPr name="Group 5" id="5"/>
          <p:cNvGrpSpPr/>
          <p:nvPr/>
        </p:nvGrpSpPr>
        <p:grpSpPr>
          <a:xfrm rot="0">
            <a:off x="6945947" y="6493091"/>
            <a:ext cx="10806598" cy="1972204"/>
            <a:chOff x="0" y="0"/>
            <a:chExt cx="14408797" cy="2629605"/>
          </a:xfrm>
        </p:grpSpPr>
        <p:sp>
          <p:nvSpPr>
            <p:cNvPr name="Freeform 6" id="6"/>
            <p:cNvSpPr/>
            <p:nvPr/>
          </p:nvSpPr>
          <p:spPr>
            <a:xfrm flipH="false" flipV="false" rot="0">
              <a:off x="0" y="0"/>
              <a:ext cx="14408786" cy="2629662"/>
            </a:xfrm>
            <a:custGeom>
              <a:avLst/>
              <a:gdLst/>
              <a:ahLst/>
              <a:cxnLst/>
              <a:rect r="r" b="b" t="t" l="l"/>
              <a:pathLst>
                <a:path h="2629662" w="14408786">
                  <a:moveTo>
                    <a:pt x="0" y="0"/>
                  </a:moveTo>
                  <a:lnTo>
                    <a:pt x="14408786" y="0"/>
                  </a:lnTo>
                  <a:lnTo>
                    <a:pt x="14408786" y="2629662"/>
                  </a:lnTo>
                  <a:lnTo>
                    <a:pt x="0" y="2629662"/>
                  </a:lnTo>
                  <a:lnTo>
                    <a:pt x="0" y="0"/>
                  </a:lnTo>
                  <a:close/>
                </a:path>
              </a:pathLst>
            </a:custGeom>
            <a:blipFill>
              <a:blip r:embed="rId6"/>
              <a:stretch>
                <a:fillRect l="-125" t="0" r="-125" b="2"/>
              </a:stretch>
            </a:blipFill>
          </p:spPr>
        </p:sp>
      </p:grpSp>
      <p:grpSp>
        <p:nvGrpSpPr>
          <p:cNvPr name="Group 7" id="7"/>
          <p:cNvGrpSpPr/>
          <p:nvPr/>
        </p:nvGrpSpPr>
        <p:grpSpPr>
          <a:xfrm rot="0">
            <a:off x="7037218" y="1734204"/>
            <a:ext cx="10715328" cy="3736971"/>
            <a:chOff x="0" y="0"/>
            <a:chExt cx="14287104" cy="4982628"/>
          </a:xfrm>
        </p:grpSpPr>
        <p:sp>
          <p:nvSpPr>
            <p:cNvPr name="Freeform 8" id="8"/>
            <p:cNvSpPr/>
            <p:nvPr/>
          </p:nvSpPr>
          <p:spPr>
            <a:xfrm flipH="false" flipV="false" rot="0">
              <a:off x="0" y="0"/>
              <a:ext cx="14287119" cy="4982591"/>
            </a:xfrm>
            <a:custGeom>
              <a:avLst/>
              <a:gdLst/>
              <a:ahLst/>
              <a:cxnLst/>
              <a:rect r="r" b="b" t="t" l="l"/>
              <a:pathLst>
                <a:path h="4982591" w="14287119">
                  <a:moveTo>
                    <a:pt x="0" y="0"/>
                  </a:moveTo>
                  <a:lnTo>
                    <a:pt x="14287119" y="0"/>
                  </a:lnTo>
                  <a:lnTo>
                    <a:pt x="14287119" y="4982591"/>
                  </a:lnTo>
                  <a:lnTo>
                    <a:pt x="0" y="4982591"/>
                  </a:lnTo>
                  <a:lnTo>
                    <a:pt x="0" y="0"/>
                  </a:lnTo>
                  <a:close/>
                </a:path>
              </a:pathLst>
            </a:custGeom>
            <a:blipFill>
              <a:blip r:embed="rId7"/>
              <a:stretch>
                <a:fillRect l="0" t="-62" r="0" b="-63"/>
              </a:stretch>
            </a:blipFill>
          </p:spPr>
        </p:sp>
      </p:grpSp>
      <p:sp>
        <p:nvSpPr>
          <p:cNvPr name="TextBox 9" id="9"/>
          <p:cNvSpPr txBox="true"/>
          <p:nvPr/>
        </p:nvSpPr>
        <p:spPr>
          <a:xfrm rot="0">
            <a:off x="433751" y="592861"/>
            <a:ext cx="13853159" cy="740964"/>
          </a:xfrm>
          <a:prstGeom prst="rect">
            <a:avLst/>
          </a:prstGeom>
        </p:spPr>
        <p:txBody>
          <a:bodyPr anchor="t" rtlCol="false" tIns="0" lIns="0" bIns="0" rIns="0">
            <a:spAutoFit/>
          </a:bodyPr>
          <a:lstStyle/>
          <a:p>
            <a:pPr algn="l">
              <a:lnSpc>
                <a:spcPts val="6576"/>
              </a:lnSpc>
            </a:pPr>
            <a:r>
              <a:rPr lang="en-US" b="true" sz="6779" spc="-318">
                <a:solidFill>
                  <a:srgbClr val="000000"/>
                </a:solidFill>
                <a:latin typeface="TT Hoves Bold"/>
                <a:ea typeface="TT Hoves Bold"/>
                <a:cs typeface="TT Hoves Bold"/>
                <a:sym typeface="TT Hoves Bold"/>
              </a:rPr>
              <a:t>Overall Performance review for NS3</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14761" y="801093"/>
            <a:ext cx="10491695" cy="740964"/>
          </a:xfrm>
          <a:prstGeom prst="rect">
            <a:avLst/>
          </a:prstGeom>
        </p:spPr>
        <p:txBody>
          <a:bodyPr anchor="t" rtlCol="false" tIns="0" lIns="0" bIns="0" rIns="0">
            <a:spAutoFit/>
          </a:bodyPr>
          <a:lstStyle/>
          <a:p>
            <a:pPr algn="l">
              <a:lnSpc>
                <a:spcPts val="6576"/>
              </a:lnSpc>
            </a:pPr>
            <a:r>
              <a:rPr lang="en-US" b="true" sz="6779" spc="-318">
                <a:solidFill>
                  <a:srgbClr val="000000"/>
                </a:solidFill>
                <a:latin typeface="TT Hoves Bold"/>
                <a:ea typeface="TT Hoves Bold"/>
                <a:cs typeface="TT Hoves Bold"/>
                <a:sym typeface="TT Hoves Bold"/>
              </a:rPr>
              <a:t>Omnet++ (sshuttle Results)</a:t>
            </a:r>
          </a:p>
        </p:txBody>
      </p:sp>
      <p:sp>
        <p:nvSpPr>
          <p:cNvPr name="TextBox 3" id="3"/>
          <p:cNvSpPr txBox="true"/>
          <p:nvPr/>
        </p:nvSpPr>
        <p:spPr>
          <a:xfrm rot="0">
            <a:off x="9497567" y="2292882"/>
            <a:ext cx="8545079" cy="7024723"/>
          </a:xfrm>
          <a:prstGeom prst="rect">
            <a:avLst/>
          </a:prstGeom>
        </p:spPr>
        <p:txBody>
          <a:bodyPr anchor="t" rtlCol="false" tIns="0" lIns="0" bIns="0" rIns="0">
            <a:spAutoFit/>
          </a:bodyPr>
          <a:lstStyle/>
          <a:p>
            <a:pPr algn="just">
              <a:lnSpc>
                <a:spcPts val="3933"/>
              </a:lnSpc>
            </a:pPr>
            <a:r>
              <a:rPr lang="en-US" sz="2914" spc="174">
                <a:solidFill>
                  <a:srgbClr val="000000"/>
                </a:solidFill>
                <a:latin typeface="Public Sans"/>
                <a:ea typeface="Public Sans"/>
                <a:cs typeface="Public Sans"/>
                <a:sym typeface="Public Sans"/>
              </a:rPr>
              <a:t>This sequence chart shows the TCP connection establishment between Node1 (client) and Node3 (server) through Node2 (relay).</a:t>
            </a:r>
          </a:p>
          <a:p>
            <a:pPr algn="just">
              <a:lnSpc>
                <a:spcPts val="3933"/>
              </a:lnSpc>
            </a:pPr>
            <a:r>
              <a:rPr lang="en-US" sz="2914" spc="174">
                <a:solidFill>
                  <a:srgbClr val="000000"/>
                </a:solidFill>
                <a:latin typeface="Public Sans"/>
                <a:ea typeface="Public Sans"/>
                <a:cs typeface="Public Sans"/>
                <a:sym typeface="Public Sans"/>
              </a:rPr>
              <a:t> The ARP exchanges resolve MAC addresses on both subnets, followed by the TCP 3-way handshake (SYN → SYN+ACK → ACK), confirming end-to-end connectivity.</a:t>
            </a:r>
          </a:p>
          <a:p>
            <a:pPr algn="just">
              <a:lnSpc>
                <a:spcPts val="3933"/>
              </a:lnSpc>
            </a:pPr>
            <a:r>
              <a:rPr lang="en-US" sz="2914" spc="174">
                <a:solidFill>
                  <a:srgbClr val="000000"/>
                </a:solidFill>
                <a:latin typeface="Public Sans"/>
                <a:ea typeface="Public Sans"/>
                <a:cs typeface="Public Sans"/>
                <a:sym typeface="Public Sans"/>
              </a:rPr>
              <a:t> Packets move through Node2’s IP and MAC layers, demonstrating that it correctly forwards traffic between the two networks.</a:t>
            </a:r>
          </a:p>
          <a:p>
            <a:pPr algn="just" marL="666145" indent="-222048" lvl="2">
              <a:lnSpc>
                <a:spcPts val="3933"/>
              </a:lnSpc>
              <a:buFont typeface="Arial"/>
              <a:buChar char="⚬"/>
            </a:pPr>
            <a:r>
              <a:rPr lang="en-US" sz="2914" spc="174">
                <a:solidFill>
                  <a:srgbClr val="000000"/>
                </a:solidFill>
                <a:latin typeface="Public Sans"/>
                <a:ea typeface="Public Sans"/>
                <a:cs typeface="Public Sans"/>
                <a:sym typeface="Public Sans"/>
              </a:rPr>
              <a:t>The absence of retransmissions or resets indicates a stable and loss-free relay connection.</a:t>
            </a:r>
          </a:p>
        </p:txBody>
      </p:sp>
      <p:sp>
        <p:nvSpPr>
          <p:cNvPr name="Freeform 4" id="4"/>
          <p:cNvSpPr/>
          <p:nvPr/>
        </p:nvSpPr>
        <p:spPr>
          <a:xfrm flipH="false" flipV="false" rot="0">
            <a:off x="8837751" y="-7945629"/>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314761" y="2153963"/>
            <a:ext cx="8829239" cy="6666076"/>
            <a:chOff x="0" y="0"/>
            <a:chExt cx="11772319" cy="8888101"/>
          </a:xfrm>
        </p:grpSpPr>
        <p:sp>
          <p:nvSpPr>
            <p:cNvPr name="Freeform 6" id="6"/>
            <p:cNvSpPr/>
            <p:nvPr/>
          </p:nvSpPr>
          <p:spPr>
            <a:xfrm flipH="false" flipV="false" rot="0">
              <a:off x="0" y="0"/>
              <a:ext cx="11772265" cy="8888095"/>
            </a:xfrm>
            <a:custGeom>
              <a:avLst/>
              <a:gdLst/>
              <a:ahLst/>
              <a:cxnLst/>
              <a:rect r="r" b="b" t="t" l="l"/>
              <a:pathLst>
                <a:path h="8888095" w="11772265">
                  <a:moveTo>
                    <a:pt x="0" y="0"/>
                  </a:moveTo>
                  <a:lnTo>
                    <a:pt x="11772265" y="0"/>
                  </a:lnTo>
                  <a:lnTo>
                    <a:pt x="11772265" y="8888095"/>
                  </a:lnTo>
                  <a:lnTo>
                    <a:pt x="0" y="8888095"/>
                  </a:lnTo>
                  <a:lnTo>
                    <a:pt x="0" y="0"/>
                  </a:lnTo>
                  <a:close/>
                </a:path>
              </a:pathLst>
            </a:custGeom>
            <a:blipFill>
              <a:blip r:embed="rId5"/>
              <a:stretch>
                <a:fillRect l="-8" t="0" r="-8"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14761" y="801093"/>
            <a:ext cx="10491695" cy="740964"/>
          </a:xfrm>
          <a:prstGeom prst="rect">
            <a:avLst/>
          </a:prstGeom>
        </p:spPr>
        <p:txBody>
          <a:bodyPr anchor="t" rtlCol="false" tIns="0" lIns="0" bIns="0" rIns="0">
            <a:spAutoFit/>
          </a:bodyPr>
          <a:lstStyle/>
          <a:p>
            <a:pPr algn="l">
              <a:lnSpc>
                <a:spcPts val="6576"/>
              </a:lnSpc>
            </a:pPr>
            <a:r>
              <a:rPr lang="en-US" b="true" sz="6779" spc="-318">
                <a:solidFill>
                  <a:srgbClr val="000000"/>
                </a:solidFill>
                <a:latin typeface="TT Hoves Bold"/>
                <a:ea typeface="TT Hoves Bold"/>
                <a:cs typeface="TT Hoves Bold"/>
                <a:sym typeface="TT Hoves Bold"/>
              </a:rPr>
              <a:t>Omnet++ (Static Results)</a:t>
            </a:r>
          </a:p>
        </p:txBody>
      </p:sp>
      <p:sp>
        <p:nvSpPr>
          <p:cNvPr name="TextBox 3" id="3"/>
          <p:cNvSpPr txBox="true"/>
          <p:nvPr/>
        </p:nvSpPr>
        <p:spPr>
          <a:xfrm rot="0">
            <a:off x="9438072" y="2580402"/>
            <a:ext cx="8545079" cy="6192887"/>
          </a:xfrm>
          <a:prstGeom prst="rect">
            <a:avLst/>
          </a:prstGeom>
        </p:spPr>
        <p:txBody>
          <a:bodyPr anchor="t" rtlCol="false" tIns="0" lIns="0" bIns="0" rIns="0">
            <a:spAutoFit/>
          </a:bodyPr>
          <a:lstStyle/>
          <a:p>
            <a:pPr algn="just">
              <a:lnSpc>
                <a:spcPts val="3258"/>
              </a:lnSpc>
            </a:pPr>
            <a:r>
              <a:rPr lang="en-US" sz="2414" spc="144">
                <a:solidFill>
                  <a:srgbClr val="000000"/>
                </a:solidFill>
                <a:latin typeface="Public Sans"/>
                <a:ea typeface="Public Sans"/>
                <a:cs typeface="Public Sans"/>
                <a:sym typeface="Public Sans"/>
              </a:rPr>
              <a:t>This chart visualizes UDP packet exchange between Node1 (client) and Node3 (server) through Node2 (router).</a:t>
            </a:r>
          </a:p>
          <a:p>
            <a:pPr algn="just" marL="551846" indent="-183949" lvl="2">
              <a:lnSpc>
                <a:spcPts val="3258"/>
              </a:lnSpc>
              <a:buFont typeface="Arial"/>
              <a:buChar char="⚬"/>
            </a:pPr>
            <a:r>
              <a:rPr lang="en-US" sz="2414" spc="144">
                <a:solidFill>
                  <a:srgbClr val="000000"/>
                </a:solidFill>
                <a:latin typeface="Public Sans"/>
                <a:ea typeface="Public Sans"/>
                <a:cs typeface="Public Sans"/>
                <a:sym typeface="Public Sans"/>
              </a:rPr>
              <a:t>The ARP requests and replies establish link-layer communication on both subnets before data transmission.</a:t>
            </a:r>
          </a:p>
          <a:p>
            <a:pPr algn="just" marL="551846" indent="-183949" lvl="2">
              <a:lnSpc>
                <a:spcPts val="3258"/>
              </a:lnSpc>
              <a:buFont typeface="Arial"/>
              <a:buChar char="⚬"/>
            </a:pPr>
            <a:r>
              <a:rPr lang="en-US" sz="2414" spc="144">
                <a:solidFill>
                  <a:srgbClr val="000000"/>
                </a:solidFill>
                <a:latin typeface="Public Sans"/>
                <a:ea typeface="Public Sans"/>
                <a:cs typeface="Public Sans"/>
                <a:sym typeface="Public Sans"/>
              </a:rPr>
              <a:t>Once resolved, UDP packets (UdpBasicAppData) are sent from Node1 → Node2 → Node3, and echoed back successfully.</a:t>
            </a:r>
          </a:p>
          <a:p>
            <a:pPr algn="just" marL="551846" indent="-183949" lvl="2">
              <a:lnSpc>
                <a:spcPts val="3258"/>
              </a:lnSpc>
              <a:buFont typeface="Arial"/>
              <a:buChar char="⚬"/>
            </a:pPr>
            <a:r>
              <a:rPr lang="en-US" sz="2414" spc="144">
                <a:solidFill>
                  <a:srgbClr val="000000"/>
                </a:solidFill>
                <a:latin typeface="Public Sans"/>
                <a:ea typeface="Public Sans"/>
                <a:cs typeface="Public Sans"/>
                <a:sym typeface="Public Sans"/>
              </a:rPr>
              <a:t>The consistent flow through Node2’s two interfaces confirms correct static routing and IP forwarding.</a:t>
            </a:r>
          </a:p>
          <a:p>
            <a:pPr algn="just" marL="551846" indent="-183949" lvl="2">
              <a:lnSpc>
                <a:spcPts val="3258"/>
              </a:lnSpc>
              <a:buFont typeface="Arial"/>
              <a:buChar char="⚬"/>
            </a:pPr>
            <a:r>
              <a:rPr lang="en-US" sz="2414" spc="144">
                <a:solidFill>
                  <a:srgbClr val="000000"/>
                </a:solidFill>
                <a:latin typeface="Public Sans"/>
                <a:ea typeface="Public Sans"/>
                <a:cs typeface="Public Sans"/>
                <a:sym typeface="Public Sans"/>
              </a:rPr>
              <a:t>The absence of packet loss or retransmissions indicates stable and loss-free UDP connectivity across both links.</a:t>
            </a:r>
          </a:p>
        </p:txBody>
      </p:sp>
      <p:sp>
        <p:nvSpPr>
          <p:cNvPr name="Freeform 4" id="4"/>
          <p:cNvSpPr/>
          <p:nvPr/>
        </p:nvSpPr>
        <p:spPr>
          <a:xfrm flipH="false" flipV="false" rot="0">
            <a:off x="8837751" y="-7945629"/>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0" y="2407182"/>
            <a:ext cx="9182807" cy="6634578"/>
            <a:chOff x="0" y="0"/>
            <a:chExt cx="12243743" cy="8846104"/>
          </a:xfrm>
        </p:grpSpPr>
        <p:sp>
          <p:nvSpPr>
            <p:cNvPr name="Freeform 6" id="6"/>
            <p:cNvSpPr/>
            <p:nvPr/>
          </p:nvSpPr>
          <p:spPr>
            <a:xfrm flipH="false" flipV="false" rot="0">
              <a:off x="0" y="0"/>
              <a:ext cx="12243689" cy="8846058"/>
            </a:xfrm>
            <a:custGeom>
              <a:avLst/>
              <a:gdLst/>
              <a:ahLst/>
              <a:cxnLst/>
              <a:rect r="r" b="b" t="t" l="l"/>
              <a:pathLst>
                <a:path h="8846058" w="12243689">
                  <a:moveTo>
                    <a:pt x="0" y="0"/>
                  </a:moveTo>
                  <a:lnTo>
                    <a:pt x="12243689" y="0"/>
                  </a:lnTo>
                  <a:lnTo>
                    <a:pt x="12243689" y="8846058"/>
                  </a:lnTo>
                  <a:lnTo>
                    <a:pt x="0" y="8846058"/>
                  </a:lnTo>
                  <a:lnTo>
                    <a:pt x="0" y="0"/>
                  </a:lnTo>
                  <a:close/>
                </a:path>
              </a:pathLst>
            </a:custGeom>
            <a:blipFill>
              <a:blip r:embed="rId5"/>
              <a:stretch>
                <a:fillRect l="0" t="-39" r="0" b="-40"/>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14761" y="801093"/>
            <a:ext cx="11681594" cy="740964"/>
          </a:xfrm>
          <a:prstGeom prst="rect">
            <a:avLst/>
          </a:prstGeom>
        </p:spPr>
        <p:txBody>
          <a:bodyPr anchor="t" rtlCol="false" tIns="0" lIns="0" bIns="0" rIns="0">
            <a:spAutoFit/>
          </a:bodyPr>
          <a:lstStyle/>
          <a:p>
            <a:pPr algn="l">
              <a:lnSpc>
                <a:spcPts val="6576"/>
              </a:lnSpc>
            </a:pPr>
            <a:r>
              <a:rPr lang="en-US" b="true" sz="6779" spc="-318">
                <a:solidFill>
                  <a:srgbClr val="000000"/>
                </a:solidFill>
                <a:latin typeface="TT Hoves Bold"/>
                <a:ea typeface="TT Hoves Bold"/>
                <a:cs typeface="TT Hoves Bold"/>
                <a:sym typeface="TT Hoves Bold"/>
              </a:rPr>
              <a:t>Omnet++ (Wireguard Results)</a:t>
            </a:r>
          </a:p>
        </p:txBody>
      </p:sp>
      <p:sp>
        <p:nvSpPr>
          <p:cNvPr name="Freeform 3" id="3"/>
          <p:cNvSpPr/>
          <p:nvPr/>
        </p:nvSpPr>
        <p:spPr>
          <a:xfrm flipH="false" flipV="false" rot="0">
            <a:off x="8837751" y="-7945629"/>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951062"/>
            <a:ext cx="16741906" cy="7637381"/>
          </a:xfrm>
          <a:prstGeom prst="rect">
            <a:avLst/>
          </a:prstGeom>
        </p:spPr>
        <p:txBody>
          <a:bodyPr anchor="t" rtlCol="false" tIns="0" lIns="0" bIns="0" rIns="0">
            <a:spAutoFit/>
          </a:bodyPr>
          <a:lstStyle/>
          <a:p>
            <a:pPr algn="just">
              <a:lnSpc>
                <a:spcPts val="4291"/>
              </a:lnSpc>
            </a:pPr>
            <a:r>
              <a:rPr lang="en-US" sz="3065" b="true">
                <a:solidFill>
                  <a:srgbClr val="000000"/>
                </a:solidFill>
                <a:latin typeface="TT Hoves Bold"/>
                <a:ea typeface="TT Hoves Bold"/>
                <a:cs typeface="TT Hoves Bold"/>
                <a:sym typeface="TT Hoves Bold"/>
              </a:rPr>
              <a:t>Problem Encountered:</a:t>
            </a:r>
          </a:p>
          <a:p>
            <a:pPr algn="just" marL="700736" indent="-233579" lvl="2">
              <a:lnSpc>
                <a:spcPts val="4291"/>
              </a:lnSpc>
              <a:buFont typeface="Arial"/>
              <a:buChar char="⚬"/>
            </a:pPr>
            <a:r>
              <a:rPr lang="en-US" sz="3065">
                <a:solidFill>
                  <a:srgbClr val="000000"/>
                </a:solidFill>
                <a:latin typeface="TT Hoves"/>
                <a:ea typeface="TT Hoves"/>
                <a:cs typeface="TT Hoves"/>
                <a:sym typeface="TT Hoves"/>
              </a:rPr>
              <a:t>Simulation runs, but packets from Node1 → Node3 are dropped.</a:t>
            </a:r>
          </a:p>
          <a:p>
            <a:pPr algn="just" marL="700736" indent="-233579" lvl="2">
              <a:lnSpc>
                <a:spcPts val="4291"/>
              </a:lnSpc>
            </a:pPr>
            <a:r>
              <a:rPr lang="en-US" b="true" sz="3065">
                <a:solidFill>
                  <a:srgbClr val="000000"/>
                </a:solidFill>
                <a:latin typeface="TT Hoves Bold"/>
                <a:ea typeface="TT Hoves Bold"/>
                <a:cs typeface="TT Hoves Bold"/>
                <a:sym typeface="TT Hoves Bold"/>
              </a:rPr>
              <a:t>Log shows:</a:t>
            </a:r>
          </a:p>
          <a:p>
            <a:pPr algn="just" marL="700736" indent="-233579" lvl="2">
              <a:lnSpc>
                <a:spcPts val="4291"/>
              </a:lnSpc>
              <a:buFont typeface="Arial"/>
              <a:buChar char="⚬"/>
            </a:pPr>
            <a:r>
              <a:rPr lang="en-US" sz="3065">
                <a:solidFill>
                  <a:srgbClr val="000000"/>
                </a:solidFill>
                <a:latin typeface="TT Hoves"/>
                <a:ea typeface="TT Hoves"/>
                <a:cs typeface="TT Hoves"/>
                <a:sym typeface="TT Hoves"/>
              </a:rPr>
              <a:t>“WARN: unroutable, sending ICMP_DESTINATION_UNREACHABLE”</a:t>
            </a:r>
          </a:p>
          <a:p>
            <a:pPr algn="just" marL="700736" indent="-233579" lvl="2">
              <a:lnSpc>
                <a:spcPts val="4291"/>
              </a:lnSpc>
              <a:buFont typeface="Arial"/>
              <a:buChar char="⚬"/>
            </a:pPr>
            <a:r>
              <a:rPr lang="en-US" sz="3065">
                <a:solidFill>
                  <a:srgbClr val="000000"/>
                </a:solidFill>
                <a:latin typeface="TT Hoves"/>
                <a:ea typeface="TT Hoves"/>
                <a:cs typeface="TT Hoves"/>
                <a:sym typeface="TT Hoves"/>
              </a:rPr>
              <a:t>Indicates no valid route to overlay subnet 10.0.1.0/24.</a:t>
            </a:r>
          </a:p>
          <a:p>
            <a:pPr algn="just" marL="700736" indent="-233579" lvl="2">
              <a:lnSpc>
                <a:spcPts val="4291"/>
              </a:lnSpc>
              <a:buFont typeface="Arial"/>
              <a:buChar char="⚬"/>
            </a:pPr>
            <a:r>
              <a:rPr lang="en-US" sz="3065">
                <a:solidFill>
                  <a:srgbClr val="000000"/>
                </a:solidFill>
                <a:latin typeface="TT Hoves"/>
                <a:ea typeface="TT Hoves"/>
                <a:cs typeface="TT Hoves"/>
                <a:sym typeface="TT Hoves"/>
              </a:rPr>
              <a:t>Cause (Likely):</a:t>
            </a:r>
          </a:p>
          <a:p>
            <a:pPr algn="just" marL="700736" indent="-233579" lvl="2">
              <a:lnSpc>
                <a:spcPts val="4291"/>
              </a:lnSpc>
              <a:buFont typeface="Arial"/>
              <a:buChar char="⚬"/>
            </a:pPr>
            <a:r>
              <a:rPr lang="en-US" sz="3065">
                <a:solidFill>
                  <a:srgbClr val="000000"/>
                </a:solidFill>
                <a:latin typeface="TT Hoves"/>
                <a:ea typeface="TT Hoves"/>
                <a:cs typeface="TT Hoves"/>
                <a:sym typeface="TT Hoves"/>
              </a:rPr>
              <a:t>Overlay interface or routing not properly configured in OMNeT++.</a:t>
            </a:r>
          </a:p>
          <a:p>
            <a:pPr algn="just" marL="700736" indent="-233579" lvl="2">
              <a:lnSpc>
                <a:spcPts val="4291"/>
              </a:lnSpc>
              <a:buFont typeface="Arial"/>
              <a:buChar char="⚬"/>
            </a:pPr>
            <a:r>
              <a:rPr lang="en-US" sz="3065">
                <a:solidFill>
                  <a:srgbClr val="000000"/>
                </a:solidFill>
                <a:latin typeface="TT Hoves"/>
                <a:ea typeface="TT Hoves"/>
                <a:cs typeface="TT Hoves"/>
                <a:sym typeface="TT Hoves"/>
              </a:rPr>
              <a:t>IPv4Configurator failed to assign routes for the virtual tunnel.</a:t>
            </a:r>
          </a:p>
          <a:p>
            <a:pPr algn="just" marL="700736" indent="-233579" lvl="2">
              <a:lnSpc>
                <a:spcPts val="4291"/>
              </a:lnSpc>
            </a:pPr>
            <a:r>
              <a:rPr lang="en-US" b="true" sz="3065">
                <a:solidFill>
                  <a:srgbClr val="000000"/>
                </a:solidFill>
                <a:latin typeface="TT Hoves Bold"/>
                <a:ea typeface="TT Hoves Bold"/>
                <a:cs typeface="TT Hoves Bold"/>
                <a:sym typeface="TT Hoves Bold"/>
              </a:rPr>
              <a:t>Current Status:</a:t>
            </a:r>
          </a:p>
          <a:p>
            <a:pPr algn="just" marL="700736" indent="-233579" lvl="2">
              <a:lnSpc>
                <a:spcPts val="4291"/>
              </a:lnSpc>
              <a:buFont typeface="Arial"/>
              <a:buChar char="⚬"/>
            </a:pPr>
            <a:r>
              <a:rPr lang="en-US" sz="3065">
                <a:solidFill>
                  <a:srgbClr val="000000"/>
                </a:solidFill>
                <a:latin typeface="TT Hoves"/>
                <a:ea typeface="TT Hoves"/>
                <a:cs typeface="TT Hoves"/>
                <a:sym typeface="TT Hoves"/>
              </a:rPr>
              <a:t>UDP applications (UdpBasicApp / UdpSink) initialize successfully.</a:t>
            </a:r>
          </a:p>
          <a:p>
            <a:pPr algn="just" marL="700736" indent="-233579" lvl="2">
              <a:lnSpc>
                <a:spcPts val="4291"/>
              </a:lnSpc>
              <a:buFont typeface="Arial"/>
              <a:buChar char="⚬"/>
            </a:pPr>
            <a:r>
              <a:rPr lang="en-US" sz="3065">
                <a:solidFill>
                  <a:srgbClr val="000000"/>
                </a:solidFill>
                <a:latin typeface="TT Hoves"/>
                <a:ea typeface="TT Hoves"/>
                <a:cs typeface="TT Hoves"/>
                <a:sym typeface="TT Hoves"/>
              </a:rPr>
              <a:t>Tunnel creation and routing logic under debugging.</a:t>
            </a:r>
          </a:p>
          <a:p>
            <a:pPr algn="just" marL="700736" indent="-233579" lvl="2">
              <a:lnSpc>
                <a:spcPts val="4291"/>
              </a:lnSpc>
            </a:pPr>
            <a:r>
              <a:rPr lang="en-US" b="true" sz="3065">
                <a:solidFill>
                  <a:srgbClr val="000000"/>
                </a:solidFill>
                <a:latin typeface="TT Hoves Bold"/>
                <a:ea typeface="TT Hoves Bold"/>
                <a:cs typeface="TT Hoves Bold"/>
                <a:sym typeface="TT Hoves Bold"/>
              </a:rPr>
              <a:t>Next Steps:</a:t>
            </a:r>
          </a:p>
          <a:p>
            <a:pPr algn="just" marL="700736" indent="-233579" lvl="2">
              <a:lnSpc>
                <a:spcPts val="4291"/>
              </a:lnSpc>
              <a:buFont typeface="Arial"/>
              <a:buChar char="⚬"/>
            </a:pPr>
            <a:r>
              <a:rPr lang="en-US" sz="3065">
                <a:solidFill>
                  <a:srgbClr val="000000"/>
                </a:solidFill>
                <a:latin typeface="TT Hoves"/>
                <a:ea typeface="TT Hoves"/>
                <a:cs typeface="TT Hoves"/>
                <a:sym typeface="TT Hoves"/>
              </a:rPr>
              <a:t>Fix overlay routing and address configuration.</a:t>
            </a:r>
          </a:p>
          <a:p>
            <a:pPr algn="just" marL="700736" indent="-233579" lvl="2">
              <a:lnSpc>
                <a:spcPts val="4291"/>
              </a:lnSpc>
              <a:buFont typeface="Arial"/>
              <a:buChar char="⚬"/>
            </a:pPr>
            <a:r>
              <a:rPr lang="en-US" sz="3065">
                <a:solidFill>
                  <a:srgbClr val="000000"/>
                </a:solidFill>
                <a:latin typeface="TT Hoves"/>
                <a:ea typeface="TT Hoves"/>
                <a:cs typeface="TT Hoves"/>
                <a:sym typeface="TT Hoves"/>
              </a:rPr>
              <a:t>Validate end-to-end UDP communication before Oct 30 submission.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314761" y="762993"/>
            <a:ext cx="14638973" cy="662673"/>
          </a:xfrm>
          <a:prstGeom prst="rect">
            <a:avLst/>
          </a:prstGeom>
        </p:spPr>
        <p:txBody>
          <a:bodyPr anchor="t" rtlCol="false" tIns="0" lIns="0" bIns="0" rIns="0">
            <a:spAutoFit/>
          </a:bodyPr>
          <a:lstStyle/>
          <a:p>
            <a:pPr algn="l">
              <a:lnSpc>
                <a:spcPts val="4926"/>
              </a:lnSpc>
            </a:pPr>
            <a:r>
              <a:rPr lang="en-US" b="true" sz="5079" spc="-238">
                <a:solidFill>
                  <a:srgbClr val="000000"/>
                </a:solidFill>
                <a:latin typeface="TT Hoves Bold"/>
                <a:ea typeface="TT Hoves Bold"/>
                <a:cs typeface="TT Hoves Bold"/>
                <a:sym typeface="TT Hoves Bold"/>
              </a:rPr>
              <a:t>Clarifyi</a:t>
            </a:r>
            <a:r>
              <a:rPr lang="en-US" b="true" sz="5079" spc="-238">
                <a:solidFill>
                  <a:srgbClr val="000000"/>
                </a:solidFill>
                <a:latin typeface="TT Hoves Bold"/>
                <a:ea typeface="TT Hoves Bold"/>
                <a:cs typeface="TT Hoves Bold"/>
                <a:sym typeface="TT Hoves Bold"/>
              </a:rPr>
              <a:t>ng the Role of “Static Routing” in My Project</a:t>
            </a:r>
          </a:p>
        </p:txBody>
      </p:sp>
      <p:sp>
        <p:nvSpPr>
          <p:cNvPr name="Freeform 3" id="3"/>
          <p:cNvSpPr/>
          <p:nvPr/>
        </p:nvSpPr>
        <p:spPr>
          <a:xfrm flipH="false" flipV="false" rot="0">
            <a:off x="8837751" y="-7945629"/>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22451" y="1836640"/>
            <a:ext cx="8115300" cy="5284792"/>
          </a:xfrm>
          <a:prstGeom prst="rect">
            <a:avLst/>
          </a:prstGeom>
        </p:spPr>
        <p:txBody>
          <a:bodyPr anchor="t" rtlCol="false" tIns="0" lIns="0" bIns="0" rIns="0">
            <a:spAutoFit/>
          </a:bodyPr>
          <a:lstStyle/>
          <a:p>
            <a:pPr algn="just">
              <a:lnSpc>
                <a:spcPts val="3232"/>
              </a:lnSpc>
            </a:pPr>
            <a:r>
              <a:rPr lang="en-US" sz="2308" b="true">
                <a:solidFill>
                  <a:srgbClr val="000000"/>
                </a:solidFill>
                <a:latin typeface="TT Hoves Bold"/>
                <a:ea typeface="TT Hoves Bold"/>
                <a:cs typeface="TT Hoves Bold"/>
                <a:sym typeface="TT Hoves Bold"/>
              </a:rPr>
              <a:t>What</a:t>
            </a:r>
            <a:r>
              <a:rPr lang="en-US" sz="2308" b="true">
                <a:solidFill>
                  <a:srgbClr val="000000"/>
                </a:solidFill>
                <a:latin typeface="TT Hoves Bold"/>
                <a:ea typeface="TT Hoves Bold"/>
                <a:cs typeface="TT Hoves Bold"/>
                <a:sym typeface="TT Hoves Bold"/>
              </a:rPr>
              <a:t> “Static Routing” Means Here</a:t>
            </a:r>
          </a:p>
          <a:p>
            <a:pPr algn="just" marL="498421" indent="-249211" lvl="1">
              <a:lnSpc>
                <a:spcPts val="3232"/>
              </a:lnSpc>
              <a:buFont typeface="Arial"/>
              <a:buChar char="•"/>
            </a:pPr>
            <a:r>
              <a:rPr lang="en-US" sz="2308">
                <a:solidFill>
                  <a:srgbClr val="000000"/>
                </a:solidFill>
                <a:latin typeface="TT Hoves"/>
                <a:ea typeface="TT Hoves"/>
                <a:cs typeface="TT Hoves"/>
                <a:sym typeface="TT Hoves"/>
              </a:rPr>
              <a:t>Not </a:t>
            </a:r>
            <a:r>
              <a:rPr lang="en-US" sz="2308">
                <a:solidFill>
                  <a:srgbClr val="000000"/>
                </a:solidFill>
                <a:latin typeface="TT Hoves"/>
                <a:ea typeface="TT Hoves"/>
                <a:cs typeface="TT Hoves"/>
                <a:sym typeface="TT Hoves"/>
              </a:rPr>
              <a:t>a routing protocol (not RIP/OSPF/BGP).</a:t>
            </a:r>
          </a:p>
          <a:p>
            <a:pPr algn="just" marL="498421" indent="-249211" lvl="1">
              <a:lnSpc>
                <a:spcPts val="3232"/>
              </a:lnSpc>
              <a:buFont typeface="Arial"/>
              <a:buChar char="•"/>
            </a:pPr>
            <a:r>
              <a:rPr lang="en-US" sz="2308">
                <a:solidFill>
                  <a:srgbClr val="000000"/>
                </a:solidFill>
                <a:latin typeface="TT Hoves"/>
                <a:ea typeface="TT Hoves"/>
                <a:cs typeface="TT Hoves"/>
                <a:sym typeface="TT Hoves"/>
              </a:rPr>
              <a:t>Simply manual IP forwarding:</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Node1 -&gt; Node2 (router) -&gt; Node3, c</a:t>
            </a:r>
            <a:r>
              <a:rPr lang="en-US" sz="2300">
                <a:solidFill>
                  <a:srgbClr val="000000"/>
                </a:solidFill>
                <a:latin typeface="TT Hoves"/>
                <a:ea typeface="TT Hoves"/>
                <a:cs typeface="TT Hoves"/>
                <a:sym typeface="TT Hoves"/>
              </a:rPr>
              <a:t>onfigured using ip</a:t>
            </a:r>
            <a:r>
              <a:rPr lang="en-US" sz="2300">
                <a:solidFill>
                  <a:srgbClr val="000000"/>
                </a:solidFill>
                <a:latin typeface="TT Hoves"/>
                <a:ea typeface="TT Hoves"/>
                <a:cs typeface="TT Hoves"/>
                <a:sym typeface="TT Hoves"/>
              </a:rPr>
              <a:t> route add.</a:t>
            </a:r>
          </a:p>
          <a:p>
            <a:pPr algn="just">
              <a:lnSpc>
                <a:spcPts val="3232"/>
              </a:lnSpc>
            </a:pPr>
            <a:r>
              <a:rPr lang="en-US" sz="2308" b="true">
                <a:solidFill>
                  <a:srgbClr val="000000"/>
                </a:solidFill>
                <a:latin typeface="TT Hoves Bold"/>
                <a:ea typeface="TT Hoves Bold"/>
                <a:cs typeface="TT Hoves Bold"/>
                <a:sym typeface="TT Hoves Bold"/>
              </a:rPr>
              <a:t>Why I Use Static Routing</a:t>
            </a:r>
          </a:p>
          <a:p>
            <a:pPr algn="just" marL="498421" indent="-249211" lvl="1">
              <a:lnSpc>
                <a:spcPts val="3232"/>
              </a:lnSpc>
              <a:buFont typeface="Arial"/>
              <a:buChar char="•"/>
            </a:pPr>
            <a:r>
              <a:rPr lang="en-US" sz="2308">
                <a:solidFill>
                  <a:srgbClr val="000000"/>
                </a:solidFill>
                <a:latin typeface="TT Hoves"/>
                <a:ea typeface="TT Hoves"/>
                <a:cs typeface="TT Hoves"/>
                <a:sym typeface="TT Hoves"/>
              </a:rPr>
              <a:t>Provides a baseline path with:</a:t>
            </a:r>
          </a:p>
          <a:p>
            <a:pPr algn="just" marL="996843" indent="-332281" lvl="2">
              <a:lnSpc>
                <a:spcPts val="3232"/>
              </a:lnSpc>
              <a:buFont typeface="Arial"/>
              <a:buChar char="⚬"/>
            </a:pPr>
            <a:r>
              <a:rPr lang="en-US" sz="2308">
                <a:solidFill>
                  <a:srgbClr val="000000"/>
                </a:solidFill>
                <a:latin typeface="TT Hoves"/>
                <a:ea typeface="TT Hoves"/>
                <a:cs typeface="TT Hoves"/>
                <a:sym typeface="TT Hoves"/>
              </a:rPr>
              <a:t>No encryption</a:t>
            </a:r>
          </a:p>
          <a:p>
            <a:pPr algn="just" marL="996839" indent="-332280" lvl="2">
              <a:lnSpc>
                <a:spcPts val="3232"/>
              </a:lnSpc>
              <a:buFont typeface="Arial"/>
              <a:buChar char="⚬"/>
            </a:pPr>
            <a:r>
              <a:rPr lang="en-US" sz="2308">
                <a:solidFill>
                  <a:srgbClr val="000000"/>
                </a:solidFill>
                <a:latin typeface="TT Hoves"/>
                <a:ea typeface="TT Hoves"/>
                <a:cs typeface="TT Hoves"/>
                <a:sym typeface="TT Hoves"/>
              </a:rPr>
              <a:t>No tunneling</a:t>
            </a:r>
          </a:p>
          <a:p>
            <a:pPr algn="just" marL="996839" indent="-332280" lvl="2">
              <a:lnSpc>
                <a:spcPts val="3232"/>
              </a:lnSpc>
              <a:buFont typeface="Arial"/>
              <a:buChar char="⚬"/>
            </a:pPr>
            <a:r>
              <a:rPr lang="en-US" sz="2308">
                <a:solidFill>
                  <a:srgbClr val="000000"/>
                </a:solidFill>
                <a:latin typeface="TT Hoves"/>
                <a:ea typeface="TT Hoves"/>
                <a:cs typeface="TT Hoves"/>
                <a:sym typeface="TT Hoves"/>
              </a:rPr>
              <a:t>Minimal overhead</a:t>
            </a:r>
          </a:p>
          <a:p>
            <a:pPr algn="just" marL="498421" indent="-249211" lvl="1">
              <a:lnSpc>
                <a:spcPts val="3232"/>
              </a:lnSpc>
              <a:buFont typeface="Arial"/>
              <a:buChar char="•"/>
            </a:pPr>
            <a:r>
              <a:rPr lang="en-US" sz="2308">
                <a:solidFill>
                  <a:srgbClr val="000000"/>
                </a:solidFill>
                <a:latin typeface="TT Hoves"/>
                <a:ea typeface="TT Hoves"/>
                <a:cs typeface="TT Hoves"/>
                <a:sym typeface="TT Hoves"/>
              </a:rPr>
              <a:t>Gives true raw latency &amp; packet-loss values for comparison.</a:t>
            </a:r>
          </a:p>
          <a:p>
            <a:pPr algn="just">
              <a:lnSpc>
                <a:spcPts val="3232"/>
              </a:lnSpc>
            </a:pPr>
          </a:p>
        </p:txBody>
      </p:sp>
      <p:sp>
        <p:nvSpPr>
          <p:cNvPr name="TextBox 5" id="5"/>
          <p:cNvSpPr txBox="true"/>
          <p:nvPr/>
        </p:nvSpPr>
        <p:spPr>
          <a:xfrm rot="0">
            <a:off x="9144000" y="1827115"/>
            <a:ext cx="7669771" cy="3589633"/>
          </a:xfrm>
          <a:prstGeom prst="rect">
            <a:avLst/>
          </a:prstGeom>
        </p:spPr>
        <p:txBody>
          <a:bodyPr anchor="t" rtlCol="false" tIns="0" lIns="0" bIns="0" rIns="0">
            <a:spAutoFit/>
          </a:bodyPr>
          <a:lstStyle/>
          <a:p>
            <a:pPr algn="l">
              <a:lnSpc>
                <a:spcPts val="3220"/>
              </a:lnSpc>
            </a:pPr>
            <a:r>
              <a:rPr lang="en-US" sz="2300" b="true">
                <a:solidFill>
                  <a:srgbClr val="000000"/>
                </a:solidFill>
                <a:latin typeface="TT Hoves Bold"/>
                <a:ea typeface="TT Hoves Bold"/>
                <a:cs typeface="TT Hoves Bold"/>
                <a:sym typeface="TT Hoves Bold"/>
              </a:rPr>
              <a:t>Why Compare Static Routing With VPN Tools</a:t>
            </a:r>
          </a:p>
          <a:p>
            <a:pPr algn="l" marL="496571" indent="-248285" lvl="1">
              <a:lnSpc>
                <a:spcPts val="3220"/>
              </a:lnSpc>
              <a:buFont typeface="Arial"/>
              <a:buChar char="•"/>
            </a:pPr>
            <a:r>
              <a:rPr lang="en-US" sz="2300">
                <a:solidFill>
                  <a:srgbClr val="000000"/>
                </a:solidFill>
                <a:latin typeface="TT Hoves"/>
                <a:ea typeface="TT Hoves"/>
                <a:cs typeface="TT Hoves"/>
                <a:sym typeface="TT Hoves"/>
              </a:rPr>
              <a:t>The project is NOT about static routing.</a:t>
            </a:r>
          </a:p>
          <a:p>
            <a:pPr algn="l" marL="496571" indent="-248285" lvl="1">
              <a:lnSpc>
                <a:spcPts val="3220"/>
              </a:lnSpc>
              <a:buFont typeface="Arial"/>
              <a:buChar char="•"/>
            </a:pPr>
            <a:r>
              <a:rPr lang="en-US" sz="2300">
                <a:solidFill>
                  <a:srgbClr val="000000"/>
                </a:solidFill>
                <a:latin typeface="TT Hoves"/>
                <a:ea typeface="TT Hoves"/>
                <a:cs typeface="TT Hoves"/>
                <a:sym typeface="TT Hoves"/>
              </a:rPr>
              <a:t>Static is used only to measure cost of other methods:</a:t>
            </a:r>
          </a:p>
          <a:p>
            <a:pPr algn="l" marL="993141" indent="-331047" lvl="2">
              <a:lnSpc>
                <a:spcPts val="3220"/>
              </a:lnSpc>
              <a:buFont typeface="Arial"/>
              <a:buChar char="⚬"/>
            </a:pPr>
            <a:r>
              <a:rPr lang="en-US" sz="2300">
                <a:solidFill>
                  <a:srgbClr val="000000"/>
                </a:solidFill>
                <a:latin typeface="TT Hoves"/>
                <a:ea typeface="TT Hoves"/>
                <a:cs typeface="TT Hoves"/>
                <a:sym typeface="TT Hoves"/>
              </a:rPr>
              <a:t>WireGuard -&gt; encrypted tunnel (adds crypto &amp; encapsulation)</a:t>
            </a:r>
          </a:p>
          <a:p>
            <a:pPr algn="l" marL="993141" indent="-331047" lvl="2">
              <a:lnSpc>
                <a:spcPts val="3220"/>
              </a:lnSpc>
              <a:buFont typeface="Arial"/>
              <a:buChar char="⚬"/>
            </a:pPr>
            <a:r>
              <a:rPr lang="en-US" sz="2300">
                <a:solidFill>
                  <a:srgbClr val="000000"/>
                </a:solidFill>
                <a:latin typeface="TT Hoves"/>
                <a:ea typeface="TT Hoves"/>
                <a:cs typeface="TT Hoves"/>
                <a:sym typeface="TT Hoves"/>
              </a:rPr>
              <a:t>sshuttle -&gt; TCP-based tunnel (breaks ICMP/UDP)</a:t>
            </a:r>
          </a:p>
          <a:p>
            <a:pPr algn="l" marL="496571" indent="-248285" lvl="1">
              <a:lnSpc>
                <a:spcPts val="3220"/>
              </a:lnSpc>
              <a:spcBef>
                <a:spcPct val="0"/>
              </a:spcBef>
              <a:buFont typeface="Arial"/>
              <a:buChar char="•"/>
            </a:pPr>
            <a:r>
              <a:rPr lang="en-US" sz="2300">
                <a:solidFill>
                  <a:srgbClr val="000000"/>
                </a:solidFill>
                <a:latin typeface="TT Hoves"/>
                <a:ea typeface="TT Hoves"/>
                <a:cs typeface="TT Hoves"/>
                <a:sym typeface="TT Hoves"/>
              </a:rPr>
              <a:t>Comparing them shows performance penalties </a:t>
            </a:r>
            <a:r>
              <a:rPr lang="en-US" sz="2300">
                <a:solidFill>
                  <a:srgbClr val="000000"/>
                </a:solidFill>
                <a:latin typeface="TT Hoves"/>
                <a:ea typeface="TT Hoves"/>
                <a:cs typeface="TT Hoves"/>
                <a:sym typeface="TT Hoves"/>
              </a:rPr>
              <a:t>of each tunneling approach.</a:t>
            </a:r>
          </a:p>
          <a:p>
            <a:pPr algn="l">
              <a:lnSpc>
                <a:spcPts val="3220"/>
              </a:lnSpc>
              <a:spcBef>
                <a:spcPct val="0"/>
              </a:spcBef>
            </a:pPr>
          </a:p>
        </p:txBody>
      </p:sp>
      <p:sp>
        <p:nvSpPr>
          <p:cNvPr name="TextBox 6" id="6"/>
          <p:cNvSpPr txBox="true"/>
          <p:nvPr/>
        </p:nvSpPr>
        <p:spPr>
          <a:xfrm rot="0">
            <a:off x="722451" y="6828744"/>
            <a:ext cx="13315337" cy="2789533"/>
          </a:xfrm>
          <a:prstGeom prst="rect">
            <a:avLst/>
          </a:prstGeom>
        </p:spPr>
        <p:txBody>
          <a:bodyPr anchor="t" rtlCol="false" tIns="0" lIns="0" bIns="0" rIns="0">
            <a:spAutoFit/>
          </a:bodyPr>
          <a:lstStyle/>
          <a:p>
            <a:pPr algn="just">
              <a:lnSpc>
                <a:spcPts val="3220"/>
              </a:lnSpc>
            </a:pPr>
            <a:r>
              <a:rPr lang="en-US" sz="2300" b="true">
                <a:solidFill>
                  <a:srgbClr val="000000"/>
                </a:solidFill>
                <a:latin typeface="TT Hoves Bold"/>
                <a:ea typeface="TT Hoves Bold"/>
                <a:cs typeface="TT Hoves Bold"/>
                <a:sym typeface="TT Hoves Bold"/>
              </a:rPr>
              <a:t>Connection to My Main Topic</a:t>
            </a:r>
          </a:p>
          <a:p>
            <a:pPr algn="just">
              <a:lnSpc>
                <a:spcPts val="3220"/>
              </a:lnSpc>
            </a:pPr>
            <a:r>
              <a:rPr lang="en-US" sz="2300">
                <a:solidFill>
                  <a:srgbClr val="000000"/>
                </a:solidFill>
                <a:latin typeface="TT Hoves"/>
                <a:ea typeface="TT Hoves"/>
                <a:cs typeface="TT Hoves"/>
                <a:sym typeface="TT Hoves"/>
              </a:rPr>
              <a:t>My actual subject is “Autonomous Tunnel Switching System”, not routing.</a:t>
            </a:r>
          </a:p>
          <a:p>
            <a:pPr algn="just">
              <a:lnSpc>
                <a:spcPts val="3220"/>
              </a:lnSpc>
              <a:spcBef>
                <a:spcPct val="0"/>
              </a:spcBef>
            </a:pPr>
            <a:r>
              <a:rPr lang="en-US" sz="2300">
                <a:solidFill>
                  <a:srgbClr val="000000"/>
                </a:solidFill>
                <a:latin typeface="TT Hoves"/>
                <a:ea typeface="TT Hoves"/>
                <a:cs typeface="TT Hoves"/>
                <a:sym typeface="TT Hoves"/>
              </a:rPr>
              <a:t>Static routing is just the gr</a:t>
            </a:r>
            <a:r>
              <a:rPr lang="en-US" sz="2300">
                <a:solidFill>
                  <a:srgbClr val="000000"/>
                </a:solidFill>
                <a:latin typeface="TT Hoves"/>
                <a:ea typeface="TT Hoves"/>
                <a:cs typeface="TT Hoves"/>
                <a:sym typeface="TT Hoves"/>
              </a:rPr>
              <a:t>ound-truth path that my controller uses to:</a:t>
            </a:r>
          </a:p>
          <a:p>
            <a:pPr algn="just" marL="496571" indent="-248285" lvl="1">
              <a:lnSpc>
                <a:spcPts val="3220"/>
              </a:lnSpc>
              <a:spcBef>
                <a:spcPct val="0"/>
              </a:spcBef>
              <a:buFont typeface="Arial"/>
              <a:buChar char="•"/>
            </a:pPr>
            <a:r>
              <a:rPr lang="en-US" sz="2300">
                <a:solidFill>
                  <a:srgbClr val="000000"/>
                </a:solidFill>
                <a:latin typeface="TT Hoves"/>
                <a:ea typeface="TT Hoves"/>
                <a:cs typeface="TT Hoves"/>
                <a:sym typeface="TT Hoves"/>
              </a:rPr>
              <a:t>Detect failures</a:t>
            </a:r>
          </a:p>
          <a:p>
            <a:pPr algn="just" marL="496571" indent="-248285" lvl="1">
              <a:lnSpc>
                <a:spcPts val="3220"/>
              </a:lnSpc>
              <a:spcBef>
                <a:spcPct val="0"/>
              </a:spcBef>
              <a:buFont typeface="Arial"/>
              <a:buChar char="•"/>
            </a:pPr>
            <a:r>
              <a:rPr lang="en-US" sz="2300">
                <a:solidFill>
                  <a:srgbClr val="000000"/>
                </a:solidFill>
                <a:latin typeface="TT Hoves"/>
                <a:ea typeface="TT Hoves"/>
                <a:cs typeface="TT Hoves"/>
                <a:sym typeface="TT Hoves"/>
              </a:rPr>
              <a:t>Measure performance</a:t>
            </a:r>
          </a:p>
          <a:p>
            <a:pPr algn="just" marL="496571" indent="-248285" lvl="1">
              <a:lnSpc>
                <a:spcPts val="3220"/>
              </a:lnSpc>
              <a:spcBef>
                <a:spcPct val="0"/>
              </a:spcBef>
              <a:buFont typeface="Arial"/>
              <a:buChar char="•"/>
            </a:pPr>
            <a:r>
              <a:rPr lang="en-US" sz="2300">
                <a:solidFill>
                  <a:srgbClr val="000000"/>
                </a:solidFill>
                <a:latin typeface="TT Hoves"/>
                <a:ea typeface="TT Hoves"/>
                <a:cs typeface="TT Hoves"/>
                <a:sym typeface="TT Hoves"/>
              </a:rPr>
              <a:t>Choose the best tunnel (Static / WireGuard / sshuttle)</a:t>
            </a:r>
          </a:p>
          <a:p>
            <a:pPr algn="just">
              <a:lnSpc>
                <a:spcPts val="3220"/>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549275" y="658254"/>
            <a:ext cx="12710517" cy="883768"/>
          </a:xfrm>
          <a:prstGeom prst="rect">
            <a:avLst/>
          </a:prstGeom>
        </p:spPr>
        <p:txBody>
          <a:bodyPr anchor="t" rtlCol="false" tIns="0" lIns="0" bIns="0" rIns="0">
            <a:spAutoFit/>
          </a:bodyPr>
          <a:lstStyle/>
          <a:p>
            <a:pPr algn="l">
              <a:lnSpc>
                <a:spcPts val="6576"/>
              </a:lnSpc>
            </a:pPr>
            <a:r>
              <a:rPr lang="en-US" b="true" sz="6779" spc="-318">
                <a:solidFill>
                  <a:srgbClr val="000000"/>
                </a:solidFill>
                <a:latin typeface="TT Hoves Bold"/>
                <a:ea typeface="TT Hoves Bold"/>
                <a:cs typeface="TT Hoves Bold"/>
                <a:sym typeface="TT Hoves Bold"/>
              </a:rPr>
              <a:t>My I</a:t>
            </a:r>
            <a:r>
              <a:rPr lang="en-US" b="true" sz="6779" spc="-318">
                <a:solidFill>
                  <a:srgbClr val="000000"/>
                </a:solidFill>
                <a:latin typeface="TT Hoves Bold"/>
                <a:ea typeface="TT Hoves Bold"/>
                <a:cs typeface="TT Hoves Bold"/>
                <a:sym typeface="TT Hoves Bold"/>
              </a:rPr>
              <a:t>ntuitive Idea (from M2 to M3)</a:t>
            </a:r>
          </a:p>
        </p:txBody>
      </p:sp>
      <p:sp>
        <p:nvSpPr>
          <p:cNvPr name="Freeform 3" id="3"/>
          <p:cNvSpPr/>
          <p:nvPr/>
        </p:nvSpPr>
        <p:spPr>
          <a:xfrm flipH="false" flipV="false" rot="0">
            <a:off x="8837751" y="-7945629"/>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960587"/>
            <a:ext cx="16437688" cy="7530465"/>
          </a:xfrm>
          <a:prstGeom prst="rect">
            <a:avLst/>
          </a:prstGeom>
        </p:spPr>
        <p:txBody>
          <a:bodyPr anchor="t" rtlCol="false" tIns="0" lIns="0" bIns="0" rIns="0">
            <a:spAutoFit/>
          </a:bodyPr>
          <a:lstStyle/>
          <a:p>
            <a:pPr algn="just">
              <a:lnSpc>
                <a:spcPts val="3359"/>
              </a:lnSpc>
            </a:pPr>
            <a:r>
              <a:rPr lang="en-US" sz="2399" b="true">
                <a:solidFill>
                  <a:srgbClr val="000000"/>
                </a:solidFill>
                <a:latin typeface="TT Hoves Bold"/>
                <a:ea typeface="TT Hoves Bold"/>
                <a:cs typeface="TT Hoves Bold"/>
                <a:sym typeface="TT Hoves Bold"/>
              </a:rPr>
              <a:t>What I </a:t>
            </a:r>
            <a:r>
              <a:rPr lang="en-US" sz="2399" b="true">
                <a:solidFill>
                  <a:srgbClr val="000000"/>
                </a:solidFill>
                <a:latin typeface="TT Hoves Bold"/>
                <a:ea typeface="TT Hoves Bold"/>
                <a:cs typeface="TT Hoves Bold"/>
                <a:sym typeface="TT Hoves Bold"/>
              </a:rPr>
              <a:t>realized in M2:</a:t>
            </a:r>
          </a:p>
          <a:p>
            <a:pPr algn="just">
              <a:lnSpc>
                <a:spcPts val="3359"/>
              </a:lnSpc>
            </a:pPr>
            <a:r>
              <a:rPr lang="en-US" sz="2399">
                <a:solidFill>
                  <a:srgbClr val="000000"/>
                </a:solidFill>
                <a:latin typeface="TT Hoves"/>
                <a:ea typeface="TT Hoves"/>
                <a:cs typeface="TT Hoves"/>
                <a:sym typeface="TT Hoves"/>
              </a:rPr>
              <a:t>All the tools I tested </a:t>
            </a:r>
            <a:r>
              <a:rPr lang="en-US" sz="2399">
                <a:solidFill>
                  <a:srgbClr val="000000"/>
                </a:solidFill>
                <a:latin typeface="TT Hoves"/>
                <a:ea typeface="TT Hoves"/>
                <a:cs typeface="TT Hoves"/>
                <a:sym typeface="TT Hoves"/>
              </a:rPr>
              <a:t>Static routing, sshuttle, and WireGuard behave differently dependin</a:t>
            </a:r>
            <a:r>
              <a:rPr lang="en-US" sz="2399">
                <a:solidFill>
                  <a:srgbClr val="000000"/>
                </a:solidFill>
                <a:latin typeface="TT Hoves"/>
                <a:ea typeface="TT Hoves"/>
                <a:cs typeface="TT Hoves"/>
                <a:sym typeface="TT Hoves"/>
              </a:rPr>
              <a:t>g on the network situation.</a:t>
            </a:r>
            <a:r>
              <a:rPr lang="en-US" sz="2399">
                <a:solidFill>
                  <a:srgbClr val="000000"/>
                </a:solidFill>
                <a:latin typeface="TT Hoves"/>
                <a:ea typeface="TT Hoves"/>
                <a:cs typeface="TT Hoves"/>
                <a:sym typeface="TT Hoves"/>
              </a:rPr>
              <a:t> One gives the lowest latency, one gives encryption, one works well for TCP but breaks ICMP. But there was no mechanism to switch between them automatically.</a:t>
            </a:r>
          </a:p>
          <a:p>
            <a:pPr algn="just">
              <a:lnSpc>
                <a:spcPts val="3360"/>
              </a:lnSpc>
            </a:pPr>
            <a:r>
              <a:rPr lang="en-US" sz="2399" b="true">
                <a:solidFill>
                  <a:srgbClr val="000000"/>
                </a:solidFill>
                <a:latin typeface="TT Hoves Bold"/>
                <a:ea typeface="TT Hoves Bold"/>
                <a:cs typeface="TT Hoves Bold"/>
                <a:sym typeface="TT Hoves Bold"/>
              </a:rPr>
              <a:t>So my intuition was:</a:t>
            </a:r>
          </a:p>
          <a:p>
            <a:pPr algn="just">
              <a:lnSpc>
                <a:spcPts val="3359"/>
              </a:lnSpc>
            </a:pPr>
            <a:r>
              <a:rPr lang="en-US" sz="2399">
                <a:solidFill>
                  <a:srgbClr val="000000"/>
                </a:solidFill>
                <a:latin typeface="TT Hoves"/>
                <a:ea typeface="TT Hoves"/>
                <a:cs typeface="TT Hoves"/>
                <a:sym typeface="TT Hoves"/>
              </a:rPr>
              <a:t>Instead of choosing one tool and sticking to it, why not build a system that monitors the connection in real time and automatically switches to the method that pe</a:t>
            </a:r>
            <a:r>
              <a:rPr lang="en-US" sz="2399">
                <a:solidFill>
                  <a:srgbClr val="000000"/>
                </a:solidFill>
                <a:latin typeface="TT Hoves"/>
                <a:ea typeface="TT Hoves"/>
                <a:cs typeface="TT Hoves"/>
                <a:sym typeface="TT Hoves"/>
              </a:rPr>
              <a:t>rforms best at that moment?</a:t>
            </a:r>
          </a:p>
          <a:p>
            <a:pPr algn="just">
              <a:lnSpc>
                <a:spcPts val="3360"/>
              </a:lnSpc>
            </a:pPr>
            <a:r>
              <a:rPr lang="en-US" b="true" sz="2399">
                <a:solidFill>
                  <a:srgbClr val="000000"/>
                </a:solidFill>
                <a:latin typeface="TT Hoves Bold"/>
                <a:ea typeface="TT Hoves Bold"/>
                <a:cs typeface="TT Hoves Bold"/>
                <a:sym typeface="TT Hoves Bold"/>
              </a:rPr>
              <a:t>Why this makes sense:</a:t>
            </a:r>
          </a:p>
          <a:p>
            <a:pPr algn="just" marL="518158" indent="-259079" lvl="1">
              <a:lnSpc>
                <a:spcPts val="3359"/>
              </a:lnSpc>
              <a:buFont typeface="Arial"/>
              <a:buChar char="•"/>
            </a:pPr>
            <a:r>
              <a:rPr lang="en-US" sz="2399">
                <a:solidFill>
                  <a:srgbClr val="000000"/>
                </a:solidFill>
                <a:latin typeface="TT Hoves"/>
                <a:ea typeface="TT Hoves"/>
                <a:cs typeface="TT Hoves"/>
                <a:sym typeface="TT Hoves"/>
              </a:rPr>
              <a:t>Network</a:t>
            </a:r>
            <a:r>
              <a:rPr lang="en-US" sz="2399">
                <a:solidFill>
                  <a:srgbClr val="000000"/>
                </a:solidFill>
                <a:latin typeface="TT Hoves"/>
                <a:ea typeface="TT Hoves"/>
                <a:cs typeface="TT Hoves"/>
                <a:sym typeface="TT Hoves"/>
              </a:rPr>
              <a:t> conditions change constantly.</a:t>
            </a:r>
          </a:p>
          <a:p>
            <a:pPr algn="just" marL="518158" indent="-259079" lvl="1">
              <a:lnSpc>
                <a:spcPts val="3359"/>
              </a:lnSpc>
              <a:buFont typeface="Arial"/>
              <a:buChar char="•"/>
            </a:pPr>
            <a:r>
              <a:rPr lang="en-US" sz="2399">
                <a:solidFill>
                  <a:srgbClr val="000000"/>
                </a:solidFill>
                <a:latin typeface="TT Hoves"/>
                <a:ea typeface="TT Hoves"/>
                <a:cs typeface="TT Hoves"/>
                <a:sym typeface="TT Hoves"/>
              </a:rPr>
              <a:t>Each tool has a very specific strength/weakness.</a:t>
            </a:r>
          </a:p>
          <a:p>
            <a:pPr algn="just" marL="518158" indent="-259079" lvl="1">
              <a:lnSpc>
                <a:spcPts val="3360"/>
              </a:lnSpc>
              <a:buFont typeface="Arial"/>
              <a:buChar char="•"/>
            </a:pPr>
            <a:r>
              <a:rPr lang="en-US" sz="2399">
                <a:solidFill>
                  <a:srgbClr val="000000"/>
                </a:solidFill>
                <a:latin typeface="TT Hoves"/>
                <a:ea typeface="TT Hoves"/>
                <a:cs typeface="TT Hoves"/>
                <a:sym typeface="TT Hoves"/>
              </a:rPr>
              <a:t>If one tunnel fails, the system should recover on its own.</a:t>
            </a:r>
          </a:p>
          <a:p>
            <a:pPr algn="just" marL="518158" indent="-259079" lvl="1">
              <a:lnSpc>
                <a:spcPts val="3360"/>
              </a:lnSpc>
              <a:buFont typeface="Arial"/>
              <a:buChar char="•"/>
            </a:pPr>
            <a:r>
              <a:rPr lang="en-US" sz="2399">
                <a:solidFill>
                  <a:srgbClr val="000000"/>
                </a:solidFill>
                <a:latin typeface="TT Hoves"/>
                <a:ea typeface="TT Hoves"/>
                <a:cs typeface="TT Hoves"/>
                <a:sym typeface="TT Hoves"/>
              </a:rPr>
              <a:t>This approach creates a self-adjusting path instead of a fixed setup.</a:t>
            </a:r>
          </a:p>
          <a:p>
            <a:pPr algn="just">
              <a:lnSpc>
                <a:spcPts val="3359"/>
              </a:lnSpc>
            </a:pPr>
            <a:r>
              <a:rPr lang="en-US" b="true" sz="2399">
                <a:solidFill>
                  <a:srgbClr val="000000"/>
                </a:solidFill>
                <a:latin typeface="TT Hoves Bold"/>
                <a:ea typeface="TT Hoves Bold"/>
                <a:cs typeface="TT Hoves Bold"/>
                <a:sym typeface="TT Hoves Bold"/>
              </a:rPr>
              <a:t>Th</a:t>
            </a:r>
            <a:r>
              <a:rPr lang="en-US" b="true" sz="2399">
                <a:solidFill>
                  <a:srgbClr val="000000"/>
                </a:solidFill>
                <a:latin typeface="TT Hoves Bold"/>
                <a:ea typeface="TT Hoves Bold"/>
                <a:cs typeface="TT Hoves Bold"/>
                <a:sym typeface="TT Hoves Bold"/>
              </a:rPr>
              <a:t>e goal:</a:t>
            </a:r>
          </a:p>
          <a:p>
            <a:pPr algn="just" marL="518158" indent="-259079" lvl="1">
              <a:lnSpc>
                <a:spcPts val="3359"/>
              </a:lnSpc>
              <a:buFont typeface="Arial"/>
              <a:buChar char="•"/>
            </a:pPr>
            <a:r>
              <a:rPr lang="en-US" sz="2399">
                <a:solidFill>
                  <a:srgbClr val="000000"/>
                </a:solidFill>
                <a:latin typeface="TT Hoves"/>
                <a:ea typeface="TT Hoves"/>
                <a:cs typeface="TT Hoves"/>
                <a:sym typeface="TT Hoves"/>
              </a:rPr>
              <a:t>Design something simple and practical:</a:t>
            </a:r>
          </a:p>
          <a:p>
            <a:pPr algn="just" marL="518158" indent="-259079" lvl="1">
              <a:lnSpc>
                <a:spcPts val="3359"/>
              </a:lnSpc>
              <a:buFont typeface="Arial"/>
              <a:buChar char="•"/>
            </a:pPr>
            <a:r>
              <a:rPr lang="en-US" sz="2399">
                <a:solidFill>
                  <a:srgbClr val="000000"/>
                </a:solidFill>
                <a:latin typeface="TT Hoves"/>
                <a:ea typeface="TT Hoves"/>
                <a:cs typeface="TT Hoves"/>
                <a:sym typeface="TT Hoves"/>
              </a:rPr>
              <a:t>If the network is good -&gt; stay.</a:t>
            </a:r>
          </a:p>
          <a:p>
            <a:pPr algn="just" marL="518158" indent="-259079" lvl="1">
              <a:lnSpc>
                <a:spcPts val="3359"/>
              </a:lnSpc>
              <a:buFont typeface="Arial"/>
              <a:buChar char="•"/>
            </a:pPr>
            <a:r>
              <a:rPr lang="en-US" sz="2399">
                <a:solidFill>
                  <a:srgbClr val="000000"/>
                </a:solidFill>
                <a:latin typeface="TT Hoves"/>
                <a:ea typeface="TT Hoves"/>
                <a:cs typeface="TT Hoves"/>
                <a:sym typeface="TT Hoves"/>
              </a:rPr>
              <a:t>If something breaks -&gt; switch.</a:t>
            </a:r>
          </a:p>
          <a:p>
            <a:pPr algn="just" marL="518158" indent="-259079" lvl="1">
              <a:lnSpc>
                <a:spcPts val="3359"/>
              </a:lnSpc>
              <a:buFont typeface="Arial"/>
              <a:buChar char="•"/>
            </a:pPr>
            <a:r>
              <a:rPr lang="en-US" sz="2399">
                <a:solidFill>
                  <a:srgbClr val="000000"/>
                </a:solidFill>
                <a:latin typeface="TT Hoves"/>
                <a:ea typeface="TT Hoves"/>
                <a:cs typeface="TT Hoves"/>
                <a:sym typeface="TT Hoves"/>
              </a:rPr>
              <a:t>If the requirement changes (security, ICMP, TCP) -&gt; pick the method that fits.</a:t>
            </a:r>
          </a:p>
          <a:p>
            <a:pPr algn="just" marL="518158" indent="-259079" lvl="1">
              <a:lnSpc>
                <a:spcPts val="3359"/>
              </a:lnSpc>
              <a:buFont typeface="Arial"/>
              <a:buChar char="•"/>
            </a:pPr>
            <a:r>
              <a:rPr lang="en-US" sz="2399">
                <a:solidFill>
                  <a:srgbClr val="000000"/>
                </a:solidFill>
                <a:latin typeface="TT Hoves"/>
                <a:ea typeface="TT Hoves"/>
                <a:cs typeface="TT Hoves"/>
                <a:sym typeface="TT Hoves"/>
              </a:rPr>
              <a:t>That’s the intuition behind M3.</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549275" y="658254"/>
            <a:ext cx="17158835" cy="836907"/>
          </a:xfrm>
          <a:prstGeom prst="rect">
            <a:avLst/>
          </a:prstGeom>
        </p:spPr>
        <p:txBody>
          <a:bodyPr anchor="t" rtlCol="false" tIns="0" lIns="0" bIns="0" rIns="0">
            <a:spAutoFit/>
          </a:bodyPr>
          <a:lstStyle/>
          <a:p>
            <a:pPr algn="l">
              <a:lnSpc>
                <a:spcPts val="6284"/>
              </a:lnSpc>
            </a:pPr>
            <a:r>
              <a:rPr lang="en-US" b="true" sz="6479" spc="-303">
                <a:solidFill>
                  <a:srgbClr val="000000"/>
                </a:solidFill>
                <a:latin typeface="TT Hoves Bold"/>
                <a:ea typeface="TT Hoves Bold"/>
                <a:cs typeface="TT Hoves Bold"/>
                <a:sym typeface="TT Hoves Bold"/>
              </a:rPr>
              <a:t>What Problem </a:t>
            </a:r>
            <a:r>
              <a:rPr lang="en-US" b="true" sz="6479" spc="-303">
                <a:solidFill>
                  <a:srgbClr val="000000"/>
                </a:solidFill>
                <a:latin typeface="TT Hoves Bold"/>
                <a:ea typeface="TT Hoves Bold"/>
                <a:cs typeface="TT Hoves Bold"/>
                <a:sym typeface="TT Hoves Bold"/>
              </a:rPr>
              <a:t>M3 Solves and Why It Matters</a:t>
            </a:r>
          </a:p>
        </p:txBody>
      </p:sp>
      <p:sp>
        <p:nvSpPr>
          <p:cNvPr name="Freeform 3" id="3"/>
          <p:cNvSpPr/>
          <p:nvPr/>
        </p:nvSpPr>
        <p:spPr>
          <a:xfrm flipH="false" flipV="false" rot="0">
            <a:off x="8837751" y="-7945629"/>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1960587"/>
            <a:ext cx="15642753" cy="8369196"/>
          </a:xfrm>
          <a:prstGeom prst="rect">
            <a:avLst/>
          </a:prstGeom>
        </p:spPr>
        <p:txBody>
          <a:bodyPr anchor="t" rtlCol="false" tIns="0" lIns="0" bIns="0" rIns="0">
            <a:spAutoFit/>
          </a:bodyPr>
          <a:lstStyle/>
          <a:p>
            <a:pPr algn="just">
              <a:lnSpc>
                <a:spcPts val="3330"/>
              </a:lnSpc>
            </a:pPr>
            <a:r>
              <a:rPr lang="en-US" sz="2379">
                <a:solidFill>
                  <a:srgbClr val="000000"/>
                </a:solidFill>
                <a:latin typeface="TT Hoves"/>
                <a:ea typeface="TT Hoves"/>
                <a:cs typeface="TT Hoves"/>
                <a:sym typeface="TT Hoves"/>
              </a:rPr>
              <a:t>In Milestone 3, I didn’t just test the tools again. I built a traffic-aware controller that generates the best path automatically based on real network conditions. Instead of manua</a:t>
            </a:r>
            <a:r>
              <a:rPr lang="en-US" sz="2379">
                <a:solidFill>
                  <a:srgbClr val="000000"/>
                </a:solidFill>
                <a:latin typeface="TT Hoves"/>
                <a:ea typeface="TT Hoves"/>
                <a:cs typeface="TT Hoves"/>
                <a:sym typeface="TT Hoves"/>
              </a:rPr>
              <a:t>lly picking Static, WireGuard, or sshuttle, the system watches the network and switches modes on its own.</a:t>
            </a:r>
          </a:p>
          <a:p>
            <a:pPr algn="just">
              <a:lnSpc>
                <a:spcPts val="3330"/>
              </a:lnSpc>
            </a:pPr>
            <a:r>
              <a:rPr lang="en-US" sz="2379" b="true">
                <a:solidFill>
                  <a:srgbClr val="000000"/>
                </a:solidFill>
                <a:latin typeface="TT Hoves Bold"/>
                <a:ea typeface="TT Hoves Bold"/>
                <a:cs typeface="TT Hoves Bold"/>
                <a:sym typeface="TT Hoves Bold"/>
              </a:rPr>
              <a:t>Here’s what it does:</a:t>
            </a:r>
          </a:p>
          <a:p>
            <a:pPr algn="just" marL="513646" indent="-256823" lvl="1">
              <a:lnSpc>
                <a:spcPts val="3330"/>
              </a:lnSpc>
              <a:buFont typeface="Arial"/>
              <a:buChar char="•"/>
            </a:pPr>
            <a:r>
              <a:rPr lang="en-US" sz="2379">
                <a:solidFill>
                  <a:srgbClr val="000000"/>
                </a:solidFill>
                <a:latin typeface="TT Hoves"/>
                <a:ea typeface="TT Hoves"/>
                <a:cs typeface="TT Hoves"/>
                <a:sym typeface="TT Hoves"/>
              </a:rPr>
              <a:t>I deployed a 3-node topology on FABRIC (Node1 -&gt; Node2 -&gt;</a:t>
            </a:r>
            <a:r>
              <a:rPr lang="en-US" sz="2379">
                <a:solidFill>
                  <a:srgbClr val="000000"/>
                </a:solidFill>
                <a:latin typeface="TT Hoves"/>
                <a:ea typeface="TT Hoves"/>
                <a:cs typeface="TT Hoves"/>
                <a:sym typeface="TT Hoves"/>
              </a:rPr>
              <a:t> Node3) and generated cont</a:t>
            </a:r>
            <a:r>
              <a:rPr lang="en-US" sz="2379">
                <a:solidFill>
                  <a:srgbClr val="000000"/>
                </a:solidFill>
                <a:latin typeface="TT Hoves"/>
                <a:ea typeface="TT Hoves"/>
                <a:cs typeface="TT Hoves"/>
                <a:sym typeface="TT Hoves"/>
              </a:rPr>
              <a:t>inuous background</a:t>
            </a:r>
            <a:r>
              <a:rPr lang="en-US" sz="2379">
                <a:solidFill>
                  <a:srgbClr val="000000"/>
                </a:solidFill>
                <a:latin typeface="TT Hoves"/>
                <a:ea typeface="TT Hoves"/>
                <a:cs typeface="TT Hoves"/>
                <a:sym typeface="TT Hoves"/>
              </a:rPr>
              <a:t> traffic using iperf3 so my tests reflect a real network.</a:t>
            </a:r>
          </a:p>
          <a:p>
            <a:pPr algn="just" marL="513646" indent="-256823" lvl="1">
              <a:lnSpc>
                <a:spcPts val="3330"/>
              </a:lnSpc>
              <a:buFont typeface="Arial"/>
              <a:buChar char="•"/>
            </a:pPr>
            <a:r>
              <a:rPr lang="en-US" sz="2379">
                <a:solidFill>
                  <a:srgbClr val="000000"/>
                </a:solidFill>
                <a:latin typeface="TT Hoves"/>
                <a:ea typeface="TT Hoves"/>
                <a:cs typeface="TT Hoves"/>
                <a:sym typeface="TT Hoves"/>
              </a:rPr>
              <a:t>I</a:t>
            </a:r>
            <a:r>
              <a:rPr lang="en-US" sz="2379">
                <a:solidFill>
                  <a:srgbClr val="000000"/>
                </a:solidFill>
                <a:latin typeface="TT Hoves"/>
                <a:ea typeface="TT Hoves"/>
                <a:cs typeface="TT Hoves"/>
                <a:sym typeface="TT Hoves"/>
              </a:rPr>
              <a:t> wrote a monitoring loop that runs every 20 seconds, checking actual performance: latency, </a:t>
            </a:r>
            <a:r>
              <a:rPr lang="en-US" sz="2379">
                <a:solidFill>
                  <a:srgbClr val="000000"/>
                </a:solidFill>
                <a:latin typeface="TT Hoves"/>
                <a:ea typeface="TT Hoves"/>
                <a:cs typeface="TT Hoves"/>
                <a:sym typeface="TT Hoves"/>
              </a:rPr>
              <a:t>p</a:t>
            </a:r>
            <a:r>
              <a:rPr lang="en-US" sz="2379">
                <a:solidFill>
                  <a:srgbClr val="000000"/>
                </a:solidFill>
                <a:latin typeface="TT Hoves"/>
                <a:ea typeface="TT Hoves"/>
                <a:cs typeface="TT Hoves"/>
                <a:sym typeface="TT Hoves"/>
              </a:rPr>
              <a:t>acket loss, tunnel health, and whether the current scenario needs ICMP support or encryption.</a:t>
            </a:r>
          </a:p>
          <a:p>
            <a:pPr algn="just" marL="513646" indent="-256823" lvl="1">
              <a:lnSpc>
                <a:spcPts val="3330"/>
              </a:lnSpc>
              <a:buFont typeface="Arial"/>
              <a:buChar char="•"/>
            </a:pPr>
            <a:r>
              <a:rPr lang="en-US" b="true" sz="2379">
                <a:solidFill>
                  <a:srgbClr val="000000"/>
                </a:solidFill>
                <a:latin typeface="TT Hoves Bold"/>
                <a:ea typeface="TT Hoves Bold"/>
                <a:cs typeface="TT Hoves Bold"/>
                <a:sym typeface="TT Hoves Bold"/>
              </a:rPr>
              <a:t>Based on these live measurements, the controller automatically selects the best method:</a:t>
            </a:r>
          </a:p>
          <a:p>
            <a:pPr algn="just" marL="1027291" indent="-342430" lvl="2">
              <a:lnSpc>
                <a:spcPts val="3330"/>
              </a:lnSpc>
              <a:buFont typeface="Arial"/>
              <a:buChar char="⚬"/>
            </a:pPr>
            <a:r>
              <a:rPr lang="en-US" sz="2379">
                <a:solidFill>
                  <a:srgbClr val="000000"/>
                </a:solidFill>
                <a:latin typeface="TT Hoves"/>
                <a:ea typeface="TT Hoves"/>
                <a:cs typeface="TT Hoves"/>
                <a:sym typeface="TT Hoves"/>
              </a:rPr>
              <a:t>Static -&gt; wh</a:t>
            </a:r>
            <a:r>
              <a:rPr lang="en-US" sz="2379">
                <a:solidFill>
                  <a:srgbClr val="000000"/>
                </a:solidFill>
                <a:latin typeface="TT Hoves"/>
                <a:ea typeface="TT Hoves"/>
                <a:cs typeface="TT Hoves"/>
                <a:sym typeface="TT Hoves"/>
              </a:rPr>
              <a:t>en lowest latency or ICMP is needed</a:t>
            </a:r>
          </a:p>
          <a:p>
            <a:pPr algn="just" marL="1027291" indent="-342430" lvl="2">
              <a:lnSpc>
                <a:spcPts val="3330"/>
              </a:lnSpc>
              <a:buFont typeface="Arial"/>
              <a:buChar char="⚬"/>
            </a:pPr>
            <a:r>
              <a:rPr lang="en-US" sz="2379">
                <a:solidFill>
                  <a:srgbClr val="000000"/>
                </a:solidFill>
                <a:latin typeface="TT Hoves"/>
                <a:ea typeface="TT Hoves"/>
                <a:cs typeface="TT Hoves"/>
                <a:sym typeface="TT Hoves"/>
              </a:rPr>
              <a:t>WireGuard -&gt; when encrypted</a:t>
            </a:r>
            <a:r>
              <a:rPr lang="en-US" sz="2379">
                <a:solidFill>
                  <a:srgbClr val="000000"/>
                </a:solidFill>
                <a:latin typeface="TT Hoves"/>
                <a:ea typeface="TT Hoves"/>
                <a:cs typeface="TT Hoves"/>
                <a:sym typeface="TT Hoves"/>
              </a:rPr>
              <a:t> communication is required</a:t>
            </a:r>
          </a:p>
          <a:p>
            <a:pPr algn="just" marL="1027291" indent="-342430" lvl="2">
              <a:lnSpc>
                <a:spcPts val="3330"/>
              </a:lnSpc>
              <a:buFont typeface="Arial"/>
              <a:buChar char="⚬"/>
            </a:pPr>
            <a:r>
              <a:rPr lang="en-US" sz="2379">
                <a:solidFill>
                  <a:srgbClr val="000000"/>
                </a:solidFill>
                <a:latin typeface="TT Hoves"/>
                <a:ea typeface="TT Hoves"/>
                <a:cs typeface="TT Hoves"/>
                <a:sym typeface="TT Hoves"/>
              </a:rPr>
              <a:t>sshuttle -&gt; when TCP-only tunneling is preferred</a:t>
            </a:r>
          </a:p>
          <a:p>
            <a:pPr algn="just" marL="1027291" indent="-342430" lvl="2">
              <a:lnSpc>
                <a:spcPts val="3330"/>
              </a:lnSpc>
              <a:buFont typeface="Arial"/>
              <a:buChar char="⚬"/>
            </a:pPr>
            <a:r>
              <a:rPr lang="en-US" sz="2379">
                <a:solidFill>
                  <a:srgbClr val="000000"/>
                </a:solidFill>
                <a:latin typeface="TT Hoves"/>
                <a:ea typeface="TT Hoves"/>
                <a:cs typeface="TT Hoves"/>
                <a:sym typeface="TT Hoves"/>
              </a:rPr>
              <a:t>(sshuttle is layered on top of static routing to ensure it always works.)</a:t>
            </a:r>
          </a:p>
          <a:p>
            <a:pPr algn="just" marL="513646" indent="-256823" lvl="1">
              <a:lnSpc>
                <a:spcPts val="3330"/>
              </a:lnSpc>
              <a:buFont typeface="Arial"/>
              <a:buChar char="•"/>
            </a:pPr>
            <a:r>
              <a:rPr lang="en-US" sz="2379">
                <a:solidFill>
                  <a:srgbClr val="000000"/>
                </a:solidFill>
                <a:latin typeface="TT Hoves"/>
                <a:ea typeface="TT Hoves"/>
                <a:cs typeface="TT Hoves"/>
                <a:sym typeface="TT Hoves"/>
              </a:rPr>
              <a:t>To</a:t>
            </a:r>
            <a:r>
              <a:rPr lang="en-US" sz="2379">
                <a:solidFill>
                  <a:srgbClr val="000000"/>
                </a:solidFill>
                <a:latin typeface="TT Hoves"/>
                <a:ea typeface="TT Hoves"/>
                <a:cs typeface="TT Hoves"/>
                <a:sym typeface="TT Hoves"/>
              </a:rPr>
              <a:t> make the system more realistic, I added fault injection the controller purposely breaks the current method (kills sshuttl</a:t>
            </a:r>
            <a:r>
              <a:rPr lang="en-US" sz="2379">
                <a:solidFill>
                  <a:srgbClr val="000000"/>
                </a:solidFill>
                <a:latin typeface="TT Hoves"/>
                <a:ea typeface="TT Hoves"/>
                <a:cs typeface="TT Hoves"/>
                <a:sym typeface="TT Hoves"/>
              </a:rPr>
              <a:t>e, delete</a:t>
            </a:r>
            <a:r>
              <a:rPr lang="en-US" sz="2379">
                <a:solidFill>
                  <a:srgbClr val="000000"/>
                </a:solidFill>
                <a:latin typeface="TT Hoves"/>
                <a:ea typeface="TT Hoves"/>
                <a:cs typeface="TT Hoves"/>
                <a:sym typeface="TT Hoves"/>
              </a:rPr>
              <a:t>s routes, or stops WireGuard) to check if it can detect the failure and recover.</a:t>
            </a:r>
          </a:p>
          <a:p>
            <a:pPr algn="just" marL="513646" indent="-256823" lvl="1">
              <a:lnSpc>
                <a:spcPts val="3330"/>
              </a:lnSpc>
              <a:buFont typeface="Arial"/>
              <a:buChar char="•"/>
            </a:pPr>
            <a:r>
              <a:rPr lang="en-US" sz="2379">
                <a:solidFill>
                  <a:srgbClr val="000000"/>
                </a:solidFill>
                <a:latin typeface="TT Hoves"/>
                <a:ea typeface="TT Hoves"/>
                <a:cs typeface="TT Hoves"/>
                <a:sym typeface="TT Hoves"/>
              </a:rPr>
              <a:t>A</a:t>
            </a:r>
            <a:r>
              <a:rPr lang="en-US" sz="2379">
                <a:solidFill>
                  <a:srgbClr val="000000"/>
                </a:solidFill>
                <a:latin typeface="TT Hoves"/>
                <a:ea typeface="TT Hoves"/>
                <a:cs typeface="TT Hoves"/>
                <a:sym typeface="TT Hoves"/>
              </a:rPr>
              <a:t>fter each run, the controller outputs a clean, compact summary of every cycle which mode was used, the measured latency, and the packet loss.</a:t>
            </a:r>
          </a:p>
          <a:p>
            <a:pPr algn="just">
              <a:lnSpc>
                <a:spcPts val="3330"/>
              </a:lnSpc>
            </a:pPr>
            <a:r>
              <a:rPr lang="en-US" sz="2379">
                <a:solidFill>
                  <a:srgbClr val="000000"/>
                </a:solidFill>
                <a:latin typeface="TT Hoves"/>
                <a:ea typeface="TT Hoves"/>
                <a:cs typeface="TT Hoves"/>
                <a:sym typeface="TT Hoves"/>
              </a:rPr>
              <a:t>Overall, the result is a self-adjusting routing/tunneling generator that reacts to performance changes and maintains connectivity without manual intervention.</a:t>
            </a:r>
          </a:p>
          <a:p>
            <a:pPr algn="just">
              <a:lnSpc>
                <a:spcPts val="3330"/>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549275" y="658254"/>
            <a:ext cx="9973270" cy="883768"/>
          </a:xfrm>
          <a:prstGeom prst="rect">
            <a:avLst/>
          </a:prstGeom>
        </p:spPr>
        <p:txBody>
          <a:bodyPr anchor="t" rtlCol="false" tIns="0" lIns="0" bIns="0" rIns="0">
            <a:spAutoFit/>
          </a:bodyPr>
          <a:lstStyle/>
          <a:p>
            <a:pPr algn="l">
              <a:lnSpc>
                <a:spcPts val="6576"/>
              </a:lnSpc>
            </a:pPr>
            <a:r>
              <a:rPr lang="en-US" b="true" sz="6779" spc="-318">
                <a:solidFill>
                  <a:srgbClr val="000000"/>
                </a:solidFill>
                <a:latin typeface="TT Hoves Bold"/>
                <a:ea typeface="TT Hoves Bold"/>
                <a:cs typeface="TT Hoves Bold"/>
                <a:sym typeface="TT Hoves Bold"/>
              </a:rPr>
              <a:t>What I Ac</a:t>
            </a:r>
            <a:r>
              <a:rPr lang="en-US" b="true" sz="6779" spc="-318">
                <a:solidFill>
                  <a:srgbClr val="000000"/>
                </a:solidFill>
                <a:latin typeface="TT Hoves Bold"/>
                <a:ea typeface="TT Hoves Bold"/>
                <a:cs typeface="TT Hoves Bold"/>
                <a:sym typeface="TT Hoves Bold"/>
              </a:rPr>
              <a:t>tually Built in M3</a:t>
            </a:r>
          </a:p>
        </p:txBody>
      </p:sp>
      <p:sp>
        <p:nvSpPr>
          <p:cNvPr name="Freeform 3" id="3"/>
          <p:cNvSpPr/>
          <p:nvPr/>
        </p:nvSpPr>
        <p:spPr>
          <a:xfrm flipH="false" flipV="false" rot="0">
            <a:off x="8837751" y="-7945629"/>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3195679"/>
            <a:ext cx="7298576" cy="6790055"/>
          </a:xfrm>
          <a:prstGeom prst="rect">
            <a:avLst/>
          </a:prstGeom>
        </p:spPr>
        <p:txBody>
          <a:bodyPr anchor="t" rtlCol="false" tIns="0" lIns="0" bIns="0" rIns="0">
            <a:spAutoFit/>
          </a:bodyPr>
          <a:lstStyle/>
          <a:p>
            <a:pPr algn="just">
              <a:lnSpc>
                <a:spcPts val="3220"/>
              </a:lnSpc>
            </a:pPr>
            <a:r>
              <a:rPr lang="en-US" sz="2300" b="true">
                <a:solidFill>
                  <a:srgbClr val="000000"/>
                </a:solidFill>
                <a:latin typeface="TT Hoves Bold"/>
                <a:ea typeface="TT Hoves Bold"/>
                <a:cs typeface="TT Hoves Bold"/>
                <a:sym typeface="TT Hoves Bold"/>
              </a:rPr>
              <a:t>1. Setup</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Cl</a:t>
            </a:r>
            <a:r>
              <a:rPr lang="en-US" sz="2300">
                <a:solidFill>
                  <a:srgbClr val="000000"/>
                </a:solidFill>
                <a:latin typeface="TT Hoves"/>
                <a:ea typeface="TT Hoves"/>
                <a:cs typeface="TT Hoves"/>
                <a:sym typeface="TT Hoves"/>
              </a:rPr>
              <a:t>e</a:t>
            </a:r>
            <a:r>
              <a:rPr lang="en-US" sz="2300">
                <a:solidFill>
                  <a:srgbClr val="000000"/>
                </a:solidFill>
                <a:latin typeface="TT Hoves"/>
                <a:ea typeface="TT Hoves"/>
                <a:cs typeface="TT Hoves"/>
                <a:sym typeface="TT Hoves"/>
              </a:rPr>
              <a:t>a</a:t>
            </a:r>
            <a:r>
              <a:rPr lang="en-US" sz="2300">
                <a:solidFill>
                  <a:srgbClr val="000000"/>
                </a:solidFill>
                <a:latin typeface="TT Hoves"/>
                <a:ea typeface="TT Hoves"/>
                <a:cs typeface="TT Hoves"/>
                <a:sym typeface="TT Hoves"/>
              </a:rPr>
              <a:t>r</a:t>
            </a:r>
            <a:r>
              <a:rPr lang="en-US" sz="2300">
                <a:solidFill>
                  <a:srgbClr val="000000"/>
                </a:solidFill>
                <a:latin typeface="TT Hoves"/>
                <a:ea typeface="TT Hoves"/>
                <a:cs typeface="TT Hoves"/>
                <a:sym typeface="TT Hoves"/>
              </a:rPr>
              <a:t>s old tunn</a:t>
            </a:r>
            <a:r>
              <a:rPr lang="en-US" sz="2300">
                <a:solidFill>
                  <a:srgbClr val="000000"/>
                </a:solidFill>
                <a:latin typeface="TT Hoves"/>
                <a:ea typeface="TT Hoves"/>
                <a:cs typeface="TT Hoves"/>
                <a:sym typeface="TT Hoves"/>
              </a:rPr>
              <a:t>e</a:t>
            </a:r>
            <a:r>
              <a:rPr lang="en-US" sz="2300">
                <a:solidFill>
                  <a:srgbClr val="000000"/>
                </a:solidFill>
                <a:latin typeface="TT Hoves"/>
                <a:ea typeface="TT Hoves"/>
                <a:cs typeface="TT Hoves"/>
                <a:sym typeface="TT Hoves"/>
              </a:rPr>
              <a:t>l</a:t>
            </a:r>
            <a:r>
              <a:rPr lang="en-US" sz="2300">
                <a:solidFill>
                  <a:srgbClr val="000000"/>
                </a:solidFill>
                <a:latin typeface="TT Hoves"/>
                <a:ea typeface="TT Hoves"/>
                <a:cs typeface="TT Hoves"/>
                <a:sym typeface="TT Hoves"/>
              </a:rPr>
              <a:t>s </a:t>
            </a:r>
            <a:r>
              <a:rPr lang="en-US" sz="2300">
                <a:solidFill>
                  <a:srgbClr val="000000"/>
                </a:solidFill>
                <a:latin typeface="TT Hoves"/>
                <a:ea typeface="TT Hoves"/>
                <a:cs typeface="TT Hoves"/>
                <a:sym typeface="TT Hoves"/>
              </a:rPr>
              <a:t>(st</a:t>
            </a:r>
            <a:r>
              <a:rPr lang="en-US" sz="2300">
                <a:solidFill>
                  <a:srgbClr val="000000"/>
                </a:solidFill>
                <a:latin typeface="TT Hoves"/>
                <a:ea typeface="TT Hoves"/>
                <a:cs typeface="TT Hoves"/>
                <a:sym typeface="TT Hoves"/>
              </a:rPr>
              <a:t>ati</a:t>
            </a:r>
            <a:r>
              <a:rPr lang="en-US" sz="2300">
                <a:solidFill>
                  <a:srgbClr val="000000"/>
                </a:solidFill>
                <a:latin typeface="TT Hoves"/>
                <a:ea typeface="TT Hoves"/>
                <a:cs typeface="TT Hoves"/>
                <a:sym typeface="TT Hoves"/>
              </a:rPr>
              <a:t>c</a:t>
            </a:r>
            <a:r>
              <a:rPr lang="en-US" sz="2300">
                <a:solidFill>
                  <a:srgbClr val="000000"/>
                </a:solidFill>
                <a:latin typeface="TT Hoves"/>
                <a:ea typeface="TT Hoves"/>
                <a:cs typeface="TT Hoves"/>
                <a:sym typeface="TT Hoves"/>
              </a:rPr>
              <a:t> </a:t>
            </a:r>
            <a:r>
              <a:rPr lang="en-US" sz="2300">
                <a:solidFill>
                  <a:srgbClr val="000000"/>
                </a:solidFill>
                <a:latin typeface="TT Hoves"/>
                <a:ea typeface="TT Hoves"/>
                <a:cs typeface="TT Hoves"/>
                <a:sym typeface="TT Hoves"/>
              </a:rPr>
              <a:t>r</a:t>
            </a:r>
            <a:r>
              <a:rPr lang="en-US" sz="2300">
                <a:solidFill>
                  <a:srgbClr val="000000"/>
                </a:solidFill>
                <a:latin typeface="TT Hoves"/>
                <a:ea typeface="TT Hoves"/>
                <a:cs typeface="TT Hoves"/>
                <a:sym typeface="TT Hoves"/>
              </a:rPr>
              <a:t>o</a:t>
            </a:r>
            <a:r>
              <a:rPr lang="en-US" sz="2300">
                <a:solidFill>
                  <a:srgbClr val="000000"/>
                </a:solidFill>
                <a:latin typeface="TT Hoves"/>
                <a:ea typeface="TT Hoves"/>
                <a:cs typeface="TT Hoves"/>
                <a:sym typeface="TT Hoves"/>
              </a:rPr>
              <a:t>ut</a:t>
            </a:r>
            <a:r>
              <a:rPr lang="en-US" sz="2300">
                <a:solidFill>
                  <a:srgbClr val="000000"/>
                </a:solidFill>
                <a:latin typeface="TT Hoves"/>
                <a:ea typeface="TT Hoves"/>
                <a:cs typeface="TT Hoves"/>
                <a:sym typeface="TT Hoves"/>
              </a:rPr>
              <a:t>es</a:t>
            </a:r>
            <a:r>
              <a:rPr lang="en-US" sz="2300">
                <a:solidFill>
                  <a:srgbClr val="000000"/>
                </a:solidFill>
                <a:latin typeface="TT Hoves"/>
                <a:ea typeface="TT Hoves"/>
                <a:cs typeface="TT Hoves"/>
                <a:sym typeface="TT Hoves"/>
              </a:rPr>
              <a:t>, WireGuard, sshuttle).</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Starts long-running iperf3 traffic (Node1 -&gt; Node3) so</a:t>
            </a:r>
            <a:r>
              <a:rPr lang="en-US" sz="2300">
                <a:solidFill>
                  <a:srgbClr val="000000"/>
                </a:solidFill>
                <a:latin typeface="TT Hoves"/>
                <a:ea typeface="TT Hoves"/>
                <a:cs typeface="TT Hoves"/>
                <a:sym typeface="TT Hoves"/>
              </a:rPr>
              <a:t> decisions are made under real l</a:t>
            </a:r>
            <a:r>
              <a:rPr lang="en-US" sz="2300">
                <a:solidFill>
                  <a:srgbClr val="000000"/>
                </a:solidFill>
                <a:latin typeface="TT Hoves"/>
                <a:ea typeface="TT Hoves"/>
                <a:cs typeface="TT Hoves"/>
                <a:sym typeface="TT Hoves"/>
              </a:rPr>
              <a:t>oad.</a:t>
            </a:r>
          </a:p>
          <a:p>
            <a:pPr algn="just">
              <a:lnSpc>
                <a:spcPts val="3220"/>
              </a:lnSpc>
            </a:pPr>
            <a:r>
              <a:rPr lang="en-US" sz="2300" b="true">
                <a:solidFill>
                  <a:srgbClr val="000000"/>
                </a:solidFill>
                <a:latin typeface="TT Hoves Bold"/>
                <a:ea typeface="TT Hoves Bold"/>
                <a:cs typeface="TT Hoves Bold"/>
                <a:sym typeface="TT Hoves Bold"/>
              </a:rPr>
              <a:t>2.</a:t>
            </a:r>
            <a:r>
              <a:rPr lang="en-US" sz="2300" b="true">
                <a:solidFill>
                  <a:srgbClr val="000000"/>
                </a:solidFill>
                <a:latin typeface="TT Hoves Bold"/>
                <a:ea typeface="TT Hoves Bold"/>
                <a:cs typeface="TT Hoves Bold"/>
                <a:sym typeface="TT Hoves Bold"/>
              </a:rPr>
              <a:t> Starting Mode</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Encryption needed -&gt; WireGuard</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Low-latency/ICMP priority -&gt; Static</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TCP-only case -&gt; sshuttle (runs over static)</a:t>
            </a:r>
          </a:p>
          <a:p>
            <a:pPr algn="just">
              <a:lnSpc>
                <a:spcPts val="3220"/>
              </a:lnSpc>
            </a:pPr>
            <a:r>
              <a:rPr lang="en-US" sz="2300" b="true">
                <a:solidFill>
                  <a:srgbClr val="000000"/>
                </a:solidFill>
                <a:latin typeface="TT Hoves Bold"/>
                <a:ea typeface="TT Hoves Bold"/>
                <a:cs typeface="TT Hoves Bold"/>
                <a:sym typeface="TT Hoves Bold"/>
              </a:rPr>
              <a:t>3. Monitoring Loop</a:t>
            </a:r>
          </a:p>
          <a:p>
            <a:pPr algn="just">
              <a:lnSpc>
                <a:spcPts val="3220"/>
              </a:lnSpc>
            </a:pPr>
            <a:r>
              <a:rPr lang="en-US" sz="2300" b="true">
                <a:solidFill>
                  <a:srgbClr val="000000"/>
                </a:solidFill>
                <a:latin typeface="TT Hoves Bold"/>
                <a:ea typeface="TT Hoves Bold"/>
                <a:cs typeface="TT Hoves Bold"/>
                <a:sym typeface="TT Hoves Bold"/>
              </a:rPr>
              <a:t>Runs every 20 seconds:</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Measures latency + </a:t>
            </a:r>
            <a:r>
              <a:rPr lang="en-US" sz="2300">
                <a:solidFill>
                  <a:srgbClr val="000000"/>
                </a:solidFill>
                <a:latin typeface="TT Hoves"/>
                <a:ea typeface="TT Hoves"/>
                <a:cs typeface="TT Hoves"/>
                <a:sym typeface="TT Hoves"/>
              </a:rPr>
              <a:t>p</a:t>
            </a:r>
            <a:r>
              <a:rPr lang="en-US" sz="2300">
                <a:solidFill>
                  <a:srgbClr val="000000"/>
                </a:solidFill>
                <a:latin typeface="TT Hoves"/>
                <a:ea typeface="TT Hoves"/>
                <a:cs typeface="TT Hoves"/>
                <a:sym typeface="TT Hoves"/>
              </a:rPr>
              <a:t>acket loss using ping</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Logs mode + metrics</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Injects faults every few cycles (drops routes / kills sshuttle / downs WG)</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Check</a:t>
            </a:r>
            <a:r>
              <a:rPr lang="en-US" sz="2300">
                <a:solidFill>
                  <a:srgbClr val="000000"/>
                </a:solidFill>
                <a:latin typeface="TT Hoves"/>
                <a:ea typeface="TT Hoves"/>
                <a:cs typeface="TT Hoves"/>
                <a:sym typeface="TT Hoves"/>
              </a:rPr>
              <a:t>s </a:t>
            </a:r>
            <a:r>
              <a:rPr lang="en-US" sz="2300">
                <a:solidFill>
                  <a:srgbClr val="000000"/>
                </a:solidFill>
                <a:latin typeface="TT Hoves"/>
                <a:ea typeface="TT Hoves"/>
                <a:cs typeface="TT Hoves"/>
                <a:sym typeface="TT Hoves"/>
              </a:rPr>
              <a:t>if</a:t>
            </a:r>
            <a:r>
              <a:rPr lang="en-US" sz="2300">
                <a:solidFill>
                  <a:srgbClr val="000000"/>
                </a:solidFill>
                <a:latin typeface="TT Hoves"/>
                <a:ea typeface="TT Hoves"/>
                <a:cs typeface="TT Hoves"/>
                <a:sym typeface="TT Hoves"/>
              </a:rPr>
              <a:t> the li</a:t>
            </a:r>
            <a:r>
              <a:rPr lang="en-US" sz="2300">
                <a:solidFill>
                  <a:srgbClr val="000000"/>
                </a:solidFill>
                <a:latin typeface="TT Hoves"/>
                <a:ea typeface="TT Hoves"/>
                <a:cs typeface="TT Hoves"/>
                <a:sym typeface="TT Hoves"/>
              </a:rPr>
              <a:t>nk is</a:t>
            </a:r>
            <a:r>
              <a:rPr lang="en-US" sz="2300">
                <a:solidFill>
                  <a:srgbClr val="000000"/>
                </a:solidFill>
                <a:latin typeface="TT Hoves"/>
                <a:ea typeface="TT Hoves"/>
                <a:cs typeface="TT Hoves"/>
                <a:sym typeface="TT Hoves"/>
              </a:rPr>
              <a:t> </a:t>
            </a:r>
            <a:r>
              <a:rPr lang="en-US" sz="2300">
                <a:solidFill>
                  <a:srgbClr val="000000"/>
                </a:solidFill>
                <a:latin typeface="TT Hoves"/>
                <a:ea typeface="TT Hoves"/>
                <a:cs typeface="TT Hoves"/>
                <a:sym typeface="TT Hoves"/>
              </a:rPr>
              <a:t>h</a:t>
            </a:r>
            <a:r>
              <a:rPr lang="en-US" sz="2300">
                <a:solidFill>
                  <a:srgbClr val="000000"/>
                </a:solidFill>
                <a:latin typeface="TT Hoves"/>
                <a:ea typeface="TT Hoves"/>
                <a:cs typeface="TT Hoves"/>
                <a:sym typeface="TT Hoves"/>
              </a:rPr>
              <a:t>ea</a:t>
            </a:r>
            <a:r>
              <a:rPr lang="en-US" sz="2300">
                <a:solidFill>
                  <a:srgbClr val="000000"/>
                </a:solidFill>
                <a:latin typeface="TT Hoves"/>
                <a:ea typeface="TT Hoves"/>
                <a:cs typeface="TT Hoves"/>
                <a:sym typeface="TT Hoves"/>
              </a:rPr>
              <a:t>l</a:t>
            </a:r>
            <a:r>
              <a:rPr lang="en-US" sz="2300">
                <a:solidFill>
                  <a:srgbClr val="000000"/>
                </a:solidFill>
                <a:latin typeface="TT Hoves"/>
                <a:ea typeface="TT Hoves"/>
                <a:cs typeface="TT Hoves"/>
                <a:sym typeface="TT Hoves"/>
              </a:rPr>
              <a:t>t</a:t>
            </a:r>
            <a:r>
              <a:rPr lang="en-US" sz="2300">
                <a:solidFill>
                  <a:srgbClr val="000000"/>
                </a:solidFill>
                <a:latin typeface="TT Hoves"/>
                <a:ea typeface="TT Hoves"/>
                <a:cs typeface="TT Hoves"/>
                <a:sym typeface="TT Hoves"/>
              </a:rPr>
              <a:t>hy</a:t>
            </a:r>
          </a:p>
          <a:p>
            <a:pPr algn="just">
              <a:lnSpc>
                <a:spcPts val="3220"/>
              </a:lnSpc>
            </a:pPr>
          </a:p>
        </p:txBody>
      </p:sp>
      <p:sp>
        <p:nvSpPr>
          <p:cNvPr name="TextBox 5" id="5"/>
          <p:cNvSpPr txBox="true"/>
          <p:nvPr/>
        </p:nvSpPr>
        <p:spPr>
          <a:xfrm rot="0">
            <a:off x="9144000" y="3195679"/>
            <a:ext cx="7493947" cy="6790055"/>
          </a:xfrm>
          <a:prstGeom prst="rect">
            <a:avLst/>
          </a:prstGeom>
        </p:spPr>
        <p:txBody>
          <a:bodyPr anchor="t" rtlCol="false" tIns="0" lIns="0" bIns="0" rIns="0">
            <a:spAutoFit/>
          </a:bodyPr>
          <a:lstStyle/>
          <a:p>
            <a:pPr algn="l">
              <a:lnSpc>
                <a:spcPts val="3220"/>
              </a:lnSpc>
            </a:pPr>
            <a:r>
              <a:rPr lang="en-US" sz="2300" spc="-105" b="true">
                <a:solidFill>
                  <a:srgbClr val="000000"/>
                </a:solidFill>
                <a:latin typeface="TT Hoves Bold"/>
                <a:ea typeface="TT Hoves Bold"/>
                <a:cs typeface="TT Hoves Bold"/>
                <a:sym typeface="TT Hoves Bold"/>
              </a:rPr>
              <a:t>4. Decision Logic</a:t>
            </a:r>
          </a:p>
          <a:p>
            <a:pPr algn="l" marL="496571" indent="-248285" lvl="1">
              <a:lnSpc>
                <a:spcPts val="3220"/>
              </a:lnSpc>
              <a:buFont typeface="Arial"/>
              <a:buChar char="•"/>
            </a:pPr>
            <a:r>
              <a:rPr lang="en-US" sz="2300" spc="-105">
                <a:solidFill>
                  <a:srgbClr val="000000"/>
                </a:solidFill>
                <a:latin typeface="TT Hoves"/>
                <a:ea typeface="TT Hoves"/>
                <a:cs typeface="TT Hoves"/>
                <a:sym typeface="TT Hoves"/>
              </a:rPr>
              <a:t>If link is bad -&gt; switch to a healthier mode</a:t>
            </a:r>
          </a:p>
          <a:p>
            <a:pPr algn="l" marL="496571" indent="-248285" lvl="1">
              <a:lnSpc>
                <a:spcPts val="3220"/>
              </a:lnSpc>
              <a:buFont typeface="Arial"/>
              <a:buChar char="•"/>
            </a:pPr>
            <a:r>
              <a:rPr lang="en-US" sz="2300" spc="-105">
                <a:solidFill>
                  <a:srgbClr val="000000"/>
                </a:solidFill>
                <a:latin typeface="TT Hoves"/>
                <a:ea typeface="TT Hoves"/>
                <a:cs typeface="TT Hoves"/>
                <a:sym typeface="TT Hoves"/>
              </a:rPr>
              <a:t>Otherwise -&gt; stay on current mode</a:t>
            </a:r>
          </a:p>
          <a:p>
            <a:pPr algn="l" marL="496571" indent="-248285" lvl="1">
              <a:lnSpc>
                <a:spcPts val="3220"/>
              </a:lnSpc>
              <a:buFont typeface="Arial"/>
              <a:buChar char="•"/>
            </a:pPr>
            <a:r>
              <a:rPr lang="en-US" sz="2300" spc="-105">
                <a:solidFill>
                  <a:srgbClr val="000000"/>
                </a:solidFill>
                <a:latin typeface="TT Hoves"/>
                <a:ea typeface="TT Hoves"/>
                <a:cs typeface="TT Hoves"/>
                <a:sym typeface="TT Hoves"/>
              </a:rPr>
              <a:t>Preference rules:</a:t>
            </a:r>
          </a:p>
          <a:p>
            <a:pPr algn="l" marL="993141" indent="-331047" lvl="2">
              <a:lnSpc>
                <a:spcPts val="3220"/>
              </a:lnSpc>
              <a:buFont typeface="Arial"/>
              <a:buChar char="⚬"/>
            </a:pPr>
            <a:r>
              <a:rPr lang="en-US" sz="2300" spc="-105">
                <a:solidFill>
                  <a:srgbClr val="000000"/>
                </a:solidFill>
                <a:latin typeface="TT Hoves"/>
                <a:ea typeface="TT Hoves"/>
                <a:cs typeface="TT Hoves"/>
                <a:sym typeface="TT Hoves"/>
              </a:rPr>
              <a:t>WireGuard for secure traffic</a:t>
            </a:r>
          </a:p>
          <a:p>
            <a:pPr algn="l" marL="993141" indent="-331047" lvl="2">
              <a:lnSpc>
                <a:spcPts val="3220"/>
              </a:lnSpc>
              <a:spcBef>
                <a:spcPct val="0"/>
              </a:spcBef>
              <a:buFont typeface="Arial"/>
              <a:buChar char="⚬"/>
            </a:pPr>
            <a:r>
              <a:rPr lang="en-US" sz="2300" spc="-105">
                <a:solidFill>
                  <a:srgbClr val="000000"/>
                </a:solidFill>
                <a:latin typeface="TT Hoves"/>
                <a:ea typeface="TT Hoves"/>
                <a:cs typeface="TT Hoves"/>
                <a:sym typeface="TT Hoves"/>
              </a:rPr>
              <a:t>Static f</a:t>
            </a:r>
            <a:r>
              <a:rPr lang="en-US" sz="2300" spc="-105">
                <a:solidFill>
                  <a:srgbClr val="000000"/>
                </a:solidFill>
                <a:latin typeface="TT Hoves"/>
                <a:ea typeface="TT Hoves"/>
                <a:cs typeface="TT Hoves"/>
                <a:sym typeface="TT Hoves"/>
              </a:rPr>
              <a:t>or lowest latency / reliable ICMP</a:t>
            </a:r>
          </a:p>
          <a:p>
            <a:pPr algn="l" marL="993141" indent="-331047" lvl="2">
              <a:lnSpc>
                <a:spcPts val="3220"/>
              </a:lnSpc>
              <a:spcBef>
                <a:spcPct val="0"/>
              </a:spcBef>
              <a:buFont typeface="Arial"/>
              <a:buChar char="⚬"/>
            </a:pPr>
            <a:r>
              <a:rPr lang="en-US" sz="2300" spc="-105">
                <a:solidFill>
                  <a:srgbClr val="000000"/>
                </a:solidFill>
                <a:latin typeface="TT Hoves"/>
                <a:ea typeface="TT Hoves"/>
                <a:cs typeface="TT Hoves"/>
                <a:sym typeface="TT Hoves"/>
              </a:rPr>
              <a:t>sshuttle for TCP-only tunneling</a:t>
            </a:r>
          </a:p>
          <a:p>
            <a:pPr algn="l">
              <a:lnSpc>
                <a:spcPts val="3220"/>
              </a:lnSpc>
              <a:spcBef>
                <a:spcPct val="0"/>
              </a:spcBef>
            </a:pPr>
            <a:r>
              <a:rPr lang="en-US" b="true" sz="2300" spc="-105">
                <a:solidFill>
                  <a:srgbClr val="000000"/>
                </a:solidFill>
                <a:latin typeface="TT Hoves Bold"/>
                <a:ea typeface="TT Hoves Bold"/>
                <a:cs typeface="TT Hoves Bold"/>
                <a:sym typeface="TT Hoves Bold"/>
              </a:rPr>
              <a:t>5. Smooth Mode Switching</a:t>
            </a:r>
          </a:p>
          <a:p>
            <a:pPr algn="l" marL="496571" indent="-248285" lvl="1">
              <a:lnSpc>
                <a:spcPts val="3220"/>
              </a:lnSpc>
              <a:spcBef>
                <a:spcPct val="0"/>
              </a:spcBef>
              <a:buFont typeface="Arial"/>
              <a:buChar char="•"/>
            </a:pPr>
            <a:r>
              <a:rPr lang="en-US" sz="2300" spc="-105">
                <a:solidFill>
                  <a:srgbClr val="000000"/>
                </a:solidFill>
                <a:latin typeface="TT Hoves"/>
                <a:ea typeface="TT Hoves"/>
                <a:cs typeface="TT Hoves"/>
                <a:sym typeface="TT Hoves"/>
              </a:rPr>
              <a:t>Stops only what’s required</a:t>
            </a:r>
          </a:p>
          <a:p>
            <a:pPr algn="l" marL="496571" indent="-248285" lvl="1">
              <a:lnSpc>
                <a:spcPts val="3220"/>
              </a:lnSpc>
              <a:spcBef>
                <a:spcPct val="0"/>
              </a:spcBef>
              <a:buFont typeface="Arial"/>
              <a:buChar char="•"/>
            </a:pPr>
            <a:r>
              <a:rPr lang="en-US" sz="2300" spc="-105">
                <a:solidFill>
                  <a:srgbClr val="000000"/>
                </a:solidFill>
                <a:latin typeface="TT Hoves"/>
                <a:ea typeface="TT Hoves"/>
                <a:cs typeface="TT Hoves"/>
                <a:sym typeface="TT Hoves"/>
              </a:rPr>
              <a:t>Re-activates the selected mode</a:t>
            </a:r>
          </a:p>
          <a:p>
            <a:pPr algn="l" marL="496571" indent="-248285" lvl="1">
              <a:lnSpc>
                <a:spcPts val="3220"/>
              </a:lnSpc>
              <a:spcBef>
                <a:spcPct val="0"/>
              </a:spcBef>
              <a:buFont typeface="Arial"/>
              <a:buChar char="•"/>
            </a:pPr>
            <a:r>
              <a:rPr lang="en-US" sz="2300" spc="-105">
                <a:solidFill>
                  <a:srgbClr val="000000"/>
                </a:solidFill>
                <a:latin typeface="TT Hoves"/>
                <a:ea typeface="TT Hoves"/>
                <a:cs typeface="TT Hoves"/>
                <a:sym typeface="TT Hoves"/>
              </a:rPr>
              <a:t>Ensures sshuttle always has static routing under it</a:t>
            </a:r>
          </a:p>
          <a:p>
            <a:pPr algn="l">
              <a:lnSpc>
                <a:spcPts val="3220"/>
              </a:lnSpc>
              <a:spcBef>
                <a:spcPct val="0"/>
              </a:spcBef>
            </a:pPr>
            <a:r>
              <a:rPr lang="en-US" b="true" sz="2300" spc="-105">
                <a:solidFill>
                  <a:srgbClr val="000000"/>
                </a:solidFill>
                <a:latin typeface="TT Hoves Bold"/>
                <a:ea typeface="TT Hoves Bold"/>
                <a:cs typeface="TT Hoves Bold"/>
                <a:sym typeface="TT Hoves Bold"/>
              </a:rPr>
              <a:t>6. Output</a:t>
            </a:r>
          </a:p>
          <a:p>
            <a:pPr algn="l" marL="496571" indent="-248285" lvl="1">
              <a:lnSpc>
                <a:spcPts val="3220"/>
              </a:lnSpc>
              <a:spcBef>
                <a:spcPct val="0"/>
              </a:spcBef>
              <a:buFont typeface="Arial"/>
              <a:buChar char="•"/>
            </a:pPr>
            <a:r>
              <a:rPr lang="en-US" sz="2300" spc="-105">
                <a:solidFill>
                  <a:srgbClr val="000000"/>
                </a:solidFill>
                <a:latin typeface="TT Hoves"/>
                <a:ea typeface="TT Hoves"/>
                <a:cs typeface="TT Hoves"/>
                <a:sym typeface="TT Hoves"/>
              </a:rPr>
              <a:t>A clean, cycle-by-cycle summary showing:</a:t>
            </a:r>
          </a:p>
          <a:p>
            <a:pPr algn="l" marL="496571" indent="-248285" lvl="1">
              <a:lnSpc>
                <a:spcPts val="3220"/>
              </a:lnSpc>
              <a:spcBef>
                <a:spcPct val="0"/>
              </a:spcBef>
              <a:buFont typeface="Arial"/>
              <a:buChar char="•"/>
            </a:pPr>
            <a:r>
              <a:rPr lang="en-US" sz="2300" spc="-105">
                <a:solidFill>
                  <a:srgbClr val="000000"/>
                </a:solidFill>
                <a:latin typeface="TT Hoves"/>
                <a:ea typeface="TT Hoves"/>
                <a:cs typeface="TT Hoves"/>
                <a:sym typeface="TT Hoves"/>
              </a:rPr>
              <a:t>Mode -&gt; Latency -&gt; Loss</a:t>
            </a:r>
          </a:p>
          <a:p>
            <a:pPr algn="l" marL="496571" indent="-248285" lvl="1">
              <a:lnSpc>
                <a:spcPts val="3220"/>
              </a:lnSpc>
              <a:spcBef>
                <a:spcPct val="0"/>
              </a:spcBef>
              <a:buFont typeface="Arial"/>
              <a:buChar char="•"/>
            </a:pPr>
            <a:r>
              <a:rPr lang="en-US" sz="2300" spc="-105">
                <a:solidFill>
                  <a:srgbClr val="000000"/>
                </a:solidFill>
                <a:latin typeface="TT Hoves"/>
                <a:ea typeface="TT Hoves"/>
                <a:cs typeface="TT Hoves"/>
                <a:sym typeface="TT Hoves"/>
              </a:rPr>
              <a:t>Demonstrates the full M3 lifecycle: setup -&gt; monitoring -&gt; fault injection -&gt; automatic recovery</a:t>
            </a:r>
          </a:p>
          <a:p>
            <a:pPr algn="l">
              <a:lnSpc>
                <a:spcPts val="3220"/>
              </a:lnSpc>
              <a:spcBef>
                <a:spcPct val="0"/>
              </a:spcBef>
            </a:pPr>
          </a:p>
        </p:txBody>
      </p:sp>
      <p:sp>
        <p:nvSpPr>
          <p:cNvPr name="TextBox 6" id="6"/>
          <p:cNvSpPr txBox="true"/>
          <p:nvPr/>
        </p:nvSpPr>
        <p:spPr>
          <a:xfrm rot="0">
            <a:off x="687775" y="1653899"/>
            <a:ext cx="16571525" cy="1589405"/>
          </a:xfrm>
          <a:prstGeom prst="rect">
            <a:avLst/>
          </a:prstGeom>
        </p:spPr>
        <p:txBody>
          <a:bodyPr anchor="t" rtlCol="false" tIns="0" lIns="0" bIns="0" rIns="0">
            <a:spAutoFit/>
          </a:bodyPr>
          <a:lstStyle/>
          <a:p>
            <a:pPr algn="l">
              <a:lnSpc>
                <a:spcPts val="3220"/>
              </a:lnSpc>
              <a:spcBef>
                <a:spcPct val="0"/>
              </a:spcBef>
            </a:pPr>
            <a:r>
              <a:rPr lang="en-US" b="true" sz="2300" spc="-105">
                <a:solidFill>
                  <a:srgbClr val="000000"/>
                </a:solidFill>
                <a:latin typeface="TT Hoves Bold"/>
                <a:ea typeface="TT Hoves Bold"/>
                <a:cs typeface="TT Hoves Bold"/>
                <a:sym typeface="TT Hoves Bold"/>
              </a:rPr>
              <a:t>What the c</a:t>
            </a:r>
            <a:r>
              <a:rPr lang="en-US" b="true" sz="2300" spc="-105">
                <a:solidFill>
                  <a:srgbClr val="000000"/>
                </a:solidFill>
                <a:latin typeface="TT Hoves Bold"/>
                <a:ea typeface="TT Hoves Bold"/>
                <a:cs typeface="TT Hoves Bold"/>
                <a:sym typeface="TT Hoves Bold"/>
              </a:rPr>
              <a:t>ontroller does ?</a:t>
            </a:r>
          </a:p>
          <a:p>
            <a:pPr algn="l">
              <a:lnSpc>
                <a:spcPts val="3220"/>
              </a:lnSpc>
              <a:spcBef>
                <a:spcPct val="0"/>
              </a:spcBef>
            </a:pPr>
            <a:r>
              <a:rPr lang="en-US" sz="2300" spc="-105">
                <a:solidFill>
                  <a:srgbClr val="000000"/>
                </a:solidFill>
                <a:latin typeface="TT Hoves"/>
                <a:ea typeface="TT Hoves"/>
                <a:cs typeface="TT Hoves"/>
                <a:sym typeface="TT Hoves"/>
              </a:rPr>
              <a:t>A loop that continuously monitors the network and automatically switches between Static, WireGuard, and sshuttle depending on latency, loss, and scenario requirements.</a:t>
            </a:r>
          </a:p>
          <a:p>
            <a:pPr algn="l">
              <a:lnSpc>
                <a:spcPts val="3220"/>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549275" y="658254"/>
            <a:ext cx="17368362" cy="824462"/>
          </a:xfrm>
          <a:prstGeom prst="rect">
            <a:avLst/>
          </a:prstGeom>
        </p:spPr>
        <p:txBody>
          <a:bodyPr anchor="t" rtlCol="false" tIns="0" lIns="0" bIns="0" rIns="0">
            <a:spAutoFit/>
          </a:bodyPr>
          <a:lstStyle/>
          <a:p>
            <a:pPr algn="l">
              <a:lnSpc>
                <a:spcPts val="6187"/>
              </a:lnSpc>
            </a:pPr>
            <a:r>
              <a:rPr lang="en-US" b="true" sz="6379" spc="-299">
                <a:solidFill>
                  <a:srgbClr val="000000"/>
                </a:solidFill>
                <a:latin typeface="TT Hoves Bold"/>
                <a:ea typeface="TT Hoves Bold"/>
                <a:cs typeface="TT Hoves Bold"/>
                <a:sym typeface="TT Hoves Bold"/>
              </a:rPr>
              <a:t>Results: Secure Scenario (WireGuard Preferred) </a:t>
            </a:r>
          </a:p>
        </p:txBody>
      </p:sp>
      <p:sp>
        <p:nvSpPr>
          <p:cNvPr name="Freeform 3" id="3"/>
          <p:cNvSpPr/>
          <p:nvPr/>
        </p:nvSpPr>
        <p:spPr>
          <a:xfrm flipH="false" flipV="false" rot="0">
            <a:off x="8837751" y="-7945629"/>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059573" y="1689198"/>
            <a:ext cx="8858064" cy="3649915"/>
          </a:xfrm>
          <a:custGeom>
            <a:avLst/>
            <a:gdLst/>
            <a:ahLst/>
            <a:cxnLst/>
            <a:rect r="r" b="b" t="t" l="l"/>
            <a:pathLst>
              <a:path h="3649915" w="8858064">
                <a:moveTo>
                  <a:pt x="0" y="0"/>
                </a:moveTo>
                <a:lnTo>
                  <a:pt x="8858064" y="0"/>
                </a:lnTo>
                <a:lnTo>
                  <a:pt x="8858064" y="3649915"/>
                </a:lnTo>
                <a:lnTo>
                  <a:pt x="0" y="3649915"/>
                </a:lnTo>
                <a:lnTo>
                  <a:pt x="0" y="0"/>
                </a:lnTo>
                <a:close/>
              </a:path>
            </a:pathLst>
          </a:custGeom>
          <a:blipFill>
            <a:blip r:embed="rId5"/>
            <a:stretch>
              <a:fillRect l="0" t="0" r="0" b="0"/>
            </a:stretch>
          </a:blipFill>
        </p:spPr>
      </p:sp>
      <p:sp>
        <p:nvSpPr>
          <p:cNvPr name="Freeform 5" id="5"/>
          <p:cNvSpPr/>
          <p:nvPr/>
        </p:nvSpPr>
        <p:spPr>
          <a:xfrm flipH="false" flipV="false" rot="0">
            <a:off x="1028700" y="1689198"/>
            <a:ext cx="6259330" cy="7310897"/>
          </a:xfrm>
          <a:custGeom>
            <a:avLst/>
            <a:gdLst/>
            <a:ahLst/>
            <a:cxnLst/>
            <a:rect r="r" b="b" t="t" l="l"/>
            <a:pathLst>
              <a:path h="7310897" w="6259330">
                <a:moveTo>
                  <a:pt x="0" y="0"/>
                </a:moveTo>
                <a:lnTo>
                  <a:pt x="6259330" y="0"/>
                </a:lnTo>
                <a:lnTo>
                  <a:pt x="6259330" y="7310897"/>
                </a:lnTo>
                <a:lnTo>
                  <a:pt x="0" y="7310897"/>
                </a:lnTo>
                <a:lnTo>
                  <a:pt x="0" y="0"/>
                </a:lnTo>
                <a:close/>
              </a:path>
            </a:pathLst>
          </a:custGeom>
          <a:blipFill>
            <a:blip r:embed="rId6"/>
            <a:stretch>
              <a:fillRect l="0" t="0" r="0" b="0"/>
            </a:stretch>
          </a:blipFill>
        </p:spPr>
      </p:sp>
      <p:sp>
        <p:nvSpPr>
          <p:cNvPr name="TextBox 6" id="6"/>
          <p:cNvSpPr txBox="true"/>
          <p:nvPr/>
        </p:nvSpPr>
        <p:spPr>
          <a:xfrm rot="0">
            <a:off x="7644471" y="5777373"/>
            <a:ext cx="9367770" cy="4074434"/>
          </a:xfrm>
          <a:prstGeom prst="rect">
            <a:avLst/>
          </a:prstGeom>
        </p:spPr>
        <p:txBody>
          <a:bodyPr anchor="t" rtlCol="false" tIns="0" lIns="0" bIns="0" rIns="0">
            <a:spAutoFit/>
          </a:bodyPr>
          <a:lstStyle/>
          <a:p>
            <a:pPr algn="l">
              <a:lnSpc>
                <a:spcPts val="3274"/>
              </a:lnSpc>
              <a:spcBef>
                <a:spcPct val="0"/>
              </a:spcBef>
            </a:pPr>
            <a:r>
              <a:rPr lang="en-US" b="true" sz="2339" spc="-107">
                <a:solidFill>
                  <a:srgbClr val="000000"/>
                </a:solidFill>
                <a:latin typeface="TT Hoves Bold"/>
                <a:ea typeface="TT Hoves Bold"/>
                <a:cs typeface="TT Hoves Bold"/>
                <a:sym typeface="TT Hoves Bold"/>
              </a:rPr>
              <a:t>Goal: Encrypti</a:t>
            </a:r>
            <a:r>
              <a:rPr lang="en-US" b="true" sz="2339" spc="-107">
                <a:solidFill>
                  <a:srgbClr val="000000"/>
                </a:solidFill>
                <a:latin typeface="TT Hoves Bold"/>
                <a:ea typeface="TT Hoves Bold"/>
                <a:cs typeface="TT Hoves Bold"/>
                <a:sym typeface="TT Hoves Bold"/>
              </a:rPr>
              <a:t>on required → WireGuard should dominate.</a:t>
            </a:r>
          </a:p>
          <a:p>
            <a:pPr algn="l">
              <a:lnSpc>
                <a:spcPts val="3274"/>
              </a:lnSpc>
              <a:spcBef>
                <a:spcPct val="0"/>
              </a:spcBef>
            </a:pPr>
            <a:r>
              <a:rPr lang="en-US" b="true" sz="2339" spc="-107">
                <a:solidFill>
                  <a:srgbClr val="000000"/>
                </a:solidFill>
                <a:latin typeface="TT Hoves Bold"/>
                <a:ea typeface="TT Hoves Bold"/>
                <a:cs typeface="TT Hoves Bold"/>
                <a:sym typeface="TT Hoves Bold"/>
              </a:rPr>
              <a:t>Outcome:</a:t>
            </a:r>
          </a:p>
          <a:p>
            <a:pPr algn="l" marL="505038" indent="-252519" lvl="1">
              <a:lnSpc>
                <a:spcPts val="3274"/>
              </a:lnSpc>
              <a:spcBef>
                <a:spcPct val="0"/>
              </a:spcBef>
              <a:buFont typeface="Arial"/>
              <a:buChar char="•"/>
            </a:pPr>
            <a:r>
              <a:rPr lang="en-US" sz="2339" spc="-107">
                <a:solidFill>
                  <a:srgbClr val="000000"/>
                </a:solidFill>
                <a:latin typeface="TT Hoves"/>
                <a:ea typeface="TT Hoves"/>
                <a:cs typeface="TT Hoves"/>
                <a:sym typeface="TT Hoves"/>
              </a:rPr>
              <a:t>WireGuard selected whenever healthy.</a:t>
            </a:r>
          </a:p>
          <a:p>
            <a:pPr algn="l" marL="505038" indent="-252519" lvl="1">
              <a:lnSpc>
                <a:spcPts val="3274"/>
              </a:lnSpc>
              <a:spcBef>
                <a:spcPct val="0"/>
              </a:spcBef>
              <a:buFont typeface="Arial"/>
              <a:buChar char="•"/>
            </a:pPr>
            <a:r>
              <a:rPr lang="en-US" sz="2339" spc="-107">
                <a:solidFill>
                  <a:srgbClr val="000000"/>
                </a:solidFill>
                <a:latin typeface="TT Hoves"/>
                <a:ea typeface="TT Hoves"/>
                <a:cs typeface="TT Hoves"/>
                <a:sym typeface="TT Hoves"/>
              </a:rPr>
              <a:t>When a fault is injected (WG tunnel dropped), controller automatically switches to Static to recover connectivity.</a:t>
            </a:r>
          </a:p>
          <a:p>
            <a:pPr algn="l" marL="505038" indent="-252519" lvl="1">
              <a:lnSpc>
                <a:spcPts val="3274"/>
              </a:lnSpc>
              <a:spcBef>
                <a:spcPct val="0"/>
              </a:spcBef>
              <a:buFont typeface="Arial"/>
              <a:buChar char="•"/>
            </a:pPr>
            <a:r>
              <a:rPr lang="en-US" sz="2339" spc="-107">
                <a:solidFill>
                  <a:srgbClr val="000000"/>
                </a:solidFill>
                <a:latin typeface="TT Hoves"/>
                <a:ea typeface="TT Hoves"/>
                <a:cs typeface="TT Hoves"/>
                <a:sym typeface="TT Hoves"/>
              </a:rPr>
              <a:t>When Static recovers, it switches back to WireGuard.</a:t>
            </a:r>
          </a:p>
          <a:p>
            <a:pPr algn="l" marL="505038" indent="-252519" lvl="1">
              <a:lnSpc>
                <a:spcPts val="3274"/>
              </a:lnSpc>
              <a:spcBef>
                <a:spcPct val="0"/>
              </a:spcBef>
              <a:buFont typeface="Arial"/>
              <a:buChar char="•"/>
            </a:pPr>
            <a:r>
              <a:rPr lang="en-US" sz="2339" spc="-107">
                <a:solidFill>
                  <a:srgbClr val="000000"/>
                </a:solidFill>
                <a:latin typeface="TT Hoves"/>
                <a:ea typeface="TT Hoves"/>
                <a:cs typeface="TT Hoves"/>
                <a:sym typeface="TT Hoves"/>
              </a:rPr>
              <a:t>System recovers correctly from every failure.</a:t>
            </a:r>
          </a:p>
          <a:p>
            <a:pPr algn="l">
              <a:lnSpc>
                <a:spcPts val="3274"/>
              </a:lnSpc>
              <a:spcBef>
                <a:spcPct val="0"/>
              </a:spcBef>
            </a:pPr>
            <a:r>
              <a:rPr lang="en-US" b="true" sz="2339" spc="-107">
                <a:solidFill>
                  <a:srgbClr val="000000"/>
                </a:solidFill>
                <a:latin typeface="TT Hoves Bold"/>
                <a:ea typeface="TT Hoves Bold"/>
                <a:cs typeface="TT Hoves Bold"/>
                <a:sym typeface="TT Hoves Bold"/>
              </a:rPr>
              <a:t>Pattern:</a:t>
            </a:r>
          </a:p>
          <a:p>
            <a:pPr algn="l">
              <a:lnSpc>
                <a:spcPts val="3274"/>
              </a:lnSpc>
              <a:spcBef>
                <a:spcPct val="0"/>
              </a:spcBef>
            </a:pPr>
            <a:r>
              <a:rPr lang="en-US" sz="2339" spc="-107">
                <a:solidFill>
                  <a:srgbClr val="000000"/>
                </a:solidFill>
                <a:latin typeface="TT Hoves"/>
                <a:ea typeface="TT Hoves"/>
                <a:cs typeface="TT Hoves"/>
                <a:sym typeface="TT Hoves"/>
              </a:rPr>
              <a:t> WireGuard -&gt; Fault -&gt; Static -&gt; WireGuard (repeat)</a:t>
            </a:r>
          </a:p>
          <a:p>
            <a:pPr algn="l">
              <a:lnSpc>
                <a:spcPts val="3274"/>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549275" y="658254"/>
            <a:ext cx="17359074" cy="790046"/>
          </a:xfrm>
          <a:prstGeom prst="rect">
            <a:avLst/>
          </a:prstGeom>
        </p:spPr>
        <p:txBody>
          <a:bodyPr anchor="t" rtlCol="false" tIns="0" lIns="0" bIns="0" rIns="0">
            <a:spAutoFit/>
          </a:bodyPr>
          <a:lstStyle/>
          <a:p>
            <a:pPr algn="l">
              <a:lnSpc>
                <a:spcPts val="5993"/>
              </a:lnSpc>
            </a:pPr>
            <a:r>
              <a:rPr lang="en-US" b="true" sz="6179" spc="-289">
                <a:solidFill>
                  <a:srgbClr val="000000"/>
                </a:solidFill>
                <a:latin typeface="TT Hoves Bold"/>
                <a:ea typeface="TT Hoves Bold"/>
                <a:cs typeface="TT Hoves Bold"/>
                <a:sym typeface="TT Hoves Bold"/>
              </a:rPr>
              <a:t>Results: ICMP-Priority Scenario (Static Preferred) </a:t>
            </a:r>
          </a:p>
        </p:txBody>
      </p:sp>
      <p:sp>
        <p:nvSpPr>
          <p:cNvPr name="Freeform 3" id="3"/>
          <p:cNvSpPr/>
          <p:nvPr/>
        </p:nvSpPr>
        <p:spPr>
          <a:xfrm flipH="false" flipV="false" rot="0">
            <a:off x="8837751" y="-7945629"/>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462749" y="1841110"/>
            <a:ext cx="10599533" cy="3503537"/>
          </a:xfrm>
          <a:custGeom>
            <a:avLst/>
            <a:gdLst/>
            <a:ahLst/>
            <a:cxnLst/>
            <a:rect r="r" b="b" t="t" l="l"/>
            <a:pathLst>
              <a:path h="3503537" w="10599533">
                <a:moveTo>
                  <a:pt x="0" y="0"/>
                </a:moveTo>
                <a:lnTo>
                  <a:pt x="10599533" y="0"/>
                </a:lnTo>
                <a:lnTo>
                  <a:pt x="10599533" y="3503537"/>
                </a:lnTo>
                <a:lnTo>
                  <a:pt x="0" y="3503537"/>
                </a:lnTo>
                <a:lnTo>
                  <a:pt x="0" y="0"/>
                </a:lnTo>
                <a:close/>
              </a:path>
            </a:pathLst>
          </a:custGeom>
          <a:blipFill>
            <a:blip r:embed="rId5"/>
            <a:stretch>
              <a:fillRect l="0" t="0" r="0" b="0"/>
            </a:stretch>
          </a:blipFill>
        </p:spPr>
      </p:sp>
      <p:sp>
        <p:nvSpPr>
          <p:cNvPr name="Freeform 5" id="5"/>
          <p:cNvSpPr/>
          <p:nvPr/>
        </p:nvSpPr>
        <p:spPr>
          <a:xfrm flipH="false" flipV="false" rot="0">
            <a:off x="1028700" y="1841110"/>
            <a:ext cx="5575281" cy="7536383"/>
          </a:xfrm>
          <a:custGeom>
            <a:avLst/>
            <a:gdLst/>
            <a:ahLst/>
            <a:cxnLst/>
            <a:rect r="r" b="b" t="t" l="l"/>
            <a:pathLst>
              <a:path h="7536383" w="5575281">
                <a:moveTo>
                  <a:pt x="0" y="0"/>
                </a:moveTo>
                <a:lnTo>
                  <a:pt x="5575281" y="0"/>
                </a:lnTo>
                <a:lnTo>
                  <a:pt x="5575281" y="7536383"/>
                </a:lnTo>
                <a:lnTo>
                  <a:pt x="0" y="7536383"/>
                </a:lnTo>
                <a:lnTo>
                  <a:pt x="0" y="0"/>
                </a:lnTo>
                <a:close/>
              </a:path>
            </a:pathLst>
          </a:custGeom>
          <a:blipFill>
            <a:blip r:embed="rId6"/>
            <a:stretch>
              <a:fillRect l="0" t="0" r="0" b="0"/>
            </a:stretch>
          </a:blipFill>
        </p:spPr>
      </p:sp>
      <p:sp>
        <p:nvSpPr>
          <p:cNvPr name="TextBox 6" id="6"/>
          <p:cNvSpPr txBox="true"/>
          <p:nvPr/>
        </p:nvSpPr>
        <p:spPr>
          <a:xfrm rot="0">
            <a:off x="7644471" y="5777373"/>
            <a:ext cx="9367770" cy="3664859"/>
          </a:xfrm>
          <a:prstGeom prst="rect">
            <a:avLst/>
          </a:prstGeom>
        </p:spPr>
        <p:txBody>
          <a:bodyPr anchor="t" rtlCol="false" tIns="0" lIns="0" bIns="0" rIns="0">
            <a:spAutoFit/>
          </a:bodyPr>
          <a:lstStyle/>
          <a:p>
            <a:pPr algn="l">
              <a:lnSpc>
                <a:spcPts val="3274"/>
              </a:lnSpc>
              <a:spcBef>
                <a:spcPct val="0"/>
              </a:spcBef>
            </a:pPr>
            <a:r>
              <a:rPr lang="en-US" b="true" sz="2339" spc="-107">
                <a:solidFill>
                  <a:srgbClr val="000000"/>
                </a:solidFill>
                <a:latin typeface="TT Hoves Bold"/>
                <a:ea typeface="TT Hoves Bold"/>
                <a:cs typeface="TT Hoves Bold"/>
                <a:sym typeface="TT Hoves Bold"/>
              </a:rPr>
              <a:t>Goal: Lowest latency</a:t>
            </a:r>
            <a:r>
              <a:rPr lang="en-US" b="true" sz="2339" spc="-107">
                <a:solidFill>
                  <a:srgbClr val="000000"/>
                </a:solidFill>
                <a:latin typeface="TT Hoves Bold"/>
                <a:ea typeface="TT Hoves Bold"/>
                <a:cs typeface="TT Hoves Bold"/>
                <a:sym typeface="TT Hoves Bold"/>
              </a:rPr>
              <a:t> ICMP → Static routing should dominate.</a:t>
            </a:r>
          </a:p>
          <a:p>
            <a:pPr algn="l">
              <a:lnSpc>
                <a:spcPts val="3274"/>
              </a:lnSpc>
              <a:spcBef>
                <a:spcPct val="0"/>
              </a:spcBef>
            </a:pPr>
            <a:r>
              <a:rPr lang="en-US" b="true" sz="2339" spc="-107">
                <a:solidFill>
                  <a:srgbClr val="000000"/>
                </a:solidFill>
                <a:latin typeface="TT Hoves Bold"/>
                <a:ea typeface="TT Hoves Bold"/>
                <a:cs typeface="TT Hoves Bold"/>
                <a:sym typeface="TT Hoves Bold"/>
              </a:rPr>
              <a:t>Outcome:</a:t>
            </a:r>
          </a:p>
          <a:p>
            <a:pPr algn="l" marL="505038" indent="-252519" lvl="1">
              <a:lnSpc>
                <a:spcPts val="3274"/>
              </a:lnSpc>
              <a:spcBef>
                <a:spcPct val="0"/>
              </a:spcBef>
              <a:buFont typeface="Arial"/>
              <a:buChar char="•"/>
            </a:pPr>
            <a:r>
              <a:rPr lang="en-US" sz="2339" spc="-107">
                <a:solidFill>
                  <a:srgbClr val="000000"/>
                </a:solidFill>
                <a:latin typeface="TT Hoves"/>
                <a:ea typeface="TT Hoves"/>
                <a:cs typeface="TT Hoves"/>
                <a:sym typeface="TT Hoves"/>
              </a:rPr>
              <a:t>Stat</a:t>
            </a:r>
            <a:r>
              <a:rPr lang="en-US" sz="2339" spc="-107">
                <a:solidFill>
                  <a:srgbClr val="000000"/>
                </a:solidFill>
                <a:latin typeface="TT Hoves"/>
                <a:ea typeface="TT Hoves"/>
                <a:cs typeface="TT Hoves"/>
                <a:sym typeface="TT Hoves"/>
              </a:rPr>
              <a:t>ic provides stable 0.20–0.28 ms latency.</a:t>
            </a:r>
          </a:p>
          <a:p>
            <a:pPr algn="l" marL="505038" indent="-252519" lvl="1">
              <a:lnSpc>
                <a:spcPts val="3274"/>
              </a:lnSpc>
              <a:spcBef>
                <a:spcPct val="0"/>
              </a:spcBef>
              <a:buFont typeface="Arial"/>
              <a:buChar char="•"/>
            </a:pPr>
            <a:r>
              <a:rPr lang="en-US" sz="2339" spc="-107">
                <a:solidFill>
                  <a:srgbClr val="000000"/>
                </a:solidFill>
                <a:latin typeface="TT Hoves"/>
                <a:ea typeface="TT Hoves"/>
                <a:cs typeface="TT Hoves"/>
                <a:sym typeface="TT Hoves"/>
              </a:rPr>
              <a:t>When static is intentionally broken, controller moves to sshuttle temporarily.</a:t>
            </a:r>
          </a:p>
          <a:p>
            <a:pPr algn="l" marL="505038" indent="-252519" lvl="1">
              <a:lnSpc>
                <a:spcPts val="3274"/>
              </a:lnSpc>
              <a:spcBef>
                <a:spcPct val="0"/>
              </a:spcBef>
              <a:buFont typeface="Arial"/>
              <a:buChar char="•"/>
            </a:pPr>
            <a:r>
              <a:rPr lang="en-US" sz="2339" spc="-107">
                <a:solidFill>
                  <a:srgbClr val="000000"/>
                </a:solidFill>
                <a:latin typeface="TT Hoves"/>
                <a:ea typeface="TT Hoves"/>
                <a:cs typeface="TT Hoves"/>
                <a:sym typeface="TT Hoves"/>
              </a:rPr>
              <a:t>As soo</a:t>
            </a:r>
            <a:r>
              <a:rPr lang="en-US" sz="2339" spc="-107">
                <a:solidFill>
                  <a:srgbClr val="000000"/>
                </a:solidFill>
                <a:latin typeface="TT Hoves"/>
                <a:ea typeface="TT Hoves"/>
                <a:cs typeface="TT Hoves"/>
                <a:sym typeface="TT Hoves"/>
              </a:rPr>
              <a:t>n as Static becomes healthy again, it switches back.</a:t>
            </a:r>
          </a:p>
          <a:p>
            <a:pPr algn="l" marL="505038" indent="-252519" lvl="1">
              <a:lnSpc>
                <a:spcPts val="3274"/>
              </a:lnSpc>
              <a:spcBef>
                <a:spcPct val="0"/>
              </a:spcBef>
              <a:buFont typeface="Arial"/>
              <a:buChar char="•"/>
            </a:pPr>
            <a:r>
              <a:rPr lang="en-US" sz="2339" spc="-107">
                <a:solidFill>
                  <a:srgbClr val="000000"/>
                </a:solidFill>
                <a:latin typeface="TT Hoves"/>
                <a:ea typeface="TT Hoves"/>
                <a:cs typeface="TT Hoves"/>
                <a:sym typeface="TT Hoves"/>
              </a:rPr>
              <a:t>Fa</a:t>
            </a:r>
            <a:r>
              <a:rPr lang="en-US" sz="2339" spc="-107">
                <a:solidFill>
                  <a:srgbClr val="000000"/>
                </a:solidFill>
                <a:latin typeface="TT Hoves"/>
                <a:ea typeface="TT Hoves"/>
                <a:cs typeface="TT Hoves"/>
                <a:sym typeface="TT Hoves"/>
              </a:rPr>
              <a:t>stest convergence and lowest latency among all modes.</a:t>
            </a:r>
          </a:p>
          <a:p>
            <a:pPr algn="l">
              <a:lnSpc>
                <a:spcPts val="3274"/>
              </a:lnSpc>
              <a:spcBef>
                <a:spcPct val="0"/>
              </a:spcBef>
            </a:pPr>
            <a:r>
              <a:rPr lang="en-US" b="true" sz="2339" spc="-107">
                <a:solidFill>
                  <a:srgbClr val="000000"/>
                </a:solidFill>
                <a:latin typeface="TT Hoves Bold"/>
                <a:ea typeface="TT Hoves Bold"/>
                <a:cs typeface="TT Hoves Bold"/>
                <a:sym typeface="TT Hoves Bold"/>
              </a:rPr>
              <a:t>Pattern:</a:t>
            </a:r>
          </a:p>
          <a:p>
            <a:pPr algn="l">
              <a:lnSpc>
                <a:spcPts val="3274"/>
              </a:lnSpc>
              <a:spcBef>
                <a:spcPct val="0"/>
              </a:spcBef>
            </a:pPr>
            <a:r>
              <a:rPr lang="en-US" sz="2339" spc="-107">
                <a:solidFill>
                  <a:srgbClr val="000000"/>
                </a:solidFill>
                <a:latin typeface="TT Hoves"/>
                <a:ea typeface="TT Hoves"/>
                <a:cs typeface="TT Hoves"/>
                <a:sym typeface="TT Hoves"/>
              </a:rPr>
              <a:t> Static → Fault → SSHuttle → Static → (loop)</a:t>
            </a:r>
          </a:p>
          <a:p>
            <a:pPr algn="l">
              <a:lnSpc>
                <a:spcPts val="3274"/>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549275" y="658254"/>
            <a:ext cx="16713041" cy="790046"/>
          </a:xfrm>
          <a:prstGeom prst="rect">
            <a:avLst/>
          </a:prstGeom>
        </p:spPr>
        <p:txBody>
          <a:bodyPr anchor="t" rtlCol="false" tIns="0" lIns="0" bIns="0" rIns="0">
            <a:spAutoFit/>
          </a:bodyPr>
          <a:lstStyle/>
          <a:p>
            <a:pPr algn="l">
              <a:lnSpc>
                <a:spcPts val="5993"/>
              </a:lnSpc>
            </a:pPr>
            <a:r>
              <a:rPr lang="en-US" b="true" sz="6179" spc="-289">
                <a:solidFill>
                  <a:srgbClr val="000000"/>
                </a:solidFill>
                <a:latin typeface="TT Hoves Bold"/>
                <a:ea typeface="TT Hoves Bold"/>
                <a:cs typeface="TT Hoves Bold"/>
                <a:sym typeface="TT Hoves Bold"/>
              </a:rPr>
              <a:t>Results: TCP-Only Scenario (sshuttle Preferred) </a:t>
            </a:r>
          </a:p>
        </p:txBody>
      </p:sp>
      <p:sp>
        <p:nvSpPr>
          <p:cNvPr name="Freeform 3" id="3"/>
          <p:cNvSpPr/>
          <p:nvPr/>
        </p:nvSpPr>
        <p:spPr>
          <a:xfrm flipH="false" flipV="false" rot="0">
            <a:off x="8837751" y="-7945629"/>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242087" y="1841110"/>
            <a:ext cx="10576944" cy="3746748"/>
          </a:xfrm>
          <a:custGeom>
            <a:avLst/>
            <a:gdLst/>
            <a:ahLst/>
            <a:cxnLst/>
            <a:rect r="r" b="b" t="t" l="l"/>
            <a:pathLst>
              <a:path h="3746748" w="10576944">
                <a:moveTo>
                  <a:pt x="0" y="0"/>
                </a:moveTo>
                <a:lnTo>
                  <a:pt x="10576944" y="0"/>
                </a:lnTo>
                <a:lnTo>
                  <a:pt x="10576944" y="3746748"/>
                </a:lnTo>
                <a:lnTo>
                  <a:pt x="0" y="3746748"/>
                </a:lnTo>
                <a:lnTo>
                  <a:pt x="0" y="0"/>
                </a:lnTo>
                <a:close/>
              </a:path>
            </a:pathLst>
          </a:custGeom>
          <a:blipFill>
            <a:blip r:embed="rId5"/>
            <a:stretch>
              <a:fillRect l="0" t="0" r="0" b="0"/>
            </a:stretch>
          </a:blipFill>
        </p:spPr>
      </p:sp>
      <p:sp>
        <p:nvSpPr>
          <p:cNvPr name="Freeform 5" id="5"/>
          <p:cNvSpPr/>
          <p:nvPr/>
        </p:nvSpPr>
        <p:spPr>
          <a:xfrm flipH="false" flipV="false" rot="0">
            <a:off x="1028700" y="1841110"/>
            <a:ext cx="6002630" cy="7229744"/>
          </a:xfrm>
          <a:custGeom>
            <a:avLst/>
            <a:gdLst/>
            <a:ahLst/>
            <a:cxnLst/>
            <a:rect r="r" b="b" t="t" l="l"/>
            <a:pathLst>
              <a:path h="7229744" w="6002630">
                <a:moveTo>
                  <a:pt x="0" y="0"/>
                </a:moveTo>
                <a:lnTo>
                  <a:pt x="6002630" y="0"/>
                </a:lnTo>
                <a:lnTo>
                  <a:pt x="6002630" y="7229744"/>
                </a:lnTo>
                <a:lnTo>
                  <a:pt x="0" y="7229744"/>
                </a:lnTo>
                <a:lnTo>
                  <a:pt x="0" y="0"/>
                </a:lnTo>
                <a:close/>
              </a:path>
            </a:pathLst>
          </a:custGeom>
          <a:blipFill>
            <a:blip r:embed="rId6"/>
            <a:stretch>
              <a:fillRect l="0" t="0" r="0" b="0"/>
            </a:stretch>
          </a:blipFill>
        </p:spPr>
      </p:sp>
      <p:sp>
        <p:nvSpPr>
          <p:cNvPr name="TextBox 6" id="6"/>
          <p:cNvSpPr txBox="true"/>
          <p:nvPr/>
        </p:nvSpPr>
        <p:spPr>
          <a:xfrm rot="0">
            <a:off x="7644471" y="5777373"/>
            <a:ext cx="10017247" cy="3255284"/>
          </a:xfrm>
          <a:prstGeom prst="rect">
            <a:avLst/>
          </a:prstGeom>
        </p:spPr>
        <p:txBody>
          <a:bodyPr anchor="t" rtlCol="false" tIns="0" lIns="0" bIns="0" rIns="0">
            <a:spAutoFit/>
          </a:bodyPr>
          <a:lstStyle/>
          <a:p>
            <a:pPr algn="l">
              <a:lnSpc>
                <a:spcPts val="3274"/>
              </a:lnSpc>
              <a:spcBef>
                <a:spcPct val="0"/>
              </a:spcBef>
            </a:pPr>
            <a:r>
              <a:rPr lang="en-US" b="true" sz="2339" spc="-107">
                <a:solidFill>
                  <a:srgbClr val="000000"/>
                </a:solidFill>
                <a:latin typeface="TT Hoves Bold"/>
                <a:ea typeface="TT Hoves Bold"/>
                <a:cs typeface="TT Hoves Bold"/>
                <a:sym typeface="TT Hoves Bold"/>
              </a:rPr>
              <a:t>Goal: No ICMP requirement + no encryption -&gt;</a:t>
            </a:r>
            <a:r>
              <a:rPr lang="en-US" b="true" sz="2339" spc="-107">
                <a:solidFill>
                  <a:srgbClr val="000000"/>
                </a:solidFill>
                <a:latin typeface="TT Hoves Bold"/>
                <a:ea typeface="TT Hoves Bold"/>
                <a:cs typeface="TT Hoves Bold"/>
                <a:sym typeface="TT Hoves Bold"/>
              </a:rPr>
              <a:t> sshuttle should dominate.</a:t>
            </a:r>
          </a:p>
          <a:p>
            <a:pPr algn="l">
              <a:lnSpc>
                <a:spcPts val="3274"/>
              </a:lnSpc>
              <a:spcBef>
                <a:spcPct val="0"/>
              </a:spcBef>
            </a:pPr>
            <a:r>
              <a:rPr lang="en-US" b="true" sz="2339" spc="-107">
                <a:solidFill>
                  <a:srgbClr val="000000"/>
                </a:solidFill>
                <a:latin typeface="TT Hoves Bold"/>
                <a:ea typeface="TT Hoves Bold"/>
                <a:cs typeface="TT Hoves Bold"/>
                <a:sym typeface="TT Hoves Bold"/>
              </a:rPr>
              <a:t>Outcome:</a:t>
            </a:r>
          </a:p>
          <a:p>
            <a:pPr algn="l" marL="505038" indent="-252519" lvl="1">
              <a:lnSpc>
                <a:spcPts val="3274"/>
              </a:lnSpc>
              <a:spcBef>
                <a:spcPct val="0"/>
              </a:spcBef>
              <a:buFont typeface="Arial"/>
              <a:buChar char="•"/>
            </a:pPr>
            <a:r>
              <a:rPr lang="en-US" sz="2339" spc="-107">
                <a:solidFill>
                  <a:srgbClr val="000000"/>
                </a:solidFill>
                <a:latin typeface="TT Hoves"/>
                <a:ea typeface="TT Hoves"/>
                <a:cs typeface="TT Hoves"/>
                <a:sym typeface="TT Hoves"/>
              </a:rPr>
              <a:t>sshuttle stays active for all 10 cycles.</a:t>
            </a:r>
          </a:p>
          <a:p>
            <a:pPr algn="l" marL="505038" indent="-252519" lvl="1">
              <a:lnSpc>
                <a:spcPts val="3274"/>
              </a:lnSpc>
              <a:spcBef>
                <a:spcPct val="0"/>
              </a:spcBef>
              <a:buFont typeface="Arial"/>
              <a:buChar char="•"/>
            </a:pPr>
            <a:r>
              <a:rPr lang="en-US" sz="2339" spc="-107">
                <a:solidFill>
                  <a:srgbClr val="000000"/>
                </a:solidFill>
                <a:latin typeface="TT Hoves"/>
                <a:ea typeface="TT Hoves"/>
                <a:cs typeface="TT Hoves"/>
                <a:sym typeface="TT Hoves"/>
              </a:rPr>
              <a:t>Injected fault</a:t>
            </a:r>
            <a:r>
              <a:rPr lang="en-US" sz="2339" spc="-107">
                <a:solidFill>
                  <a:srgbClr val="000000"/>
                </a:solidFill>
                <a:latin typeface="TT Hoves"/>
                <a:ea typeface="TT Hoves"/>
                <a:cs typeface="TT Hoves"/>
                <a:sym typeface="TT Hoves"/>
              </a:rPr>
              <a:t>s do not</a:t>
            </a:r>
            <a:r>
              <a:rPr lang="en-US" sz="2339" spc="-107">
                <a:solidFill>
                  <a:srgbClr val="000000"/>
                </a:solidFill>
                <a:latin typeface="TT Hoves"/>
                <a:ea typeface="TT Hoves"/>
                <a:cs typeface="TT Hoves"/>
                <a:sym typeface="TT Hoves"/>
              </a:rPr>
              <a:t> break the path (because static underlay is still active).</a:t>
            </a:r>
          </a:p>
          <a:p>
            <a:pPr algn="l" marL="505038" indent="-252519" lvl="1">
              <a:lnSpc>
                <a:spcPts val="3274"/>
              </a:lnSpc>
              <a:spcBef>
                <a:spcPct val="0"/>
              </a:spcBef>
              <a:buFont typeface="Arial"/>
              <a:buChar char="•"/>
            </a:pPr>
            <a:r>
              <a:rPr lang="en-US" sz="2339" spc="-107">
                <a:solidFill>
                  <a:srgbClr val="000000"/>
                </a:solidFill>
                <a:latin typeface="TT Hoves"/>
                <a:ea typeface="TT Hoves"/>
                <a:cs typeface="TT Hoves"/>
                <a:sym typeface="TT Hoves"/>
              </a:rPr>
              <a:t>C</a:t>
            </a:r>
            <a:r>
              <a:rPr lang="en-US" sz="2339" spc="-107">
                <a:solidFill>
                  <a:srgbClr val="000000"/>
                </a:solidFill>
                <a:latin typeface="TT Hoves"/>
                <a:ea typeface="TT Hoves"/>
                <a:cs typeface="TT Hoves"/>
                <a:sym typeface="TT Hoves"/>
              </a:rPr>
              <a:t>ontroller remains stable and does not oscillate unnecessarily.</a:t>
            </a:r>
          </a:p>
          <a:p>
            <a:pPr algn="l">
              <a:lnSpc>
                <a:spcPts val="3274"/>
              </a:lnSpc>
              <a:spcBef>
                <a:spcPct val="0"/>
              </a:spcBef>
            </a:pPr>
            <a:r>
              <a:rPr lang="en-US" b="true" sz="2339" spc="-107">
                <a:solidFill>
                  <a:srgbClr val="000000"/>
                </a:solidFill>
                <a:latin typeface="TT Hoves Bold"/>
                <a:ea typeface="TT Hoves Bold"/>
                <a:cs typeface="TT Hoves Bold"/>
                <a:sym typeface="TT Hoves Bold"/>
              </a:rPr>
              <a:t>Pattern:</a:t>
            </a:r>
          </a:p>
          <a:p>
            <a:pPr algn="l">
              <a:lnSpc>
                <a:spcPts val="3274"/>
              </a:lnSpc>
              <a:spcBef>
                <a:spcPct val="0"/>
              </a:spcBef>
            </a:pPr>
            <a:r>
              <a:rPr lang="en-US" sz="2339" spc="-107">
                <a:solidFill>
                  <a:srgbClr val="000000"/>
                </a:solidFill>
                <a:latin typeface="TT Hoves"/>
                <a:ea typeface="TT Hoves"/>
                <a:cs typeface="TT Hoves"/>
                <a:sym typeface="TT Hoves"/>
              </a:rPr>
              <a:t>SSHuttle -&gt; (fault injected but recovered due to static layer) -&gt; SSHuttle</a:t>
            </a:r>
          </a:p>
          <a:p>
            <a:pPr algn="l">
              <a:lnSpc>
                <a:spcPts val="3274"/>
              </a:lnSpc>
              <a:spcBef>
                <a:spcPct val="0"/>
              </a:spcBef>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TextBox 2" id="2"/>
          <p:cNvSpPr txBox="true"/>
          <p:nvPr/>
        </p:nvSpPr>
        <p:spPr>
          <a:xfrm rot="0">
            <a:off x="1028700" y="1238250"/>
            <a:ext cx="5870660" cy="1208486"/>
          </a:xfrm>
          <a:prstGeom prst="rect">
            <a:avLst/>
          </a:prstGeom>
        </p:spPr>
        <p:txBody>
          <a:bodyPr anchor="t" rtlCol="false" tIns="0" lIns="0" bIns="0" rIns="0">
            <a:spAutoFit/>
          </a:bodyPr>
          <a:lstStyle/>
          <a:p>
            <a:pPr algn="l">
              <a:lnSpc>
                <a:spcPts val="9083"/>
              </a:lnSpc>
            </a:pPr>
            <a:r>
              <a:rPr lang="en-US" b="true" sz="9363" spc="-439">
                <a:solidFill>
                  <a:srgbClr val="000000"/>
                </a:solidFill>
                <a:latin typeface="TT Hoves Bold"/>
                <a:ea typeface="TT Hoves Bold"/>
                <a:cs typeface="TT Hoves Bold"/>
                <a:sym typeface="TT Hoves Bold"/>
              </a:rPr>
              <a:t>Conclusion</a:t>
            </a:r>
          </a:p>
        </p:txBody>
      </p:sp>
      <p:sp>
        <p:nvSpPr>
          <p:cNvPr name="Freeform 3" id="3"/>
          <p:cNvSpPr/>
          <p:nvPr/>
        </p:nvSpPr>
        <p:spPr>
          <a:xfrm flipH="false" flipV="false" rot="0">
            <a:off x="8837751" y="-7945629"/>
            <a:ext cx="15177319" cy="15177319"/>
          </a:xfrm>
          <a:custGeom>
            <a:avLst/>
            <a:gdLst/>
            <a:ahLst/>
            <a:cxnLst/>
            <a:rect r="r" b="b" t="t" l="l"/>
            <a:pathLst>
              <a:path h="15177319" w="15177319">
                <a:moveTo>
                  <a:pt x="0" y="0"/>
                </a:moveTo>
                <a:lnTo>
                  <a:pt x="15177319" y="0"/>
                </a:lnTo>
                <a:lnTo>
                  <a:pt x="15177319" y="15177319"/>
                </a:lnTo>
                <a:lnTo>
                  <a:pt x="0" y="15177319"/>
                </a:lnTo>
                <a:lnTo>
                  <a:pt x="0" y="0"/>
                </a:lnTo>
                <a:close/>
              </a:path>
            </a:pathLst>
          </a:custGeom>
          <a:blipFill>
            <a:blip r:embed="rId3">
              <a:alphaModFix amt="52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028700" y="3195679"/>
            <a:ext cx="16230600" cy="5989955"/>
          </a:xfrm>
          <a:prstGeom prst="rect">
            <a:avLst/>
          </a:prstGeom>
        </p:spPr>
        <p:txBody>
          <a:bodyPr anchor="t" rtlCol="false" tIns="0" lIns="0" bIns="0" rIns="0">
            <a:spAutoFit/>
          </a:bodyPr>
          <a:lstStyle/>
          <a:p>
            <a:pPr algn="just">
              <a:lnSpc>
                <a:spcPts val="3220"/>
              </a:lnSpc>
            </a:pPr>
            <a:r>
              <a:rPr lang="en-US" sz="2300" b="true">
                <a:solidFill>
                  <a:srgbClr val="000000"/>
                </a:solidFill>
                <a:latin typeface="TT Hoves Bold"/>
                <a:ea typeface="TT Hoves Bold"/>
                <a:cs typeface="TT Hoves Bold"/>
                <a:sym typeface="TT Hoves Bold"/>
              </a:rPr>
              <a:t>Milestone </a:t>
            </a:r>
            <a:r>
              <a:rPr lang="en-US" sz="2300" b="true">
                <a:solidFill>
                  <a:srgbClr val="000000"/>
                </a:solidFill>
                <a:latin typeface="TT Hoves Bold"/>
                <a:ea typeface="TT Hoves Bold"/>
                <a:cs typeface="TT Hoves Bold"/>
                <a:sym typeface="TT Hoves Bold"/>
              </a:rPr>
              <a:t>1: Setup</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Bui</a:t>
            </a:r>
            <a:r>
              <a:rPr lang="en-US" sz="2300">
                <a:solidFill>
                  <a:srgbClr val="000000"/>
                </a:solidFill>
                <a:latin typeface="TT Hoves"/>
                <a:ea typeface="TT Hoves"/>
                <a:cs typeface="TT Hoves"/>
                <a:sym typeface="TT Hoves"/>
              </a:rPr>
              <a:t>lt th</a:t>
            </a:r>
            <a:r>
              <a:rPr lang="en-US" sz="2300">
                <a:solidFill>
                  <a:srgbClr val="000000"/>
                </a:solidFill>
                <a:latin typeface="TT Hoves"/>
                <a:ea typeface="TT Hoves"/>
                <a:cs typeface="TT Hoves"/>
                <a:sym typeface="TT Hoves"/>
              </a:rPr>
              <a:t>e 3-node FABRIC topology</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Verified connectivity, static routing, and baseline measurements</a:t>
            </a:r>
          </a:p>
          <a:p>
            <a:pPr algn="just">
              <a:lnSpc>
                <a:spcPts val="3220"/>
              </a:lnSpc>
            </a:pPr>
            <a:r>
              <a:rPr lang="en-US" sz="2300" b="true">
                <a:solidFill>
                  <a:srgbClr val="000000"/>
                </a:solidFill>
                <a:latin typeface="TT Hoves Bold"/>
                <a:ea typeface="TT Hoves Bold"/>
                <a:cs typeface="TT Hoves Bold"/>
                <a:sym typeface="TT Hoves Bold"/>
              </a:rPr>
              <a:t>Milestone 2: Intuition</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Compared Static, WireGuard, and SSHuttle manually</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Observe</a:t>
            </a:r>
            <a:r>
              <a:rPr lang="en-US" sz="2300">
                <a:solidFill>
                  <a:srgbClr val="000000"/>
                </a:solidFill>
                <a:latin typeface="TT Hoves"/>
                <a:ea typeface="TT Hoves"/>
                <a:cs typeface="TT Hoves"/>
                <a:sym typeface="TT Hoves"/>
              </a:rPr>
              <a:t>d each method behaves differently under load/faults</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Formed the idea: “The network should switch m</a:t>
            </a:r>
            <a:r>
              <a:rPr lang="en-US" sz="2300">
                <a:solidFill>
                  <a:srgbClr val="000000"/>
                </a:solidFill>
                <a:latin typeface="TT Hoves"/>
                <a:ea typeface="TT Hoves"/>
                <a:cs typeface="TT Hoves"/>
                <a:sym typeface="TT Hoves"/>
              </a:rPr>
              <a:t>odes</a:t>
            </a:r>
            <a:r>
              <a:rPr lang="en-US" sz="2300">
                <a:solidFill>
                  <a:srgbClr val="000000"/>
                </a:solidFill>
                <a:latin typeface="TT Hoves"/>
                <a:ea typeface="TT Hoves"/>
                <a:cs typeface="TT Hoves"/>
                <a:sym typeface="TT Hoves"/>
              </a:rPr>
              <a:t> automatically based on requirements.”</a:t>
            </a:r>
          </a:p>
          <a:p>
            <a:pPr algn="just">
              <a:lnSpc>
                <a:spcPts val="3220"/>
              </a:lnSpc>
            </a:pPr>
            <a:r>
              <a:rPr lang="en-US" sz="2300" b="true">
                <a:solidFill>
                  <a:srgbClr val="000000"/>
                </a:solidFill>
                <a:latin typeface="TT Hoves Bold"/>
                <a:ea typeface="TT Hoves Bold"/>
                <a:cs typeface="TT Hoves Bold"/>
                <a:sym typeface="TT Hoves Bold"/>
              </a:rPr>
              <a:t>Milestone 3: Automation</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Implemented an Auto Controller that monitors latency, loss, and tunnel health</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Automatically switches between Static, WireGuard, and SSHuttle</a:t>
            </a:r>
          </a:p>
          <a:p>
            <a:pPr algn="just" marL="496571" indent="-248285" lvl="1">
              <a:lnSpc>
                <a:spcPts val="3220"/>
              </a:lnSpc>
              <a:buFont typeface="Arial"/>
              <a:buChar char="•"/>
            </a:pPr>
            <a:r>
              <a:rPr lang="en-US" sz="2300">
                <a:solidFill>
                  <a:srgbClr val="000000"/>
                </a:solidFill>
                <a:latin typeface="TT Hoves"/>
                <a:ea typeface="TT Hoves"/>
                <a:cs typeface="TT Hoves"/>
                <a:sym typeface="TT Hoves"/>
              </a:rPr>
              <a:t>Added fault injection, recovery logic, and real-traffic testing</a:t>
            </a:r>
          </a:p>
          <a:p>
            <a:pPr algn="just">
              <a:lnSpc>
                <a:spcPts val="3220"/>
              </a:lnSpc>
            </a:pPr>
            <a:r>
              <a:rPr lang="en-US" sz="2300" b="true">
                <a:solidFill>
                  <a:srgbClr val="000000"/>
                </a:solidFill>
                <a:latin typeface="TT Hoves Bold"/>
                <a:ea typeface="TT Hoves Bold"/>
                <a:cs typeface="TT Hoves Bold"/>
                <a:sym typeface="TT Hoves Bold"/>
              </a:rPr>
              <a:t>Final Outcome</a:t>
            </a:r>
          </a:p>
          <a:p>
            <a:pPr algn="just">
              <a:lnSpc>
                <a:spcPts val="3220"/>
              </a:lnSpc>
            </a:pPr>
            <a:r>
              <a:rPr lang="en-US" sz="2300">
                <a:solidFill>
                  <a:srgbClr val="000000"/>
                </a:solidFill>
                <a:latin typeface="TT Hoves"/>
                <a:ea typeface="TT Hoves"/>
                <a:cs typeface="TT Hoves"/>
                <a:sym typeface="TT Hoves"/>
              </a:rPr>
              <a:t>A fully working, self-adapting network system that selects the best routing/tunneling method in real time completing the full lifecycle from proposal -&gt; design -&gt; implementation -&gt; testing.</a:t>
            </a:r>
          </a:p>
          <a:p>
            <a:pPr algn="just">
              <a:lnSpc>
                <a:spcPts val="3220"/>
              </a:lnSpc>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430063" y="1936909"/>
            <a:ext cx="11221859" cy="11221859"/>
          </a:xfrm>
          <a:custGeom>
            <a:avLst/>
            <a:gdLst/>
            <a:ahLst/>
            <a:cxnLst/>
            <a:rect r="r" b="b" t="t" l="l"/>
            <a:pathLst>
              <a:path h="11221859" w="11221859">
                <a:moveTo>
                  <a:pt x="0" y="0"/>
                </a:moveTo>
                <a:lnTo>
                  <a:pt x="11221859" y="0"/>
                </a:lnTo>
                <a:lnTo>
                  <a:pt x="11221859" y="11221859"/>
                </a:lnTo>
                <a:lnTo>
                  <a:pt x="0" y="11221859"/>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141979" y="287418"/>
            <a:ext cx="3117321" cy="505461"/>
          </a:xfrm>
          <a:prstGeom prst="rect">
            <a:avLst/>
          </a:prstGeom>
        </p:spPr>
        <p:txBody>
          <a:bodyPr anchor="t" rtlCol="false" tIns="0" lIns="0" bIns="0" rIns="0">
            <a:spAutoFit/>
          </a:bodyPr>
          <a:lstStyle/>
          <a:p>
            <a:pPr algn="r">
              <a:lnSpc>
                <a:spcPts val="3639"/>
              </a:lnSpc>
            </a:pPr>
            <a:r>
              <a:rPr lang="en-US" sz="2599">
                <a:solidFill>
                  <a:srgbClr val="EFEFEF"/>
                </a:solidFill>
                <a:latin typeface="TT Hoves"/>
                <a:ea typeface="TT Hoves"/>
                <a:cs typeface="TT Hoves"/>
                <a:sym typeface="TT Hoves"/>
              </a:rPr>
              <a:t>Presentation 2024</a:t>
            </a:r>
          </a:p>
        </p:txBody>
      </p:sp>
      <p:sp>
        <p:nvSpPr>
          <p:cNvPr name="TextBox 4" id="4"/>
          <p:cNvSpPr txBox="true"/>
          <p:nvPr/>
        </p:nvSpPr>
        <p:spPr>
          <a:xfrm rot="0">
            <a:off x="1028700" y="287418"/>
            <a:ext cx="3117321" cy="505461"/>
          </a:xfrm>
          <a:prstGeom prst="rect">
            <a:avLst/>
          </a:prstGeom>
        </p:spPr>
        <p:txBody>
          <a:bodyPr anchor="t" rtlCol="false" tIns="0" lIns="0" bIns="0" rIns="0">
            <a:spAutoFit/>
          </a:bodyPr>
          <a:lstStyle/>
          <a:p>
            <a:pPr algn="just">
              <a:lnSpc>
                <a:spcPts val="3639"/>
              </a:lnSpc>
            </a:pPr>
            <a:r>
              <a:rPr lang="en-US" sz="2599">
                <a:solidFill>
                  <a:srgbClr val="EFEFEF"/>
                </a:solidFill>
                <a:latin typeface="TT Hoves"/>
                <a:ea typeface="TT Hoves"/>
                <a:cs typeface="TT Hoves"/>
                <a:sym typeface="TT Hoves"/>
              </a:rPr>
              <a:t>Thynk Unlimited</a:t>
            </a:r>
          </a:p>
        </p:txBody>
      </p:sp>
      <p:sp>
        <p:nvSpPr>
          <p:cNvPr name="TextBox 5" id="5"/>
          <p:cNvSpPr txBox="true"/>
          <p:nvPr/>
        </p:nvSpPr>
        <p:spPr>
          <a:xfrm rot="0">
            <a:off x="7585339" y="287418"/>
            <a:ext cx="3117321" cy="505461"/>
          </a:xfrm>
          <a:prstGeom prst="rect">
            <a:avLst/>
          </a:prstGeom>
        </p:spPr>
        <p:txBody>
          <a:bodyPr anchor="t" rtlCol="false" tIns="0" lIns="0" bIns="0" rIns="0">
            <a:spAutoFit/>
          </a:bodyPr>
          <a:lstStyle/>
          <a:p>
            <a:pPr algn="ctr">
              <a:lnSpc>
                <a:spcPts val="3639"/>
              </a:lnSpc>
            </a:pPr>
            <a:r>
              <a:rPr lang="en-US" sz="2599">
                <a:solidFill>
                  <a:srgbClr val="EFEFEF"/>
                </a:solidFill>
                <a:latin typeface="TT Hoves"/>
                <a:ea typeface="TT Hoves"/>
                <a:cs typeface="TT Hoves"/>
                <a:sym typeface="TT Hoves"/>
              </a:rPr>
              <a:t>Project</a:t>
            </a:r>
          </a:p>
        </p:txBody>
      </p:sp>
      <p:sp>
        <p:nvSpPr>
          <p:cNvPr name="TextBox 6" id="6"/>
          <p:cNvSpPr txBox="true"/>
          <p:nvPr/>
        </p:nvSpPr>
        <p:spPr>
          <a:xfrm rot="0">
            <a:off x="5484590" y="287418"/>
            <a:ext cx="1406261" cy="505461"/>
          </a:xfrm>
          <a:prstGeom prst="rect">
            <a:avLst/>
          </a:prstGeom>
        </p:spPr>
        <p:txBody>
          <a:bodyPr anchor="t" rtlCol="false" tIns="0" lIns="0" bIns="0" rIns="0">
            <a:spAutoFit/>
          </a:bodyPr>
          <a:lstStyle/>
          <a:p>
            <a:pPr algn="ctr">
              <a:lnSpc>
                <a:spcPts val="3639"/>
              </a:lnSpc>
            </a:pPr>
            <a:r>
              <a:rPr lang="en-US" sz="2599">
                <a:solidFill>
                  <a:srgbClr val="EFEFEF"/>
                </a:solidFill>
                <a:latin typeface="TT Hoves"/>
                <a:ea typeface="TT Hoves"/>
                <a:cs typeface="TT Hoves"/>
                <a:sym typeface="TT Hoves"/>
              </a:rPr>
              <a:t>-</a:t>
            </a:r>
          </a:p>
        </p:txBody>
      </p:sp>
      <p:sp>
        <p:nvSpPr>
          <p:cNvPr name="TextBox 7" id="7"/>
          <p:cNvSpPr txBox="true"/>
          <p:nvPr/>
        </p:nvSpPr>
        <p:spPr>
          <a:xfrm rot="0">
            <a:off x="12330761" y="287418"/>
            <a:ext cx="1406261" cy="505461"/>
          </a:xfrm>
          <a:prstGeom prst="rect">
            <a:avLst/>
          </a:prstGeom>
        </p:spPr>
        <p:txBody>
          <a:bodyPr anchor="t" rtlCol="false" tIns="0" lIns="0" bIns="0" rIns="0">
            <a:spAutoFit/>
          </a:bodyPr>
          <a:lstStyle/>
          <a:p>
            <a:pPr algn="ctr">
              <a:lnSpc>
                <a:spcPts val="3639"/>
              </a:lnSpc>
            </a:pPr>
            <a:r>
              <a:rPr lang="en-US" sz="2599">
                <a:solidFill>
                  <a:srgbClr val="EFEFEF"/>
                </a:solidFill>
                <a:latin typeface="TT Hoves"/>
                <a:ea typeface="TT Hoves"/>
                <a:cs typeface="TT Hoves"/>
                <a:sym typeface="TT Hoves"/>
              </a:rPr>
              <a:t>-</a:t>
            </a:r>
          </a:p>
        </p:txBody>
      </p:sp>
      <p:sp>
        <p:nvSpPr>
          <p:cNvPr name="TextBox 8" id="8"/>
          <p:cNvSpPr txBox="true"/>
          <p:nvPr/>
        </p:nvSpPr>
        <p:spPr>
          <a:xfrm rot="0">
            <a:off x="6660790" y="3272198"/>
            <a:ext cx="10598510" cy="1675098"/>
          </a:xfrm>
          <a:prstGeom prst="rect">
            <a:avLst/>
          </a:prstGeom>
        </p:spPr>
        <p:txBody>
          <a:bodyPr anchor="t" rtlCol="false" tIns="0" lIns="0" bIns="0" rIns="0">
            <a:spAutoFit/>
          </a:bodyPr>
          <a:lstStyle/>
          <a:p>
            <a:pPr algn="r">
              <a:lnSpc>
                <a:spcPts val="15417"/>
              </a:lnSpc>
            </a:pPr>
            <a:r>
              <a:rPr lang="en-US" b="true" sz="16402" spc="-802">
                <a:solidFill>
                  <a:srgbClr val="343434"/>
                </a:solidFill>
                <a:latin typeface="TT Hoves Bold"/>
                <a:ea typeface="TT Hoves Bold"/>
                <a:cs typeface="TT Hoves Bold"/>
                <a:sym typeface="TT Hoves Bold"/>
              </a:rPr>
              <a:t>Thank You</a:t>
            </a:r>
          </a:p>
        </p:txBody>
      </p:sp>
      <p:sp>
        <p:nvSpPr>
          <p:cNvPr name="TextBox 9" id="9"/>
          <p:cNvSpPr txBox="true"/>
          <p:nvPr/>
        </p:nvSpPr>
        <p:spPr>
          <a:xfrm rot="0">
            <a:off x="6124403" y="8514561"/>
            <a:ext cx="12163597" cy="505461"/>
          </a:xfrm>
          <a:prstGeom prst="rect">
            <a:avLst/>
          </a:prstGeom>
        </p:spPr>
        <p:txBody>
          <a:bodyPr anchor="t" rtlCol="false" tIns="0" lIns="0" bIns="0" rIns="0">
            <a:spAutoFit/>
          </a:bodyPr>
          <a:lstStyle/>
          <a:p>
            <a:pPr algn="ctr">
              <a:lnSpc>
                <a:spcPts val="3639"/>
              </a:lnSpc>
            </a:pPr>
            <a:r>
              <a:rPr lang="en-US" sz="2599">
                <a:solidFill>
                  <a:srgbClr val="000000"/>
                </a:solidFill>
                <a:latin typeface="TT Hoves"/>
                <a:ea typeface="TT Hoves"/>
                <a:cs typeface="TT Hoves"/>
                <a:sym typeface="TT Hoves"/>
              </a:rPr>
              <a:t>https://github.com/kthare10/fabric-recipes/tree/main/static_routes_sshuttle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DAG6Ryi7Xkg</dc:identifier>
  <dcterms:modified xsi:type="dcterms:W3CDTF">2011-08-01T06:04:30Z</dcterms:modified>
  <cp:revision>1</cp:revision>
  <dc:title>Computer Network Project Presentation.pptx</dc:title>
</cp:coreProperties>
</file>