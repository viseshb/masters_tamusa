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T Hoves Bold" charset="1" panose="02000003020000060003"/>
      <p:regular r:id="rId15"/>
    </p:embeddedFont>
    <p:embeddedFont>
      <p:font typeface="TT Hoves" charset="1" panose="02000003020000060003"/>
      <p:regular r:id="rId16"/>
    </p:embeddedFont>
    <p:embeddedFont>
      <p:font typeface="Public Sans" charset="1" panose="00000000000000000000"/>
      <p:regular r:id="rId17"/>
    </p:embeddedFont>
    <p:embeddedFont>
      <p:font typeface="Public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47781" y="3740195"/>
            <a:ext cx="14958573" cy="246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b="true" sz="6744" spc="-33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End-to-End VM Connectivity Across Subnets Using sshuttle, WireGuard, and Static Routing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7781" y="7705190"/>
            <a:ext cx="6924038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Presented by Visesh Bentula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24714" y="3495046"/>
            <a:ext cx="10177701" cy="544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6380" indent="-28819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160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sshuttle is a user-space VPN-like tool that forwards TCP traffic over an existing SSH connection.</a:t>
            </a:r>
          </a:p>
          <a:p>
            <a:pPr algn="just" marL="576380" indent="-28819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160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It w</a:t>
            </a:r>
            <a:r>
              <a:rPr lang="en-US" sz="2669" spc="160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orks by intercepting traffic on one node and tunneling it transparently through another node.</a:t>
            </a:r>
          </a:p>
          <a:p>
            <a:pPr algn="just" marL="576380" indent="-28819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69" spc="160" u="none">
                <a:solidFill>
                  <a:srgbClr val="34343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Advantages:</a:t>
            </a:r>
            <a:r>
              <a:rPr lang="en-US" sz="2669" spc="160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quick setup, no need for root-level routing changes, useful for debugging or bypassing firewall restrictions.</a:t>
            </a:r>
          </a:p>
          <a:p>
            <a:pPr algn="just" marL="576380" indent="-28819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69" spc="160" u="none">
                <a:solidFill>
                  <a:srgbClr val="34343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Limitation:</a:t>
            </a:r>
            <a:r>
              <a:rPr lang="en-US" sz="2669" spc="160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only supports TCP traffic; does not handle UDP or ICMP packets (e.g., ping).</a:t>
            </a:r>
          </a:p>
          <a:p>
            <a:pPr algn="just" marL="576380" indent="-28819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160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Conceptually, sshuttle is a lightweight alternative to static routing or VPNs.</a:t>
            </a:r>
          </a:p>
          <a:p>
            <a:pPr algn="just" marL="0" indent="0" lvl="0">
              <a:lnSpc>
                <a:spcPts val="3334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24714" y="1143000"/>
            <a:ext cx="839474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is sshuttle?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5220972" cy="11878896"/>
            <a:chOff x="0" y="0"/>
            <a:chExt cx="1375071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5071" cy="3128598"/>
            </a:xfrm>
            <a:custGeom>
              <a:avLst/>
              <a:gdLst/>
              <a:ahLst/>
              <a:cxnLst/>
              <a:rect r="r" b="b" t="t" l="l"/>
              <a:pathLst>
                <a:path h="3128598" w="1375071">
                  <a:moveTo>
                    <a:pt x="0" y="0"/>
                  </a:moveTo>
                  <a:lnTo>
                    <a:pt x="1375071" y="0"/>
                  </a:lnTo>
                  <a:lnTo>
                    <a:pt x="1375071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75071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696258" y="6076950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3218872"/>
            <a:ext cx="10518980" cy="656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WireGuard is a mod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ern, high-performance VPN protocol designed to be simple yet highly secure.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It c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reates an encrypted point-to-point tunnel using a small set of cryptographic primitives.</a:t>
            </a:r>
          </a:p>
          <a:p>
            <a:pPr algn="just">
              <a:lnSpc>
                <a:spcPts val="4009"/>
              </a:lnSpc>
              <a:spcBef>
                <a:spcPct val="0"/>
              </a:spcBef>
            </a:pPr>
            <a:r>
              <a:rPr lang="en-US" b="true" sz="2969" spc="178" u="none">
                <a:solidFill>
                  <a:srgbClr val="34343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</a:t>
            </a:r>
            <a:r>
              <a:rPr lang="en-US" b="true" sz="2969" spc="178" u="none">
                <a:solidFill>
                  <a:srgbClr val="34343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antages: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Strong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encryption with minimal overhead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Supp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orts all traffic types (TCP, UDP, ICMP)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Faster and easier to configure compared to traditional VPNs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WireGuard is widely used in production networks and is well-suited for research testbeds like FABRIC.</a:t>
            </a:r>
          </a:p>
          <a:p>
            <a:pPr algn="just" marL="0" indent="0" lvl="0">
              <a:lnSpc>
                <a:spcPts val="400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1345927"/>
            <a:ext cx="9516086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is WireGuard?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601687" y="6406210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3023855"/>
            <a:ext cx="10177701" cy="706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Static routing is the manual co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nfiguration of network paths using commands like ip route.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ach node is explicitly told which gateway to use to reach another subnet.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Adv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antages: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 full con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trol, transpar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ency, works for all protocols without tunneling overhead.</a:t>
            </a:r>
          </a:p>
          <a:p>
            <a:pPr algn="just">
              <a:lnSpc>
                <a:spcPts val="4009"/>
              </a:lnSpc>
              <a:spcBef>
                <a:spcPct val="0"/>
              </a:spcBef>
            </a:pPr>
            <a:r>
              <a:rPr lang="en-US" b="true" sz="2969" spc="178" u="none">
                <a:solidFill>
                  <a:srgbClr val="34343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</a:t>
            </a:r>
            <a:r>
              <a:rPr lang="en-US" b="true" sz="2969" spc="178" u="none">
                <a:solidFill>
                  <a:srgbClr val="34343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tations: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Not encrypted (unlike WireGuard)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Inflexibl</a:t>
            </a: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e, any change in the network requires manual updates.</a:t>
            </a:r>
          </a:p>
          <a:p>
            <a:pPr algn="just" marL="641149" indent="-320574" lvl="1">
              <a:lnSpc>
                <a:spcPts val="4009"/>
              </a:lnSpc>
              <a:spcBef>
                <a:spcPct val="0"/>
              </a:spcBef>
              <a:buFont typeface="Arial"/>
              <a:buChar char="•"/>
            </a:pPr>
            <a:r>
              <a:rPr lang="en-US" sz="2969" spc="178" u="none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Conceptually, static routing is like a hard-coded map that ensures traffic flows in a predictable way</a:t>
            </a:r>
          </a:p>
          <a:p>
            <a:pPr algn="just" marL="0" indent="0" lvl="0">
              <a:lnSpc>
                <a:spcPts val="400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834008"/>
            <a:ext cx="10710564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is Static Routing?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092" y="2378450"/>
            <a:ext cx="273982" cy="245024"/>
            <a:chOff x="0" y="0"/>
            <a:chExt cx="91718" cy="82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5092" y="740047"/>
            <a:ext cx="12705194" cy="63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27"/>
              </a:lnSpc>
            </a:pPr>
            <a:r>
              <a:rPr lang="en-US" b="true" sz="5871" spc="-287">
                <a:solidFill>
                  <a:srgbClr val="34343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FABRIC Setup (Token &amp; Slice Creation)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4095" y="3134100"/>
            <a:ext cx="8467012" cy="5005298"/>
          </a:xfrm>
          <a:custGeom>
            <a:avLst/>
            <a:gdLst/>
            <a:ahLst/>
            <a:cxnLst/>
            <a:rect r="r" b="b" t="t" l="l"/>
            <a:pathLst>
              <a:path h="5005298" w="8467012">
                <a:moveTo>
                  <a:pt x="0" y="0"/>
                </a:moveTo>
                <a:lnTo>
                  <a:pt x="8467012" y="0"/>
                </a:lnTo>
                <a:lnTo>
                  <a:pt x="8467012" y="5005298"/>
                </a:lnTo>
                <a:lnTo>
                  <a:pt x="0" y="5005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65" t="-3206" r="0" b="-3206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487304" y="2378450"/>
            <a:ext cx="273982" cy="245024"/>
            <a:chOff x="0" y="0"/>
            <a:chExt cx="91718" cy="8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487304" y="3134100"/>
            <a:ext cx="7628294" cy="5768897"/>
          </a:xfrm>
          <a:custGeom>
            <a:avLst/>
            <a:gdLst/>
            <a:ahLst/>
            <a:cxnLst/>
            <a:rect r="r" b="b" t="t" l="l"/>
            <a:pathLst>
              <a:path h="5768897" w="7628294">
                <a:moveTo>
                  <a:pt x="0" y="0"/>
                </a:moveTo>
                <a:lnTo>
                  <a:pt x="7628294" y="0"/>
                </a:lnTo>
                <a:lnTo>
                  <a:pt x="7628294" y="5768897"/>
                </a:lnTo>
                <a:lnTo>
                  <a:pt x="0" y="5768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85807" y="245465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88802" y="245465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80286" y="-943524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1979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2024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Thynk Unlimited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5339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84590" y="946483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30761" y="946483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0" y="9007638"/>
            <a:ext cx="17752398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After completing the setup, I proceeded by following the research methodology and step-by-step process outlined in the project artifacts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4469" y="1623579"/>
            <a:ext cx="7438906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oken = authentication key, Slice = mini network lab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6717" y="1717465"/>
            <a:ext cx="8115300" cy="115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3"/>
              </a:lnSpc>
            </a:pPr>
            <a:r>
              <a:rPr lang="en-US" b="true" sz="8879" spc="-41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sshuttle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6717" y="3928032"/>
            <a:ext cx="8939266" cy="584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31"/>
              </a:lnSpc>
              <a:spcBef>
                <a:spcPct val="0"/>
              </a:spcBef>
            </a:pPr>
            <a:r>
              <a:rPr lang="en-US" b="true" sz="2319" spc="13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</a:t>
            </a:r>
            <a:r>
              <a:rPr lang="en-US" b="true" sz="2319" spc="139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hat Worked: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sshuttle created an SSH-based tunnel through Node2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 dummy route allowed Node1 to reach Node3’s subnet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Node1 successfully connected to Node3 (TCP port 22)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Routing table showed traffic for 192.168.2.0/24 redirected via 127.0.0.1</a:t>
            </a:r>
          </a:p>
          <a:p>
            <a:pPr algn="just">
              <a:lnSpc>
                <a:spcPts val="3131"/>
              </a:lnSpc>
              <a:spcBef>
                <a:spcPct val="0"/>
              </a:spcBef>
            </a:pPr>
            <a:r>
              <a:rPr lang="en-US" b="true" sz="2319" spc="139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Failed / Limitation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sshuttle only supports TCP traffic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Does not handle ICMP (ping) or UDP</a:t>
            </a:r>
          </a:p>
          <a:p>
            <a:pPr algn="just">
              <a:lnSpc>
                <a:spcPts val="3131"/>
              </a:lnSpc>
              <a:spcBef>
                <a:spcPct val="0"/>
              </a:spcBef>
            </a:pPr>
            <a:r>
              <a:rPr lang="en-US" b="true" sz="2319" spc="139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Conclusion: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sshuttle provided quick TCP connectivity with minimal setup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Best suited for debugging or temporary access, not full connectivity</a:t>
            </a:r>
          </a:p>
          <a:p>
            <a:pPr algn="just" marL="0" indent="0" lvl="0">
              <a:lnSpc>
                <a:spcPts val="3131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0781" y="-7939543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642565" y="6468972"/>
            <a:ext cx="8217790" cy="4817439"/>
            <a:chOff x="0" y="0"/>
            <a:chExt cx="2164356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356" cy="1268790"/>
            </a:xfrm>
            <a:custGeom>
              <a:avLst/>
              <a:gdLst/>
              <a:ahLst/>
              <a:cxnLst/>
              <a:rect r="r" b="b" t="t" l="l"/>
              <a:pathLst>
                <a:path h="1268790" w="2164356">
                  <a:moveTo>
                    <a:pt x="0" y="0"/>
                  </a:moveTo>
                  <a:lnTo>
                    <a:pt x="2164356" y="0"/>
                  </a:lnTo>
                  <a:lnTo>
                    <a:pt x="2164356" y="1268790"/>
                  </a:lnTo>
                  <a:lnTo>
                    <a:pt x="0" y="12687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64356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973862" y="361068"/>
            <a:ext cx="8314138" cy="5451183"/>
          </a:xfrm>
          <a:custGeom>
            <a:avLst/>
            <a:gdLst/>
            <a:ahLst/>
            <a:cxnLst/>
            <a:rect r="r" b="b" t="t" l="l"/>
            <a:pathLst>
              <a:path h="5451183" w="8314138">
                <a:moveTo>
                  <a:pt x="0" y="0"/>
                </a:moveTo>
                <a:lnTo>
                  <a:pt x="8314138" y="0"/>
                </a:lnTo>
                <a:lnTo>
                  <a:pt x="8314138" y="5451183"/>
                </a:lnTo>
                <a:lnTo>
                  <a:pt x="0" y="5451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93378" y="7154772"/>
            <a:ext cx="6809176" cy="357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0"/>
              </a:lnSpc>
            </a:pPr>
            <a:r>
              <a:rPr lang="en-US" b="true" sz="27989" spc="-137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6267" y="546590"/>
            <a:ext cx="9602303" cy="115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3"/>
              </a:lnSpc>
            </a:pPr>
            <a:r>
              <a:rPr lang="en-US" b="true" sz="8879" spc="-41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WireGuard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6267" y="2281520"/>
            <a:ext cx="8939266" cy="624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31"/>
              </a:lnSpc>
              <a:spcBef>
                <a:spcPct val="0"/>
              </a:spcBef>
            </a:pPr>
            <a:r>
              <a:rPr lang="en-US" b="true" sz="2319" spc="13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</a:t>
            </a:r>
            <a:r>
              <a:rPr lang="en-US" b="true" sz="2319" spc="139" u="non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 Worked: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Node1 ↔ Node3 tunnel communication (10.0.0.x) successful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Node1 reached Node3’s underlay (192.168.2.2)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TCP test confirmed SSH connectivity on port 22</a:t>
            </a:r>
          </a:p>
          <a:p>
            <a:pPr algn="just">
              <a:lnSpc>
                <a:spcPts val="3131"/>
              </a:lnSpc>
              <a:spcBef>
                <a:spcPct val="0"/>
              </a:spcBef>
            </a:pPr>
            <a:r>
              <a:rPr lang="en-US" b="true" sz="2319" spc="139" u="non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Failed (100% Packet Loss):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ode3 could not ping Node1’s underlay (192.168.1.1)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</a:t>
            </a: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use: WireGuard only forwards traffic defined in AllowedIPs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Node2 lacked forwarding/NAT rules to bridge overlay → underlay</a:t>
            </a:r>
          </a:p>
          <a:p>
            <a:pPr algn="just">
              <a:lnSpc>
                <a:spcPts val="3131"/>
              </a:lnSpc>
              <a:spcBef>
                <a:spcPct val="0"/>
              </a:spcBef>
            </a:pPr>
            <a:r>
              <a:rPr lang="en-US" b="true" sz="2319" spc="139" u="non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Conclusion: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packet loss is expected, not an error in WireGuard</a:t>
            </a:r>
          </a:p>
          <a:p>
            <a:pPr algn="just" marL="500802" indent="-250401" lvl="1">
              <a:lnSpc>
                <a:spcPts val="3131"/>
              </a:lnSpc>
              <a:spcBef>
                <a:spcPct val="0"/>
              </a:spcBef>
              <a:buFont typeface="Arial"/>
              <a:buChar char="•"/>
            </a:pPr>
            <a:r>
              <a:rPr lang="en-US" sz="2319" spc="139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 fix: enable forwarding/NAT on Node2 to allow overlay traffic to reach underlay IPs</a:t>
            </a:r>
          </a:p>
          <a:p>
            <a:pPr algn="just" marL="0" indent="0" lvl="0">
              <a:lnSpc>
                <a:spcPts val="3131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0781" y="-7939543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008222" y="6853763"/>
            <a:ext cx="8217790" cy="4817439"/>
            <a:chOff x="0" y="0"/>
            <a:chExt cx="2164356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356" cy="1268790"/>
            </a:xfrm>
            <a:custGeom>
              <a:avLst/>
              <a:gdLst/>
              <a:ahLst/>
              <a:cxnLst/>
              <a:rect r="r" b="b" t="t" l="l"/>
              <a:pathLst>
                <a:path h="1268790" w="2164356">
                  <a:moveTo>
                    <a:pt x="0" y="0"/>
                  </a:moveTo>
                  <a:lnTo>
                    <a:pt x="2164356" y="0"/>
                  </a:lnTo>
                  <a:lnTo>
                    <a:pt x="2164356" y="1268790"/>
                  </a:lnTo>
                  <a:lnTo>
                    <a:pt x="0" y="12687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64356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36267" y="8523831"/>
            <a:ext cx="11301259" cy="1158379"/>
          </a:xfrm>
          <a:custGeom>
            <a:avLst/>
            <a:gdLst/>
            <a:ahLst/>
            <a:cxnLst/>
            <a:rect r="r" b="b" t="t" l="l"/>
            <a:pathLst>
              <a:path h="1158379" w="11301259">
                <a:moveTo>
                  <a:pt x="0" y="0"/>
                </a:moveTo>
                <a:lnTo>
                  <a:pt x="11301259" y="0"/>
                </a:lnTo>
                <a:lnTo>
                  <a:pt x="11301259" y="1158379"/>
                </a:lnTo>
                <a:lnTo>
                  <a:pt x="0" y="1158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7763" y="0"/>
            <a:ext cx="6697214" cy="7987535"/>
          </a:xfrm>
          <a:custGeom>
            <a:avLst/>
            <a:gdLst/>
            <a:ahLst/>
            <a:cxnLst/>
            <a:rect r="r" b="b" t="t" l="l"/>
            <a:pathLst>
              <a:path h="7987535" w="6697214">
                <a:moveTo>
                  <a:pt x="0" y="0"/>
                </a:moveTo>
                <a:lnTo>
                  <a:pt x="6697214" y="0"/>
                </a:lnTo>
                <a:lnTo>
                  <a:pt x="6697214" y="7987535"/>
                </a:lnTo>
                <a:lnTo>
                  <a:pt x="0" y="7987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9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80444" y="7904526"/>
            <a:ext cx="6473344" cy="338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2"/>
              </a:lnSpc>
            </a:pPr>
            <a:r>
              <a:rPr lang="en-US" b="true" sz="26608" spc="-130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46590"/>
            <a:ext cx="9602303" cy="115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3"/>
              </a:lnSpc>
            </a:pPr>
            <a:r>
              <a:rPr lang="en-US" b="true" sz="8879" spc="-41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Static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55594"/>
            <a:ext cx="8350239" cy="566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7"/>
              </a:lnSpc>
              <a:spcBef>
                <a:spcPct val="0"/>
              </a:spcBef>
            </a:pPr>
            <a:r>
              <a:rPr lang="en-US" b="true" sz="1879" spc="112" u="non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Worked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WireGuard and sshuttle were stopped to avoid interference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Node2 was configured with IP forwarding, acting as a router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Static routes set via Node2’s interfaces: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Node1 → Node3 via 192.168.1.2 (Node2)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Node3 → Node1 via 192.168.2.1 (Node2)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Ping confirmed connectivity between Node1 (192.168.1.1) ↔ Node3 (192.168.2.2)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Routing tables showed correct static entries pointing to Node2</a:t>
            </a:r>
          </a:p>
          <a:p>
            <a:pPr algn="just">
              <a:lnSpc>
                <a:spcPts val="2537"/>
              </a:lnSpc>
              <a:spcBef>
                <a:spcPct val="0"/>
              </a:spcBef>
            </a:pPr>
            <a:r>
              <a:rPr lang="en-US" b="true" sz="1879" spc="112" u="non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Failed / Limitation: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 encryption — traffic flows in plain text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Routes must be updated manually if the network changes</a:t>
            </a:r>
          </a:p>
          <a:p>
            <a:pPr algn="just">
              <a:lnSpc>
                <a:spcPts val="2537"/>
              </a:lnSpc>
              <a:spcBef>
                <a:spcPct val="0"/>
              </a:spcBef>
            </a:pPr>
            <a:r>
              <a:rPr lang="en-US" b="true" sz="1879" spc="112" u="non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Conclusion: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Static routing delivered reliable end-to-end connectivity through Node2</a:t>
            </a:r>
          </a:p>
          <a:p>
            <a:pPr algn="just" marL="405878" indent="-202939" lvl="1">
              <a:lnSpc>
                <a:spcPts val="2537"/>
              </a:lnSpc>
              <a:spcBef>
                <a:spcPct val="0"/>
              </a:spcBef>
              <a:buFont typeface="Arial"/>
              <a:buChar char="•"/>
            </a:pPr>
            <a:r>
              <a:rPr lang="en-US" sz="1879" spc="112" u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Useful for learning and controlled experiments, but less secure and flexible than WireGuard</a:t>
            </a:r>
          </a:p>
          <a:p>
            <a:pPr algn="just" marL="0" indent="0" lvl="0">
              <a:lnSpc>
                <a:spcPts val="2537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0781" y="-7939543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31003" y="6124127"/>
            <a:ext cx="6423893" cy="3948153"/>
          </a:xfrm>
          <a:custGeom>
            <a:avLst/>
            <a:gdLst/>
            <a:ahLst/>
            <a:cxnLst/>
            <a:rect r="r" b="b" t="t" l="l"/>
            <a:pathLst>
              <a:path h="3948153" w="6423893">
                <a:moveTo>
                  <a:pt x="0" y="0"/>
                </a:moveTo>
                <a:lnTo>
                  <a:pt x="6423892" y="0"/>
                </a:lnTo>
                <a:lnTo>
                  <a:pt x="6423892" y="3948154"/>
                </a:lnTo>
                <a:lnTo>
                  <a:pt x="0" y="394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1003" y="411993"/>
            <a:ext cx="6239815" cy="5712135"/>
          </a:xfrm>
          <a:custGeom>
            <a:avLst/>
            <a:gdLst/>
            <a:ahLst/>
            <a:cxnLst/>
            <a:rect r="r" b="b" t="t" l="l"/>
            <a:pathLst>
              <a:path h="5712135" w="6239815">
                <a:moveTo>
                  <a:pt x="0" y="0"/>
                </a:moveTo>
                <a:lnTo>
                  <a:pt x="6239814" y="0"/>
                </a:lnTo>
                <a:lnTo>
                  <a:pt x="6239814" y="5712134"/>
                </a:lnTo>
                <a:lnTo>
                  <a:pt x="0" y="5712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453218" y="7600308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2024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Thynk Unlimited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0790" y="2862623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b="true" sz="16402" spc="-8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DAGtvnEP9fg</dc:identifier>
  <dcterms:modified xsi:type="dcterms:W3CDTF">2011-08-01T06:04:30Z</dcterms:modified>
  <cp:revision>1</cp:revision>
  <dc:title>Computer Network Project Presentation</dc:title>
</cp:coreProperties>
</file>