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lexandria Bold" charset="1" panose="00000000000000000000"/>
      <p:regular r:id="rId19"/>
    </p:embeddedFont>
    <p:embeddedFont>
      <p:font typeface="Garet" charset="1" panose="00000000000000000000"/>
      <p:regular r:id="rId20"/>
    </p:embeddedFont>
    <p:embeddedFont>
      <p:font typeface="Garet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https://docs.google.com/spreadsheets/d/1DUF2isFWsqVSYhbaACYtbgcLi_YjDqpE3GLQIVgkKQg/edit#gid=69851113" TargetMode="External" Type="http://schemas.openxmlformats.org/officeDocument/2006/relationships/hyperlink"/><Relationship Id="rId5" Target="https://docs.google.com/spreadsheets/d/1DUF2isFWsqVSYhbaACYtbgcLi_YjDqpE3GLQIVgkKQg/edit#gid=69851113" TargetMode="External" Type="http://schemas.openxmlformats.org/officeDocument/2006/relationships/hyperlink"/><Relationship Id="rId6" Target="https://docs.google.com/spreadsheets/d/1DUF2isFWsqVSYhbaACYtbgcLi_YjDqpE3GLQIVgkKQg/edit#gid=69851113" TargetMode="External" Type="http://schemas.openxmlformats.org/officeDocument/2006/relationships/hyperlink"/><Relationship Id="rId7" Target="https://docs.google.com/spreadsheets/d/1DUF2isFWsqVSYhbaACYtbgcLi_YjDqpE3GLQIVgkKQg/edit#gid=69851113" TargetMode="External" Type="http://schemas.openxmlformats.org/officeDocument/2006/relationships/hyperlink"/><Relationship Id="rId8" Target="https://docs.google.com/spreadsheets/d/1DUF2isFWsqVSYhbaACYtbgcLi_YjDqpE3GLQIVgkKQg/edit#gid=69851113" TargetMode="External" Type="http://schemas.openxmlformats.org/officeDocument/2006/relationships/hyperlink"/><Relationship Id="rId9" Target="https://docs.google.com/spreadsheets/d/1DUF2isFWsqVSYhbaACYtbgcLi_YjDqpE3GLQIVgkKQg/edit#gid=69851113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1.png" Type="http://schemas.openxmlformats.org/officeDocument/2006/relationships/image"/><Relationship Id="rId7" Target="../embeddings/oleObject1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2.png" Type="http://schemas.openxmlformats.org/officeDocument/2006/relationships/image"/><Relationship Id="rId7" Target="../embeddings/oleObject2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3890343" y="5516388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212327">
            <a:off x="-1633813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020970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76744">
            <a:off x="12281842" y="-3234705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2348517" y="-3496396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68325" y="2335384"/>
            <a:ext cx="12951349" cy="237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9"/>
              </a:lnSpc>
            </a:pPr>
            <a:r>
              <a:rPr lang="en-US" b="true" sz="4506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DEEP LEARNING FOR FLOOD DAMAGE DETECTION USING SATELLITE AND REAL-WORLD IMAGERY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62982" y="5582772"/>
            <a:ext cx="10162036" cy="2353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6"/>
              </a:lnSpc>
            </a:pPr>
            <a:r>
              <a:rPr lang="en-US" sz="44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By Teja Reddy Mandadi</a:t>
            </a:r>
          </a:p>
          <a:p>
            <a:pPr algn="ctr">
              <a:lnSpc>
                <a:spcPts val="6256"/>
              </a:lnSpc>
            </a:pPr>
            <a:r>
              <a:rPr lang="en-US" sz="44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Visesh Bentula</a:t>
            </a:r>
          </a:p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Umapathi Konduri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Gray abstract line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368863"/>
            <a:ext cx="6670692" cy="1549273"/>
            <a:chOff x="0" y="0"/>
            <a:chExt cx="8894256" cy="206569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8894256" cy="1295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679"/>
                </a:lnSpc>
              </a:pPr>
              <a:r>
                <a:rPr lang="en-US" b="true" sz="6399">
                  <a:solidFill>
                    <a:srgbClr val="3F3D3E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MOTIVATION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442974"/>
              <a:ext cx="8894256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355211" y="1866010"/>
            <a:ext cx="8904089" cy="631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4399" indent="-342199" lvl="1">
              <a:lnSpc>
                <a:spcPts val="6339"/>
              </a:lnSpc>
              <a:buFont typeface="Arial"/>
              <a:buChar char="•"/>
            </a:pPr>
            <a:r>
              <a:rPr lang="en-US" sz="316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Floods cause global economic and human losses.</a:t>
            </a:r>
          </a:p>
          <a:p>
            <a:pPr algn="l" marL="684399" indent="-342199" lvl="1">
              <a:lnSpc>
                <a:spcPts val="6339"/>
              </a:lnSpc>
              <a:buFont typeface="Arial"/>
              <a:buChar char="•"/>
            </a:pPr>
            <a:r>
              <a:rPr lang="en-US" sz="316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Manual mapping of flooded areas is slow and subjective.</a:t>
            </a:r>
          </a:p>
          <a:p>
            <a:pPr algn="l" marL="684399" indent="-342199" lvl="1">
              <a:lnSpc>
                <a:spcPts val="6339"/>
              </a:lnSpc>
              <a:buFont typeface="Arial"/>
              <a:buChar char="•"/>
            </a:pPr>
            <a:r>
              <a:rPr lang="en-US" sz="316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Aerial drone imagery provides large-scale visual coverage.</a:t>
            </a:r>
          </a:p>
          <a:p>
            <a:pPr algn="l" marL="684399" indent="-342199" lvl="1">
              <a:lnSpc>
                <a:spcPts val="6339"/>
              </a:lnSpc>
              <a:buFont typeface="Arial"/>
              <a:buChar char="•"/>
            </a:pPr>
            <a:r>
              <a:rPr lang="en-US" sz="316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Automation enables faster disaster response and resource allocation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93351" y="2090426"/>
            <a:ext cx="11775544" cy="86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b="true" sz="5099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PROBLEM STATEMENT</a:t>
            </a:r>
          </a:p>
        </p:txBody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4350" y="4369963"/>
            <a:ext cx="17259300" cy="3257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08313" indent="-404157" lvl="1">
              <a:lnSpc>
                <a:spcPts val="5241"/>
              </a:lnSpc>
              <a:spcBef>
                <a:spcPct val="0"/>
              </a:spcBef>
              <a:buFont typeface="Arial"/>
              <a:buChar char="•"/>
            </a:pPr>
            <a:r>
              <a:rPr lang="en-US" sz="37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Identify and segment</a:t>
            </a:r>
            <a:r>
              <a:rPr lang="en-US" sz="37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land regions affected by flooding.</a:t>
            </a:r>
          </a:p>
          <a:p>
            <a:pPr algn="just" marL="808313" indent="-404157" lvl="1">
              <a:lnSpc>
                <a:spcPts val="5241"/>
              </a:lnSpc>
              <a:spcBef>
                <a:spcPct val="0"/>
              </a:spcBef>
              <a:buFont typeface="Arial"/>
              <a:buChar char="•"/>
            </a:pPr>
            <a:r>
              <a:rPr lang="en-US" sz="37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Handle complex environments with water reflections, vegetation, roads, debris, and built structures.</a:t>
            </a:r>
          </a:p>
          <a:p>
            <a:pPr algn="just" marL="808313" indent="-404157" lvl="1">
              <a:lnSpc>
                <a:spcPts val="5241"/>
              </a:lnSpc>
              <a:spcBef>
                <a:spcPct val="0"/>
              </a:spcBef>
              <a:buFont typeface="Arial"/>
              <a:buChar char="•"/>
            </a:pPr>
            <a:r>
              <a:rPr lang="en-US" sz="37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Reduce dependency on traditional/manual flood damage mapping.</a:t>
            </a:r>
          </a:p>
          <a:p>
            <a:pPr algn="just">
              <a:lnSpc>
                <a:spcPts val="524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Gray abstract line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510087"/>
            <a:ext cx="6985638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99"/>
              </a:lnSpc>
            </a:pPr>
            <a:r>
              <a:rPr lang="en-US" b="true" sz="8499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DATASET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830956" y="2538070"/>
            <a:ext cx="8428344" cy="5210860"/>
            <a:chOff x="0" y="0"/>
            <a:chExt cx="11237792" cy="694781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38100"/>
              <a:ext cx="11237792" cy="717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19"/>
                </a:lnSpc>
              </a:pPr>
              <a:r>
                <a:rPr lang="en-US" b="true" sz="3399">
                  <a:solidFill>
                    <a:srgbClr val="54545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FloodNet RGB Dataset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029613"/>
              <a:ext cx="11237792" cy="59182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697" indent="-323848" lvl="1">
                <a:lnSpc>
                  <a:spcPts val="4499"/>
                </a:lnSpc>
                <a:buFont typeface="Arial"/>
                <a:buChar char="•"/>
              </a:pPr>
              <a:r>
                <a:rPr lang="en-US" sz="2999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  <a:hlinkClick r:id="rId4" tooltip="https://docs.google.com/spreadsheets/d/1DUF2isFWsqVSYhbaACYtbgcLi_YjDqpE3GLQIVgkKQg/edit#gid=69851113"/>
                </a:rPr>
                <a:t>599 aerial images (multiple scene locations)</a:t>
              </a:r>
            </a:p>
            <a:p>
              <a:pPr algn="l" marL="647697" indent="-323848" lvl="1">
                <a:lnSpc>
                  <a:spcPts val="4499"/>
                </a:lnSpc>
                <a:buFont typeface="Arial"/>
                <a:buChar char="•"/>
              </a:pPr>
              <a:r>
                <a:rPr lang="en-US" sz="2999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  <a:hlinkClick r:id="rId5" tooltip="https://docs.google.com/spreadsheets/d/1DUF2isFWsqVSYhbaACYtbgcLi_YjDqpE3GLQIVgkKQg/edit#gid=69851113"/>
                </a:rPr>
                <a:t>Paired RGB segmentation masks</a:t>
              </a:r>
            </a:p>
            <a:p>
              <a:pPr algn="l" marL="647697" indent="-323848" lvl="1">
                <a:lnSpc>
                  <a:spcPts val="4499"/>
                </a:lnSpc>
                <a:buFont typeface="Arial"/>
                <a:buChar char="•"/>
              </a:pPr>
              <a:r>
                <a:rPr lang="en-US" sz="2999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  <a:hlinkClick r:id="rId6" tooltip="https://docs.google.com/spreadsheets/d/1DUF2isFWsqVSYhbaACYtbgcLi_YjDqpE3GLQIVgkKQg/edit#gid=69851113"/>
                </a:rPr>
                <a:t>Masks have 6 color-coded classes</a:t>
              </a:r>
            </a:p>
            <a:p>
              <a:pPr algn="l" marL="647697" indent="-323848" lvl="1">
                <a:lnSpc>
                  <a:spcPts val="4499"/>
                </a:lnSpc>
                <a:buFont typeface="Arial"/>
                <a:buChar char="•"/>
              </a:pPr>
              <a:r>
                <a:rPr lang="en-US" sz="2999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  <a:hlinkClick r:id="rId7" tooltip="https://docs.google.com/spreadsheets/d/1DUF2isFWsqVSYhbaACYtbgcLi_YjDqpE3GLQIVgkKQg/edit#gid=69851113"/>
                </a:rPr>
                <a:t>Images + masks stored at folder structure:</a:t>
              </a:r>
            </a:p>
            <a:p>
              <a:pPr algn="l" marL="1295394" indent="-431798" lvl="2">
                <a:lnSpc>
                  <a:spcPts val="4499"/>
                </a:lnSpc>
                <a:buFont typeface="Arial"/>
                <a:buChar char="⚬"/>
              </a:pPr>
              <a:r>
                <a:rPr lang="en-US" sz="2999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  <a:hlinkClick r:id="rId8" tooltip="https://docs.google.com/spreadsheets/d/1DUF2isFWsqVSYhbaACYtbgcLi_YjDqpE3GLQIVgkKQg/edit#gid=69851113"/>
                </a:rPr>
                <a:t>images/&lt;scene_id&gt;/*.jpg</a:t>
              </a:r>
            </a:p>
            <a:p>
              <a:pPr algn="l" marL="1295394" indent="-431798" lvl="2">
                <a:lnSpc>
                  <a:spcPts val="4499"/>
                </a:lnSpc>
                <a:buFont typeface="Arial"/>
                <a:buChar char="⚬"/>
              </a:pPr>
              <a:r>
                <a:rPr lang="en-US" sz="2999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  <a:hlinkClick r:id="rId9" tooltip="https://docs.google.com/spreadsheets/d/1DUF2isFWsqVSYhbaACYtbgcLi_YjDqpE3GLQIVgkKQg/edit#gid=69851113"/>
                </a:rPr>
                <a:t>annotations/&lt;scene_id&gt;/*.png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1028700" y="8048968"/>
            <a:ext cx="16230600" cy="0"/>
          </a:xfrm>
          <a:prstGeom prst="line">
            <a:avLst/>
          </a:prstGeom>
          <a:ln cap="rnd" w="28575">
            <a:solidFill>
              <a:srgbClr val="3F3D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028700" y="2238205"/>
            <a:ext cx="16230600" cy="0"/>
          </a:xfrm>
          <a:prstGeom prst="line">
            <a:avLst/>
          </a:prstGeom>
          <a:ln cap="rnd" w="28575">
            <a:solidFill>
              <a:srgbClr val="3F3D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41415" y="2567666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PREPROCESSING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41438" y="4097138"/>
            <a:ext cx="12750304" cy="3469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Images resized to 256×256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RGB masks mapped to 6 class IDs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Train/validation split: 80/20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Class distribution calculated using 200 random samples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Visual inspection shows class imbalance</a:t>
            </a:r>
          </a:p>
          <a:p>
            <a:pPr algn="l">
              <a:lnSpc>
                <a:spcPts val="4576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44990" y="-85725"/>
            <a:ext cx="15914310" cy="1659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88"/>
              </a:lnSpc>
            </a:pPr>
            <a:r>
              <a:rPr lang="en-US" b="true" sz="47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MAJORITY CLASS BASELINE RESULTS (DATASET V3 MENDELEY FLOOD SEGMENTATION)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39043"/>
            <a:ext cx="8421132" cy="6951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333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Baseline Description:</a:t>
            </a:r>
          </a:p>
          <a:p>
            <a:pPr algn="l" marL="503878" indent="-251939" lvl="1">
              <a:lnSpc>
                <a:spcPts val="3267"/>
              </a:lnSpc>
              <a:buFont typeface="Arial"/>
              <a:buChar char="•"/>
            </a:pPr>
            <a:r>
              <a:rPr lang="en-US" sz="233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Predicts only the majority pixel class (Class 3) for all pixels</a:t>
            </a:r>
          </a:p>
          <a:p>
            <a:pPr algn="l" marL="503878" indent="-251939" lvl="1">
              <a:lnSpc>
                <a:spcPts val="3267"/>
              </a:lnSpc>
              <a:buFont typeface="Arial"/>
              <a:buChar char="•"/>
            </a:pPr>
            <a:r>
              <a:rPr lang="en-US" sz="233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No training required; serves as the minimum benchmark</a:t>
            </a:r>
          </a:p>
          <a:p>
            <a:pPr algn="l" marL="503878" indent="-251939" lvl="1">
              <a:lnSpc>
                <a:spcPts val="3267"/>
              </a:lnSpc>
              <a:buFont typeface="Arial"/>
              <a:buChar char="•"/>
            </a:pPr>
            <a:r>
              <a:rPr lang="en-US" sz="233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Useful for evaluating whether advanced models (e.g., UNet) actually learn meaningful features</a:t>
            </a:r>
          </a:p>
          <a:p>
            <a:pPr algn="l">
              <a:lnSpc>
                <a:spcPts val="3267"/>
              </a:lnSpc>
            </a:pPr>
          </a:p>
          <a:p>
            <a:pPr algn="l">
              <a:lnSpc>
                <a:spcPts val="3267"/>
              </a:lnSpc>
            </a:pPr>
            <a:r>
              <a:rPr lang="en-US" sz="2333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Key Insight</a:t>
            </a:r>
          </a:p>
          <a:p>
            <a:pPr algn="l" marL="503878" indent="-251939" lvl="1">
              <a:lnSpc>
                <a:spcPts val="3267"/>
              </a:lnSpc>
              <a:buFont typeface="Arial"/>
              <a:buChar char="•"/>
            </a:pPr>
            <a:r>
              <a:rPr lang="en-US" sz="233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This dataset has a relatively balanced distribution compared to typical flood datasets, so the majority-class baseline performs poorly, making it an excellent lower bound.</a:t>
            </a:r>
          </a:p>
          <a:p>
            <a:pPr algn="l" marL="503878" indent="-251939" lvl="1">
              <a:lnSpc>
                <a:spcPts val="3267"/>
              </a:lnSpc>
              <a:buFont typeface="Arial"/>
              <a:buChar char="•"/>
            </a:pPr>
            <a:r>
              <a:rPr lang="en-US" sz="233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Any real segmentation model must significantly outperform 34.57% accuracy / 0.058 mIoU to be considered effective.</a:t>
            </a:r>
          </a:p>
          <a:p>
            <a:pPr algn="l">
              <a:lnSpc>
                <a:spcPts val="326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66668" y="2048568"/>
            <a:ext cx="5238869" cy="5302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  <a:spcBef>
                <a:spcPct val="0"/>
              </a:spcBef>
            </a:pPr>
            <a:r>
              <a:rPr lang="en-US" b="true" sz="2356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Pixel Distributi</a:t>
            </a:r>
            <a:r>
              <a:rPr lang="en-US" b="true" sz="2356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on (Given):</a:t>
            </a:r>
          </a:p>
          <a:p>
            <a:pPr algn="l" marL="508799" indent="-254400" lvl="1">
              <a:lnSpc>
                <a:spcPts val="3299"/>
              </a:lnSpc>
              <a:spcBef>
                <a:spcPct val="0"/>
              </a:spcBef>
              <a:buFont typeface="Arial"/>
              <a:buChar char="•"/>
            </a:pPr>
            <a:r>
              <a:rPr lang="en-US" sz="235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Class 0: 23.50%</a:t>
            </a:r>
          </a:p>
          <a:p>
            <a:pPr algn="l" marL="508799" indent="-254400" lvl="1">
              <a:lnSpc>
                <a:spcPts val="3299"/>
              </a:lnSpc>
              <a:spcBef>
                <a:spcPct val="0"/>
              </a:spcBef>
              <a:buFont typeface="Arial"/>
              <a:buChar char="•"/>
            </a:pPr>
            <a:r>
              <a:rPr lang="en-US" sz="235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Class 1: 31.75%</a:t>
            </a:r>
          </a:p>
          <a:p>
            <a:pPr algn="l" marL="508799" indent="-254400" lvl="1">
              <a:lnSpc>
                <a:spcPts val="3299"/>
              </a:lnSpc>
              <a:spcBef>
                <a:spcPct val="0"/>
              </a:spcBef>
              <a:buFont typeface="Arial"/>
              <a:buChar char="•"/>
            </a:pPr>
            <a:r>
              <a:rPr lang="en-US" sz="235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Class 3: 34.57% (Majority Class)</a:t>
            </a:r>
          </a:p>
          <a:p>
            <a:pPr algn="l" marL="508799" indent="-254400" lvl="1">
              <a:lnSpc>
                <a:spcPts val="3299"/>
              </a:lnSpc>
              <a:spcBef>
                <a:spcPct val="0"/>
              </a:spcBef>
              <a:buFont typeface="Arial"/>
              <a:buChar char="•"/>
            </a:pPr>
            <a:r>
              <a:rPr lang="en-US" sz="235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Class 2: 8.39%</a:t>
            </a:r>
          </a:p>
          <a:p>
            <a:pPr algn="l" marL="508799" indent="-254400" lvl="1">
              <a:lnSpc>
                <a:spcPts val="3299"/>
              </a:lnSpc>
              <a:spcBef>
                <a:spcPct val="0"/>
              </a:spcBef>
              <a:buFont typeface="Arial"/>
              <a:buChar char="•"/>
            </a:pPr>
            <a:r>
              <a:rPr lang="en-US" sz="235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Class 5: 1.80%</a:t>
            </a:r>
          </a:p>
          <a:p>
            <a:pPr algn="l" marL="508799" indent="-254400" lvl="1">
              <a:lnSpc>
                <a:spcPts val="3299"/>
              </a:lnSpc>
              <a:spcBef>
                <a:spcPct val="0"/>
              </a:spcBef>
              <a:buFont typeface="Arial"/>
              <a:buChar char="•"/>
            </a:pPr>
            <a:r>
              <a:rPr lang="en-US" sz="235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Class 4: 0%</a:t>
            </a:r>
          </a:p>
          <a:p>
            <a:pPr algn="l">
              <a:lnSpc>
                <a:spcPts val="3299"/>
              </a:lnSpc>
              <a:spcBef>
                <a:spcPct val="0"/>
              </a:spcBef>
            </a:pPr>
            <a:r>
              <a:rPr lang="en-US" b="true" sz="2356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Baseline Performance:</a:t>
            </a:r>
          </a:p>
          <a:p>
            <a:pPr algn="l" marL="508799" indent="-254400" lvl="1">
              <a:lnSpc>
                <a:spcPts val="3299"/>
              </a:lnSpc>
              <a:spcBef>
                <a:spcPct val="0"/>
              </a:spcBef>
              <a:buFont typeface="Arial"/>
              <a:buChar char="•"/>
            </a:pPr>
            <a:r>
              <a:rPr lang="en-US" sz="235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Pixel Accuracy: 34.57%</a:t>
            </a:r>
          </a:p>
          <a:p>
            <a:pPr algn="l" marL="508799" indent="-254400" lvl="1">
              <a:lnSpc>
                <a:spcPts val="3299"/>
              </a:lnSpc>
              <a:spcBef>
                <a:spcPct val="0"/>
              </a:spcBef>
              <a:buFont typeface="Arial"/>
              <a:buChar char="•"/>
            </a:pPr>
            <a:r>
              <a:rPr lang="en-US" sz="235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IoU(Class 3): 0.3457</a:t>
            </a:r>
          </a:p>
          <a:p>
            <a:pPr algn="l" marL="508799" indent="-254400" lvl="1">
              <a:lnSpc>
                <a:spcPts val="3299"/>
              </a:lnSpc>
              <a:spcBef>
                <a:spcPct val="0"/>
              </a:spcBef>
              <a:buFont typeface="Arial"/>
              <a:buChar char="•"/>
            </a:pPr>
            <a:r>
              <a:rPr lang="en-US" sz="235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IoU(All Other Classes): 0</a:t>
            </a:r>
          </a:p>
          <a:p>
            <a:pPr algn="l" marL="508799" indent="-254400" lvl="1">
              <a:lnSpc>
                <a:spcPts val="3299"/>
              </a:lnSpc>
              <a:spcBef>
                <a:spcPct val="0"/>
              </a:spcBef>
              <a:buFont typeface="Arial"/>
              <a:buChar char="•"/>
            </a:pPr>
            <a:r>
              <a:rPr lang="en-US" sz="235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Mean IoU (mIoU): 0.058</a:t>
            </a:r>
          </a:p>
          <a:p>
            <a:pPr algn="l">
              <a:lnSpc>
                <a:spcPts val="32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41415" y="2567666"/>
            <a:ext cx="1121000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PROPOSED MODEL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93516" y="4715297"/>
            <a:ext cx="9900968" cy="3469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UNet for Semantic Segmentation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Encoder–decoder architecture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Skip connections preserve spatial features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Suitable for pixel-level classification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Output: 6-channel segmentation mask</a:t>
            </a:r>
          </a:p>
          <a:p>
            <a:pPr algn="l">
              <a:lnSpc>
                <a:spcPts val="4576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78486" y="1943208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TRAINING SETUP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41438" y="4097138"/>
            <a:ext cx="7304536" cy="521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Epochs: 10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Batch size: 4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Optimizer: Adam (lr = 1e-4)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Loss: CrossEntropyLoss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Metrics:</a:t>
            </a:r>
          </a:p>
          <a:p>
            <a:pPr algn="l" marL="1411494" indent="-470498" lvl="2">
              <a:lnSpc>
                <a:spcPts val="4576"/>
              </a:lnSpc>
              <a:buFont typeface="Arial"/>
              <a:buChar char="⚬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Pixel accuracy</a:t>
            </a:r>
          </a:p>
          <a:p>
            <a:pPr algn="l" marL="1411494" indent="-470498" lvl="2">
              <a:lnSpc>
                <a:spcPts val="4576"/>
              </a:lnSpc>
              <a:buFont typeface="Arial"/>
              <a:buChar char="⚬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mIoU</a:t>
            </a:r>
          </a:p>
          <a:p>
            <a:pPr algn="l" marL="1411494" indent="-470498" lvl="2">
              <a:lnSpc>
                <a:spcPts val="4576"/>
              </a:lnSpc>
              <a:buFont typeface="Arial"/>
              <a:buChar char="⚬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Precision &amp; Recall</a:t>
            </a:r>
          </a:p>
          <a:p>
            <a:pPr algn="l">
              <a:lnSpc>
                <a:spcPts val="4576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5" id="5"/>
          <p:cNvGraphicFramePr/>
          <p:nvPr/>
        </p:nvGraphicFramePr>
        <p:xfrm>
          <a:off x="6196847" y="4918201"/>
          <a:ext cx="4286250" cy="3143250"/>
        </p:xfrm>
        <a:graphic>
          <a:graphicData uri="http://schemas.openxmlformats.org/presentationml/2006/ole">
            <p:oleObj imgW="5143500" imgH="40005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769920" y="2173272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RESULTS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87961" y="3797405"/>
            <a:ext cx="9112078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Q</a:t>
            </a:r>
            <a:r>
              <a:rPr lang="en-US" b="true" sz="474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uantitative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5" id="5"/>
          <p:cNvGraphicFramePr/>
          <p:nvPr/>
        </p:nvGraphicFramePr>
        <p:xfrm>
          <a:off x="3195801" y="4077432"/>
          <a:ext cx="6172200" cy="4400550"/>
        </p:xfrm>
        <a:graphic>
          <a:graphicData uri="http://schemas.openxmlformats.org/presentationml/2006/ole">
            <p:oleObj imgW="7404100" imgH="56388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386258" y="2381929"/>
            <a:ext cx="15463786" cy="114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48"/>
              </a:lnSpc>
            </a:pPr>
            <a:r>
              <a:rPr lang="en-US" b="true" sz="66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PER-CLASS PRECISION &amp; RECALL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30256" y="4855153"/>
            <a:ext cx="4808041" cy="112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1"/>
              </a:lnSpc>
              <a:spcBef>
                <a:spcPct val="0"/>
              </a:spcBef>
            </a:pPr>
            <a:r>
              <a:rPr lang="en-US" b="true" sz="324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Macr</a:t>
            </a:r>
            <a:r>
              <a:rPr lang="en-US" b="true" sz="324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 Precision: 0.897</a:t>
            </a:r>
          </a:p>
          <a:p>
            <a:pPr algn="ctr">
              <a:lnSpc>
                <a:spcPts val="4541"/>
              </a:lnSpc>
              <a:spcBef>
                <a:spcPct val="0"/>
              </a:spcBef>
            </a:pPr>
            <a:r>
              <a:rPr lang="en-US" b="true" sz="324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Macro Recall: 0.896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081762" y="2128973"/>
            <a:ext cx="11263274" cy="7335207"/>
          </a:xfrm>
          <a:custGeom>
            <a:avLst/>
            <a:gdLst/>
            <a:ahLst/>
            <a:cxnLst/>
            <a:rect r="r" b="b" t="t" l="l"/>
            <a:pathLst>
              <a:path h="7335207" w="11263274">
                <a:moveTo>
                  <a:pt x="0" y="0"/>
                </a:moveTo>
                <a:lnTo>
                  <a:pt x="11263274" y="0"/>
                </a:lnTo>
                <a:lnTo>
                  <a:pt x="11263274" y="7335207"/>
                </a:lnTo>
                <a:lnTo>
                  <a:pt x="0" y="73352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81762" y="256254"/>
            <a:ext cx="12567093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VISUAL RESULTS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15300" y="1877476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21514" y="4087613"/>
            <a:ext cx="14392742" cy="386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92105" indent="-396052" lvl="1">
              <a:lnSpc>
                <a:spcPts val="5136"/>
              </a:lnSpc>
              <a:buFont typeface="Arial"/>
              <a:buChar char="•"/>
            </a:pPr>
            <a:r>
              <a:rPr lang="en-US" sz="3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Built full semantic segmentation pipeline for flood mapping</a:t>
            </a:r>
          </a:p>
          <a:p>
            <a:pPr algn="just" marL="792105" indent="-396052" lvl="1">
              <a:lnSpc>
                <a:spcPts val="5136"/>
              </a:lnSpc>
              <a:buFont typeface="Arial"/>
              <a:buChar char="•"/>
            </a:pPr>
            <a:r>
              <a:rPr lang="en-US" sz="3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Final model achieved 92.78% accuracy and 0.7354 mIoU</a:t>
            </a:r>
          </a:p>
          <a:p>
            <a:pPr algn="just" marL="792105" indent="-396052" lvl="1">
              <a:lnSpc>
                <a:spcPts val="5136"/>
              </a:lnSpc>
              <a:buFont typeface="Arial"/>
              <a:buChar char="•"/>
            </a:pPr>
            <a:r>
              <a:rPr lang="en-US" sz="3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Demonstrates clear potential for automated flood disaster response</a:t>
            </a:r>
          </a:p>
          <a:p>
            <a:pPr algn="just">
              <a:lnSpc>
                <a:spcPts val="5136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68325" y="4041844"/>
            <a:ext cx="12951349" cy="197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b="true" sz="11505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DAG6ST2bU0U</dc:identifier>
  <dcterms:modified xsi:type="dcterms:W3CDTF">2011-08-01T06:04:30Z</dcterms:modified>
  <cp:revision>1</cp:revision>
  <dc:title>Deep Learning for Flood Damage Detection Using Satellite and Real-World Imagery</dc:title>
</cp:coreProperties>
</file>