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9" r:id="rId3"/>
    <p:sldId id="268" r:id="rId4"/>
    <p:sldId id="269" r:id="rId5"/>
    <p:sldId id="285" r:id="rId6"/>
    <p:sldId id="286" r:id="rId7"/>
    <p:sldId id="291" r:id="rId8"/>
    <p:sldId id="287" r:id="rId9"/>
    <p:sldId id="288" r:id="rId10"/>
    <p:sldId id="292" r:id="rId11"/>
    <p:sldId id="289" r:id="rId12"/>
    <p:sldId id="290" r:id="rId13"/>
    <p:sldId id="293" r:id="rId14"/>
    <p:sldId id="271" r:id="rId15"/>
    <p:sldId id="294" r:id="rId1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35" autoAdjust="0"/>
    <p:restoredTop sz="94658"/>
  </p:normalViewPr>
  <p:slideViewPr>
    <p:cSldViewPr snapToGrid="0" snapToObjects="1">
      <p:cViewPr varScale="1">
        <p:scale>
          <a:sx n="119" d="100"/>
          <a:sy n="119" d="100"/>
        </p:scale>
        <p:origin x="7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E9484-A1AE-4848-978F-DB84137331BF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51DBA-7D26-427F-A8DB-8EB0BE356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1278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19T16:03:27.7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 3 455 0 0,'0'0'0'0'0,"-7"-1"584"0"0,1-1 752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19T16:05:05.9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 0 16127 0 0,'-1'14'1744'0'0,"0"-2"-1744"0"0,1-1 0 0 0,2-2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19T16:04:30.3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 0 4607 0 0,'0'0'208'0'0,"0"2"-9"0"0,-10 14 9528 0 0,8-15-8409 0 0,1 0 1 0 0,-1 0-1 0 0,-2 1 0 0 0,1 0-2309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19T16:46:12.6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10 489 3223 0 0,'32'-32'288'0'0,"-14"7"-288"0"0,-1-5 0 0 0,-2-2 0 0 0,-3 2-112 0 0,-6-2-80 0 0,-2 0-8 0 0,-5-3-8 0 0,-3 1 344 0 0,-6 1 72 0 0,-1-1 16 0 0,-5 1 0 0 0,-2-1-224 0 0,-6-2-152 0 0,-6 0 24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19T16:51:06.59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 1 919 0 0,'-2'7'80'0'0,"-1"1"574"0"0,1 0-1 0 0,0 0 0 0 0,1 0 1 0 0,-2 13-1 0 0,1-10 830 0 0,2-10-989 0 0,0 0-399 0 0,0-1 0 0 0,0 0 0 0 0,0 0 0 0 0,0 1 0 0 0,0-1 0 0 0,0 0 0 0 0,0 0 0 0 0,0 1-1 0 0,0-1 1 0 0,0 0 0 0 0,0 1 0 0 0,0-1 0 0 0,0 0 0 0 0,0 0 0 0 0,0 1 0 0 0,0-1-1 0 0,0 0 1 0 0,0 0 0 0 0,0 1 0 0 0,1-1 0 0 0,-1 0 0 0 0,0 0 0 0 0,0 1 0 0 0,19-4-489 0 0,-17 3 130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19T16:54:20.8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11055 0 0,'0'0'488'0'0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19T16:54:22.5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83 3223 0 0,'-1'1'143'0'0,"-5"9"12896"0"0,9-11-12656 0 0,-1 1 1 0 0,0 0 0 0 0,1-1 0 0 0,-1 1 0 0 0,0-1 0 0 0,1 0 0 0 0,3-1 0 0 0,27-19-55 0 0,-17 10-88 0 0,-2 4-450 0 0,1 1 0 0 0,0 0 0 0 0,1 0-1 0 0,-1 2 1 0 0,24-5 0 0 0,40-4-3100 0 0,-60 8-2350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19T16:55:53.8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4 22399 0 0,'0'0'992'0'0,"-9"-4"448"0"0,8 11-1640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B843F6B6-C643-EB48-8E20-B61919A653AE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6E6A39C-9C1F-2A4A-AF30-046BACDB3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277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7234E-C1D4-E545-A8F2-9753C7EC5C11}" type="slidenum">
              <a:rPr lang="en-US"/>
              <a:pPr/>
              <a:t>3</a:t>
            </a:fld>
            <a:endParaRPr lang="en-US"/>
          </a:p>
        </p:txBody>
      </p:sp>
      <p:sp>
        <p:nvSpPr>
          <p:cNvPr id="199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311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8A789D-DF5B-6943-AB62-7030181AFA4C}" type="slidenum">
              <a:rPr lang="en-US"/>
              <a:pPr/>
              <a:t>4</a:t>
            </a:fld>
            <a:endParaRPr lang="en-US"/>
          </a:p>
        </p:txBody>
      </p:sp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400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411C0D-6858-7446-93C0-9735C95C2A24}" type="slidenum">
              <a:rPr lang="en-US"/>
              <a:pPr/>
              <a:t>7</a:t>
            </a:fld>
            <a:endParaRPr lang="en-US"/>
          </a:p>
        </p:txBody>
      </p:sp>
      <p:sp>
        <p:nvSpPr>
          <p:cNvPr id="204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440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4DDBEB-BFCC-7D4A-886D-B9F59AAE155B}" type="slidenum">
              <a:rPr lang="en-US"/>
              <a:pPr/>
              <a:t>10</a:t>
            </a:fld>
            <a:endParaRPr lang="en-US"/>
          </a:p>
        </p:txBody>
      </p:sp>
      <p:sp>
        <p:nvSpPr>
          <p:cNvPr id="206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8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82892A-D28A-4D4F-BC77-96E9C0BC90F4}" type="slidenum">
              <a:rPr lang="en-US"/>
              <a:pPr/>
              <a:t>13</a:t>
            </a:fld>
            <a:endParaRPr lang="en-US"/>
          </a:p>
        </p:txBody>
      </p:sp>
      <p:sp>
        <p:nvSpPr>
          <p:cNvPr id="208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7564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E1FDDF-D23D-5D49-ACE9-1C27AEA0C0EE}" type="slidenum">
              <a:rPr lang="en-US"/>
              <a:pPr/>
              <a:t>14</a:t>
            </a:fld>
            <a:endParaRPr lang="en-US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974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E1FDDF-D23D-5D49-ACE9-1C27AEA0C0EE}" type="slidenum">
              <a:rPr lang="en-US"/>
              <a:pPr/>
              <a:t>15</a:t>
            </a:fld>
            <a:endParaRPr lang="en-US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62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06F780E-9DEC-114C-B59D-A82F5B1305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703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DB4BCB-6267-7C4C-B43A-E90C40649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8D4E9D-E0FF-4A40-92D3-F584F728C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A4489E-2E74-F340-B15A-B2A6F49450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91286" y="118872"/>
            <a:ext cx="9209427" cy="87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0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76A11-4AC1-8748-B27A-412000BFD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39F17-8DC0-704B-9AE7-F0ACCDF4C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4A4D8-C6D2-0E40-92C4-2BCFF05A1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TEXAS A&amp;M-SAN ANTONIO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86E18-20E2-9044-890C-17969EAC4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063ED-17C5-384F-8A20-6B5F1E692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72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5D519-9498-A74B-A50E-3FE856C93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A1DE4-D61E-B948-97DB-95EA3642C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EC6AA-5BA9-6C4B-9C05-A4DF3EB3C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70A15-8FCB-1145-B769-EBE016DEC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6DD52-61E1-7644-A884-1919EF7DF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175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ADC3-8E98-4046-9AAD-79B345A96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E0A05-7784-8E43-A36D-9DF6EB0DA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BC6E6-C854-644C-8127-782D34662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892C8-648C-E648-909E-43B6AB5CE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5A266-0D34-A848-B798-09F9F6C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07C42-7FD9-8A46-9771-76E49801F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07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9DF53-106B-564F-A34E-66D6D5527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E6C4E-D1C9-7E43-8BE6-6FF6C0297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84BC5-819E-184D-B400-C628FC4E7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D4D157-B42E-B04A-9802-E4687A2B0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BE22DF-E739-C941-8F53-FEB1143BE8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D40280-C860-6543-8954-037C3B8DD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C3B322-30C5-7A48-80C9-34D80F20B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0A570F-CCB9-8A4D-A1DF-182EDBD9E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0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7A4AD-56A7-D544-8CC4-C59732383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5C9BB6-238C-9849-8A11-ED3068252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23E8EC-9A7F-CE49-8A55-A5D7CD716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C0A83-16F0-D946-B562-A591524C4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64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F29F64-1BDD-504B-A6CA-0E20C98EF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8C1686-9F4A-094D-AD83-7AAFEDFD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004E1-8548-F84D-B00A-A977C4D04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454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73EF2-341F-F844-AFCF-6433054D0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D4C50-3B10-0B41-9B37-D7C15E263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DF77F2-1CF2-E444-9FAD-9E8F54149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D50E1-5F20-BB45-A98E-EBF4F1C1D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EF63F-A284-684A-A9AD-5E8434D7B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865B0-3686-3341-AD20-5617C52E1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49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FA22E-AA44-194A-BF2A-701D2B5FF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78C7F6-4BD5-E641-B632-A1B5A1DC03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7162C-C948-1943-97BA-5AB7865AF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FC85A-702E-DD4C-B6D4-ABFDB8A87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86D28-396E-8E48-AC2E-0FFF126DF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52750-349A-6946-B6A4-04B5FB36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57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AD500-C0C2-5D47-8D80-53BD44C53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4353C2-7F77-A84A-A20F-985C4D4E0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B0480-39D0-9D45-907F-0B6A521E7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CE67D-E526-5843-B848-1C14DB188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4ADD1-3DAE-C94D-B565-D611793BA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827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162169-3F65-BD4A-838C-F27F6199AC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FB8A1-5D3F-2A4E-B1C3-99D1601C1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78F54-DF87-5D42-BA44-CB6C6B654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80EB4-1594-5244-AFD3-740F69F71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BEE49-3691-D549-AC56-DB7355B65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610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E62574-E313-A548-8CD1-53BB254DD3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7030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9B084-1E51-FA44-B2F1-C4E821A1B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4DE31-0525-CD4C-A8B3-E43493227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2773D-3906-1A4B-8CD5-0D836E29BA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Oswald" panose="02000503000000000000" pitchFamily="2" charset="0"/>
              </a:defRPr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2DC35-01F7-F14D-A158-C7100804C4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CDA7F-9F75-B94E-AEE1-3C966732A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7D5D8-8021-D54A-A92F-C392C50DF18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AF6714-108A-9744-8E65-70ABDC5635E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" y="0"/>
            <a:ext cx="826999" cy="82699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F07C08-5274-364D-889D-20BEAFD80E1E}"/>
              </a:ext>
            </a:extLst>
          </p:cNvPr>
          <p:cNvCxnSpPr>
            <a:cxnSpLocks/>
          </p:cNvCxnSpPr>
          <p:nvPr userDrawn="1"/>
        </p:nvCxnSpPr>
        <p:spPr>
          <a:xfrm>
            <a:off x="2450592" y="6598227"/>
            <a:ext cx="97414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290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Oswald" panose="02000503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customXml" Target="../ink/ink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11" Type="http://schemas.openxmlformats.org/officeDocument/2006/relationships/image" Target="../media/image26.png"/><Relationship Id="rId5" Type="http://schemas.openxmlformats.org/officeDocument/2006/relationships/image" Target="../media/image23.png"/><Relationship Id="rId10" Type="http://schemas.openxmlformats.org/officeDocument/2006/relationships/customXml" Target="../ink/ink8.xml"/><Relationship Id="rId4" Type="http://schemas.openxmlformats.org/officeDocument/2006/relationships/customXml" Target="../ink/ink5.xml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E6319-A62A-B444-ADAD-8972AE1B0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8118"/>
            <a:ext cx="9144000" cy="192292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100" dirty="0"/>
              <a:t>CSCI 5343 Algorithms</a:t>
            </a:r>
            <a:br>
              <a:rPr lang="en-US" sz="3100" dirty="0"/>
            </a:br>
            <a:r>
              <a:rPr lang="en-US" sz="3100" dirty="0"/>
              <a:t>Spring 2025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B2D859-22D5-E943-B0B7-72D5D0A6F6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895755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  <a:buSzPct val="70000"/>
            </a:pPr>
            <a:r>
              <a:rPr lang="en-US" dirty="0"/>
              <a:t>Dept. of Computational, Engineering, and Computational Sciences</a:t>
            </a:r>
          </a:p>
          <a:p>
            <a:pPr>
              <a:buClr>
                <a:srgbClr val="002060"/>
              </a:buClr>
              <a:buSzPct val="70000"/>
            </a:pPr>
            <a:endParaRPr lang="en-US" dirty="0"/>
          </a:p>
          <a:p>
            <a:pPr>
              <a:buClr>
                <a:srgbClr val="002060"/>
              </a:buClr>
              <a:buSzPct val="70000"/>
            </a:pPr>
            <a:r>
              <a:rPr lang="en-US" dirty="0"/>
              <a:t>Chapter 3 Growth of Functions</a:t>
            </a:r>
          </a:p>
        </p:txBody>
      </p:sp>
    </p:spTree>
    <p:extLst>
      <p:ext uri="{BB962C8B-B14F-4D97-AF65-F5344CB8AC3E}">
        <p14:creationId xmlns:p14="http://schemas.microsoft.com/office/powerpoint/2010/main" val="4186716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8E2F1-156D-48EB-AC57-2573B4EAB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557" y="21397"/>
            <a:ext cx="6954616" cy="1400530"/>
          </a:xfrm>
        </p:spPr>
        <p:txBody>
          <a:bodyPr/>
          <a:lstStyle/>
          <a:p>
            <a:r>
              <a:rPr lang="en-US" sz="3600" dirty="0"/>
              <a:t>Goals of Growth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E8D4C-7AD3-4D05-97B8-FD6A8ABBE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37" y="1421927"/>
            <a:ext cx="6487231" cy="4346354"/>
          </a:xfrm>
        </p:spPr>
        <p:txBody>
          <a:bodyPr/>
          <a:lstStyle/>
          <a:p>
            <a:pPr>
              <a:buClr>
                <a:srgbClr val="002060"/>
              </a:buClr>
            </a:pPr>
            <a:r>
              <a:rPr lang="en-US" sz="2400" dirty="0"/>
              <a:t>Understand behavior of functions in studying asymptotic efficiency</a:t>
            </a:r>
          </a:p>
          <a:p>
            <a:pPr>
              <a:buClr>
                <a:srgbClr val="002060"/>
              </a:buClr>
            </a:pPr>
            <a:r>
              <a:rPr lang="en-US" sz="2400" dirty="0"/>
              <a:t>Focus on what’s important by abstracting away low-order terms and constant factors </a:t>
            </a:r>
          </a:p>
          <a:p>
            <a:pPr>
              <a:buClr>
                <a:srgbClr val="002060"/>
              </a:buClr>
            </a:pPr>
            <a:r>
              <a:rPr lang="en-US" sz="2400" dirty="0"/>
              <a:t>Indicate and understand running times of algorithms</a:t>
            </a:r>
          </a:p>
          <a:p>
            <a:pPr>
              <a:buClr>
                <a:srgbClr val="002060"/>
              </a:buClr>
            </a:pPr>
            <a:endParaRPr lang="en-US" sz="2400" dirty="0"/>
          </a:p>
          <a:p>
            <a:pPr>
              <a:buClr>
                <a:srgbClr val="002060"/>
              </a:buClr>
            </a:pPr>
            <a:endParaRPr lang="en-US" sz="2400" dirty="0"/>
          </a:p>
          <a:p>
            <a:pPr>
              <a:buClr>
                <a:srgbClr val="002060"/>
              </a:buClr>
            </a:pPr>
            <a:r>
              <a:rPr lang="en-US" sz="2400" dirty="0"/>
              <a:t>Compare sizes of functions and times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41C9BD-BF96-43AC-8FA9-1A50B13BC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230" y="3427405"/>
            <a:ext cx="1612419" cy="9791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48D5A0-277B-41EB-B3AF-247AB422D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7619" y="1421927"/>
            <a:ext cx="4765492" cy="401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529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12231-2927-BE42-9BDD-450DFB22C97C}" type="slidenum">
              <a:rPr lang="en-US"/>
              <a:pPr/>
              <a:t>3</a:t>
            </a:fld>
            <a:endParaRPr lang="en-US"/>
          </a:p>
        </p:txBody>
      </p:sp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71113" y="-5811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Algorithm Analysis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1113" y="1469646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The amount of resources used by the algorithm</a:t>
            </a:r>
          </a:p>
          <a:p>
            <a:pPr lvl="1"/>
            <a:r>
              <a:rPr lang="en-US" dirty="0"/>
              <a:t>Space</a:t>
            </a:r>
          </a:p>
          <a:p>
            <a:pPr lvl="1"/>
            <a:r>
              <a:rPr lang="en-US" dirty="0"/>
              <a:t>Computational time</a:t>
            </a:r>
          </a:p>
          <a:p>
            <a:r>
              <a:rPr lang="en-US" sz="2400" dirty="0"/>
              <a:t>Computational running time:</a:t>
            </a:r>
          </a:p>
          <a:p>
            <a:pPr lvl="1"/>
            <a:r>
              <a:rPr lang="en-US" dirty="0"/>
              <a:t>The number of primitive operations (steps) executed before termination</a:t>
            </a:r>
          </a:p>
          <a:p>
            <a:r>
              <a:rPr lang="en-US" sz="2400" dirty="0"/>
              <a:t>Order of growth </a:t>
            </a:r>
          </a:p>
          <a:p>
            <a:pPr lvl="1"/>
            <a:r>
              <a:rPr lang="en-US" dirty="0"/>
              <a:t>The leading term of a formula</a:t>
            </a:r>
          </a:p>
          <a:p>
            <a:pPr lvl="1"/>
            <a:r>
              <a:rPr lang="en-US" dirty="0"/>
              <a:t>Expresses the behavior of a function</a:t>
            </a:r>
          </a:p>
        </p:txBody>
      </p:sp>
    </p:spTree>
    <p:extLst>
      <p:ext uri="{BB962C8B-B14F-4D97-AF65-F5344CB8AC3E}">
        <p14:creationId xmlns:p14="http://schemas.microsoft.com/office/powerpoint/2010/main" val="212243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02102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Asymptotic Notation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2102" y="1292032"/>
            <a:ext cx="9392728" cy="5076825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2400" b="1" dirty="0"/>
              <a:t>A way to describe behavior of functions in the limit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</a:pPr>
            <a:r>
              <a:rPr lang="en-US" sz="2200" dirty="0"/>
              <a:t>How we indicate running times of algorithms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</a:pPr>
            <a:r>
              <a:rPr lang="en-US" sz="2200" dirty="0"/>
              <a:t>Describe the running time of an algorithm as n grows to </a:t>
            </a:r>
            <a:r>
              <a:rPr lang="en-US" sz="2200" dirty="0">
                <a:sym typeface="Symbol" charset="2"/>
              </a:rPr>
              <a:t>∞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2400" b="1" dirty="0"/>
              <a:t>Three Asymptotic Notations</a:t>
            </a:r>
          </a:p>
          <a:p>
            <a:pPr marL="990600" lvl="1" indent="-533400">
              <a:lnSpc>
                <a:spcPct val="150000"/>
              </a:lnSpc>
              <a:spcBef>
                <a:spcPts val="600"/>
              </a:spcBef>
            </a:pPr>
            <a:r>
              <a:rPr lang="en-US" sz="2200" b="1" i="1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O</a:t>
            </a:r>
            <a:r>
              <a:rPr lang="en-US" sz="2200" dirty="0"/>
              <a:t> notation: asymptotic “less than”:        f(n) “</a:t>
            </a:r>
            <a:r>
              <a:rPr lang="en-US" sz="2200" dirty="0">
                <a:ea typeface="Arial" charset="0"/>
                <a:cs typeface="Arial" charset="0"/>
              </a:rPr>
              <a:t>≤</a:t>
            </a:r>
            <a:r>
              <a:rPr lang="en-US" sz="2200" dirty="0"/>
              <a:t>” cg(n)</a:t>
            </a:r>
          </a:p>
          <a:p>
            <a:pPr marL="990600" lvl="1" indent="-533400">
              <a:lnSpc>
                <a:spcPct val="150000"/>
              </a:lnSpc>
              <a:spcBef>
                <a:spcPts val="600"/>
              </a:spcBef>
            </a:pPr>
            <a:r>
              <a:rPr lang="en-US" sz="2200" i="1" dirty="0">
                <a:solidFill>
                  <a:schemeClr val="accent6">
                    <a:lumMod val="75000"/>
                    <a:lumOff val="25000"/>
                  </a:schemeClr>
                </a:solidFill>
                <a:sym typeface="Symbol" charset="2"/>
              </a:rPr>
              <a:t>𝝮</a:t>
            </a:r>
            <a:r>
              <a:rPr lang="en-US" sz="2200" dirty="0">
                <a:solidFill>
                  <a:schemeClr val="accent6">
                    <a:lumMod val="75000"/>
                    <a:lumOff val="25000"/>
                  </a:schemeClr>
                </a:solidFill>
                <a:sym typeface="Symbol" charset="2"/>
              </a:rPr>
              <a:t> </a:t>
            </a:r>
            <a:r>
              <a:rPr lang="en-US" sz="2200" dirty="0">
                <a:sym typeface="Symbol" charset="2"/>
              </a:rPr>
              <a:t>notation: asymptotic “greater than”: 	</a:t>
            </a:r>
            <a:r>
              <a:rPr lang="en-US" sz="2200" dirty="0"/>
              <a:t>f(n) “</a:t>
            </a:r>
            <a:r>
              <a:rPr lang="en-US" sz="2200" dirty="0">
                <a:ea typeface="Arial" charset="0"/>
                <a:cs typeface="Arial" charset="0"/>
              </a:rPr>
              <a:t>≥</a:t>
            </a:r>
            <a:r>
              <a:rPr lang="en-US" sz="2200" dirty="0"/>
              <a:t>” cg(n)</a:t>
            </a:r>
          </a:p>
          <a:p>
            <a:pPr marL="990600" lvl="1" indent="-533400">
              <a:lnSpc>
                <a:spcPct val="150000"/>
              </a:lnSpc>
              <a:spcBef>
                <a:spcPts val="600"/>
              </a:spcBef>
            </a:pPr>
            <a:r>
              <a:rPr lang="el-GR" sz="2200" b="1" i="1" dirty="0">
                <a:solidFill>
                  <a:schemeClr val="accent6">
                    <a:lumMod val="75000"/>
                    <a:lumOff val="25000"/>
                  </a:schemeClr>
                </a:solidFill>
                <a:sym typeface="Symbol" charset="2"/>
              </a:rPr>
              <a:t>Θ</a:t>
            </a:r>
            <a:r>
              <a:rPr lang="en-US" sz="2200" dirty="0">
                <a:sym typeface="Symbol" charset="2"/>
              </a:rPr>
              <a:t> notation: asymptotic “equality”:          f(n) “=” cg(n)</a:t>
            </a:r>
          </a:p>
        </p:txBody>
      </p:sp>
    </p:spTree>
    <p:extLst>
      <p:ext uri="{BB962C8B-B14F-4D97-AF65-F5344CB8AC3E}">
        <p14:creationId xmlns:p14="http://schemas.microsoft.com/office/powerpoint/2010/main" val="3022433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D622C-476B-4DC1-85D4-11AC3B6AE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366" y="11312"/>
            <a:ext cx="10515600" cy="1325563"/>
          </a:xfrm>
        </p:spPr>
        <p:txBody>
          <a:bodyPr/>
          <a:lstStyle/>
          <a:p>
            <a:r>
              <a:rPr lang="en-US" sz="3600" dirty="0"/>
              <a:t>Asymptotic Notation: </a:t>
            </a:r>
            <a:r>
              <a:rPr lang="en-US" sz="3600" i="1" dirty="0"/>
              <a:t>O </a:t>
            </a:r>
            <a:r>
              <a:rPr lang="en-US" sz="3600" dirty="0"/>
              <a:t>– notation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B8F9E5-F51D-47FF-B59E-21E58F3D6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44" y="1260767"/>
            <a:ext cx="8327985" cy="51191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C550166-BEA5-41D1-A69E-03AA656F4AB1}"/>
                  </a:ext>
                </a:extLst>
              </p14:cNvPr>
              <p14:cNvContentPartPr/>
              <p14:nvPr/>
            </p14:nvContentPartPr>
            <p14:xfrm>
              <a:off x="9698175" y="2423993"/>
              <a:ext cx="5040" cy="14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C550166-BEA5-41D1-A69E-03AA656F4A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89535" y="2414993"/>
                <a:ext cx="2268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0932B17C-7EC2-41B0-9FBA-D202A8EC9395}"/>
                  </a:ext>
                </a:extLst>
              </p14:cNvPr>
              <p14:cNvContentPartPr/>
              <p14:nvPr/>
            </p14:nvContentPartPr>
            <p14:xfrm>
              <a:off x="11377215" y="6215513"/>
              <a:ext cx="1440" cy="1692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0932B17C-7EC2-41B0-9FBA-D202A8EC939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368575" y="6206513"/>
                <a:ext cx="1908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2C8DC506-006B-438A-BB2F-105A91E816BD}"/>
                  </a:ext>
                </a:extLst>
              </p14:cNvPr>
              <p14:cNvContentPartPr/>
              <p14:nvPr/>
            </p14:nvContentPartPr>
            <p14:xfrm>
              <a:off x="4425975" y="2645753"/>
              <a:ext cx="8280" cy="900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2C8DC506-006B-438A-BB2F-105A91E816B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17335" y="2636753"/>
                <a:ext cx="25920" cy="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8207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4F896-0981-4232-96CD-5F9D19BFD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739" y="0"/>
            <a:ext cx="10515600" cy="1325563"/>
          </a:xfrm>
        </p:spPr>
        <p:txBody>
          <a:bodyPr/>
          <a:lstStyle/>
          <a:p>
            <a:r>
              <a:rPr lang="en-US" sz="3600" dirty="0"/>
              <a:t>O-notation: Examples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D2961F-4F8F-48F3-BA8A-3F63B532E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0284" y="42994"/>
            <a:ext cx="2649409" cy="24136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875628-B664-42AB-A809-508ABC3CB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56" y="1533875"/>
            <a:ext cx="6405705" cy="40216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0A6C63-DE64-4D17-A0BE-FD18F57D3A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683" y="868759"/>
            <a:ext cx="2066094" cy="38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729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96993" y="2143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O-notation: More Examples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9188" y="1346996"/>
            <a:ext cx="10515600" cy="4351338"/>
          </a:xfrm>
        </p:spPr>
        <p:txBody>
          <a:bodyPr>
            <a:normAutofit lnSpcReduction="10000"/>
          </a:bodyPr>
          <a:lstStyle/>
          <a:p>
            <a:pPr lvl="1">
              <a:lnSpc>
                <a:spcPct val="200000"/>
              </a:lnSpc>
            </a:pPr>
            <a:r>
              <a:rPr lang="en-US" dirty="0">
                <a:latin typeface="Vollkorn" panose="02000503070000020003"/>
              </a:rPr>
              <a:t>2n</a:t>
            </a:r>
            <a:r>
              <a:rPr lang="en-US" baseline="30000" dirty="0">
                <a:latin typeface="Vollkorn" panose="02000503070000020003"/>
              </a:rPr>
              <a:t>2</a:t>
            </a:r>
            <a:r>
              <a:rPr lang="en-US" dirty="0">
                <a:latin typeface="Vollkorn" panose="02000503070000020003"/>
              </a:rPr>
              <a:t> = O(n</a:t>
            </a:r>
            <a:r>
              <a:rPr lang="en-US" baseline="30000" dirty="0">
                <a:latin typeface="Vollkorn" panose="02000503070000020003"/>
              </a:rPr>
              <a:t>3</a:t>
            </a:r>
            <a:r>
              <a:rPr lang="en-US" dirty="0">
                <a:latin typeface="Vollkorn" panose="02000503070000020003"/>
              </a:rPr>
              <a:t>):</a:t>
            </a:r>
          </a:p>
          <a:p>
            <a:pPr lvl="1">
              <a:lnSpc>
                <a:spcPct val="200000"/>
              </a:lnSpc>
            </a:pPr>
            <a:r>
              <a:rPr lang="en-US" dirty="0">
                <a:latin typeface="Vollkorn" panose="02000503070000020003"/>
              </a:rPr>
              <a:t> n</a:t>
            </a:r>
            <a:r>
              <a:rPr lang="en-US" baseline="30000" dirty="0">
                <a:latin typeface="Vollkorn" panose="02000503070000020003"/>
              </a:rPr>
              <a:t>2</a:t>
            </a:r>
            <a:r>
              <a:rPr lang="en-US" dirty="0">
                <a:latin typeface="Vollkorn" panose="02000503070000020003"/>
              </a:rPr>
              <a:t> = O(n</a:t>
            </a:r>
            <a:r>
              <a:rPr lang="en-US" baseline="30000" dirty="0">
                <a:latin typeface="Vollkorn" panose="02000503070000020003"/>
              </a:rPr>
              <a:t>2</a:t>
            </a:r>
            <a:r>
              <a:rPr lang="en-US" dirty="0">
                <a:latin typeface="Vollkorn" panose="02000503070000020003"/>
              </a:rPr>
              <a:t>):</a:t>
            </a:r>
          </a:p>
          <a:p>
            <a:pPr lvl="1">
              <a:lnSpc>
                <a:spcPct val="200000"/>
              </a:lnSpc>
            </a:pPr>
            <a:r>
              <a:rPr lang="en-US" dirty="0">
                <a:latin typeface="Vollkorn" panose="02000503070000020003"/>
              </a:rPr>
              <a:t> 1000n</a:t>
            </a:r>
            <a:r>
              <a:rPr lang="en-US" baseline="30000" dirty="0">
                <a:latin typeface="Vollkorn" panose="02000503070000020003"/>
              </a:rPr>
              <a:t>2</a:t>
            </a:r>
            <a:r>
              <a:rPr lang="en-US" dirty="0">
                <a:latin typeface="Vollkorn" panose="02000503070000020003"/>
              </a:rPr>
              <a:t>+1000n = O(n</a:t>
            </a:r>
            <a:r>
              <a:rPr lang="en-US" baseline="30000" dirty="0">
                <a:latin typeface="Vollkorn" panose="02000503070000020003"/>
              </a:rPr>
              <a:t>2</a:t>
            </a:r>
            <a:r>
              <a:rPr lang="en-US" dirty="0">
                <a:latin typeface="Vollkorn" panose="02000503070000020003"/>
              </a:rPr>
              <a:t>): </a:t>
            </a:r>
          </a:p>
          <a:p>
            <a:pPr lvl="1">
              <a:lnSpc>
                <a:spcPct val="200000"/>
              </a:lnSpc>
              <a:buFontTx/>
              <a:buNone/>
            </a:pPr>
            <a:r>
              <a:rPr lang="en-US" dirty="0">
                <a:latin typeface="Vollkorn" panose="02000503070000020003"/>
              </a:rPr>
              <a:t>	</a:t>
            </a:r>
          </a:p>
          <a:p>
            <a:pPr lvl="1">
              <a:lnSpc>
                <a:spcPct val="200000"/>
              </a:lnSpc>
            </a:pPr>
            <a:endParaRPr lang="en-US" sz="1400" dirty="0">
              <a:latin typeface="Vollkorn" panose="02000503070000020003"/>
            </a:endParaRPr>
          </a:p>
          <a:p>
            <a:pPr lvl="1">
              <a:lnSpc>
                <a:spcPct val="200000"/>
              </a:lnSpc>
            </a:pPr>
            <a:r>
              <a:rPr lang="en-US" dirty="0" err="1">
                <a:latin typeface="Vollkorn" panose="02000503070000020003"/>
              </a:rPr>
              <a:t>n</a:t>
            </a:r>
            <a:r>
              <a:rPr lang="en-US" dirty="0">
                <a:latin typeface="Vollkorn" panose="02000503070000020003"/>
              </a:rPr>
              <a:t> = O(n</a:t>
            </a:r>
            <a:r>
              <a:rPr lang="en-US" baseline="30000" dirty="0">
                <a:latin typeface="Vollkorn" panose="02000503070000020003"/>
              </a:rPr>
              <a:t>2</a:t>
            </a:r>
            <a:r>
              <a:rPr lang="en-US" dirty="0">
                <a:latin typeface="Vollkorn" panose="02000503070000020003"/>
              </a:rPr>
              <a:t>):</a:t>
            </a:r>
          </a:p>
        </p:txBody>
      </p:sp>
      <p:sp>
        <p:nvSpPr>
          <p:cNvPr id="152580" name="Rectangle 4"/>
          <p:cNvSpPr>
            <a:spLocks noChangeArrowheads="1"/>
          </p:cNvSpPr>
          <p:nvPr/>
        </p:nvSpPr>
        <p:spPr bwMode="auto">
          <a:xfrm>
            <a:off x="4341814" y="1506539"/>
            <a:ext cx="52018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2n</a:t>
            </a:r>
            <a:r>
              <a:rPr lang="en-US" sz="2400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2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  <a:sym typeface="Symbol" charset="2"/>
              </a:rPr>
              <a:t>≤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 cn</a:t>
            </a:r>
            <a:r>
              <a:rPr lang="en-US" sz="2400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3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  <a:sym typeface="Symbol" charset="2"/>
              </a:rPr>
              <a:t>⇒ 2 ≤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  <a:sym typeface="Symbol" charset="2"/>
              </a:rPr>
              <a:t>cn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  <a:sym typeface="Symbol" charset="2"/>
              </a:rPr>
              <a:t> ⇒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c = 1 and n</a:t>
            </a:r>
            <a:r>
              <a:rPr lang="en-US" sz="2400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0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= 2</a:t>
            </a:r>
          </a:p>
        </p:txBody>
      </p:sp>
      <p:sp>
        <p:nvSpPr>
          <p:cNvPr id="152581" name="Rectangle 5"/>
          <p:cNvSpPr>
            <a:spLocks noChangeArrowheads="1"/>
          </p:cNvSpPr>
          <p:nvPr/>
        </p:nvSpPr>
        <p:spPr bwMode="auto">
          <a:xfrm>
            <a:off x="4262439" y="2320926"/>
            <a:ext cx="47628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n</a:t>
            </a:r>
            <a:r>
              <a:rPr lang="en-US" sz="2400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2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  <a:sym typeface="Symbol" charset="2"/>
              </a:rPr>
              <a:t>≤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 cn</a:t>
            </a:r>
            <a:r>
              <a:rPr lang="en-US" sz="2400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2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  <a:sym typeface="Symbol" charset="2"/>
              </a:rPr>
              <a:t>⇒ 1 ≤ c  ⇒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c = 1 and n</a:t>
            </a:r>
            <a:r>
              <a:rPr lang="en-US" sz="2400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0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= 1</a:t>
            </a:r>
          </a:p>
        </p:txBody>
      </p:sp>
      <p:sp>
        <p:nvSpPr>
          <p:cNvPr id="152582" name="Rectangle 6"/>
          <p:cNvSpPr>
            <a:spLocks noChangeArrowheads="1"/>
          </p:cNvSpPr>
          <p:nvPr/>
        </p:nvSpPr>
        <p:spPr bwMode="auto">
          <a:xfrm>
            <a:off x="1572036" y="3846850"/>
            <a:ext cx="778827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1000n</a:t>
            </a:r>
            <a:r>
              <a:rPr lang="en-US" sz="2400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2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+1000n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  <a:sym typeface="Symbol" charset="2"/>
              </a:rPr>
              <a:t>≤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 1000n</a:t>
            </a:r>
            <a:r>
              <a:rPr lang="en-US" sz="2400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2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+ 1000n</a:t>
            </a:r>
            <a:r>
              <a:rPr lang="en-US" sz="2400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2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 = 2000n</a:t>
            </a:r>
            <a:r>
              <a:rPr lang="en-US" sz="2400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2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 </a:t>
            </a:r>
          </a:p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                                                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  <a:sym typeface="Symbol" charset="2"/>
              </a:rPr>
              <a:t>⇒ c=2000 and n</a:t>
            </a:r>
            <a:r>
              <a:rPr lang="en-US" sz="2400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  <a:sym typeface="Symbol" charset="2"/>
              </a:rPr>
              <a:t>0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  <a:sym typeface="Symbol" charset="2"/>
              </a:rPr>
              <a:t> = 1</a:t>
            </a:r>
          </a:p>
        </p:txBody>
      </p:sp>
      <p:sp>
        <p:nvSpPr>
          <p:cNvPr id="152583" name="Rectangle 7"/>
          <p:cNvSpPr>
            <a:spLocks noChangeArrowheads="1"/>
          </p:cNvSpPr>
          <p:nvPr/>
        </p:nvSpPr>
        <p:spPr bwMode="auto">
          <a:xfrm>
            <a:off x="4156076" y="4952418"/>
            <a:ext cx="48013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n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  <a:sym typeface="Symbol" charset="2"/>
              </a:rPr>
              <a:t>≤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 cn</a:t>
            </a:r>
            <a:r>
              <a:rPr lang="en-US" sz="2400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2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  <a:sym typeface="Symbol" charset="2"/>
              </a:rPr>
              <a:t>⇒  1 ≤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  <a:sym typeface="Symbol" charset="2"/>
              </a:rPr>
              <a:t>cn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  <a:sym typeface="Symbol" charset="2"/>
              </a:rPr>
              <a:t> ⇒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c = 1 and n</a:t>
            </a:r>
            <a:r>
              <a:rPr lang="en-US" sz="2400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0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charset="0"/>
              </a:rPr>
              <a:t>=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46C0C4-9CA6-47CC-849A-E7295A169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603" y="772775"/>
            <a:ext cx="2066094" cy="38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814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80" grpId="0"/>
      <p:bldP spid="152581" grpId="0"/>
      <p:bldP spid="152582" grpId="0"/>
      <p:bldP spid="15258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B754C-BEF7-490B-9756-820E8C25D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92" y="0"/>
            <a:ext cx="10515600" cy="1325563"/>
          </a:xfrm>
        </p:spPr>
        <p:txBody>
          <a:bodyPr/>
          <a:lstStyle/>
          <a:p>
            <a:r>
              <a:rPr lang="en-US" sz="3600" dirty="0"/>
              <a:t>Asymptotic Notation: </a:t>
            </a:r>
            <a:r>
              <a:rPr lang="el-GR" sz="3600" b="1" dirty="0"/>
              <a:t>Ω</a:t>
            </a:r>
            <a:r>
              <a:rPr lang="en-US" sz="3600" dirty="0"/>
              <a:t>-notation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B0CA7A5-26A7-4B55-B007-B7140F2900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0574" y="1287661"/>
            <a:ext cx="7977798" cy="48416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54C7C7-7A55-4EEC-8301-F1BB75900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438" y="5530894"/>
            <a:ext cx="2016808" cy="49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195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FD703-D802-46E9-9367-D045BD395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113" y="0"/>
            <a:ext cx="10515600" cy="1325563"/>
          </a:xfrm>
        </p:spPr>
        <p:txBody>
          <a:bodyPr/>
          <a:lstStyle/>
          <a:p>
            <a:r>
              <a:rPr lang="el-GR" sz="3600" b="1" dirty="0"/>
              <a:t>Ω</a:t>
            </a:r>
            <a:r>
              <a:rPr lang="en-US" sz="3600" dirty="0"/>
              <a:t>-notation: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0678EB-7853-4F4D-A087-70D340681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069" y="1473782"/>
            <a:ext cx="6394744" cy="47366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FF9974-F2C2-4085-BC91-1EE9F1401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7829" y="99098"/>
            <a:ext cx="3042392" cy="29475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BFDB37-ADF1-4979-9004-1C52E6FF4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481" y="928572"/>
            <a:ext cx="2057627" cy="34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059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029523" y="11442"/>
            <a:ext cx="10515600" cy="1325563"/>
          </a:xfrm>
        </p:spPr>
        <p:txBody>
          <a:bodyPr>
            <a:normAutofit/>
          </a:bodyPr>
          <a:lstStyle/>
          <a:p>
            <a:r>
              <a:rPr lang="el-GR" sz="3600" b="1" dirty="0"/>
              <a:t>Ω</a:t>
            </a:r>
            <a:r>
              <a:rPr lang="en-US" sz="3600" dirty="0"/>
              <a:t>-notation: More Examples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3529" y="1523701"/>
            <a:ext cx="10515600" cy="4351338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dirty="0">
                <a:latin typeface="Monotype Corsiva" charset="0"/>
              </a:rPr>
              <a:t> </a:t>
            </a:r>
            <a:r>
              <a:rPr lang="en-US" dirty="0">
                <a:latin typeface="Vollkorn"/>
              </a:rPr>
              <a:t>5n</a:t>
            </a:r>
            <a:r>
              <a:rPr lang="en-US" baseline="30000" dirty="0">
                <a:latin typeface="Vollkorn"/>
              </a:rPr>
              <a:t>2</a:t>
            </a:r>
            <a:r>
              <a:rPr lang="en-US" dirty="0">
                <a:latin typeface="Vollkorn"/>
              </a:rPr>
              <a:t> = </a:t>
            </a:r>
            <a:r>
              <a:rPr lang="en-US" dirty="0">
                <a:latin typeface="Vollkorn"/>
                <a:sym typeface="Symbol" charset="2"/>
              </a:rPr>
              <a:t>𝝮</a:t>
            </a:r>
            <a:r>
              <a:rPr lang="en-US" dirty="0">
                <a:latin typeface="Vollkorn"/>
              </a:rPr>
              <a:t>(n)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Vollkorn"/>
              </a:rPr>
              <a:t>100n + 5 </a:t>
            </a:r>
            <a:r>
              <a:rPr lang="en-US" dirty="0">
                <a:latin typeface="Vollkorn"/>
                <a:ea typeface="Arial" charset="0"/>
                <a:cs typeface="Arial" charset="0"/>
              </a:rPr>
              <a:t>≠</a:t>
            </a:r>
            <a:r>
              <a:rPr lang="en-US" dirty="0">
                <a:latin typeface="Vollkorn"/>
              </a:rPr>
              <a:t> </a:t>
            </a:r>
            <a:r>
              <a:rPr lang="en-US" dirty="0">
                <a:latin typeface="Vollkorn"/>
                <a:sym typeface="Symbol" charset="2"/>
              </a:rPr>
              <a:t>𝝮(n</a:t>
            </a:r>
            <a:r>
              <a:rPr lang="en-US" baseline="30000" dirty="0">
                <a:latin typeface="Vollkorn"/>
                <a:sym typeface="Symbol" charset="2"/>
              </a:rPr>
              <a:t>2</a:t>
            </a:r>
            <a:r>
              <a:rPr lang="en-US" dirty="0">
                <a:latin typeface="Vollkorn"/>
                <a:sym typeface="Symbol" charset="2"/>
              </a:rPr>
              <a:t>)</a:t>
            </a:r>
          </a:p>
          <a:p>
            <a:pPr lvl="1">
              <a:lnSpc>
                <a:spcPct val="150000"/>
              </a:lnSpc>
              <a:buFontTx/>
              <a:buNone/>
            </a:pPr>
            <a:endParaRPr lang="en-US" dirty="0">
              <a:latin typeface="Vollkorn"/>
              <a:sym typeface="Symbol" charset="2"/>
            </a:endParaRPr>
          </a:p>
          <a:p>
            <a:pPr lvl="1">
              <a:lnSpc>
                <a:spcPct val="150000"/>
              </a:lnSpc>
            </a:pPr>
            <a:endParaRPr lang="en-US" dirty="0">
              <a:latin typeface="Vollkorn"/>
            </a:endParaRPr>
          </a:p>
          <a:p>
            <a:pPr lvl="1">
              <a:lnSpc>
                <a:spcPct val="150000"/>
              </a:lnSpc>
            </a:pPr>
            <a:endParaRPr lang="en-US" dirty="0">
              <a:latin typeface="Vollkorn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Vollkorn"/>
              </a:rPr>
              <a:t>n = </a:t>
            </a:r>
            <a:r>
              <a:rPr lang="en-US" dirty="0">
                <a:latin typeface="Vollkorn"/>
                <a:sym typeface="Symbol" charset="2"/>
              </a:rPr>
              <a:t>𝝮</a:t>
            </a:r>
            <a:r>
              <a:rPr lang="en-US" dirty="0">
                <a:latin typeface="Vollkorn"/>
              </a:rPr>
              <a:t>(n), n</a:t>
            </a:r>
            <a:r>
              <a:rPr lang="en-US" baseline="30000" dirty="0">
                <a:latin typeface="Vollkorn"/>
              </a:rPr>
              <a:t>3</a:t>
            </a:r>
            <a:r>
              <a:rPr lang="en-US" dirty="0">
                <a:latin typeface="Vollkorn"/>
              </a:rPr>
              <a:t> = </a:t>
            </a:r>
            <a:r>
              <a:rPr lang="en-US" dirty="0">
                <a:latin typeface="Vollkorn"/>
                <a:sym typeface="Symbol" charset="2"/>
              </a:rPr>
              <a:t>𝝮</a:t>
            </a:r>
            <a:r>
              <a:rPr lang="en-US" dirty="0">
                <a:latin typeface="Vollkorn"/>
              </a:rPr>
              <a:t>(n</a:t>
            </a:r>
            <a:r>
              <a:rPr lang="en-US" baseline="30000" dirty="0">
                <a:latin typeface="Vollkorn"/>
              </a:rPr>
              <a:t>2</a:t>
            </a:r>
            <a:r>
              <a:rPr lang="en-US" dirty="0">
                <a:latin typeface="Vollkorn"/>
              </a:rPr>
              <a:t>)</a:t>
            </a:r>
            <a:r>
              <a:rPr lang="en-US" dirty="0">
                <a:latin typeface="Vollkorn"/>
                <a:sym typeface="Symbol" charset="2"/>
              </a:rPr>
              <a:t>, n </a:t>
            </a:r>
            <a:r>
              <a:rPr lang="en-US" dirty="0">
                <a:latin typeface="Vollkorn"/>
              </a:rPr>
              <a:t>= </a:t>
            </a:r>
            <a:r>
              <a:rPr lang="en-US" dirty="0">
                <a:latin typeface="Vollkorn"/>
                <a:sym typeface="Symbol" charset="2"/>
              </a:rPr>
              <a:t>𝝮(</a:t>
            </a:r>
            <a:r>
              <a:rPr lang="en-US" dirty="0" err="1">
                <a:latin typeface="Vollkorn"/>
                <a:sym typeface="Symbol" charset="2"/>
              </a:rPr>
              <a:t>logn</a:t>
            </a:r>
            <a:r>
              <a:rPr lang="en-US" dirty="0">
                <a:latin typeface="Vollkorn"/>
                <a:sym typeface="Symbol" charset="2"/>
              </a:rPr>
              <a:t>)</a:t>
            </a:r>
            <a:endParaRPr lang="en-US" dirty="0">
              <a:latin typeface="Vollkorn"/>
            </a:endParaRPr>
          </a:p>
        </p:txBody>
      </p:sp>
      <p:sp>
        <p:nvSpPr>
          <p:cNvPr id="154628" name="Rectangle 4"/>
          <p:cNvSpPr>
            <a:spLocks noChangeArrowheads="1"/>
          </p:cNvSpPr>
          <p:nvPr/>
        </p:nvSpPr>
        <p:spPr bwMode="auto">
          <a:xfrm>
            <a:off x="2639215" y="1637804"/>
            <a:ext cx="41488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lvl="1">
              <a:spcBef>
                <a:spcPct val="20000"/>
              </a:spcBef>
            </a:pPr>
            <a:r>
              <a:rPr lang="en-US" sz="2400" dirty="0">
                <a:latin typeface="Monotype Corsiva" charset="0"/>
                <a:sym typeface="Symbol" charset="2"/>
              </a:rPr>
              <a:t>∃ c, n</a:t>
            </a:r>
            <a:r>
              <a:rPr lang="en-US" sz="2400" baseline="-25000" dirty="0">
                <a:latin typeface="Monotype Corsiva" charset="0"/>
                <a:sym typeface="Symbol" charset="2"/>
              </a:rPr>
              <a:t>0</a:t>
            </a:r>
            <a:r>
              <a:rPr lang="en-US" sz="2400" dirty="0">
                <a:latin typeface="Monotype Corsiva" charset="0"/>
                <a:sym typeface="Symbol" charset="2"/>
              </a:rPr>
              <a:t> </a:t>
            </a:r>
            <a:r>
              <a:rPr lang="en-US" sz="2400" dirty="0">
                <a:sym typeface="Symbol" charset="2"/>
              </a:rPr>
              <a:t>such that:</a:t>
            </a:r>
            <a:r>
              <a:rPr lang="en-US" sz="2400" dirty="0">
                <a:latin typeface="Monotype Corsiva" charset="0"/>
                <a:sym typeface="Symbol" charset="2"/>
              </a:rPr>
              <a:t> 0 ≤ </a:t>
            </a:r>
            <a:r>
              <a:rPr lang="en-US" sz="2400" dirty="0" err="1">
                <a:latin typeface="Monotype Corsiva" charset="0"/>
                <a:sym typeface="Symbol" charset="2"/>
              </a:rPr>
              <a:t>cn</a:t>
            </a:r>
            <a:r>
              <a:rPr lang="en-US" sz="2400" dirty="0">
                <a:latin typeface="Monotype Corsiva" charset="0"/>
                <a:sym typeface="Symbol" charset="2"/>
              </a:rPr>
              <a:t> ≤ 5n</a:t>
            </a:r>
            <a:r>
              <a:rPr lang="en-US" sz="2400" baseline="30000" dirty="0">
                <a:latin typeface="Monotype Corsiva" charset="0"/>
                <a:sym typeface="Symbol" charset="2"/>
              </a:rPr>
              <a:t>2 </a:t>
            </a:r>
          </a:p>
        </p:txBody>
      </p:sp>
      <p:sp>
        <p:nvSpPr>
          <p:cNvPr id="154629" name="Rectangle 5"/>
          <p:cNvSpPr>
            <a:spLocks noChangeArrowheads="1"/>
          </p:cNvSpPr>
          <p:nvPr/>
        </p:nvSpPr>
        <p:spPr bwMode="auto">
          <a:xfrm>
            <a:off x="6912699" y="1629866"/>
            <a:ext cx="169790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400" dirty="0">
                <a:latin typeface="Comic Sans MS" charset="0"/>
                <a:sym typeface="Symbol" charset="2"/>
              </a:rPr>
              <a:t>⇒ </a:t>
            </a:r>
            <a:r>
              <a:rPr lang="en-US" sz="2400" dirty="0" err="1">
                <a:latin typeface="Comic Sans MS" charset="0"/>
                <a:sym typeface="Symbol" charset="2"/>
              </a:rPr>
              <a:t>cn</a:t>
            </a:r>
            <a:r>
              <a:rPr lang="en-US" sz="2400" dirty="0">
                <a:latin typeface="Comic Sans MS" charset="0"/>
                <a:sym typeface="Symbol" charset="2"/>
              </a:rPr>
              <a:t> ≤ 5n</a:t>
            </a:r>
            <a:r>
              <a:rPr lang="en-US" sz="2400" baseline="30000" dirty="0">
                <a:latin typeface="Comic Sans MS" charset="0"/>
                <a:sym typeface="Symbol" charset="2"/>
              </a:rPr>
              <a:t>2 </a:t>
            </a:r>
          </a:p>
        </p:txBody>
      </p:sp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8500198" y="1629866"/>
            <a:ext cx="27286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400" dirty="0">
                <a:latin typeface="Comic Sans MS" charset="0"/>
                <a:sym typeface="Symbol" charset="2"/>
              </a:rPr>
              <a:t>⇒ c = 1 and n</a:t>
            </a:r>
            <a:r>
              <a:rPr lang="en-US" sz="2400" baseline="-25000" dirty="0">
                <a:latin typeface="Comic Sans MS" charset="0"/>
                <a:sym typeface="Symbol" charset="2"/>
              </a:rPr>
              <a:t>0</a:t>
            </a:r>
            <a:r>
              <a:rPr lang="en-US" sz="2400" dirty="0">
                <a:latin typeface="Comic Sans MS" charset="0"/>
                <a:sym typeface="Symbol" charset="2"/>
              </a:rPr>
              <a:t> = 1</a:t>
            </a:r>
            <a:r>
              <a:rPr lang="en-US" sz="2400" baseline="30000" dirty="0">
                <a:latin typeface="Comic Sans MS" charset="0"/>
                <a:sym typeface="Symbol" charset="2"/>
              </a:rPr>
              <a:t> </a:t>
            </a:r>
          </a:p>
        </p:txBody>
      </p:sp>
      <p:sp>
        <p:nvSpPr>
          <p:cNvPr id="154631" name="Rectangle 7"/>
          <p:cNvSpPr>
            <a:spLocks noChangeArrowheads="1"/>
          </p:cNvSpPr>
          <p:nvPr/>
        </p:nvSpPr>
        <p:spPr bwMode="auto">
          <a:xfrm>
            <a:off x="3670301" y="2205634"/>
            <a:ext cx="526618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400" dirty="0">
                <a:latin typeface="Comic Sans MS" charset="0"/>
                <a:sym typeface="Symbol" charset="2"/>
              </a:rPr>
              <a:t>∃ c, n</a:t>
            </a:r>
            <a:r>
              <a:rPr lang="en-US" sz="2400" baseline="-25000" dirty="0">
                <a:latin typeface="Comic Sans MS" charset="0"/>
                <a:sym typeface="Symbol" charset="2"/>
              </a:rPr>
              <a:t>0</a:t>
            </a:r>
            <a:r>
              <a:rPr lang="en-US" sz="2400" dirty="0">
                <a:latin typeface="Comic Sans MS" charset="0"/>
                <a:sym typeface="Symbol" charset="2"/>
              </a:rPr>
              <a:t> such that: 0 ≤ cn</a:t>
            </a:r>
            <a:r>
              <a:rPr lang="en-US" sz="2400" baseline="30000" dirty="0">
                <a:latin typeface="Comic Sans MS" charset="0"/>
                <a:sym typeface="Symbol" charset="2"/>
              </a:rPr>
              <a:t>2</a:t>
            </a:r>
            <a:r>
              <a:rPr lang="en-US" sz="2400" dirty="0">
                <a:latin typeface="Comic Sans MS" charset="0"/>
                <a:sym typeface="Symbol" charset="2"/>
              </a:rPr>
              <a:t> ≤ 100n + 5</a:t>
            </a:r>
            <a:endParaRPr lang="en-US" sz="2400" baseline="30000" dirty="0">
              <a:latin typeface="Comic Sans MS" charset="0"/>
              <a:sym typeface="Symbol" charset="2"/>
            </a:endParaRPr>
          </a:p>
        </p:txBody>
      </p:sp>
      <p:sp>
        <p:nvSpPr>
          <p:cNvPr id="154632" name="Rectangle 8"/>
          <p:cNvSpPr>
            <a:spLocks noChangeArrowheads="1"/>
          </p:cNvSpPr>
          <p:nvPr/>
        </p:nvSpPr>
        <p:spPr bwMode="auto">
          <a:xfrm>
            <a:off x="3670301" y="2760888"/>
            <a:ext cx="541205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400" dirty="0">
                <a:latin typeface="Comic Sans MS" charset="0"/>
                <a:sym typeface="Symbol" charset="2"/>
              </a:rPr>
              <a:t>100n + 5 ≤ 100n + 5n (∀ n ≥ 1) = 105n</a:t>
            </a:r>
            <a:endParaRPr lang="en-US" sz="2400" baseline="30000" dirty="0">
              <a:latin typeface="Comic Sans MS" charset="0"/>
              <a:sym typeface="Symbol" charset="2"/>
            </a:endParaRPr>
          </a:p>
        </p:txBody>
      </p:sp>
      <p:sp>
        <p:nvSpPr>
          <p:cNvPr id="154633" name="Rectangle 9"/>
          <p:cNvSpPr>
            <a:spLocks noChangeArrowheads="1"/>
          </p:cNvSpPr>
          <p:nvPr/>
        </p:nvSpPr>
        <p:spPr bwMode="auto">
          <a:xfrm>
            <a:off x="3670301" y="3216886"/>
            <a:ext cx="16414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400" dirty="0">
                <a:latin typeface="Comic Sans MS" charset="0"/>
                <a:sym typeface="Symbol" charset="2"/>
              </a:rPr>
              <a:t>cn</a:t>
            </a:r>
            <a:r>
              <a:rPr lang="en-US" sz="2400" baseline="30000" dirty="0">
                <a:latin typeface="Comic Sans MS" charset="0"/>
                <a:sym typeface="Symbol" charset="2"/>
              </a:rPr>
              <a:t>2</a:t>
            </a:r>
            <a:r>
              <a:rPr lang="en-US" sz="2400" dirty="0">
                <a:latin typeface="Comic Sans MS" charset="0"/>
                <a:sym typeface="Symbol" charset="2"/>
              </a:rPr>
              <a:t> ≤ 105n</a:t>
            </a:r>
            <a:endParaRPr lang="en-US" sz="2400" baseline="30000" dirty="0">
              <a:latin typeface="Comic Sans MS" charset="0"/>
              <a:sym typeface="Symbol" charset="2"/>
            </a:endParaRPr>
          </a:p>
        </p:txBody>
      </p:sp>
      <p:sp>
        <p:nvSpPr>
          <p:cNvPr id="154635" name="Text Box 11"/>
          <p:cNvSpPr txBox="1">
            <a:spLocks noChangeArrowheads="1"/>
          </p:cNvSpPr>
          <p:nvPr/>
        </p:nvSpPr>
        <p:spPr bwMode="auto">
          <a:xfrm>
            <a:off x="3670301" y="3759787"/>
            <a:ext cx="311335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Comic Sans MS" charset="0"/>
              </a:rPr>
              <a:t>Since n is positive </a:t>
            </a:r>
            <a:r>
              <a:rPr lang="en-US" sz="2400" dirty="0">
                <a:latin typeface="Comic Sans MS" charset="0"/>
                <a:sym typeface="Symbol" charset="2"/>
              </a:rPr>
              <a:t>⇒</a:t>
            </a:r>
          </a:p>
        </p:txBody>
      </p:sp>
      <p:sp>
        <p:nvSpPr>
          <p:cNvPr id="154636" name="Rectangle 12"/>
          <p:cNvSpPr>
            <a:spLocks noChangeArrowheads="1"/>
          </p:cNvSpPr>
          <p:nvPr/>
        </p:nvSpPr>
        <p:spPr bwMode="auto">
          <a:xfrm>
            <a:off x="6788108" y="3748483"/>
            <a:ext cx="14750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400" dirty="0">
                <a:latin typeface="Comic Sans MS" charset="0"/>
                <a:sym typeface="Symbol" charset="2"/>
              </a:rPr>
              <a:t>n ≤ 105/c</a:t>
            </a:r>
            <a:endParaRPr lang="en-US" sz="2400" baseline="30000" dirty="0">
              <a:latin typeface="Comic Sans MS" charset="0"/>
              <a:sym typeface="Symbol" charset="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0DF093-A212-4FB4-99DC-87B80F4DB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214" y="982961"/>
            <a:ext cx="2057627" cy="3429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4690" name="Ink 154689">
                <a:extLst>
                  <a:ext uri="{FF2B5EF4-FFF2-40B4-BE49-F238E27FC236}">
                    <a16:creationId xmlns:a16="http://schemas.microsoft.com/office/drawing/2014/main" id="{7AF39E88-4BCF-423A-9AF3-9ABEF3B48766}"/>
                  </a:ext>
                </a:extLst>
              </p14:cNvPr>
              <p14:cNvContentPartPr/>
              <p14:nvPr/>
            </p14:nvContentPartPr>
            <p14:xfrm>
              <a:off x="12386295" y="3874433"/>
              <a:ext cx="41400" cy="176040"/>
            </p14:xfrm>
          </p:contentPart>
        </mc:Choice>
        <mc:Fallback xmlns="">
          <p:pic>
            <p:nvPicPr>
              <p:cNvPr id="154690" name="Ink 154689">
                <a:extLst>
                  <a:ext uri="{FF2B5EF4-FFF2-40B4-BE49-F238E27FC236}">
                    <a16:creationId xmlns:a16="http://schemas.microsoft.com/office/drawing/2014/main" id="{7AF39E88-4BCF-423A-9AF3-9ABEF3B4876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77295" y="3865793"/>
                <a:ext cx="59040" cy="19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3910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8" grpId="0"/>
      <p:bldP spid="154629" grpId="0"/>
      <p:bldP spid="154630" grpId="0"/>
      <p:bldP spid="154631" grpId="0"/>
      <p:bldP spid="154632" grpId="0"/>
      <p:bldP spid="154633" grpId="0"/>
      <p:bldP spid="154635" grpId="0"/>
      <p:bldP spid="15463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D64AC-4846-44FA-A548-466370FCE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355" y="2816"/>
            <a:ext cx="10515600" cy="1325563"/>
          </a:xfrm>
        </p:spPr>
        <p:txBody>
          <a:bodyPr/>
          <a:lstStyle/>
          <a:p>
            <a:r>
              <a:rPr lang="en-US" sz="3600" dirty="0"/>
              <a:t>Asymptotic Notation: </a:t>
            </a:r>
            <a:r>
              <a:rPr lang="el-GR" sz="3600" b="1" dirty="0"/>
              <a:t>θ</a:t>
            </a:r>
            <a:r>
              <a:rPr lang="en-US" sz="3600" dirty="0"/>
              <a:t>-notation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EB1993-6528-49AF-BE23-5D56180E3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55" y="1408806"/>
            <a:ext cx="8108487" cy="4633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426B5B-427A-435F-8430-7CAD3A78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945" y="5578320"/>
            <a:ext cx="1866774" cy="38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248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0247" y="-5811"/>
            <a:ext cx="10515600" cy="1325563"/>
          </a:xfrm>
        </p:spPr>
        <p:txBody>
          <a:bodyPr/>
          <a:lstStyle/>
          <a:p>
            <a:r>
              <a:rPr lang="el-GR" sz="3600" b="1" dirty="0"/>
              <a:t>θ</a:t>
            </a:r>
            <a:r>
              <a:rPr lang="en-US" sz="3600" dirty="0"/>
              <a:t>-notation: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5369" y="1546010"/>
            <a:ext cx="8450882" cy="4824029"/>
          </a:xfrm>
        </p:spPr>
        <p:txBody>
          <a:bodyPr>
            <a:normAutofit/>
          </a:bodyPr>
          <a:lstStyle/>
          <a:p>
            <a:r>
              <a:rPr lang="en-US" sz="2600" dirty="0"/>
              <a:t>To show ½ n</a:t>
            </a:r>
            <a:r>
              <a:rPr lang="en-US" sz="2600" baseline="30000" dirty="0"/>
              <a:t>2</a:t>
            </a:r>
            <a:r>
              <a:rPr lang="en-US" sz="2600" dirty="0"/>
              <a:t> – 3n = </a:t>
            </a:r>
            <a:r>
              <a:rPr lang="el-GR" sz="2600" dirty="0"/>
              <a:t>θ</a:t>
            </a:r>
            <a:r>
              <a:rPr lang="en-US" sz="2600" dirty="0"/>
              <a:t>(n</a:t>
            </a:r>
            <a:r>
              <a:rPr lang="en-US" sz="2600" baseline="30000" dirty="0"/>
              <a:t>2</a:t>
            </a:r>
            <a:r>
              <a:rPr lang="en-US" sz="2600" dirty="0"/>
              <a:t>)</a:t>
            </a:r>
          </a:p>
          <a:p>
            <a:pPr lvl="1"/>
            <a:r>
              <a:rPr lang="en-US" sz="2200" dirty="0"/>
              <a:t>Must determine positive </a:t>
            </a:r>
            <a:r>
              <a:rPr lang="en-US" sz="2200" i="1" dirty="0"/>
              <a:t>c</a:t>
            </a:r>
            <a:r>
              <a:rPr lang="en-US" sz="2200" i="1" baseline="-25000" dirty="0"/>
              <a:t>1</a:t>
            </a:r>
            <a:r>
              <a:rPr lang="en-US" sz="2200" i="1" dirty="0"/>
              <a:t>, c</a:t>
            </a:r>
            <a:r>
              <a:rPr lang="en-US" sz="2200" i="1" baseline="-25000" dirty="0"/>
              <a:t>2</a:t>
            </a:r>
            <a:r>
              <a:rPr lang="en-US" sz="2200" i="1" dirty="0"/>
              <a:t>, </a:t>
            </a:r>
            <a:r>
              <a:rPr lang="en-US" sz="2200" dirty="0"/>
              <a:t>and </a:t>
            </a:r>
            <a:r>
              <a:rPr lang="en-US" sz="2200" i="1" dirty="0"/>
              <a:t>n</a:t>
            </a:r>
            <a:r>
              <a:rPr lang="en-US" sz="2200" i="1" baseline="-25000" dirty="0"/>
              <a:t>0</a:t>
            </a:r>
          </a:p>
          <a:p>
            <a:pPr lvl="1"/>
            <a:endParaRPr lang="en-US" sz="2200" i="1" baseline="-25000" dirty="0"/>
          </a:p>
          <a:p>
            <a:pPr lvl="1"/>
            <a:endParaRPr lang="en-US" sz="2200" i="1" baseline="-25000" dirty="0"/>
          </a:p>
          <a:p>
            <a:pPr lvl="1"/>
            <a:endParaRPr lang="en-US" sz="2200" i="1" baseline="-25000" dirty="0"/>
          </a:p>
          <a:p>
            <a:pPr lvl="1"/>
            <a:endParaRPr lang="en-US" sz="2200" i="1" baseline="-25000" dirty="0"/>
          </a:p>
          <a:p>
            <a:pPr lvl="1"/>
            <a:endParaRPr lang="en-US" sz="2200" i="1" baseline="-25000" dirty="0"/>
          </a:p>
          <a:p>
            <a:pPr lvl="1"/>
            <a:endParaRPr lang="en-US" sz="2200" dirty="0"/>
          </a:p>
          <a:p>
            <a:pPr lvl="1"/>
            <a:r>
              <a:rPr lang="en-US" sz="2200" dirty="0"/>
              <a:t>Make the left-hand inequality hold for any value of n &gt;= 7 by choosing any constant </a:t>
            </a:r>
            <a:r>
              <a:rPr lang="en-US" sz="2200" i="1" dirty="0"/>
              <a:t>c</a:t>
            </a:r>
            <a:r>
              <a:rPr lang="en-US" sz="2200" i="1" baseline="-25000" dirty="0"/>
              <a:t>1</a:t>
            </a:r>
            <a:r>
              <a:rPr lang="en-US" sz="2200" dirty="0"/>
              <a:t> &lt;= 1/14.</a:t>
            </a:r>
          </a:p>
          <a:p>
            <a:pPr lvl="1"/>
            <a:r>
              <a:rPr lang="en-US" sz="2200" dirty="0"/>
              <a:t>Make the right-hand inequality hold for any value of n &gt;=7 by choosing any constant </a:t>
            </a:r>
            <a:r>
              <a:rPr lang="en-US" sz="2200" i="1" dirty="0"/>
              <a:t>c</a:t>
            </a:r>
            <a:r>
              <a:rPr lang="en-US" sz="2200" i="1" baseline="-25000" dirty="0"/>
              <a:t>2</a:t>
            </a:r>
            <a:r>
              <a:rPr lang="en-US" sz="2200" dirty="0"/>
              <a:t> &gt;= 1/2.</a:t>
            </a:r>
          </a:p>
          <a:p>
            <a:pPr lvl="1"/>
            <a:r>
              <a:rPr lang="en-US" sz="2200" dirty="0"/>
              <a:t>By choosing </a:t>
            </a:r>
            <a:r>
              <a:rPr lang="en-US" sz="2200" i="1" dirty="0"/>
              <a:t>c</a:t>
            </a:r>
            <a:r>
              <a:rPr lang="en-US" sz="2200" i="1" baseline="-25000" dirty="0"/>
              <a:t>1</a:t>
            </a:r>
            <a:r>
              <a:rPr lang="en-US" sz="2200" dirty="0"/>
              <a:t> = 1/14, </a:t>
            </a:r>
            <a:r>
              <a:rPr lang="en-US" sz="2200" i="1" dirty="0"/>
              <a:t>c</a:t>
            </a:r>
            <a:r>
              <a:rPr lang="en-US" sz="2200" i="1" baseline="-25000" dirty="0"/>
              <a:t>2</a:t>
            </a:r>
            <a:r>
              <a:rPr lang="en-US" sz="2200" dirty="0"/>
              <a:t> = 1/2, and </a:t>
            </a:r>
            <a:r>
              <a:rPr lang="en-US" sz="2200" i="1" dirty="0"/>
              <a:t>n</a:t>
            </a:r>
            <a:r>
              <a:rPr lang="en-US" sz="2200" i="1" baseline="-25000" dirty="0"/>
              <a:t>0</a:t>
            </a:r>
            <a:r>
              <a:rPr lang="en-US" sz="2200" dirty="0"/>
              <a:t> = 7, </a:t>
            </a:r>
            <a:br>
              <a:rPr lang="en-US" sz="2200" dirty="0"/>
            </a:br>
            <a:r>
              <a:rPr lang="en-US" sz="2200" dirty="0"/>
              <a:t>we can verify that ½ n</a:t>
            </a:r>
            <a:r>
              <a:rPr lang="en-US" sz="2200" baseline="30000" dirty="0"/>
              <a:t>2</a:t>
            </a:r>
            <a:r>
              <a:rPr lang="en-US" sz="2200" dirty="0"/>
              <a:t> – 3n = </a:t>
            </a:r>
            <a:r>
              <a:rPr lang="el-GR" sz="2200" dirty="0"/>
              <a:t>θ</a:t>
            </a:r>
            <a:r>
              <a:rPr lang="en-US" sz="2200" dirty="0"/>
              <a:t>(n</a:t>
            </a:r>
            <a:r>
              <a:rPr lang="en-US" sz="2200" baseline="30000" dirty="0"/>
              <a:t>2</a:t>
            </a:r>
            <a:r>
              <a:rPr lang="en-US" sz="2200" dirty="0"/>
              <a:t>)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247" y="2309255"/>
            <a:ext cx="3823850" cy="17073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24C526-7421-4BDA-B6F9-70050C625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22" y="1089943"/>
            <a:ext cx="2912854" cy="3429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5096253-4E3D-4B6E-A3D5-30DA0DFDEDFE}"/>
                  </a:ext>
                </a:extLst>
              </p14:cNvPr>
              <p14:cNvContentPartPr/>
              <p14:nvPr/>
            </p14:nvContentPartPr>
            <p14:xfrm>
              <a:off x="5199255" y="3770218"/>
              <a:ext cx="8280" cy="288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5096253-4E3D-4B6E-A3D5-30DA0DFDED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90615" y="3761578"/>
                <a:ext cx="25920" cy="4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BD807CA4-E8FB-4891-B55F-F498FCF67A8F}"/>
              </a:ext>
            </a:extLst>
          </p:cNvPr>
          <p:cNvGrpSpPr/>
          <p:nvPr/>
        </p:nvGrpSpPr>
        <p:grpSpPr>
          <a:xfrm>
            <a:off x="10380735" y="1716778"/>
            <a:ext cx="688680" cy="166320"/>
            <a:chOff x="10380735" y="1716778"/>
            <a:chExt cx="688680" cy="16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74C99DC-30B1-4B1B-9359-166E48DB04E8}"/>
                    </a:ext>
                  </a:extLst>
                </p14:cNvPr>
                <p14:cNvContentPartPr/>
                <p14:nvPr/>
              </p14:nvContentPartPr>
              <p14:xfrm>
                <a:off x="10380735" y="1716778"/>
                <a:ext cx="360" cy="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74C99DC-30B1-4B1B-9359-166E48DB04E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376415" y="171245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26E60F1-2C45-412C-81CD-5BFC66ADD7C2}"/>
                    </a:ext>
                  </a:extLst>
                </p14:cNvPr>
                <p14:cNvContentPartPr/>
                <p14:nvPr/>
              </p14:nvContentPartPr>
              <p14:xfrm>
                <a:off x="10966815" y="1849258"/>
                <a:ext cx="102600" cy="33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26E60F1-2C45-412C-81CD-5BFC66ADD7C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962495" y="1844938"/>
                  <a:ext cx="111240" cy="4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430A9152-4135-4960-89B3-557B2A48DD1D}"/>
                  </a:ext>
                </a:extLst>
              </p14:cNvPr>
              <p14:cNvContentPartPr/>
              <p14:nvPr/>
            </p14:nvContentPartPr>
            <p14:xfrm>
              <a:off x="12424815" y="3393298"/>
              <a:ext cx="3960" cy="252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430A9152-4135-4960-89B3-557B2A48DD1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420495" y="3388978"/>
                <a:ext cx="12600" cy="1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8805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036608" y="0"/>
            <a:ext cx="10515600" cy="1325563"/>
          </a:xfrm>
        </p:spPr>
        <p:txBody>
          <a:bodyPr>
            <a:normAutofit/>
          </a:bodyPr>
          <a:lstStyle/>
          <a:p>
            <a:r>
              <a:rPr lang="el-GR" sz="3600" b="1" dirty="0"/>
              <a:t>θ</a:t>
            </a:r>
            <a:r>
              <a:rPr lang="en-US" sz="3600" dirty="0"/>
              <a:t>-notation: More Examples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0349" y="1327543"/>
            <a:ext cx="10072478" cy="5894388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dirty="0">
                <a:latin typeface="Comic Sans MS" charset="0"/>
              </a:rPr>
              <a:t>n</a:t>
            </a:r>
            <a:r>
              <a:rPr lang="en-US" baseline="30000" dirty="0">
                <a:latin typeface="Comic Sans MS" charset="0"/>
              </a:rPr>
              <a:t>2</a:t>
            </a:r>
            <a:r>
              <a:rPr lang="en-US" dirty="0">
                <a:latin typeface="Comic Sans MS" charset="0"/>
              </a:rPr>
              <a:t>/2 –n/2 = </a:t>
            </a:r>
            <a:r>
              <a:rPr lang="el-GR" dirty="0">
                <a:latin typeface="Comic Sans MS" charset="0"/>
                <a:sym typeface="Symbol" charset="2"/>
              </a:rPr>
              <a:t>Θ</a:t>
            </a:r>
            <a:r>
              <a:rPr lang="en-US" dirty="0">
                <a:latin typeface="Comic Sans MS" charset="0"/>
              </a:rPr>
              <a:t>(n</a:t>
            </a:r>
            <a:r>
              <a:rPr lang="en-US" baseline="30000" dirty="0">
                <a:latin typeface="Comic Sans MS" charset="0"/>
              </a:rPr>
              <a:t>2</a:t>
            </a:r>
            <a:r>
              <a:rPr lang="en-US" dirty="0">
                <a:latin typeface="Comic Sans MS" charset="0"/>
              </a:rPr>
              <a:t>)</a:t>
            </a:r>
          </a:p>
          <a:p>
            <a:pPr lvl="2">
              <a:lnSpc>
                <a:spcPct val="150000"/>
              </a:lnSpc>
            </a:pPr>
            <a:r>
              <a:rPr lang="en-US" sz="2400" dirty="0"/>
              <a:t>½ n</a:t>
            </a:r>
            <a:r>
              <a:rPr lang="en-US" sz="2400" baseline="30000" dirty="0"/>
              <a:t>2</a:t>
            </a:r>
            <a:r>
              <a:rPr lang="en-US" sz="2400" dirty="0"/>
              <a:t> - ½ n </a:t>
            </a:r>
            <a:r>
              <a:rPr lang="en-US" sz="2400" dirty="0">
                <a:sym typeface="Symbol" charset="2"/>
              </a:rPr>
              <a:t>≤ </a:t>
            </a:r>
            <a:r>
              <a:rPr lang="en-US" sz="2400" dirty="0"/>
              <a:t>½ n</a:t>
            </a:r>
            <a:r>
              <a:rPr lang="en-US" sz="2400" baseline="30000" dirty="0"/>
              <a:t>2</a:t>
            </a:r>
            <a:r>
              <a:rPr lang="en-US" sz="2400" dirty="0"/>
              <a:t> </a:t>
            </a:r>
            <a:r>
              <a:rPr lang="en-US" sz="2400" dirty="0">
                <a:sym typeface="Symbol" charset="2"/>
              </a:rPr>
              <a:t>∀n ≥ 0    ⇒   </a:t>
            </a:r>
            <a:r>
              <a:rPr lang="en-US" sz="2400" dirty="0"/>
              <a:t>c</a:t>
            </a:r>
            <a:r>
              <a:rPr lang="en-US" sz="2400" baseline="-25000" dirty="0"/>
              <a:t>2</a:t>
            </a:r>
            <a:r>
              <a:rPr lang="en-US" sz="2400" dirty="0"/>
              <a:t>= ½</a:t>
            </a:r>
          </a:p>
          <a:p>
            <a:pPr lvl="2">
              <a:lnSpc>
                <a:spcPct val="150000"/>
              </a:lnSpc>
            </a:pPr>
            <a:r>
              <a:rPr lang="en-US" sz="2400" dirty="0"/>
              <a:t>½ n</a:t>
            </a:r>
            <a:r>
              <a:rPr lang="en-US" sz="2400" baseline="30000" dirty="0"/>
              <a:t>2</a:t>
            </a:r>
            <a:r>
              <a:rPr lang="en-US" sz="2400" dirty="0"/>
              <a:t> - ½ n </a:t>
            </a:r>
            <a:r>
              <a:rPr lang="en-US" sz="2400" dirty="0">
                <a:sym typeface="Symbol" charset="2"/>
              </a:rPr>
              <a:t>≥ </a:t>
            </a:r>
            <a:r>
              <a:rPr lang="en-US" sz="2400" dirty="0"/>
              <a:t>½ n</a:t>
            </a:r>
            <a:r>
              <a:rPr lang="en-US" sz="2400" baseline="30000" dirty="0"/>
              <a:t>2</a:t>
            </a:r>
            <a:r>
              <a:rPr lang="en-US" sz="2400" dirty="0"/>
              <a:t> - ½ n * ½ n ( </a:t>
            </a:r>
            <a:r>
              <a:rPr lang="en-US" sz="2400" dirty="0">
                <a:sym typeface="Symbol" charset="2"/>
              </a:rPr>
              <a:t>∀n ≥ 2 </a:t>
            </a:r>
            <a:r>
              <a:rPr lang="en-US" sz="2400" dirty="0"/>
              <a:t>) = ¼ n</a:t>
            </a:r>
            <a:r>
              <a:rPr lang="en-US" sz="2400" baseline="30000" dirty="0"/>
              <a:t>2</a:t>
            </a:r>
            <a:r>
              <a:rPr lang="en-US" sz="2400" dirty="0"/>
              <a:t> 	</a:t>
            </a:r>
            <a:r>
              <a:rPr lang="en-US" sz="2400" dirty="0">
                <a:sym typeface="Symbol" charset="2"/>
              </a:rPr>
              <a:t>⇒   </a:t>
            </a:r>
            <a:r>
              <a:rPr lang="en-US" sz="2400" dirty="0"/>
              <a:t>c</a:t>
            </a:r>
            <a:r>
              <a:rPr lang="en-US" sz="2400" baseline="-25000" dirty="0"/>
              <a:t>1</a:t>
            </a:r>
            <a:r>
              <a:rPr lang="en-US" sz="2400" dirty="0"/>
              <a:t>= ¼ </a:t>
            </a:r>
            <a:endParaRPr lang="en-US" sz="2400" dirty="0">
              <a:sym typeface="Symbol" charset="2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Comic Sans MS" charset="0"/>
                <a:sym typeface="Symbol" charset="2"/>
              </a:rPr>
              <a:t>n ≠ </a:t>
            </a:r>
            <a:r>
              <a:rPr lang="el-GR" dirty="0">
                <a:latin typeface="Comic Sans MS" charset="0"/>
                <a:sym typeface="Symbol" charset="2"/>
              </a:rPr>
              <a:t>Θ</a:t>
            </a:r>
            <a:r>
              <a:rPr lang="en-US" dirty="0">
                <a:latin typeface="Comic Sans MS" charset="0"/>
                <a:sym typeface="Symbol" charset="2"/>
              </a:rPr>
              <a:t>(n</a:t>
            </a:r>
            <a:r>
              <a:rPr lang="en-US" baseline="30000" dirty="0">
                <a:latin typeface="Comic Sans MS" charset="0"/>
                <a:sym typeface="Symbol" charset="2"/>
              </a:rPr>
              <a:t>2</a:t>
            </a:r>
            <a:r>
              <a:rPr lang="en-US" dirty="0">
                <a:latin typeface="Comic Sans MS" charset="0"/>
                <a:sym typeface="Symbol" charset="2"/>
              </a:rPr>
              <a:t>): </a:t>
            </a:r>
            <a:r>
              <a:rPr lang="en-US" dirty="0">
                <a:latin typeface="Comic Sans MS" charset="0"/>
              </a:rPr>
              <a:t>c</a:t>
            </a:r>
            <a:r>
              <a:rPr lang="en-US" baseline="-25000" dirty="0">
                <a:latin typeface="Comic Sans MS" charset="0"/>
              </a:rPr>
              <a:t>1</a:t>
            </a:r>
            <a:r>
              <a:rPr lang="en-US" dirty="0">
                <a:latin typeface="Comic Sans MS" charset="0"/>
              </a:rPr>
              <a:t> n</a:t>
            </a:r>
            <a:r>
              <a:rPr lang="en-US" baseline="30000" dirty="0">
                <a:latin typeface="Comic Sans MS" charset="0"/>
              </a:rPr>
              <a:t>2</a:t>
            </a:r>
            <a:r>
              <a:rPr lang="en-US" dirty="0">
                <a:latin typeface="Comic Sans MS" charset="0"/>
              </a:rPr>
              <a:t> </a:t>
            </a:r>
            <a:r>
              <a:rPr lang="en-US" dirty="0">
                <a:latin typeface="Comic Sans MS" charset="0"/>
                <a:sym typeface="Symbol" charset="2"/>
              </a:rPr>
              <a:t>≤ n ≤ c</a:t>
            </a:r>
            <a:r>
              <a:rPr lang="en-US" baseline="-25000" dirty="0">
                <a:latin typeface="Comic Sans MS" charset="0"/>
                <a:sym typeface="Symbol" charset="2"/>
              </a:rPr>
              <a:t>2</a:t>
            </a:r>
            <a:r>
              <a:rPr lang="en-US" dirty="0">
                <a:latin typeface="Comic Sans MS" charset="0"/>
                <a:sym typeface="Symbol" charset="2"/>
              </a:rPr>
              <a:t> n</a:t>
            </a:r>
            <a:r>
              <a:rPr lang="en-US" baseline="30000" dirty="0">
                <a:latin typeface="Comic Sans MS" charset="0"/>
                <a:sym typeface="Symbol" charset="2"/>
              </a:rPr>
              <a:t>2</a:t>
            </a:r>
            <a:r>
              <a:rPr lang="en-US" sz="2000" baseline="30000" dirty="0">
                <a:sym typeface="Symbol" charset="2"/>
              </a:rPr>
              <a:t> </a:t>
            </a:r>
            <a:r>
              <a:rPr lang="en-US" sz="2000" dirty="0">
                <a:sym typeface="Symbol" charset="2"/>
              </a:rPr>
              <a:t>	⇒ </a:t>
            </a:r>
            <a:r>
              <a:rPr lang="en-US" dirty="0">
                <a:sym typeface="Symbol" charset="2"/>
              </a:rPr>
              <a:t>only holds for: </a:t>
            </a:r>
            <a:r>
              <a:rPr lang="en-US" dirty="0">
                <a:latin typeface="Comic Sans MS" charset="0"/>
                <a:sym typeface="Symbol" charset="2"/>
              </a:rPr>
              <a:t>n ≤ 1/</a:t>
            </a:r>
            <a:r>
              <a:rPr lang="en-US" dirty="0">
                <a:latin typeface="Comic Sans MS" charset="0"/>
              </a:rPr>
              <a:t>c</a:t>
            </a:r>
            <a:r>
              <a:rPr lang="en-US" baseline="-25000" dirty="0">
                <a:latin typeface="Comic Sans MS" charset="0"/>
              </a:rPr>
              <a:t>1</a:t>
            </a:r>
          </a:p>
          <a:p>
            <a:pPr lvl="1">
              <a:lnSpc>
                <a:spcPct val="180000"/>
              </a:lnSpc>
            </a:pPr>
            <a:r>
              <a:rPr lang="en-US" dirty="0">
                <a:latin typeface="Comic Sans MS" charset="0"/>
                <a:sym typeface="Symbol" charset="2"/>
              </a:rPr>
              <a:t>6n</a:t>
            </a:r>
            <a:r>
              <a:rPr lang="en-US" baseline="30000" dirty="0">
                <a:latin typeface="Comic Sans MS" charset="0"/>
                <a:sym typeface="Symbol" charset="2"/>
              </a:rPr>
              <a:t>3</a:t>
            </a:r>
            <a:r>
              <a:rPr lang="en-US" dirty="0">
                <a:latin typeface="Comic Sans MS" charset="0"/>
                <a:sym typeface="Symbol" charset="2"/>
              </a:rPr>
              <a:t> ≠  </a:t>
            </a:r>
            <a:r>
              <a:rPr lang="el-GR" dirty="0">
                <a:latin typeface="Comic Sans MS" charset="0"/>
                <a:sym typeface="Symbol" charset="2"/>
              </a:rPr>
              <a:t>Θ</a:t>
            </a:r>
            <a:r>
              <a:rPr lang="en-US" dirty="0">
                <a:latin typeface="Comic Sans MS" charset="0"/>
                <a:sym typeface="Symbol" charset="2"/>
              </a:rPr>
              <a:t>(n</a:t>
            </a:r>
            <a:r>
              <a:rPr lang="en-US" baseline="30000" dirty="0">
                <a:latin typeface="Comic Sans MS" charset="0"/>
                <a:sym typeface="Symbol" charset="2"/>
              </a:rPr>
              <a:t>2</a:t>
            </a:r>
            <a:r>
              <a:rPr lang="en-US" dirty="0">
                <a:latin typeface="Comic Sans MS" charset="0"/>
                <a:sym typeface="Symbol" charset="2"/>
              </a:rPr>
              <a:t>): </a:t>
            </a:r>
            <a:r>
              <a:rPr lang="en-US" dirty="0">
                <a:latin typeface="Comic Sans MS" charset="0"/>
              </a:rPr>
              <a:t>c</a:t>
            </a:r>
            <a:r>
              <a:rPr lang="en-US" baseline="-25000" dirty="0">
                <a:latin typeface="Comic Sans MS" charset="0"/>
              </a:rPr>
              <a:t>1</a:t>
            </a:r>
            <a:r>
              <a:rPr lang="en-US" dirty="0">
                <a:latin typeface="Comic Sans MS" charset="0"/>
              </a:rPr>
              <a:t> n</a:t>
            </a:r>
            <a:r>
              <a:rPr lang="en-US" baseline="30000" dirty="0">
                <a:latin typeface="Comic Sans MS" charset="0"/>
              </a:rPr>
              <a:t>2</a:t>
            </a:r>
            <a:r>
              <a:rPr lang="en-US" dirty="0">
                <a:latin typeface="Comic Sans MS" charset="0"/>
              </a:rPr>
              <a:t> </a:t>
            </a:r>
            <a:r>
              <a:rPr lang="en-US" dirty="0">
                <a:latin typeface="Comic Sans MS" charset="0"/>
                <a:sym typeface="Symbol" charset="2"/>
              </a:rPr>
              <a:t>≤ 6n</a:t>
            </a:r>
            <a:r>
              <a:rPr lang="en-US" baseline="30000" dirty="0">
                <a:latin typeface="Comic Sans MS" charset="0"/>
                <a:sym typeface="Symbol" charset="2"/>
              </a:rPr>
              <a:t>3</a:t>
            </a:r>
            <a:r>
              <a:rPr lang="en-US" dirty="0">
                <a:latin typeface="Comic Sans MS" charset="0"/>
                <a:sym typeface="Symbol" charset="2"/>
              </a:rPr>
              <a:t> ≤ c</a:t>
            </a:r>
            <a:r>
              <a:rPr lang="en-US" baseline="-25000" dirty="0">
                <a:latin typeface="Comic Sans MS" charset="0"/>
                <a:sym typeface="Symbol" charset="2"/>
              </a:rPr>
              <a:t>2</a:t>
            </a:r>
            <a:r>
              <a:rPr lang="en-US" dirty="0">
                <a:latin typeface="Comic Sans MS" charset="0"/>
                <a:sym typeface="Symbol" charset="2"/>
              </a:rPr>
              <a:t> n</a:t>
            </a:r>
            <a:r>
              <a:rPr lang="en-US" baseline="30000" dirty="0">
                <a:latin typeface="Comic Sans MS" charset="0"/>
                <a:sym typeface="Symbol" charset="2"/>
              </a:rPr>
              <a:t>2</a:t>
            </a:r>
            <a:r>
              <a:rPr lang="en-US" baseline="30000" dirty="0">
                <a:sym typeface="Symbol" charset="2"/>
              </a:rPr>
              <a:t>  </a:t>
            </a:r>
            <a:r>
              <a:rPr lang="en-US" dirty="0">
                <a:sym typeface="Symbol" charset="2"/>
              </a:rPr>
              <a:t>⇒ only holds for: </a:t>
            </a:r>
            <a:r>
              <a:rPr lang="en-US" dirty="0">
                <a:latin typeface="Comic Sans MS" charset="0"/>
                <a:sym typeface="Symbol" charset="2"/>
              </a:rPr>
              <a:t>n ≤ </a:t>
            </a:r>
            <a:r>
              <a:rPr lang="en-US" dirty="0">
                <a:latin typeface="Comic Sans MS" charset="0"/>
              </a:rPr>
              <a:t>c</a:t>
            </a:r>
            <a:r>
              <a:rPr lang="en-US" baseline="-25000" dirty="0">
                <a:latin typeface="Comic Sans MS" charset="0"/>
              </a:rPr>
              <a:t>2</a:t>
            </a:r>
            <a:r>
              <a:rPr lang="en-US" dirty="0">
                <a:latin typeface="Comic Sans MS" charset="0"/>
              </a:rPr>
              <a:t> /6</a:t>
            </a:r>
            <a:endParaRPr lang="en-US" dirty="0">
              <a:latin typeface="Comic Sans MS" charset="0"/>
              <a:sym typeface="Symbol" charset="2"/>
            </a:endParaRPr>
          </a:p>
          <a:p>
            <a:pPr lvl="1">
              <a:lnSpc>
                <a:spcPct val="180000"/>
              </a:lnSpc>
            </a:pPr>
            <a:r>
              <a:rPr lang="en-US" dirty="0">
                <a:latin typeface="Comic Sans MS" charset="0"/>
                <a:sym typeface="Symbol" charset="2"/>
              </a:rPr>
              <a:t>n ≠ </a:t>
            </a:r>
            <a:r>
              <a:rPr lang="el-GR" dirty="0">
                <a:latin typeface="Comic Sans MS" charset="0"/>
                <a:sym typeface="Symbol" charset="2"/>
              </a:rPr>
              <a:t>Θ</a:t>
            </a:r>
            <a:r>
              <a:rPr lang="en-US" dirty="0">
                <a:latin typeface="Comic Sans MS" charset="0"/>
                <a:sym typeface="Symbol" charset="2"/>
              </a:rPr>
              <a:t>(</a:t>
            </a:r>
            <a:r>
              <a:rPr lang="en-US" dirty="0" err="1">
                <a:latin typeface="Comic Sans MS" charset="0"/>
                <a:sym typeface="Symbol" charset="2"/>
              </a:rPr>
              <a:t>logn</a:t>
            </a:r>
            <a:r>
              <a:rPr lang="en-US" dirty="0">
                <a:latin typeface="Comic Sans MS" charset="0"/>
                <a:sym typeface="Symbol" charset="2"/>
              </a:rPr>
              <a:t>): </a:t>
            </a:r>
            <a:r>
              <a:rPr lang="en-US" dirty="0">
                <a:latin typeface="Comic Sans MS" charset="0"/>
              </a:rPr>
              <a:t>c</a:t>
            </a:r>
            <a:r>
              <a:rPr lang="en-US" baseline="-25000" dirty="0">
                <a:latin typeface="Comic Sans MS" charset="0"/>
              </a:rPr>
              <a:t>1</a:t>
            </a:r>
            <a:r>
              <a:rPr lang="en-US" dirty="0">
                <a:latin typeface="Comic Sans MS" charset="0"/>
              </a:rPr>
              <a:t> </a:t>
            </a:r>
            <a:r>
              <a:rPr lang="en-US" dirty="0" err="1">
                <a:latin typeface="Comic Sans MS" charset="0"/>
                <a:sym typeface="Symbol" charset="2"/>
              </a:rPr>
              <a:t>logn</a:t>
            </a:r>
            <a:r>
              <a:rPr lang="en-US" dirty="0">
                <a:latin typeface="Comic Sans MS" charset="0"/>
              </a:rPr>
              <a:t> </a:t>
            </a:r>
            <a:r>
              <a:rPr lang="en-US" dirty="0">
                <a:latin typeface="Comic Sans MS" charset="0"/>
                <a:sym typeface="Symbol" charset="2"/>
              </a:rPr>
              <a:t>≤ n ≤ c</a:t>
            </a:r>
            <a:r>
              <a:rPr lang="en-US" baseline="-25000" dirty="0">
                <a:latin typeface="Comic Sans MS" charset="0"/>
                <a:sym typeface="Symbol" charset="2"/>
              </a:rPr>
              <a:t>2</a:t>
            </a:r>
            <a:r>
              <a:rPr lang="en-US" dirty="0">
                <a:latin typeface="Comic Sans MS" charset="0"/>
                <a:sym typeface="Symbol" charset="2"/>
              </a:rPr>
              <a:t> </a:t>
            </a:r>
            <a:r>
              <a:rPr lang="en-US" dirty="0" err="1">
                <a:latin typeface="Comic Sans MS" charset="0"/>
                <a:sym typeface="Symbol" charset="2"/>
              </a:rPr>
              <a:t>logn</a:t>
            </a:r>
            <a:endParaRPr lang="en-US" dirty="0">
              <a:latin typeface="Comic Sans MS" charset="0"/>
              <a:sym typeface="Symbol" charset="2"/>
            </a:endParaRPr>
          </a:p>
          <a:p>
            <a:pPr lvl="1">
              <a:lnSpc>
                <a:spcPct val="180000"/>
              </a:lnSpc>
              <a:buFontTx/>
              <a:buNone/>
            </a:pPr>
            <a:r>
              <a:rPr lang="en-US" dirty="0">
                <a:latin typeface="Comic Sans MS" charset="0"/>
                <a:sym typeface="Symbol" charset="2"/>
              </a:rPr>
              <a:t>			 ⇒ c</a:t>
            </a:r>
            <a:r>
              <a:rPr lang="en-US" baseline="-25000" dirty="0">
                <a:latin typeface="Comic Sans MS" charset="0"/>
                <a:sym typeface="Symbol" charset="2"/>
              </a:rPr>
              <a:t>2</a:t>
            </a:r>
            <a:r>
              <a:rPr lang="en-US" dirty="0">
                <a:latin typeface="Comic Sans MS" charset="0"/>
                <a:sym typeface="Symbol" charset="2"/>
              </a:rPr>
              <a:t> ≥  n/</a:t>
            </a:r>
            <a:r>
              <a:rPr lang="en-US" dirty="0" err="1">
                <a:latin typeface="Comic Sans MS" charset="0"/>
                <a:sym typeface="Symbol" charset="2"/>
              </a:rPr>
              <a:t>logn</a:t>
            </a:r>
            <a:r>
              <a:rPr lang="en-US" dirty="0">
                <a:latin typeface="Comic Sans MS" charset="0"/>
                <a:sym typeface="Symbol" charset="2"/>
              </a:rPr>
              <a:t>, ∀ n≥ n</a:t>
            </a:r>
            <a:r>
              <a:rPr lang="en-US" baseline="-25000" dirty="0">
                <a:latin typeface="Comic Sans MS" charset="0"/>
                <a:sym typeface="Symbol" charset="2"/>
              </a:rPr>
              <a:t>0</a:t>
            </a:r>
            <a:r>
              <a:rPr lang="en-US" dirty="0">
                <a:latin typeface="Comic Sans MS" charset="0"/>
                <a:sym typeface="Symbol" charset="2"/>
              </a:rPr>
              <a:t> –</a:t>
            </a:r>
            <a:r>
              <a:rPr lang="en-US" dirty="0">
                <a:sym typeface="Symbol" charset="2"/>
              </a:rPr>
              <a:t> impossible</a:t>
            </a:r>
          </a:p>
          <a:p>
            <a:pPr lvl="1">
              <a:lnSpc>
                <a:spcPct val="150000"/>
              </a:lnSpc>
            </a:pPr>
            <a:endParaRPr lang="en-US" dirty="0">
              <a:latin typeface="Comic Sans MS" charset="0"/>
              <a:sym typeface="Symbol" charset="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C08FB7-06AF-46EB-A7F3-D5F7B82CA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429" y="531912"/>
            <a:ext cx="2912854" cy="34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8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739" y="-28722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Asymptotic Notations - Examples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83451" y="1281896"/>
            <a:ext cx="9418961" cy="5608637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2400" dirty="0"/>
              <a:t>For each of the following pairs of functions, either f(n) is O(g(n)), f(n) is Ω(g(n)), or f(n) is </a:t>
            </a:r>
            <a:r>
              <a:rPr lang="en-US" sz="2400" dirty="0" err="1"/>
              <a:t>Θ</a:t>
            </a:r>
            <a:r>
              <a:rPr lang="en-US" sz="2400" dirty="0"/>
              <a:t>(g(n)). Determine which relationship is correct.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latin typeface="Comic Sans MS" charset="0"/>
              </a:rPr>
              <a:t>f(n) = log n</a:t>
            </a:r>
            <a:r>
              <a:rPr lang="en-US" baseline="30000" dirty="0">
                <a:latin typeface="Comic Sans MS" charset="0"/>
              </a:rPr>
              <a:t>2</a:t>
            </a:r>
            <a:r>
              <a:rPr lang="en-US" dirty="0">
                <a:latin typeface="Comic Sans MS" charset="0"/>
              </a:rPr>
              <a:t>; g(n) = log n + 5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latin typeface="Comic Sans MS" charset="0"/>
              </a:rPr>
              <a:t>f(n) = n; g(n) = log n</a:t>
            </a:r>
            <a:r>
              <a:rPr lang="en-US" baseline="30000" dirty="0">
                <a:latin typeface="Comic Sans MS" charset="0"/>
              </a:rPr>
              <a:t>2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latin typeface="Comic Sans MS" charset="0"/>
              </a:rPr>
              <a:t>f(n) = n; g(n) = log n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latin typeface="Comic Sans MS" charset="0"/>
              </a:rPr>
              <a:t>f(n) = n log n + n; g(n) = log n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latin typeface="Comic Sans MS" charset="0"/>
              </a:rPr>
              <a:t>f(n) = 2</a:t>
            </a:r>
            <a:r>
              <a:rPr lang="en-US" baseline="30000" dirty="0">
                <a:latin typeface="Comic Sans MS" charset="0"/>
              </a:rPr>
              <a:t>n</a:t>
            </a:r>
            <a:r>
              <a:rPr lang="en-US" dirty="0">
                <a:latin typeface="Comic Sans MS" charset="0"/>
              </a:rPr>
              <a:t>; g(n) = 10n</a:t>
            </a:r>
            <a:r>
              <a:rPr lang="en-US" baseline="30000" dirty="0">
                <a:latin typeface="Comic Sans MS" charset="0"/>
              </a:rPr>
              <a:t>2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latin typeface="Comic Sans MS" charset="0"/>
              </a:rPr>
              <a:t>f(n) = 2</a:t>
            </a:r>
            <a:r>
              <a:rPr lang="en-US" baseline="30000" dirty="0">
                <a:latin typeface="Comic Sans MS" charset="0"/>
              </a:rPr>
              <a:t>n</a:t>
            </a:r>
            <a:r>
              <a:rPr lang="en-US" dirty="0">
                <a:latin typeface="Comic Sans MS" charset="0"/>
              </a:rPr>
              <a:t>; g(n) = 3</a:t>
            </a:r>
            <a:r>
              <a:rPr lang="en-US" baseline="30000" dirty="0">
                <a:latin typeface="Comic Sans MS" charset="0"/>
              </a:rPr>
              <a:t>n</a:t>
            </a:r>
          </a:p>
        </p:txBody>
      </p:sp>
      <p:sp>
        <p:nvSpPr>
          <p:cNvPr id="150532" name="Text Box 4"/>
          <p:cNvSpPr txBox="1">
            <a:spLocks noChangeArrowheads="1"/>
          </p:cNvSpPr>
          <p:nvPr/>
        </p:nvSpPr>
        <p:spPr bwMode="auto">
          <a:xfrm>
            <a:off x="6987409" y="2133554"/>
            <a:ext cx="21788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Comic Sans MS" charset="0"/>
              </a:rPr>
              <a:t>f(n) = </a:t>
            </a:r>
            <a:r>
              <a:rPr lang="el-GR" sz="2400" dirty="0">
                <a:latin typeface="Comic Sans MS" charset="0"/>
                <a:sym typeface="Symbol" charset="2"/>
              </a:rPr>
              <a:t>Θ</a:t>
            </a:r>
            <a:r>
              <a:rPr lang="en-US" sz="2400" dirty="0">
                <a:latin typeface="Comic Sans MS" charset="0"/>
                <a:sym typeface="Symbol" charset="2"/>
              </a:rPr>
              <a:t> (g(n))</a:t>
            </a:r>
          </a:p>
        </p:txBody>
      </p:sp>
      <p:sp>
        <p:nvSpPr>
          <p:cNvPr id="150533" name="Text Box 5"/>
          <p:cNvSpPr txBox="1">
            <a:spLocks noChangeArrowheads="1"/>
          </p:cNvSpPr>
          <p:nvPr/>
        </p:nvSpPr>
        <p:spPr bwMode="auto">
          <a:xfrm>
            <a:off x="6987409" y="2606628"/>
            <a:ext cx="2058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Comic Sans MS" charset="0"/>
              </a:rPr>
              <a:t>f(n) = </a:t>
            </a:r>
            <a:r>
              <a:rPr lang="en-US" sz="2400" dirty="0">
                <a:latin typeface="Comic Sans MS" charset="0"/>
                <a:sym typeface="Symbol" charset="2"/>
              </a:rPr>
              <a:t>𝝮(g(n))</a:t>
            </a:r>
          </a:p>
        </p:txBody>
      </p:sp>
      <p:sp>
        <p:nvSpPr>
          <p:cNvPr id="150535" name="Text Box 7"/>
          <p:cNvSpPr txBox="1">
            <a:spLocks noChangeArrowheads="1"/>
          </p:cNvSpPr>
          <p:nvPr/>
        </p:nvSpPr>
        <p:spPr bwMode="auto">
          <a:xfrm>
            <a:off x="6987409" y="3148568"/>
            <a:ext cx="2058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Comic Sans MS" charset="0"/>
              </a:rPr>
              <a:t>f(n) = </a:t>
            </a:r>
            <a:r>
              <a:rPr lang="en-US" sz="2400" dirty="0">
                <a:latin typeface="Comic Sans MS" charset="0"/>
                <a:sym typeface="Symbol" charset="2"/>
              </a:rPr>
              <a:t>𝝮(g(n))</a:t>
            </a:r>
          </a:p>
        </p:txBody>
      </p:sp>
      <p:sp>
        <p:nvSpPr>
          <p:cNvPr id="150536" name="Text Box 8"/>
          <p:cNvSpPr txBox="1">
            <a:spLocks noChangeArrowheads="1"/>
          </p:cNvSpPr>
          <p:nvPr/>
        </p:nvSpPr>
        <p:spPr bwMode="auto">
          <a:xfrm>
            <a:off x="6987409" y="3623231"/>
            <a:ext cx="2058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Comic Sans MS" charset="0"/>
              </a:rPr>
              <a:t>f(n) = </a:t>
            </a:r>
            <a:r>
              <a:rPr lang="en-US" sz="2400" dirty="0">
                <a:latin typeface="Comic Sans MS" charset="0"/>
                <a:sym typeface="Symbol" charset="2"/>
              </a:rPr>
              <a:t>𝝮(g(n))</a:t>
            </a:r>
          </a:p>
        </p:txBody>
      </p:sp>
      <p:sp>
        <p:nvSpPr>
          <p:cNvPr id="150538" name="Text Box 10"/>
          <p:cNvSpPr txBox="1">
            <a:spLocks noChangeArrowheads="1"/>
          </p:cNvSpPr>
          <p:nvPr/>
        </p:nvSpPr>
        <p:spPr bwMode="auto">
          <a:xfrm>
            <a:off x="6987409" y="4163309"/>
            <a:ext cx="2058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Comic Sans MS" charset="0"/>
              </a:rPr>
              <a:t>f(n) = </a:t>
            </a:r>
            <a:r>
              <a:rPr lang="en-US" sz="2400" dirty="0">
                <a:latin typeface="Comic Sans MS" charset="0"/>
                <a:sym typeface="Symbol" charset="2"/>
              </a:rPr>
              <a:t>𝝮(g(n))</a:t>
            </a:r>
          </a:p>
        </p:txBody>
      </p:sp>
      <p:sp>
        <p:nvSpPr>
          <p:cNvPr id="150539" name="Text Box 11"/>
          <p:cNvSpPr txBox="1">
            <a:spLocks noChangeArrowheads="1"/>
          </p:cNvSpPr>
          <p:nvPr/>
        </p:nvSpPr>
        <p:spPr bwMode="auto">
          <a:xfrm>
            <a:off x="6977884" y="4687786"/>
            <a:ext cx="2068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Comic Sans MS" charset="0"/>
              </a:rPr>
              <a:t>f(n) = </a:t>
            </a:r>
            <a:r>
              <a:rPr lang="en-US" sz="2400" dirty="0">
                <a:latin typeface="Comic Sans MS" charset="0"/>
                <a:sym typeface="Symbol" charset="2"/>
              </a:rPr>
              <a:t>O(g(n))</a:t>
            </a:r>
          </a:p>
        </p:txBody>
      </p:sp>
    </p:spTree>
    <p:extLst>
      <p:ext uri="{BB962C8B-B14F-4D97-AF65-F5344CB8AC3E}">
        <p14:creationId xmlns:p14="http://schemas.microsoft.com/office/powerpoint/2010/main" val="114300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2" grpId="0"/>
      <p:bldP spid="150533" grpId="0"/>
      <p:bldP spid="150535" grpId="0"/>
      <p:bldP spid="150536" grpId="0"/>
      <p:bldP spid="150538" grpId="0"/>
      <p:bldP spid="15053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739" y="-28722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Asymptotic Notations - Implications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35730" y="1639131"/>
            <a:ext cx="10311888" cy="4365592"/>
          </a:xfrm>
        </p:spPr>
        <p:txBody>
          <a:bodyPr>
            <a:normAutofit/>
          </a:bodyPr>
          <a:lstStyle/>
          <a:p>
            <a:pPr marL="533400" indent="-533400">
              <a:lnSpc>
                <a:spcPct val="100000"/>
              </a:lnSpc>
              <a:spcBef>
                <a:spcPts val="600"/>
              </a:spcBef>
            </a:pPr>
            <a:r>
              <a:rPr lang="en-US" sz="2600" b="1" i="1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O</a:t>
            </a:r>
            <a:r>
              <a:rPr lang="en-US" sz="2600" dirty="0"/>
              <a:t> notation: asymptotic upper bound f(n) “</a:t>
            </a:r>
            <a:r>
              <a:rPr lang="en-US" sz="2600" dirty="0">
                <a:ea typeface="Arial" charset="0"/>
                <a:cs typeface="Arial" charset="0"/>
              </a:rPr>
              <a:t>≤</a:t>
            </a:r>
            <a:r>
              <a:rPr lang="en-US" sz="2600" dirty="0"/>
              <a:t>” cg(n)</a:t>
            </a:r>
          </a:p>
          <a:p>
            <a:pPr marL="990600" lvl="1" indent="-533400">
              <a:lnSpc>
                <a:spcPct val="100000"/>
              </a:lnSpc>
              <a:spcBef>
                <a:spcPts val="600"/>
              </a:spcBef>
            </a:pPr>
            <a:r>
              <a:rPr lang="en-US" sz="2200" dirty="0"/>
              <a:t>Used to bound the worst-case running time of an algorithm</a:t>
            </a:r>
          </a:p>
          <a:p>
            <a:pPr marL="990600" lvl="1" indent="-533400">
              <a:lnSpc>
                <a:spcPct val="100000"/>
              </a:lnSpc>
              <a:spcBef>
                <a:spcPts val="600"/>
              </a:spcBef>
            </a:pPr>
            <a:r>
              <a:rPr lang="en-US" sz="2200" dirty="0"/>
              <a:t>Example: </a:t>
            </a:r>
            <a:r>
              <a:rPr lang="en-US" sz="2200" b="1" dirty="0"/>
              <a:t>O(</a:t>
            </a:r>
            <a:r>
              <a:rPr lang="en-US" sz="2200" b="1" dirty="0">
                <a:latin typeface="Comic Sans MS" charset="0"/>
              </a:rPr>
              <a:t>n</a:t>
            </a:r>
            <a:r>
              <a:rPr lang="en-US" sz="2200" b="1" baseline="30000" dirty="0">
                <a:latin typeface="Comic Sans MS" charset="0"/>
              </a:rPr>
              <a:t>2</a:t>
            </a:r>
            <a:r>
              <a:rPr lang="en-US" sz="2200" b="1" dirty="0"/>
              <a:t>)</a:t>
            </a:r>
            <a:r>
              <a:rPr lang="en-US" sz="2200" dirty="0"/>
              <a:t> upper bound on the worst-case running time of Insertion Sort</a:t>
            </a:r>
          </a:p>
          <a:p>
            <a:pPr marL="533400" indent="-533400">
              <a:lnSpc>
                <a:spcPct val="100000"/>
              </a:lnSpc>
              <a:spcBef>
                <a:spcPts val="600"/>
              </a:spcBef>
            </a:pPr>
            <a:r>
              <a:rPr lang="en-US" sz="2600" i="1" dirty="0">
                <a:solidFill>
                  <a:schemeClr val="accent6">
                    <a:lumMod val="75000"/>
                    <a:lumOff val="25000"/>
                  </a:schemeClr>
                </a:solidFill>
                <a:sym typeface="Symbol" charset="2"/>
              </a:rPr>
              <a:t>𝝮</a:t>
            </a:r>
            <a:r>
              <a:rPr lang="en-US" sz="2600" dirty="0">
                <a:solidFill>
                  <a:schemeClr val="accent6">
                    <a:lumMod val="75000"/>
                    <a:lumOff val="25000"/>
                  </a:schemeClr>
                </a:solidFill>
                <a:sym typeface="Symbol" charset="2"/>
              </a:rPr>
              <a:t> </a:t>
            </a:r>
            <a:r>
              <a:rPr lang="en-US" sz="2600" dirty="0">
                <a:sym typeface="Symbol" charset="2"/>
              </a:rPr>
              <a:t>notation: asymptotic lower bound	</a:t>
            </a:r>
            <a:r>
              <a:rPr lang="en-US" sz="2600" dirty="0"/>
              <a:t>f(n) “</a:t>
            </a:r>
            <a:r>
              <a:rPr lang="en-US" sz="2600" dirty="0">
                <a:ea typeface="Arial" charset="0"/>
                <a:cs typeface="Arial" charset="0"/>
              </a:rPr>
              <a:t>≥</a:t>
            </a:r>
            <a:r>
              <a:rPr lang="en-US" sz="2600" dirty="0"/>
              <a:t>” cg(n)</a:t>
            </a:r>
          </a:p>
          <a:p>
            <a:pPr marL="990600" lvl="1" indent="-533400">
              <a:lnSpc>
                <a:spcPct val="100000"/>
              </a:lnSpc>
              <a:spcBef>
                <a:spcPts val="600"/>
              </a:spcBef>
            </a:pPr>
            <a:r>
              <a:rPr lang="en-US" sz="2200" dirty="0"/>
              <a:t>Used to bound the best-case running time of an algorithm</a:t>
            </a:r>
          </a:p>
          <a:p>
            <a:pPr marL="990600" lvl="1" indent="-533400">
              <a:lnSpc>
                <a:spcPct val="100000"/>
              </a:lnSpc>
              <a:spcBef>
                <a:spcPts val="600"/>
              </a:spcBef>
            </a:pPr>
            <a:r>
              <a:rPr lang="en-US" sz="2200" dirty="0"/>
              <a:t>Example: </a:t>
            </a:r>
            <a:r>
              <a:rPr lang="en-US" dirty="0">
                <a:latin typeface="Comic Sans MS" charset="0"/>
                <a:sym typeface="Symbol" charset="2"/>
              </a:rPr>
              <a:t>𝝮(n) </a:t>
            </a:r>
            <a:r>
              <a:rPr lang="en-US" sz="2200" dirty="0"/>
              <a:t>lower bound on the best-case running time of Insertion Sort</a:t>
            </a:r>
          </a:p>
          <a:p>
            <a:pPr marL="533400" indent="-533400">
              <a:lnSpc>
                <a:spcPct val="100000"/>
              </a:lnSpc>
              <a:spcBef>
                <a:spcPts val="600"/>
              </a:spcBef>
            </a:pPr>
            <a:r>
              <a:rPr lang="en-US" sz="2400" dirty="0"/>
              <a:t>The running time of insertion sort therefore belongs to both </a:t>
            </a:r>
            <a:r>
              <a:rPr lang="en-US" sz="2400" dirty="0">
                <a:latin typeface="Comic Sans MS" charset="0"/>
                <a:sym typeface="Symbol" charset="2"/>
              </a:rPr>
              <a:t>𝝮(n) and </a:t>
            </a:r>
            <a:r>
              <a:rPr lang="en-US" sz="2400" b="1" dirty="0"/>
              <a:t>O(</a:t>
            </a:r>
            <a:r>
              <a:rPr lang="en-US" sz="2400" b="1" dirty="0">
                <a:latin typeface="Comic Sans MS" charset="0"/>
              </a:rPr>
              <a:t>n</a:t>
            </a:r>
            <a:r>
              <a:rPr lang="en-US" sz="2400" b="1" baseline="30000" dirty="0">
                <a:latin typeface="Comic Sans MS" charset="0"/>
              </a:rPr>
              <a:t>2</a:t>
            </a:r>
            <a:r>
              <a:rPr lang="en-US" sz="2400" b="1" dirty="0"/>
              <a:t>)</a:t>
            </a:r>
            <a:endParaRPr lang="en-US" sz="2400" dirty="0"/>
          </a:p>
          <a:p>
            <a:pPr marL="533400" indent="-533400">
              <a:lnSpc>
                <a:spcPct val="100000"/>
              </a:lnSpc>
              <a:spcBef>
                <a:spcPts val="600"/>
              </a:spcBef>
            </a:pPr>
            <a:r>
              <a:rPr lang="el-GR" sz="2600" b="1" i="1" dirty="0">
                <a:solidFill>
                  <a:schemeClr val="accent6">
                    <a:lumMod val="75000"/>
                    <a:lumOff val="25000"/>
                  </a:schemeClr>
                </a:solidFill>
                <a:sym typeface="Symbol" charset="2"/>
              </a:rPr>
              <a:t>Θ</a:t>
            </a:r>
            <a:r>
              <a:rPr lang="en-US" sz="2600" dirty="0">
                <a:sym typeface="Symbol" charset="2"/>
              </a:rPr>
              <a:t> notation: asymptotic tight bound c</a:t>
            </a:r>
            <a:r>
              <a:rPr lang="en-US" sz="1600" dirty="0">
                <a:sym typeface="Symbol" charset="2"/>
              </a:rPr>
              <a:t>1</a:t>
            </a:r>
            <a:r>
              <a:rPr lang="en-US" sz="2600" dirty="0">
                <a:sym typeface="Symbol" charset="2"/>
              </a:rPr>
              <a:t>g(n) “</a:t>
            </a:r>
            <a:r>
              <a:rPr lang="en-US" sz="2600" dirty="0">
                <a:ea typeface="Arial" charset="0"/>
                <a:cs typeface="Arial" charset="0"/>
              </a:rPr>
              <a:t>≤” </a:t>
            </a:r>
            <a:r>
              <a:rPr lang="en-US" sz="2600" dirty="0"/>
              <a:t>f(n) “</a:t>
            </a:r>
            <a:r>
              <a:rPr lang="en-US" sz="2600" dirty="0">
                <a:ea typeface="Arial" charset="0"/>
                <a:cs typeface="Arial" charset="0"/>
              </a:rPr>
              <a:t>≤</a:t>
            </a:r>
            <a:r>
              <a:rPr lang="en-US" sz="2600" dirty="0"/>
              <a:t>” c</a:t>
            </a:r>
            <a:r>
              <a:rPr lang="en-US" sz="1600" dirty="0"/>
              <a:t>2</a:t>
            </a:r>
            <a:r>
              <a:rPr lang="en-US" sz="2600" dirty="0"/>
              <a:t>g(n)</a:t>
            </a:r>
          </a:p>
          <a:p>
            <a:pPr marL="990600" lvl="1" indent="-533400">
              <a:lnSpc>
                <a:spcPct val="100000"/>
              </a:lnSpc>
              <a:spcBef>
                <a:spcPts val="600"/>
              </a:spcBef>
            </a:pPr>
            <a:r>
              <a:rPr lang="en-US" sz="2200" dirty="0"/>
              <a:t>Used to upper and lower bound the average running time of an algorithm</a:t>
            </a:r>
            <a:endParaRPr lang="en-US" sz="2200" dirty="0">
              <a:sym typeface="Symbol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290702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AMUSA PPT Color">
      <a:dk1>
        <a:srgbClr val="000000"/>
      </a:dk1>
      <a:lt1>
        <a:srgbClr val="FFFFFF"/>
      </a:lt1>
      <a:dk2>
        <a:srgbClr val="83888B"/>
      </a:dk2>
      <a:lt2>
        <a:srgbClr val="FFFFFF"/>
      </a:lt2>
      <a:accent1>
        <a:srgbClr val="332E70"/>
      </a:accent1>
      <a:accent2>
        <a:srgbClr val="668586"/>
      </a:accent2>
      <a:accent3>
        <a:srgbClr val="E6B729"/>
      </a:accent3>
      <a:accent4>
        <a:srgbClr val="B9CFD3"/>
      </a:accent4>
      <a:accent5>
        <a:srgbClr val="54849A"/>
      </a:accent5>
      <a:accent6>
        <a:srgbClr val="020000"/>
      </a:accent6>
      <a:hlink>
        <a:srgbClr val="702E3C"/>
      </a:hlink>
      <a:folHlink>
        <a:srgbClr val="4600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 TAMUSA Template" id="{81250B71-C222-0A43-91FF-929A8BF7632C}" vid="{6EC503B3-3B3A-3D45-9BD1-3527F0E16E3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 TAMUSA Template-updated</Template>
  <TotalTime>2048</TotalTime>
  <Words>1003</Words>
  <Application>Microsoft Office PowerPoint</Application>
  <PresentationFormat>Widescreen</PresentationFormat>
  <Paragraphs>112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Vollkorn</vt:lpstr>
      <vt:lpstr>Arial</vt:lpstr>
      <vt:lpstr>Calibri</vt:lpstr>
      <vt:lpstr>Comic Sans MS</vt:lpstr>
      <vt:lpstr>Corbel</vt:lpstr>
      <vt:lpstr>Monotype Corsiva</vt:lpstr>
      <vt:lpstr>Oswald</vt:lpstr>
      <vt:lpstr>Symbol</vt:lpstr>
      <vt:lpstr>Office Theme</vt:lpstr>
      <vt:lpstr>CSCI 5343 Algorithms Spring 2025 </vt:lpstr>
      <vt:lpstr>Goals of Growth Functions</vt:lpstr>
      <vt:lpstr>Algorithm Analysis</vt:lpstr>
      <vt:lpstr>Asymptotic Notation</vt:lpstr>
      <vt:lpstr>Asymptotic Notation: O – notation</vt:lpstr>
      <vt:lpstr>O-notation: Examples</vt:lpstr>
      <vt:lpstr>O-notation: More Examples</vt:lpstr>
      <vt:lpstr>Asymptotic Notation: Ω-notation</vt:lpstr>
      <vt:lpstr>Ω-notation: Example</vt:lpstr>
      <vt:lpstr>Ω-notation: More Examples</vt:lpstr>
      <vt:lpstr>Asymptotic Notation: θ-notation</vt:lpstr>
      <vt:lpstr>θ-notation: Example</vt:lpstr>
      <vt:lpstr>θ-notation: More Examples</vt:lpstr>
      <vt:lpstr>Asymptotic Notations - Examples</vt:lpstr>
      <vt:lpstr>Asymptotic Notations - Implications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Fernando Estrada</dc:creator>
  <cp:lastModifiedBy>Jeong Yang</cp:lastModifiedBy>
  <cp:revision>111</cp:revision>
  <cp:lastPrinted>2020-01-21T18:08:03Z</cp:lastPrinted>
  <dcterms:created xsi:type="dcterms:W3CDTF">2018-03-09T22:17:24Z</dcterms:created>
  <dcterms:modified xsi:type="dcterms:W3CDTF">2025-02-04T03:47:09Z</dcterms:modified>
</cp:coreProperties>
</file>