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6" r:id="rId10"/>
    <p:sldId id="276" r:id="rId11"/>
    <p:sldId id="264" r:id="rId12"/>
    <p:sldId id="277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030" autoAdjust="0"/>
    <p:restoredTop sz="94658"/>
  </p:normalViewPr>
  <p:slideViewPr>
    <p:cSldViewPr snapToGrid="0" snapToObjects="1">
      <p:cViewPr varScale="1">
        <p:scale>
          <a:sx n="119" d="100"/>
          <a:sy n="119" d="100"/>
        </p:scale>
        <p:origin x="7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E9484-A1AE-4848-978F-DB84137331BF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51DBA-7D26-427F-A8DB-8EB0BE356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27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5T02:47:23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4607 0 0,'0'0'5064'0'0,"2"10"-10584"0"0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5T02:51:19.439"/>
    </inkml:context>
    <inkml:brush xml:id="br0">
      <inkml:brushProperty name="width" value="0.025" units="cm"/>
      <inkml:brushProperty name="height" value="0.025" units="cm"/>
      <inkml:brushProperty name="color" value="#CC0066"/>
    </inkml:brush>
  </inkml:definitions>
  <inkml:trace contextRef="#ctx0" brushRef="#br0">1 74 2759 0 0,'0'0'12630'0'0,"8"-10"-11780"0"0,-6 8-697 0 0,0-1 0 0 0,0 1 1 0 0,0 0-1 0 0,1 0 0 0 0,-1 0 0 0 0,1 1 0 0 0,-1-1 0 0 0,1 1 0 0 0,0-1 0 0 0,0 1 0 0 0,0 0 1 0 0,0 0-1 0 0,4-1 0 0 0,5 0 35 0 0,0 0 0 0 0,15 0 1 0 0,13-2-170 0 0,-36 3-199 0 0,0 1-1 0 0,0-1 1 0 0,-1 0-1 0 0,1 0 1 0 0,0 0-1 0 0,0-1 1 0 0,-1 0-1 0 0,1 1 1 0 0,-1-1-1 0 0,1 0 1 0 0,-1-1-1 0 0,5-3 1 0 0,-3 0-1506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5T02:54:32.443"/>
    </inkml:context>
    <inkml:brush xml:id="br0">
      <inkml:brushProperty name="width" value="0.025" units="cm"/>
      <inkml:brushProperty name="height" value="0.025" units="cm"/>
      <inkml:brushProperty name="color" value="#CC0066"/>
    </inkml:brush>
  </inkml:definitions>
  <inkml:trace contextRef="#ctx0" brushRef="#br0">0 1 9671 0 0,'0'0'5028'0'0,"0"1"-4945"0"0,1 3-277 0 0,1-1 0 0 0,-1 1 1 0 0,0-1-1 0 0,1 0 0 0 0,0 0 1 0 0,0 0-1 0 0,0 0 0 0 0,0 0 0 0 0,3 3 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5T02:50:03.345"/>
    </inkml:context>
    <inkml:brush xml:id="br0">
      <inkml:brushProperty name="width" value="0.025" units="cm"/>
      <inkml:brushProperty name="height" value="0.025" units="cm"/>
      <inkml:brushProperty name="color" value="#CC0066"/>
    </inkml:brush>
  </inkml:definitions>
  <inkml:trace contextRef="#ctx0" brushRef="#br0">13 0 2879 0 0,'0'0'688'0'0,"-1"2"-614"0"0,-10 10-300 0 0,10-10-974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5T02:49:56.584"/>
    </inkml:context>
    <inkml:brush xml:id="br0">
      <inkml:brushProperty name="width" value="0.025" units="cm"/>
      <inkml:brushProperty name="height" value="0.025" units="cm"/>
      <inkml:brushProperty name="color" value="#CC0066"/>
    </inkml:brush>
  </inkml:definitions>
  <inkml:trace contextRef="#ctx0" brushRef="#br0">13 27 3223 0 0,'0'0'288'0'0,"-4"-9"-288"0"0,-1 0 0 0 0,1 0 9208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5T02:49:56.030"/>
    </inkml:context>
    <inkml:brush xml:id="br0">
      <inkml:brushProperty name="width" value="0.025" units="cm"/>
      <inkml:brushProperty name="height" value="0.025" units="cm"/>
      <inkml:brushProperty name="color" value="#CC0066"/>
    </inkml:brush>
  </inkml:definitions>
  <inkml:trace contextRef="#ctx0" brushRef="#br0">16 33 5527 0 0,'-1'-1'423'0'0,"-7"-14"-192"0"0,8 14 126 0 0,-5-8 1534 0 0,3 5-1732 0 0,2 4-172 0 0,0 0 0 0 0,0 0 0 0 0,0 0 0 0 0,0 0 0 0 0,0 0 0 0 0,0 0 0 0 0,1-1 0 0 0,-1 1 0 0 0,0 0 0 0 0,0 0 0 0 0,0 0 0 0 0,0 0 0 0 0,0 0 0 0 0,0 0 0 0 0,0-1 0 0 0,0 1 0 0 0,0 0 0 0 0,1 0 0 0 0,-1 0 0 0 0,0 0 0 0 0,0 0-1 0 0,0 0 1 0 0,0 0 0 0 0,0 0 0 0 0,0 0 0 0 0,1 0 0 0 0,-1 0 0 0 0,0 0 0 0 0,0 0 0 0 0,0 0 0 0 0,0 0 0 0 0,0 0 0 0 0,1 0 0 0 0,-1 0 0 0 0,0 0 0 0 0,0 0 0 0 0,0 0 0 0 0,0 0 0 0 0,0 0 0 0 0,1 0 0 0 0,-1 0 0 0 0,0 0 0 0 0,0 0 0 0 0,0 0 0 0 0,0 0 0 0 0,0 0 0 0 0,0 0 0 0 0,1 0 0 0 0,-1 0 0 0 0,0 1 0 0 0,0-1 0 0 0,0 0 0 0 0,0 0 0 0 0,0 0 0 0 0,0 0-1 0 0,0 0 1 0 0,0 0 0 0 0,1 1 0 0 0,23 9-853 0 0,-16-7-1640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5T02:56:45.629"/>
    </inkml:context>
    <inkml:brush xml:id="br0">
      <inkml:brushProperty name="width" value="0.025" units="cm"/>
      <inkml:brushProperty name="height" value="0.025" units="cm"/>
      <inkml:brushProperty name="color" value="#CC0066"/>
    </inkml:brush>
  </inkml:definitions>
  <inkml:trace contextRef="#ctx0" brushRef="#br0">1 0 1375 0 0,'0'0'792'0'0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5T02:50:29.833"/>
    </inkml:context>
    <inkml:brush xml:id="br0">
      <inkml:brushProperty name="width" value="0.025" units="cm"/>
      <inkml:brushProperty name="height" value="0.025" units="cm"/>
      <inkml:brushProperty name="color" value="#CC0066"/>
    </inkml:brush>
  </inkml:definitions>
  <inkml:trace contextRef="#ctx0" brushRef="#br0">78 41 9583 0 0,'0'0'439'0'0,"-1"-1"-10"0"0,-15-11-257 0 0,-19-13 4676 0 0,34 24-4244 0 0,-6 1 195 0 0,7-1-794 0 0,-1 1 0 0 0,1 0 0 0 0,-1 0 0 0 0,1 0 0 0 0,0 0 0 0 0,-1 0 0 0 0,1 0 0 0 0,-1 0 0 0 0,1 0 0 0 0,-1 0 0 0 0,1 0 0 0 0,-1 0 0 0 0,1 0 0 0 0,-1 0 0 0 0,1 0 0 0 0,0 1-1 0 0,-1-1 1 0 0,1 0 0 0 0,-1 0 0 0 0,1 0 0 0 0,0 1 0 0 0,-1-1 0 0 0,1 0 0 0 0,0 0 0 0 0,-1 1 0 0 0,1-1 0 0 0,0 0 0 0 0,-1 1 0 0 0,1-1 0 0 0,0 1 0 0 0,-1-1 0 0 0,1 0 0 0 0,0 1 0 0 0,0-1 0 0 0,0 1 0 0 0,0-1 0 0 0,-1 0 0 0 0,1 1 0 0 0,0-1 0 0 0,0 1 0 0 0,-4 23-4976 0 0,4-8-241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5T02:50:31.395"/>
    </inkml:context>
    <inkml:brush xml:id="br0">
      <inkml:brushProperty name="width" value="0.025" units="cm"/>
      <inkml:brushProperty name="height" value="0.025" units="cm"/>
      <inkml:brushProperty name="color" value="#CC0066"/>
    </inkml:brush>
  </inkml:definitions>
  <inkml:trace contextRef="#ctx0" brushRef="#br0">15 6 16127 0 0,'0'0'1432'0'0,"-7"-5"-1000"0"0,3 17-1312 0 0,2 2-192 0 0,1 5-40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5T03:08:23.327"/>
    </inkml:context>
    <inkml:brush xml:id="br0">
      <inkml:brushProperty name="width" value="0.025" units="cm"/>
      <inkml:brushProperty name="height" value="0.025" units="cm"/>
      <inkml:brushProperty name="color" value="#CC0066"/>
    </inkml:brush>
  </inkml:definitions>
  <inkml:trace contextRef="#ctx0" brushRef="#br0">82 0 1839 0 0,'0'0'7956'0'0,"-9"5"-6642"0"0,-9 13-1120 0 0,10-10-293 0 0,0 1 1 0 0,1 1-1 0 0,0 0 0 0 0,1-1 0 0 0,-6 12 0 0 0,6-9-212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5T03:08:38.026"/>
    </inkml:context>
    <inkml:brush xml:id="br0">
      <inkml:brushProperty name="width" value="0.025" units="cm"/>
      <inkml:brushProperty name="height" value="0.025" units="cm"/>
      <inkml:brushProperty name="color" value="#CC0066"/>
    </inkml:brush>
  </inkml:definitions>
  <inkml:trace contextRef="#ctx0" brushRef="#br0">37 54 4175 0 0,'0'0'398'0'0,"-5"-11"60"0"0,2 4-327 0 0,0-2-64 0 0,0 2-74 0 0,3 6-50 0 0,-1 0 0 0 0,1 0 0 0 0,-1-1 0 0 0,0 1 0 0 0,1 0 0 0 0,-1 0 0 0 0,0 0 0 0 0,0 0 0 0 0,0 0 0 0 0,0 0 0 0 0,0 0 0 0 0,0 0 0 0 0,0 0 0 0 0,0 1 0 0 0,-2-2 0 0 0,-4-1-1518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5T03:08:47.575"/>
    </inkml:context>
    <inkml:brush xml:id="br0">
      <inkml:brushProperty name="width" value="0.025" units="cm"/>
      <inkml:brushProperty name="height" value="0.025" units="cm"/>
      <inkml:brushProperty name="color" value="#CC0066"/>
    </inkml:brush>
  </inkml:definitions>
  <inkml:trace contextRef="#ctx0" brushRef="#br0">59 0 11399 0 0,'0'0'1240'0'0,"-5"12"-1240"0"0,3 0 0 0 0,-2 1 0 0 0,1 1 296 0 0,-2 1 40 0 0,1 0 8 0 0,-2 0 0 0 0,0 0-248 0 0,0 1-96 0 0,0 0 88 0 0,-1-2-3848 0 0,2 1-768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5T03:08:53.884"/>
    </inkml:context>
    <inkml:brush xml:id="br0">
      <inkml:brushProperty name="width" value="0.025" units="cm"/>
      <inkml:brushProperty name="height" value="0.025" units="cm"/>
      <inkml:brushProperty name="color" value="#CC0066"/>
    </inkml:brush>
  </inkml:definitions>
  <inkml:trace contextRef="#ctx0" brushRef="#br0">67 33 9215 0 0,'-7'-4'1624'0'0,"0"-1"-1"0"0,-15-11 2474 0 0,21 15-3983 0 0,-4-3-81 0 0,3 4-28 0 0,0-1-1 0 0,0 1 1 0 0,0-1 0 0 0,0 1-1 0 0,0 0 1 0 0,-1 0 0 0 0,-3 0-1 0 0,4 0-20 0 0,1 0-149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5T03:09:22.586"/>
    </inkml:context>
    <inkml:brush xml:id="br0">
      <inkml:brushProperty name="width" value="0.025" units="cm"/>
      <inkml:brushProperty name="height" value="0.025" units="cm"/>
      <inkml:brushProperty name="color" value="#CC0066"/>
    </inkml:brush>
  </inkml:definitions>
  <inkml:trace contextRef="#ctx0" brushRef="#br0">1 1 2303 0 0,'0'0'2632'0'0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5T03:09:25.983"/>
    </inkml:context>
    <inkml:brush xml:id="br0">
      <inkml:brushProperty name="width" value="0.025" units="cm"/>
      <inkml:brushProperty name="height" value="0.025" units="cm"/>
      <inkml:brushProperty name="color" value="#CC0066"/>
    </inkml:brush>
  </inkml:definitions>
  <inkml:trace contextRef="#ctx0" brushRef="#br0">6776 4047 8287 0 0,'0'0'888'0'0,"-6"-6"4992"0"0,16 7-2584 0 0,3 7 16 0 0,4 7-4080 0 0,4 9-808 0 0,4 10-168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5T03:09:26.425"/>
    </inkml:context>
    <inkml:brush xml:id="br0">
      <inkml:brushProperty name="width" value="0.025" units="cm"/>
      <inkml:brushProperty name="height" value="0.025" units="cm"/>
      <inkml:brushProperty name="color" value="#CC0066"/>
    </inkml:brush>
  </inkml:definitions>
  <inkml:trace contextRef="#ctx0" brushRef="#br0">24 0 22895 0 0,'-14'3'2232'0'0,"5"-3"-1984"0"0,16 15-3672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5T03:17:12.844"/>
    </inkml:context>
    <inkml:brush xml:id="br0">
      <inkml:brushProperty name="width" value="0.025" units="cm"/>
      <inkml:brushProperty name="height" value="0.025" units="cm"/>
      <inkml:brushProperty name="color" value="#CC0066"/>
    </inkml:brush>
  </inkml:definitions>
  <inkml:trace contextRef="#ctx0" brushRef="#br0">29 1 12383 0 0,'-7'12'544'0'0,"1"-6"120"0"0,0 0-536 0 0,0 0-128 0 0,2 1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5T03:17:52.016"/>
    </inkml:context>
    <inkml:brush xml:id="br0">
      <inkml:brushProperty name="width" value="0.025" units="cm"/>
      <inkml:brushProperty name="height" value="0.025" units="cm"/>
      <inkml:brushProperty name="color" value="#CC0066"/>
    </inkml:brush>
  </inkml:definitions>
  <inkml:trace contextRef="#ctx0" brushRef="#br0">61 0 13823 0 0,'-1'1'1062'0'0,"0"0"-874"0"0,0 0 1 0 0,0 0 0 0 0,0 0-1 0 0,0 0 1 0 0,0 0 0 0 0,-1 0-1 0 0,1 0 1 0 0,0 0 0 0 0,0-1-1 0 0,0 1 1 0 0,-1 0 0 0 0,1-1 0 0 0,0 1-1 0 0,-3-1 1 0 0,2 1 25 0 0,1 0 522 0 0,-14-1-4334 0 0,9 0 3621 0 0,5 0 5 0 0,-8-3-2478 0 0,4 2-2833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5T03:18:09.114"/>
    </inkml:context>
    <inkml:brush xml:id="br0">
      <inkml:brushProperty name="width" value="0.025" units="cm"/>
      <inkml:brushProperty name="height" value="0.025" units="cm"/>
      <inkml:brushProperty name="color" value="#CC0066"/>
    </inkml:brush>
  </inkml:definitions>
  <inkml:trace contextRef="#ctx0" brushRef="#br0">202 0 19087 0 0,'-9'25'848'0'0,"-1"-11"176"0"0,-2-1-824 0 0,-3-2-200 0 0,-3-3 0 0 0,-2-2 0 0 0,0-2-352 0 0,-5-4-120 0 0,-7-4-16 0 0,-8-4-7504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843F6B6-C643-EB48-8E20-B61919A653AE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6E6A39C-9C1F-2A4A-AF30-046BACDB3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77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4063" indent="-2889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58875" indent="-2317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24013" indent="-2317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87563" indent="-2317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44763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1963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59163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16363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E3D77EE-CC85-42F9-805C-BEA481CCEB13}" type="slidenum">
              <a:rPr lang="en-US" altLang="en-US"/>
              <a:pPr eaLnBrk="1" hangingPunct="1"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346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06F780E-9DEC-114C-B59D-A82F5B1305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703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DB4BCB-6267-7C4C-B43A-E90C40649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8D4E9D-E0FF-4A40-92D3-F584F728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A4489E-2E74-F340-B15A-B2A6F49450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91286" y="118872"/>
            <a:ext cx="9209427" cy="87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0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76A11-4AC1-8748-B27A-412000BFD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39F17-8DC0-704B-9AE7-F0ACCDF4C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4A4D8-C6D2-0E40-92C4-2BCFF05A1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TEXAS A&amp;M-SAN ANTONIO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86E18-20E2-9044-890C-17969EAC4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063ED-17C5-384F-8A20-6B5F1E692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72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D519-9498-A74B-A50E-3FE856C93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A1DE4-D61E-B948-97DB-95EA3642C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EC6AA-5BA9-6C4B-9C05-A4DF3EB3C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70A15-8FCB-1145-B769-EBE016DEC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6DD52-61E1-7644-A884-1919EF7DF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17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ADC3-8E98-4046-9AAD-79B345A96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E0A05-7784-8E43-A36D-9DF6EB0DA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BC6E6-C854-644C-8127-782D34662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892C8-648C-E648-909E-43B6AB5CE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5A266-0D34-A848-B798-09F9F6C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07C42-7FD9-8A46-9771-76E49801F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07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9DF53-106B-564F-A34E-66D6D5527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E6C4E-D1C9-7E43-8BE6-6FF6C0297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84BC5-819E-184D-B400-C628FC4E7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D4D157-B42E-B04A-9802-E4687A2B0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BE22DF-E739-C941-8F53-FEB1143BE8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D40280-C860-6543-8954-037C3B8DD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C3B322-30C5-7A48-80C9-34D80F20B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0A570F-CCB9-8A4D-A1DF-182EDBD9E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0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7A4AD-56A7-D544-8CC4-C59732383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5C9BB6-238C-9849-8A11-ED3068252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23E8EC-9A7F-CE49-8A55-A5D7CD716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C0A83-16F0-D946-B562-A591524C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64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F29F64-1BDD-504B-A6CA-0E20C98EF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8C1686-9F4A-094D-AD83-7AAFEDFD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004E1-8548-F84D-B00A-A977C4D04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454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73EF2-341F-F844-AFCF-6433054D0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D4C50-3B10-0B41-9B37-D7C15E263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DF77F2-1CF2-E444-9FAD-9E8F54149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D50E1-5F20-BB45-A98E-EBF4F1C1D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EF63F-A284-684A-A9AD-5E8434D7B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865B0-3686-3341-AD20-5617C52E1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49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FA22E-AA44-194A-BF2A-701D2B5FF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78C7F6-4BD5-E641-B632-A1B5A1DC03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7162C-C948-1943-97BA-5AB7865AF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FC85A-702E-DD4C-B6D4-ABFDB8A87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86D28-396E-8E48-AC2E-0FFF126DF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52750-349A-6946-B6A4-04B5FB36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5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D500-C0C2-5D47-8D80-53BD44C53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4353C2-7F77-A84A-A20F-985C4D4E0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B0480-39D0-9D45-907F-0B6A521E7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CE67D-E526-5843-B848-1C14DB188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4ADD1-3DAE-C94D-B565-D611793BA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27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162169-3F65-BD4A-838C-F27F6199AC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FB8A1-5D3F-2A4E-B1C3-99D1601C1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78F54-DF87-5D42-BA44-CB6C6B654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80EB4-1594-5244-AFD3-740F69F71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BEE49-3691-D549-AC56-DB7355B65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10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E62574-E313-A548-8CD1-53BB254DD3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7030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9B084-1E51-FA44-B2F1-C4E821A1B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4DE31-0525-CD4C-A8B3-E43493227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2773D-3906-1A4B-8CD5-0D836E29B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Oswald" panose="02000503000000000000" pitchFamily="2" charset="0"/>
              </a:defRPr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2DC35-01F7-F14D-A158-C7100804C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CDA7F-9F75-B94E-AEE1-3C966732A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7D5D8-8021-D54A-A92F-C392C50DF18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AF6714-108A-9744-8E65-70ABDC5635E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" y="0"/>
            <a:ext cx="826999" cy="82699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F07C08-5274-364D-889D-20BEAFD80E1E}"/>
              </a:ext>
            </a:extLst>
          </p:cNvPr>
          <p:cNvCxnSpPr>
            <a:cxnSpLocks/>
          </p:cNvCxnSpPr>
          <p:nvPr userDrawn="1"/>
        </p:nvCxnSpPr>
        <p:spPr>
          <a:xfrm>
            <a:off x="2450592" y="6598227"/>
            <a:ext cx="97414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290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Oswald" panose="02000503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ustomXml" Target="../ink/ink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86" Type="http://schemas.openxmlformats.org/officeDocument/2006/relationships/customXml" Target="../ink/ink4.xml"/><Relationship Id="rId316" Type="http://schemas.openxmlformats.org/officeDocument/2006/relationships/customXml" Target="../ink/ink7.xml"/><Relationship Id="rId3" Type="http://schemas.openxmlformats.org/officeDocument/2006/relationships/image" Target="../media/image13.png"/><Relationship Id="rId285" Type="http://schemas.openxmlformats.org/officeDocument/2006/relationships/image" Target="../media/image203.png"/><Relationship Id="rId311" Type="http://schemas.openxmlformats.org/officeDocument/2006/relationships/image" Target="../media/image216.png"/><Relationship Id="rId409" Type="http://schemas.openxmlformats.org/officeDocument/2006/relationships/image" Target="../media/image265.png"/><Relationship Id="rId239" Type="http://schemas.openxmlformats.org/officeDocument/2006/relationships/image" Target="../media/image180.png"/><Relationship Id="rId315" Type="http://schemas.openxmlformats.org/officeDocument/2006/relationships/image" Target="../media/image218.png"/><Relationship Id="rId404" Type="http://schemas.openxmlformats.org/officeDocument/2006/relationships/customXml" Target="../ink/ink9.xml"/><Relationship Id="rId2" Type="http://schemas.openxmlformats.org/officeDocument/2006/relationships/image" Target="../media/image12.png"/><Relationship Id="rId306" Type="http://schemas.openxmlformats.org/officeDocument/2006/relationships/customXml" Target="../ink/ink5.xml"/><Relationship Id="rId403" Type="http://schemas.openxmlformats.org/officeDocument/2006/relationships/image" Target="../media/image262.png"/><Relationship Id="rId1" Type="http://schemas.openxmlformats.org/officeDocument/2006/relationships/slideLayout" Target="../slideLayouts/slideLayout2.xml"/><Relationship Id="rId305" Type="http://schemas.openxmlformats.org/officeDocument/2006/relationships/image" Target="../media/image213.png"/><Relationship Id="rId240" Type="http://schemas.openxmlformats.org/officeDocument/2006/relationships/customXml" Target="../ink/ink3.xml"/><Relationship Id="rId334" Type="http://schemas.openxmlformats.org/officeDocument/2006/relationships/customXml" Target="../ink/ink8.xml"/><Relationship Id="rId4" Type="http://schemas.openxmlformats.org/officeDocument/2006/relationships/customXml" Target="../ink/ink2.xml"/><Relationship Id="rId312" Type="http://schemas.openxmlformats.org/officeDocument/2006/relationships/customXml" Target="../ink/ink6.xml"/><Relationship Id="rId333" Type="http://schemas.openxmlformats.org/officeDocument/2006/relationships/image" Target="../media/image2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2.xml"/><Relationship Id="rId18" Type="http://schemas.openxmlformats.org/officeDocument/2006/relationships/image" Target="../media/image227.png"/><Relationship Id="rId3" Type="http://schemas.openxmlformats.org/officeDocument/2006/relationships/image" Target="../media/image16.png"/><Relationship Id="rId21" Type="http://schemas.openxmlformats.org/officeDocument/2006/relationships/customXml" Target="../ink/ink16.xml"/><Relationship Id="rId12" Type="http://schemas.openxmlformats.org/officeDocument/2006/relationships/image" Target="../media/image276.png"/><Relationship Id="rId17" Type="http://schemas.openxmlformats.org/officeDocument/2006/relationships/customXml" Target="../ink/ink14.xml"/><Relationship Id="rId2" Type="http://schemas.openxmlformats.org/officeDocument/2006/relationships/image" Target="../media/image15.png"/><Relationship Id="rId16" Type="http://schemas.openxmlformats.org/officeDocument/2006/relationships/image" Target="../media/image278.png"/><Relationship Id="rId20" Type="http://schemas.openxmlformats.org/officeDocument/2006/relationships/image" Target="../media/image279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1.xml"/><Relationship Id="rId5" Type="http://schemas.openxmlformats.org/officeDocument/2006/relationships/customXml" Target="../ink/ink10.xml"/><Relationship Id="rId15" Type="http://schemas.openxmlformats.org/officeDocument/2006/relationships/customXml" Target="../ink/ink13.xml"/><Relationship Id="rId10" Type="http://schemas.openxmlformats.org/officeDocument/2006/relationships/image" Target="../media/image275.png"/><Relationship Id="rId19" Type="http://schemas.openxmlformats.org/officeDocument/2006/relationships/customXml" Target="../ink/ink15.xml"/><Relationship Id="rId4" Type="http://schemas.openxmlformats.org/officeDocument/2006/relationships/image" Target="../media/image12.png"/><Relationship Id="rId14" Type="http://schemas.openxmlformats.org/officeDocument/2006/relationships/image" Target="../media/image277.png"/><Relationship Id="rId22" Type="http://schemas.openxmlformats.org/officeDocument/2006/relationships/image" Target="../media/image280.png"/></Relationships>
</file>

<file path=ppt/slides/_rels/slide15.xml.rels><?xml version="1.0" encoding="UTF-8" standalone="yes"?>
<Relationships xmlns="http://schemas.openxmlformats.org/package/2006/relationships"><Relationship Id="rId109" Type="http://schemas.openxmlformats.org/officeDocument/2006/relationships/image" Target="../media/image337.png"/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110" Type="http://schemas.openxmlformats.org/officeDocument/2006/relationships/customXml" Target="../ink/ink18.xml"/><Relationship Id="rId178" Type="http://schemas.openxmlformats.org/officeDocument/2006/relationships/customXml" Target="../ink/ink19.xml"/><Relationship Id="rId177" Type="http://schemas.openxmlformats.org/officeDocument/2006/relationships/image" Target="../media/image371.png"/><Relationship Id="rId211" Type="http://schemas.openxmlformats.org/officeDocument/2006/relationships/image" Target="../media/image388.png"/><Relationship Id="rId4" Type="http://schemas.openxmlformats.org/officeDocument/2006/relationships/customXml" Target="../ink/ink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E6319-A62A-B444-ADAD-8972AE1B0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8118"/>
            <a:ext cx="9144000" cy="192292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100" dirty="0"/>
              <a:t>CSCI 5343 Algorithms</a:t>
            </a:r>
            <a:br>
              <a:rPr lang="en-US" sz="3100" dirty="0"/>
            </a:br>
            <a:r>
              <a:rPr lang="en-US" sz="3100" dirty="0"/>
              <a:t>Spring 2025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B2D859-22D5-E943-B0B7-72D5D0A6F6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895755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  <a:buSzPct val="70000"/>
            </a:pPr>
            <a:r>
              <a:rPr lang="en-US" dirty="0"/>
              <a:t>Dept. of Computational, Engineering, and Computational Sciences</a:t>
            </a:r>
          </a:p>
          <a:p>
            <a:pPr>
              <a:buClr>
                <a:srgbClr val="002060"/>
              </a:buClr>
              <a:buSzPct val="70000"/>
            </a:pPr>
            <a:endParaRPr lang="en-US" dirty="0"/>
          </a:p>
          <a:p>
            <a:pPr>
              <a:buClr>
                <a:srgbClr val="002060"/>
              </a:buClr>
              <a:buSzPct val="70000"/>
            </a:pPr>
            <a:r>
              <a:rPr lang="en-US" dirty="0"/>
              <a:t>Chapter 15 Dynamic Programming</a:t>
            </a:r>
          </a:p>
        </p:txBody>
      </p:sp>
    </p:spTree>
    <p:extLst>
      <p:ext uri="{BB962C8B-B14F-4D97-AF65-F5344CB8AC3E}">
        <p14:creationId xmlns:p14="http://schemas.microsoft.com/office/powerpoint/2010/main" val="4186716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06786" y="6856"/>
            <a:ext cx="8153400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Objectives</a:t>
            </a: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2"/>
                </a:solidFill>
                <a:latin typeface="Rage Italic" panose="03070502040507070304" pitchFamily="66" charset="0"/>
              </a:rPr>
              <a:t> 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10235" y="1611517"/>
            <a:ext cx="10280725" cy="3068824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buFontTx/>
              <a:buNone/>
            </a:pPr>
            <a:r>
              <a:rPr lang="en-US" altLang="en-US" sz="3100" dirty="0"/>
              <a:t>Discuss the following topics: </a:t>
            </a:r>
          </a:p>
          <a:p>
            <a:pPr>
              <a:buClr>
                <a:srgbClr val="002060"/>
              </a:buClr>
            </a:pPr>
            <a:r>
              <a:rPr lang="en-US" sz="3100" dirty="0"/>
              <a:t>Divide-and-conquer algorithms</a:t>
            </a:r>
          </a:p>
          <a:p>
            <a:pPr eaLnBrk="1" hangingPunct="1">
              <a:buClr>
                <a:srgbClr val="002060"/>
              </a:buClr>
            </a:pPr>
            <a:r>
              <a:rPr lang="en-US" altLang="en-US" sz="3100" dirty="0"/>
              <a:t>Dynamic programming algorithms </a:t>
            </a:r>
          </a:p>
          <a:p>
            <a:pPr lvl="1">
              <a:buClr>
                <a:srgbClr val="002060"/>
              </a:buClr>
            </a:pPr>
            <a:r>
              <a:rPr lang="en-US" altLang="en-US" sz="3100" dirty="0"/>
              <a:t>With Rod Cutting Problem</a:t>
            </a:r>
          </a:p>
          <a:p>
            <a:pPr lvl="1">
              <a:buClr>
                <a:srgbClr val="002060"/>
              </a:buClr>
            </a:pPr>
            <a:r>
              <a:rPr lang="en-US" altLang="en-US" sz="3100" dirty="0"/>
              <a:t>Implementation</a:t>
            </a:r>
          </a:p>
          <a:p>
            <a:pPr lvl="2">
              <a:buClr>
                <a:srgbClr val="002060"/>
              </a:buClr>
            </a:pPr>
            <a:r>
              <a:rPr lang="en-US" altLang="en-US" sz="3100" dirty="0"/>
              <a:t>Recursive Top-down</a:t>
            </a:r>
          </a:p>
          <a:p>
            <a:pPr lvl="2">
              <a:buClr>
                <a:srgbClr val="002060"/>
              </a:buClr>
            </a:pPr>
            <a:r>
              <a:rPr lang="en-US" altLang="en-US" sz="3100" dirty="0"/>
              <a:t>Top-down with </a:t>
            </a:r>
            <a:r>
              <a:rPr lang="en-US" sz="3100" dirty="0"/>
              <a:t>memorization – dynamic programming</a:t>
            </a:r>
            <a:endParaRPr lang="en-US" altLang="en-US" sz="3100" dirty="0"/>
          </a:p>
          <a:p>
            <a:pPr lvl="2">
              <a:buClr>
                <a:srgbClr val="002060"/>
              </a:buClr>
            </a:pPr>
            <a:r>
              <a:rPr lang="en-US" altLang="en-US" sz="3100" dirty="0"/>
              <a:t>Bottom-up with </a:t>
            </a:r>
            <a:r>
              <a:rPr lang="en-US" sz="3100" dirty="0"/>
              <a:t>memorization – dynamic programming</a:t>
            </a:r>
            <a:endParaRPr lang="en-US" altLang="en-US" sz="3100" dirty="0"/>
          </a:p>
          <a:p>
            <a:pPr lvl="1">
              <a:buClr>
                <a:srgbClr val="002060"/>
              </a:buClr>
            </a:pPr>
            <a:r>
              <a:rPr lang="en-US" altLang="en-US" sz="3100" dirty="0"/>
              <a:t>Max subarray problem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00390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697" y="2987"/>
            <a:ext cx="10515600" cy="1155858"/>
          </a:xfrm>
        </p:spPr>
        <p:txBody>
          <a:bodyPr/>
          <a:lstStyle/>
          <a:p>
            <a:r>
              <a:rPr lang="en-US" sz="3600" dirty="0"/>
              <a:t>Divide-and-Conquer &amp; Dynamic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3745" y="1409361"/>
            <a:ext cx="10336268" cy="4532617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Divide-and-conquer algorithms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divide the problem into subproblems, solve the subproblems recursively, and then combine their solutions to solve the original problem.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do more work than necessary, repeatedly solving the common subproblems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Dynamic programming 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applies when the subproblems overlap—that is, when subproblems share other subproblems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solves each subproblem just once and then saves its answer in a table, thereby avoiding the work of recomputing the answer every time it solves each subproblem.</a:t>
            </a:r>
          </a:p>
          <a:p>
            <a:pPr lvl="1">
              <a:buClr>
                <a:srgbClr val="002060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10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697" y="-6066"/>
            <a:ext cx="10515600" cy="1201124"/>
          </a:xfrm>
        </p:spPr>
        <p:txBody>
          <a:bodyPr/>
          <a:lstStyle/>
          <a:p>
            <a:r>
              <a:rPr lang="en-US" sz="3600" dirty="0"/>
              <a:t>Optimization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656" y="1548501"/>
            <a:ext cx="9027617" cy="4376010"/>
          </a:xfrm>
        </p:spPr>
        <p:txBody>
          <a:bodyPr/>
          <a:lstStyle/>
          <a:p>
            <a:pPr>
              <a:buClr>
                <a:srgbClr val="002060"/>
              </a:buClr>
            </a:pPr>
            <a:r>
              <a:rPr lang="en-US" sz="2400" dirty="0"/>
              <a:t>Typically apply dynamic programming to optimization problems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Can have many possible solutions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Each solution has a value, and wish to find a solution with the optimal (minimum or maximum) value – optimal solution</a:t>
            </a:r>
          </a:p>
          <a:p>
            <a:pPr marL="457207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2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697" y="12041"/>
            <a:ext cx="10515600" cy="1146804"/>
          </a:xfrm>
        </p:spPr>
        <p:txBody>
          <a:bodyPr/>
          <a:lstStyle/>
          <a:p>
            <a:r>
              <a:rPr lang="en-US" sz="3600" dirty="0"/>
              <a:t>Developing a Dynamic-Programming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1697" y="1744608"/>
            <a:ext cx="7882516" cy="4195481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Follow a sequence of four steps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857" y="2436680"/>
            <a:ext cx="8574365" cy="1727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025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697" y="3757"/>
            <a:ext cx="10515600" cy="1182247"/>
          </a:xfrm>
        </p:spPr>
        <p:txBody>
          <a:bodyPr/>
          <a:lstStyle/>
          <a:p>
            <a:r>
              <a:rPr lang="en-US" sz="3600" dirty="0"/>
              <a:t>Example - Rod Cutting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1697" y="1543563"/>
            <a:ext cx="9609499" cy="4572958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Problem in deciding where to cut steel rods</a:t>
            </a:r>
          </a:p>
          <a:p>
            <a:pPr lvl="1">
              <a:buClr>
                <a:srgbClr val="002060"/>
              </a:buClr>
            </a:pPr>
            <a:r>
              <a:rPr lang="en-US" dirty="0" err="1"/>
              <a:t>Serling</a:t>
            </a:r>
            <a:r>
              <a:rPr lang="en-US" dirty="0"/>
              <a:t> Enterprises buys long steel rods and cuts them into shorter rods, which it then sells. 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The management of </a:t>
            </a:r>
            <a:r>
              <a:rPr lang="en-US" dirty="0" err="1"/>
              <a:t>Serling</a:t>
            </a:r>
            <a:r>
              <a:rPr lang="en-US" dirty="0"/>
              <a:t> Enterprises wants to know the best way to cut up the rods for maximizing profits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4629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2643" y="0"/>
            <a:ext cx="10515600" cy="1140737"/>
          </a:xfrm>
        </p:spPr>
        <p:txBody>
          <a:bodyPr/>
          <a:lstStyle/>
          <a:p>
            <a:r>
              <a:rPr lang="en-US" sz="3600" dirty="0"/>
              <a:t>Rod Cutting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891" y="1472391"/>
            <a:ext cx="10377338" cy="4572958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Problem in deciding where to cut steel rods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Given a rod of length n inches and a table of prices p</a:t>
            </a:r>
            <a:r>
              <a:rPr lang="en-US" baseline="-25000" dirty="0"/>
              <a:t>i </a:t>
            </a: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for </a:t>
            </a:r>
            <a:r>
              <a:rPr lang="en-US" dirty="0" err="1"/>
              <a:t>i</a:t>
            </a:r>
            <a:r>
              <a:rPr lang="en-US" dirty="0"/>
              <a:t> = 1, 2, …, n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Determine the maximum revenue </a:t>
            </a:r>
            <a:r>
              <a:rPr lang="en-US" dirty="0" err="1"/>
              <a:t>r</a:t>
            </a:r>
            <a:r>
              <a:rPr lang="en-US" baseline="-25000" dirty="0" err="1"/>
              <a:t>n</a:t>
            </a:r>
            <a:r>
              <a:rPr lang="en-US" dirty="0"/>
              <a:t> obtainable by cutting up the rod and selling the pieces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D65FB6-7307-402E-B309-FE9D832F2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335" y="3389345"/>
            <a:ext cx="9707890" cy="147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300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6531" y="0"/>
            <a:ext cx="10515600" cy="1104523"/>
          </a:xfrm>
        </p:spPr>
        <p:txBody>
          <a:bodyPr/>
          <a:lstStyle/>
          <a:p>
            <a:r>
              <a:rPr lang="en-US" sz="3600" dirty="0"/>
              <a:t>Rod Cutting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68" y="1160860"/>
            <a:ext cx="11228485" cy="4849036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When n = 4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have all the ways to cut up a rod of 4 inches in length, including with no cuts at all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555854-22AA-4746-A53C-6A60CA2F8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073" y="304132"/>
            <a:ext cx="5613951" cy="72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145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504D0-1E3E-80E7-68E8-D3ADCD5C8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22C34-49E0-E773-F43F-12DB7888C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531" y="0"/>
            <a:ext cx="10515600" cy="1104523"/>
          </a:xfrm>
        </p:spPr>
        <p:txBody>
          <a:bodyPr/>
          <a:lstStyle/>
          <a:p>
            <a:r>
              <a:rPr lang="en-US" sz="3600" dirty="0"/>
              <a:t>Rod Cutting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C799C-42FF-CC1E-A7E6-3073FFA62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8" y="1160860"/>
            <a:ext cx="11228485" cy="4849036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When n = 4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have all the ways to cut up a rod of 4 inches in length, including with no cuts at all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606409-5BBB-AF04-40A4-FACABC4A8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186" y="2228002"/>
            <a:ext cx="8652435" cy="3262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5E3037-5140-AEB2-6FB6-97482E8FA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073" y="304132"/>
            <a:ext cx="5613951" cy="72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827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6531" y="0"/>
            <a:ext cx="10515600" cy="1104523"/>
          </a:xfrm>
        </p:spPr>
        <p:txBody>
          <a:bodyPr/>
          <a:lstStyle/>
          <a:p>
            <a:r>
              <a:rPr lang="en-US" sz="3600" dirty="0"/>
              <a:t>Rod Cutting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585" y="1380601"/>
            <a:ext cx="9715728" cy="4572958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When n = 4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cut a 4-inch rod into two 2-inch pieces produces revenue p</a:t>
            </a:r>
            <a:r>
              <a:rPr lang="en-US" baseline="-25000" dirty="0"/>
              <a:t>2</a:t>
            </a:r>
            <a:r>
              <a:rPr lang="en-US" dirty="0"/>
              <a:t> + p</a:t>
            </a:r>
            <a:r>
              <a:rPr lang="en-US" baseline="-25000" dirty="0"/>
              <a:t>2 </a:t>
            </a:r>
            <a:r>
              <a:rPr lang="en-US" dirty="0"/>
              <a:t>= 5 + 5 = 10, which is optimal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cut up a rod of length n in 2</a:t>
            </a:r>
            <a:r>
              <a:rPr lang="en-US" baseline="30000" dirty="0"/>
              <a:t>n-1 </a:t>
            </a:r>
            <a:r>
              <a:rPr lang="en-US" dirty="0"/>
              <a:t>different ways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700" y="3272988"/>
            <a:ext cx="9189938" cy="1395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408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2643" y="12040"/>
            <a:ext cx="10515600" cy="1119643"/>
          </a:xfrm>
        </p:spPr>
        <p:txBody>
          <a:bodyPr/>
          <a:lstStyle/>
          <a:p>
            <a:r>
              <a:rPr lang="en-US" sz="3600" dirty="0"/>
              <a:t>Cutting Up a Rod of 4 Inches in Length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4992" y="1285764"/>
            <a:ext cx="7224713" cy="2857622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1464992" y="4143386"/>
            <a:ext cx="8047160" cy="766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6" indent="-342906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rgbClr val="990033"/>
                </a:solidFill>
                <a:latin typeface="Vollkorn" charset="0"/>
                <a:ea typeface="Vollkorn" charset="0"/>
                <a:cs typeface="Vollkorn" charset="0"/>
              </a:defRPr>
            </a:lvl1pPr>
            <a:lvl2pPr marL="742962" indent="-285755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rgbClr val="990033"/>
                </a:solidFill>
                <a:latin typeface="Vollkorn" charset="0"/>
                <a:ea typeface="Vollkorn" charset="0"/>
                <a:cs typeface="Vollkorn" charset="0"/>
              </a:defRPr>
            </a:lvl2pPr>
            <a:lvl3pPr marL="1143020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rgbClr val="990033"/>
                </a:solidFill>
                <a:latin typeface="Vollkorn" charset="0"/>
                <a:ea typeface="Vollkorn" charset="0"/>
                <a:cs typeface="Vollkorn" charset="0"/>
              </a:defRPr>
            </a:lvl3pPr>
            <a:lvl4pPr marL="160022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rgbClr val="990033"/>
                </a:solidFill>
                <a:latin typeface="Vollkorn" charset="0"/>
                <a:ea typeface="Vollkorn" charset="0"/>
                <a:cs typeface="Vollkorn" charset="0"/>
              </a:defRPr>
            </a:lvl4pPr>
            <a:lvl5pPr marL="205743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rgbClr val="990033"/>
                </a:solidFill>
                <a:latin typeface="Vollkorn" charset="0"/>
                <a:ea typeface="Vollkorn" charset="0"/>
                <a:cs typeface="Vollkorn" charset="0"/>
              </a:defRPr>
            </a:lvl5pPr>
            <a:lvl6pPr marL="2514642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49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5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6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Clr>
                <a:srgbClr val="002060"/>
              </a:buClr>
            </a:pPr>
            <a:r>
              <a:rPr lang="en-US" sz="2200" dirty="0"/>
              <a:t>If an optimal solution cuts the rod into k pieces, </a:t>
            </a:r>
            <a:br>
              <a:rPr lang="en-US" sz="2200" dirty="0"/>
            </a:br>
            <a:r>
              <a:rPr lang="en-US" sz="2200" dirty="0"/>
              <a:t>for some 1 &lt;= k &lt;= n, then an optimal decomposition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817" y="4976819"/>
            <a:ext cx="7518190" cy="15307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979DBB-2BD2-4169-B9D1-9132EAC15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4783" y="739923"/>
            <a:ext cx="4777217" cy="6253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4DE1E18-463F-78ED-AB6C-8B20A8D03D80}"/>
                  </a:ext>
                </a:extLst>
              </p14:cNvPr>
              <p14:cNvContentPartPr/>
              <p14:nvPr/>
            </p14:nvContentPartPr>
            <p14:xfrm>
              <a:off x="3202980" y="5054967"/>
              <a:ext cx="1080" cy="39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4DE1E18-463F-78ED-AB6C-8B20A8D03D8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93980" y="5045967"/>
                <a:ext cx="18720" cy="2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5106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2644" y="1"/>
            <a:ext cx="10515600" cy="1086416"/>
          </a:xfrm>
        </p:spPr>
        <p:txBody>
          <a:bodyPr/>
          <a:lstStyle/>
          <a:p>
            <a:r>
              <a:rPr lang="en-US" sz="3600" dirty="0"/>
              <a:t>Optimal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639" y="1334886"/>
            <a:ext cx="8047160" cy="1352199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Determine the optimal revenue figures </a:t>
            </a:r>
            <a:r>
              <a:rPr lang="en-US" sz="2400" i="1" dirty="0" err="1"/>
              <a:t>r</a:t>
            </a:r>
            <a:r>
              <a:rPr lang="en-US" sz="2600" i="1" baseline="-25000" dirty="0" err="1"/>
              <a:t>i</a:t>
            </a:r>
            <a:r>
              <a:rPr lang="en-US" sz="2400" dirty="0"/>
              <a:t> for </a:t>
            </a:r>
            <a:r>
              <a:rPr lang="en-US" sz="2400" dirty="0" err="1"/>
              <a:t>i</a:t>
            </a:r>
            <a:r>
              <a:rPr lang="en-US" sz="2400" dirty="0"/>
              <a:t> = 1, 2, …, 10, by inspection, with the corresponding optimal decompositions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3ACAB8-E8C3-46AA-BAF5-84ECDAF3F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363" y="272673"/>
            <a:ext cx="5303665" cy="7079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49572B-2954-448B-8E84-AF529508C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33" y="2145529"/>
            <a:ext cx="8396349" cy="1181109"/>
          </a:xfrm>
          <a:prstGeom prst="rect">
            <a:avLst/>
          </a:prstGeom>
        </p:spPr>
      </p:pic>
      <p:grpSp>
        <p:nvGrpSpPr>
          <p:cNvPr id="310" name="Group 309">
            <a:extLst>
              <a:ext uri="{FF2B5EF4-FFF2-40B4-BE49-F238E27FC236}">
                <a16:creationId xmlns:a16="http://schemas.microsoft.com/office/drawing/2014/main" id="{D4DCA82A-F092-7794-3F76-78284D6C73DE}"/>
              </a:ext>
            </a:extLst>
          </p:cNvPr>
          <p:cNvGrpSpPr/>
          <p:nvPr/>
        </p:nvGrpSpPr>
        <p:grpSpPr>
          <a:xfrm>
            <a:off x="1134230" y="5654046"/>
            <a:ext cx="1253160" cy="287640"/>
            <a:chOff x="1134230" y="5654046"/>
            <a:chExt cx="1253160" cy="28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69B0755-2608-6C1B-7209-BEE4E831B42D}"/>
                    </a:ext>
                  </a:extLst>
                </p14:cNvPr>
                <p14:cNvContentPartPr/>
                <p14:nvPr/>
              </p14:nvContentPartPr>
              <p14:xfrm>
                <a:off x="1134230" y="5654046"/>
                <a:ext cx="70920" cy="27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69B0755-2608-6C1B-7209-BEE4E831B42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29910" y="5649726"/>
                  <a:ext cx="795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0707E8FD-9DF8-79FF-E794-18BA84D02EB4}"/>
                    </a:ext>
                  </a:extLst>
                </p14:cNvPr>
                <p14:cNvContentPartPr/>
                <p14:nvPr/>
              </p14:nvContentPartPr>
              <p14:xfrm>
                <a:off x="2379830" y="5928366"/>
                <a:ext cx="7560" cy="1332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0707E8FD-9DF8-79FF-E794-18BA84D02EB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375510" y="5924046"/>
                  <a:ext cx="1620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3E9CDFCC-35D7-02A2-1992-F00169FC8EAB}"/>
              </a:ext>
            </a:extLst>
          </p:cNvPr>
          <p:cNvGrpSpPr/>
          <p:nvPr/>
        </p:nvGrpSpPr>
        <p:grpSpPr>
          <a:xfrm>
            <a:off x="7828790" y="569766"/>
            <a:ext cx="1333080" cy="76680"/>
            <a:chOff x="7828790" y="569766"/>
            <a:chExt cx="1333080" cy="7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36D1A12-CDEF-A32B-15D9-8AD9C16793C0}"/>
                    </a:ext>
                  </a:extLst>
                </p14:cNvPr>
                <p14:cNvContentPartPr/>
                <p14:nvPr/>
              </p14:nvContentPartPr>
              <p14:xfrm>
                <a:off x="9156830" y="569766"/>
                <a:ext cx="5040" cy="57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36D1A12-CDEF-A32B-15D9-8AD9C16793C0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152510" y="565446"/>
                  <a:ext cx="1368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0996669-9656-8ADE-8C5F-5137DBBF1920}"/>
                    </a:ext>
                  </a:extLst>
                </p14:cNvPr>
                <p14:cNvContentPartPr/>
                <p14:nvPr/>
              </p14:nvContentPartPr>
              <p14:xfrm>
                <a:off x="8341070" y="626646"/>
                <a:ext cx="5040" cy="10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0996669-9656-8ADE-8C5F-5137DBBF192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336750" y="622326"/>
                  <a:ext cx="136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A8C2EB5-2ED3-1EF7-DE59-D83C522CC061}"/>
                    </a:ext>
                  </a:extLst>
                </p14:cNvPr>
                <p14:cNvContentPartPr/>
                <p14:nvPr/>
              </p14:nvContentPartPr>
              <p14:xfrm>
                <a:off x="7828790" y="634206"/>
                <a:ext cx="14400" cy="12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A8C2EB5-2ED3-1EF7-DE59-D83C522CC061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824470" y="629886"/>
                  <a:ext cx="230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615FAE90-CB1B-4459-0502-332DCE44E714}"/>
                    </a:ext>
                  </a:extLst>
                </p14:cNvPr>
                <p14:cNvContentPartPr/>
                <p14:nvPr/>
              </p14:nvContentPartPr>
              <p14:xfrm>
                <a:off x="9133790" y="641766"/>
                <a:ext cx="360" cy="3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615FAE90-CB1B-4459-0502-332DCE44E71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129470" y="63744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B0CD60BF-124F-2377-6495-6A9D0E8924AE}"/>
              </a:ext>
            </a:extLst>
          </p:cNvPr>
          <p:cNvGrpSpPr/>
          <p:nvPr/>
        </p:nvGrpSpPr>
        <p:grpSpPr>
          <a:xfrm>
            <a:off x="2193350" y="4118286"/>
            <a:ext cx="1861560" cy="35640"/>
            <a:chOff x="2193350" y="4118286"/>
            <a:chExt cx="1861560" cy="3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D26B627-FA3D-3C2C-7190-B0EEC96E89ED}"/>
                    </a:ext>
                  </a:extLst>
                </p14:cNvPr>
                <p14:cNvContentPartPr/>
                <p14:nvPr/>
              </p14:nvContentPartPr>
              <p14:xfrm>
                <a:off x="2193350" y="4135926"/>
                <a:ext cx="28440" cy="180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D26B627-FA3D-3C2C-7190-B0EEC96E89ED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189030" y="4131606"/>
                  <a:ext cx="370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9B63111-F7E1-3F1D-11E2-FC3F4C7A16D2}"/>
                    </a:ext>
                  </a:extLst>
                </p14:cNvPr>
                <p14:cNvContentPartPr/>
                <p14:nvPr/>
              </p14:nvContentPartPr>
              <p14:xfrm>
                <a:off x="4049510" y="4118286"/>
                <a:ext cx="5400" cy="16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9B63111-F7E1-3F1D-11E2-FC3F4C7A16D2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045190" y="4113966"/>
                  <a:ext cx="14040" cy="25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93224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2644" y="1"/>
            <a:ext cx="10515600" cy="1086416"/>
          </a:xfrm>
        </p:spPr>
        <p:txBody>
          <a:bodyPr/>
          <a:lstStyle/>
          <a:p>
            <a:r>
              <a:rPr lang="en-US" sz="3600" dirty="0"/>
              <a:t>Optimal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366" y="1404582"/>
            <a:ext cx="8047160" cy="1352199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Determine the optimal revenue figures </a:t>
            </a:r>
            <a:r>
              <a:rPr lang="en-US" sz="2400" i="1" dirty="0" err="1"/>
              <a:t>r</a:t>
            </a:r>
            <a:r>
              <a:rPr lang="en-US" sz="2600" i="1" baseline="-25000" dirty="0" err="1"/>
              <a:t>i</a:t>
            </a:r>
            <a:r>
              <a:rPr lang="en-US" sz="2400" dirty="0"/>
              <a:t> for </a:t>
            </a:r>
            <a:r>
              <a:rPr lang="en-US" sz="2400" dirty="0" err="1"/>
              <a:t>i</a:t>
            </a:r>
            <a:r>
              <a:rPr lang="en-US" sz="2400" dirty="0"/>
              <a:t> = 1, 2, …, 10, by inspection, with the corresponding optimal decompositions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47" y="2281202"/>
            <a:ext cx="7441984" cy="38480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3ACAB8-E8C3-46AA-BAF5-84ECDAF3F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274" y="2600191"/>
            <a:ext cx="5303665" cy="70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79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8858" y="1"/>
            <a:ext cx="10515600" cy="1122630"/>
          </a:xfrm>
        </p:spPr>
        <p:txBody>
          <a:bodyPr/>
          <a:lstStyle/>
          <a:p>
            <a:r>
              <a:rPr lang="en-US" sz="3600" dirty="0"/>
              <a:t>1. Recursive Top-Down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6173" y="1494126"/>
            <a:ext cx="7048094" cy="4449475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Simpler version of equation</a:t>
            </a:r>
          </a:p>
          <a:p>
            <a:pPr>
              <a:buClr>
                <a:srgbClr val="002060"/>
              </a:buClr>
            </a:pPr>
            <a:endParaRPr lang="en-US" sz="2400" dirty="0"/>
          </a:p>
          <a:p>
            <a:pPr>
              <a:buClr>
                <a:srgbClr val="002060"/>
              </a:buClr>
            </a:pPr>
            <a:endParaRPr lang="en-US" sz="2400" dirty="0"/>
          </a:p>
          <a:p>
            <a:pPr>
              <a:buClr>
                <a:srgbClr val="002060"/>
              </a:buClr>
            </a:pPr>
            <a:r>
              <a:rPr lang="en-US" sz="2400" dirty="0"/>
              <a:t>Recursive top-down implementation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396" y="2077637"/>
            <a:ext cx="2746935" cy="6327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396" y="3432840"/>
            <a:ext cx="4818369" cy="2124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84DA5D-6FFF-499D-897F-7C1AD522F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1496117"/>
            <a:ext cx="6062133" cy="809188"/>
          </a:xfrm>
          <a:prstGeom prst="rect">
            <a:avLst/>
          </a:prstGeom>
        </p:spPr>
      </p:pic>
      <p:grpSp>
        <p:nvGrpSpPr>
          <p:cNvPr id="92" name="Group 91">
            <a:extLst>
              <a:ext uri="{FF2B5EF4-FFF2-40B4-BE49-F238E27FC236}">
                <a16:creationId xmlns:a16="http://schemas.microsoft.com/office/drawing/2014/main" id="{4BC50157-4014-E1C8-0628-318AD9E051C1}"/>
              </a:ext>
            </a:extLst>
          </p:cNvPr>
          <p:cNvGrpSpPr/>
          <p:nvPr/>
        </p:nvGrpSpPr>
        <p:grpSpPr>
          <a:xfrm>
            <a:off x="3116105" y="4128545"/>
            <a:ext cx="3040920" cy="1329840"/>
            <a:chOff x="3116105" y="4128545"/>
            <a:chExt cx="3040920" cy="132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F23E0E9-B27D-7F4A-777E-E42DF7807D8B}"/>
                    </a:ext>
                  </a:extLst>
                </p14:cNvPr>
                <p14:cNvContentPartPr/>
                <p14:nvPr/>
              </p14:nvContentPartPr>
              <p14:xfrm>
                <a:off x="5021585" y="5421305"/>
                <a:ext cx="29520" cy="37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F23E0E9-B27D-7F4A-777E-E42DF7807D8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017265" y="5416985"/>
                  <a:ext cx="381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5A77A94-6FF0-80C4-DF48-DC4112C2F1A8}"/>
                    </a:ext>
                  </a:extLst>
                </p14:cNvPr>
                <p14:cNvContentPartPr/>
                <p14:nvPr/>
              </p14:nvContentPartPr>
              <p14:xfrm>
                <a:off x="3116105" y="4208825"/>
                <a:ext cx="13320" cy="19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5A77A94-6FF0-80C4-DF48-DC4112C2F1A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111785" y="4204505"/>
                  <a:ext cx="219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285C55B-8F06-C76E-C3B0-864C2967CF3C}"/>
                    </a:ext>
                  </a:extLst>
                </p14:cNvPr>
                <p14:cNvContentPartPr/>
                <p14:nvPr/>
              </p14:nvContentPartPr>
              <p14:xfrm>
                <a:off x="5618105" y="4679705"/>
                <a:ext cx="21240" cy="62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285C55B-8F06-C76E-C3B0-864C2967CF3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613785" y="4675385"/>
                  <a:ext cx="298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B828430-A055-CFB7-B31D-F9ED01415063}"/>
                    </a:ext>
                  </a:extLst>
                </p14:cNvPr>
                <p14:cNvContentPartPr/>
                <p14:nvPr/>
              </p14:nvContentPartPr>
              <p14:xfrm>
                <a:off x="3156425" y="4128545"/>
                <a:ext cx="24480" cy="11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B828430-A055-CFB7-B31D-F9ED0141506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152105" y="4124225"/>
                  <a:ext cx="331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4A10E3F-C641-D77D-AC8C-16CB16B0929E}"/>
                    </a:ext>
                  </a:extLst>
                </p14:cNvPr>
                <p14:cNvContentPartPr/>
                <p14:nvPr/>
              </p14:nvContentPartPr>
              <p14:xfrm>
                <a:off x="6156665" y="5166425"/>
                <a:ext cx="360" cy="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4A10E3F-C641-D77D-AC8C-16CB16B0929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152345" y="5162105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A6760D6-2C51-2270-F91C-C9B8B6FC2D28}"/>
                    </a:ext>
                  </a:extLst>
                </p14:cNvPr>
                <p14:cNvContentPartPr/>
                <p14:nvPr/>
              </p14:nvContentPartPr>
              <p14:xfrm>
                <a:off x="6028505" y="4225025"/>
                <a:ext cx="30960" cy="298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A6760D6-2C51-2270-F91C-C9B8B6FC2D2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024185" y="4220705"/>
                  <a:ext cx="396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03CB6BB-195E-D9C6-50A7-669BC3DB5D8D}"/>
                    </a:ext>
                  </a:extLst>
                </p14:cNvPr>
                <p14:cNvContentPartPr/>
                <p14:nvPr/>
              </p14:nvContentPartPr>
              <p14:xfrm>
                <a:off x="5410025" y="5449025"/>
                <a:ext cx="8640" cy="68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03CB6BB-195E-D9C6-50A7-669BC3DB5D8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405705" y="5444705"/>
                  <a:ext cx="17280" cy="15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75547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6430" y="-6067"/>
            <a:ext cx="10515600" cy="1128697"/>
          </a:xfrm>
        </p:spPr>
        <p:txBody>
          <a:bodyPr/>
          <a:lstStyle/>
          <a:p>
            <a:r>
              <a:rPr lang="en-US" sz="3600" dirty="0"/>
              <a:t>Recursion Tree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0694" y="1199791"/>
            <a:ext cx="7980466" cy="50832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EE6D20-90BE-4B14-90B6-B426BFEFC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002" y="2145906"/>
            <a:ext cx="4438304" cy="1957047"/>
          </a:xfrm>
          <a:prstGeom prst="rect">
            <a:avLst/>
          </a:prstGeom>
        </p:spPr>
      </p:pic>
      <p:grpSp>
        <p:nvGrpSpPr>
          <p:cNvPr id="157" name="Group 156">
            <a:extLst>
              <a:ext uri="{FF2B5EF4-FFF2-40B4-BE49-F238E27FC236}">
                <a16:creationId xmlns:a16="http://schemas.microsoft.com/office/drawing/2014/main" id="{1E60E178-C2C4-E54D-9430-661642EA0DF4}"/>
              </a:ext>
            </a:extLst>
          </p:cNvPr>
          <p:cNvGrpSpPr/>
          <p:nvPr/>
        </p:nvGrpSpPr>
        <p:grpSpPr>
          <a:xfrm>
            <a:off x="2653260" y="2139687"/>
            <a:ext cx="2774160" cy="643680"/>
            <a:chOff x="2653260" y="2139687"/>
            <a:chExt cx="2774160" cy="64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65C6494-2645-CC8B-18E8-A33B466AA553}"/>
                    </a:ext>
                  </a:extLst>
                </p14:cNvPr>
                <p14:cNvContentPartPr/>
                <p14:nvPr/>
              </p14:nvContentPartPr>
              <p14:xfrm>
                <a:off x="2653260" y="2769687"/>
                <a:ext cx="10800" cy="136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65C6494-2645-CC8B-18E8-A33B466AA55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648940" y="2765367"/>
                  <a:ext cx="194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553A615-6A80-CAC5-4BE0-E0C4D04AA13A}"/>
                    </a:ext>
                  </a:extLst>
                </p14:cNvPr>
                <p14:cNvContentPartPr/>
                <p14:nvPr/>
              </p14:nvContentPartPr>
              <p14:xfrm>
                <a:off x="4068420" y="2139687"/>
                <a:ext cx="21960" cy="54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553A615-6A80-CAC5-4BE0-E0C4D04AA13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064100" y="2135367"/>
                  <a:ext cx="306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3445366-C5BB-0B96-4AAD-293A9A6F7B07}"/>
                    </a:ext>
                  </a:extLst>
                </p14:cNvPr>
                <p14:cNvContentPartPr/>
                <p14:nvPr/>
              </p14:nvContentPartPr>
              <p14:xfrm>
                <a:off x="5354340" y="2172087"/>
                <a:ext cx="73080" cy="295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3445366-C5BB-0B96-4AAD-293A9A6F7B0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350020" y="2167767"/>
                  <a:ext cx="81720" cy="38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30151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483" y="0"/>
            <a:ext cx="10515600" cy="1041149"/>
          </a:xfrm>
        </p:spPr>
        <p:txBody>
          <a:bodyPr/>
          <a:lstStyle/>
          <a:p>
            <a:r>
              <a:rPr lang="en-US" sz="3600" dirty="0"/>
              <a:t>2. Using Dynamic Programming for Optimal Rod Cutting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286" y="1481758"/>
            <a:ext cx="10339993" cy="4638256"/>
          </a:xfrm>
        </p:spPr>
        <p:txBody>
          <a:bodyPr/>
          <a:lstStyle/>
          <a:p>
            <a:pPr>
              <a:buClr>
                <a:srgbClr val="002060"/>
              </a:buClr>
            </a:pPr>
            <a:r>
              <a:rPr lang="en-US" sz="2400" dirty="0"/>
              <a:t>Convert CUT-ROD into an efficient algorithm, using dynamic programming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Recursive solution is inefficient because it solves the same </a:t>
            </a:r>
            <a:r>
              <a:rPr lang="en-US" sz="2400" dirty="0" err="1"/>
              <a:t>subproblems</a:t>
            </a:r>
            <a:r>
              <a:rPr lang="en-US" sz="2400" dirty="0"/>
              <a:t> repeatedly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Arrange for each </a:t>
            </a:r>
            <a:r>
              <a:rPr lang="en-US" sz="2400" dirty="0" err="1"/>
              <a:t>subproblem</a:t>
            </a:r>
            <a:r>
              <a:rPr lang="en-US" sz="2400" dirty="0"/>
              <a:t> to be solved only once, saving its solution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Uses additional memory to save computation time– time-memory trade off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022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591" y="0"/>
            <a:ext cx="10515600" cy="1131683"/>
          </a:xfrm>
        </p:spPr>
        <p:txBody>
          <a:bodyPr/>
          <a:lstStyle/>
          <a:p>
            <a:r>
              <a:rPr lang="en-US" sz="3600" dirty="0"/>
              <a:t>2. 1 Using Dynamic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286" y="1914967"/>
            <a:ext cx="9996184" cy="3983130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Top-down with </a:t>
            </a:r>
            <a:r>
              <a:rPr lang="en-US" sz="2400" dirty="0" err="1"/>
              <a:t>memoization</a:t>
            </a:r>
            <a:endParaRPr lang="en-US" sz="2400" dirty="0"/>
          </a:p>
          <a:p>
            <a:pPr lvl="1">
              <a:buClr>
                <a:srgbClr val="002060"/>
              </a:buClr>
            </a:pPr>
            <a:r>
              <a:rPr lang="en-US" sz="2200" dirty="0"/>
              <a:t>Write the procedure recursively in a natural manner, but modified to save the result of each </a:t>
            </a:r>
            <a:r>
              <a:rPr lang="en-US" sz="2200" dirty="0" err="1"/>
              <a:t>subproblem</a:t>
            </a:r>
            <a:r>
              <a:rPr lang="en-US" sz="2200" dirty="0"/>
              <a:t> (usually in an array or hash table). </a:t>
            </a:r>
          </a:p>
          <a:p>
            <a:pPr lvl="1">
              <a:buClr>
                <a:srgbClr val="002060"/>
              </a:buClr>
            </a:pPr>
            <a:r>
              <a:rPr lang="en-US" sz="2200" dirty="0"/>
              <a:t>The procedure first checks to see whether it has previously solved this </a:t>
            </a:r>
            <a:r>
              <a:rPr lang="en-US" sz="2200" dirty="0" err="1"/>
              <a:t>subproblem</a:t>
            </a:r>
            <a:r>
              <a:rPr lang="en-US" sz="2200" dirty="0"/>
              <a:t>. </a:t>
            </a:r>
          </a:p>
          <a:p>
            <a:pPr lvl="1">
              <a:buClr>
                <a:srgbClr val="002060"/>
              </a:buClr>
            </a:pPr>
            <a:r>
              <a:rPr lang="en-US" sz="2200" dirty="0"/>
              <a:t>If so, it returns the saved value, saving further computation at this level</a:t>
            </a:r>
          </a:p>
          <a:p>
            <a:pPr lvl="1">
              <a:buClr>
                <a:srgbClr val="002060"/>
              </a:buClr>
            </a:pPr>
            <a:r>
              <a:rPr lang="en-US" sz="2200" dirty="0"/>
              <a:t>If not, the procedure computes the value in the usual manner. </a:t>
            </a:r>
          </a:p>
          <a:p>
            <a:pPr lvl="1">
              <a:buClr>
                <a:srgbClr val="002060"/>
              </a:buClr>
            </a:pPr>
            <a:r>
              <a:rPr lang="en-US" sz="2200" dirty="0"/>
              <a:t>The recursive procedure has been </a:t>
            </a:r>
            <a:r>
              <a:rPr lang="en-US" sz="2200" dirty="0" err="1"/>
              <a:t>memoized</a:t>
            </a:r>
            <a:r>
              <a:rPr lang="en-US" sz="2200" dirty="0"/>
              <a:t>; it “remembers” what results it has computed previously.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FC34BC-E39D-41DF-9611-21E3213A9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396" y="-4967"/>
            <a:ext cx="3446718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385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697" y="-8881"/>
            <a:ext cx="10515600" cy="1157829"/>
          </a:xfrm>
        </p:spPr>
        <p:txBody>
          <a:bodyPr/>
          <a:lstStyle/>
          <a:p>
            <a:r>
              <a:rPr lang="en-US" sz="3600" dirty="0"/>
              <a:t>2.1 Using Dynamic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763" y="1634294"/>
            <a:ext cx="7759294" cy="4594909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200" dirty="0"/>
              <a:t>Top-down CUT-ROD procedure, with </a:t>
            </a:r>
            <a:r>
              <a:rPr lang="en-US" sz="2200" dirty="0" err="1"/>
              <a:t>memoization</a:t>
            </a:r>
            <a:r>
              <a:rPr lang="en-US" sz="2200" dirty="0"/>
              <a:t> added:</a:t>
            </a:r>
          </a:p>
          <a:p>
            <a:pPr>
              <a:buClr>
                <a:srgbClr val="002060"/>
              </a:buClr>
            </a:pPr>
            <a:r>
              <a:rPr lang="en-US" sz="2200" dirty="0"/>
              <a:t>Runs in </a:t>
            </a:r>
            <a:r>
              <a:rPr lang="en-US" sz="2400" dirty="0">
                <a:latin typeface="Vollkorn" panose="02000503070000020003"/>
              </a:rPr>
              <a:t>polynomial time O(</a:t>
            </a:r>
            <a:r>
              <a:rPr lang="en-US" sz="2400" dirty="0">
                <a:effectLst/>
                <a:latin typeface="Vollkorn" panose="02000503070000020003"/>
                <a:ea typeface="Malgun Gothic" panose="020B0503020000020004" pitchFamily="34" charset="-127"/>
                <a:cs typeface="Times New Roman" panose="02020603050405020304" pitchFamily="18" charset="0"/>
              </a:rPr>
              <a:t>n</a:t>
            </a:r>
            <a:r>
              <a:rPr lang="en-US" sz="2400" baseline="30000" dirty="0">
                <a:effectLst/>
                <a:latin typeface="Vollkorn" panose="02000503070000020003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Vollkorn" panose="02000503070000020003"/>
              </a:rPr>
              <a:t>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63" y="2912534"/>
            <a:ext cx="4606370" cy="16207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744" y="3039644"/>
            <a:ext cx="6830342" cy="27153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345571-550A-4A89-9008-E49E1ACBD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567" y="-33866"/>
            <a:ext cx="5160433" cy="62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878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6430" y="0"/>
            <a:ext cx="10515600" cy="1041149"/>
          </a:xfrm>
        </p:spPr>
        <p:txBody>
          <a:bodyPr>
            <a:normAutofit/>
          </a:bodyPr>
          <a:lstStyle/>
          <a:p>
            <a:r>
              <a:rPr lang="en-US" sz="3600" dirty="0"/>
              <a:t>2. 2 Using Dynamic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8958"/>
            <a:ext cx="10515600" cy="4351338"/>
          </a:xfrm>
        </p:spPr>
        <p:txBody>
          <a:bodyPr/>
          <a:lstStyle/>
          <a:p>
            <a:r>
              <a:rPr lang="en-US" sz="2400" dirty="0"/>
              <a:t>Bottom-up CUT-ROD procedure, with </a:t>
            </a:r>
            <a:r>
              <a:rPr lang="en-US" sz="2400" dirty="0" err="1"/>
              <a:t>memoization</a:t>
            </a:r>
            <a:r>
              <a:rPr lang="en-US" sz="2400" dirty="0"/>
              <a:t> added</a:t>
            </a:r>
          </a:p>
          <a:p>
            <a:pPr>
              <a:buClr>
                <a:srgbClr val="002060"/>
              </a:buClr>
            </a:pPr>
            <a:r>
              <a:rPr lang="en-US" sz="2200" dirty="0"/>
              <a:t>Runs in </a:t>
            </a:r>
            <a:r>
              <a:rPr lang="en-US" sz="2400" dirty="0">
                <a:latin typeface="Vollkorn" panose="02000503070000020003"/>
              </a:rPr>
              <a:t>polynomial time O(</a:t>
            </a:r>
            <a:r>
              <a:rPr lang="en-US" sz="2400" dirty="0">
                <a:effectLst/>
                <a:latin typeface="Vollkorn" panose="02000503070000020003"/>
                <a:ea typeface="Malgun Gothic" panose="020B0503020000020004" pitchFamily="34" charset="-127"/>
                <a:cs typeface="Times New Roman" panose="02020603050405020304" pitchFamily="18" charset="0"/>
              </a:rPr>
              <a:t>n</a:t>
            </a:r>
            <a:r>
              <a:rPr lang="en-US" sz="2400" baseline="30000" dirty="0">
                <a:effectLst/>
                <a:latin typeface="Vollkorn" panose="02000503070000020003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Vollkorn" panose="02000503070000020003"/>
              </a:rPr>
              <a:t>)</a:t>
            </a:r>
          </a:p>
          <a:p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803" y="2604993"/>
            <a:ext cx="5155194" cy="29471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CB090A-BFB5-4CC8-948E-CC043D698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423" y="2276803"/>
            <a:ext cx="5431367" cy="66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441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453" y="635675"/>
            <a:ext cx="9439275" cy="5133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203289-87EC-424D-AFE7-D175AF967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024" y="705411"/>
            <a:ext cx="4662166" cy="307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566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0751" y="1"/>
            <a:ext cx="10515600" cy="1213164"/>
          </a:xfrm>
        </p:spPr>
        <p:txBody>
          <a:bodyPr>
            <a:normAutofit/>
          </a:bodyPr>
          <a:lstStyle/>
          <a:p>
            <a:r>
              <a:rPr lang="en-US" sz="3600" dirty="0"/>
              <a:t>2.2 Reconstructing a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Dynamic-programming solutions to the rod-cutting problem return the value of an optimal solution</a:t>
            </a:r>
          </a:p>
          <a:p>
            <a:r>
              <a:rPr lang="en-US" dirty="0"/>
              <a:t>But they do not return an actual solution: a list of piece sizes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03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4537" y="-6066"/>
            <a:ext cx="10515600" cy="1210178"/>
          </a:xfrm>
        </p:spPr>
        <p:txBody>
          <a:bodyPr>
            <a:normAutofit/>
          </a:bodyPr>
          <a:lstStyle/>
          <a:p>
            <a:r>
              <a:rPr lang="en-US" sz="3600" dirty="0"/>
              <a:t>2.2 Reconstructing a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6108" y="1204112"/>
            <a:ext cx="5049025" cy="3795455"/>
          </a:xfrm>
        </p:spPr>
        <p:txBody>
          <a:bodyPr>
            <a:normAutofit/>
          </a:bodyPr>
          <a:lstStyle/>
          <a:p>
            <a:r>
              <a:rPr lang="en-US" sz="2400" dirty="0"/>
              <a:t>Extend the dynamic-programming approach to record not only the optimal value computed for each </a:t>
            </a:r>
            <a:r>
              <a:rPr lang="en-US" sz="2400" dirty="0" err="1"/>
              <a:t>subproblem</a:t>
            </a:r>
            <a:r>
              <a:rPr lang="en-US" sz="2400" dirty="0"/>
              <a:t>, but also a choice that led to the optimal value. </a:t>
            </a:r>
          </a:p>
          <a:p>
            <a:r>
              <a:rPr lang="en-US" sz="2400" dirty="0"/>
              <a:t>With this information, we can readily print an optimal solution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746" y="940858"/>
            <a:ext cx="4931121" cy="34745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B4A9D1-512C-4314-9B38-E3A4FB640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108" y="3873596"/>
            <a:ext cx="4836516" cy="276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55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4537" y="-6066"/>
            <a:ext cx="10515600" cy="1210178"/>
          </a:xfrm>
        </p:spPr>
        <p:txBody>
          <a:bodyPr>
            <a:normAutofit/>
          </a:bodyPr>
          <a:lstStyle/>
          <a:p>
            <a:r>
              <a:rPr lang="en-US" sz="3600" dirty="0"/>
              <a:t>Reconstructing a Solution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38" y="1165226"/>
            <a:ext cx="8276108" cy="46119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9E4141-E018-4F4F-95FC-E96AA308C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713" y="59171"/>
            <a:ext cx="4151603" cy="292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016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AMUSA PPT Color">
      <a:dk1>
        <a:srgbClr val="000000"/>
      </a:dk1>
      <a:lt1>
        <a:srgbClr val="FFFFFF"/>
      </a:lt1>
      <a:dk2>
        <a:srgbClr val="83888B"/>
      </a:dk2>
      <a:lt2>
        <a:srgbClr val="FFFFFF"/>
      </a:lt2>
      <a:accent1>
        <a:srgbClr val="332E70"/>
      </a:accent1>
      <a:accent2>
        <a:srgbClr val="668586"/>
      </a:accent2>
      <a:accent3>
        <a:srgbClr val="E6B729"/>
      </a:accent3>
      <a:accent4>
        <a:srgbClr val="B9CFD3"/>
      </a:accent4>
      <a:accent5>
        <a:srgbClr val="54849A"/>
      </a:accent5>
      <a:accent6>
        <a:srgbClr val="020000"/>
      </a:accent6>
      <a:hlink>
        <a:srgbClr val="702E3C"/>
      </a:hlink>
      <a:folHlink>
        <a:srgbClr val="4600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 TAMUSA Template" id="{81250B71-C222-0A43-91FF-929A8BF7632C}" vid="{6EC503B3-3B3A-3D45-9BD1-3527F0E16E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 TAMUSA Template-updated</Template>
  <TotalTime>3337</TotalTime>
  <Words>777</Words>
  <Application>Microsoft Office PowerPoint</Application>
  <PresentationFormat>Widescreen</PresentationFormat>
  <Paragraphs>89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Vollkorn</vt:lpstr>
      <vt:lpstr>Arial</vt:lpstr>
      <vt:lpstr>Calibri</vt:lpstr>
      <vt:lpstr>Corbel</vt:lpstr>
      <vt:lpstr>Oswald</vt:lpstr>
      <vt:lpstr>Rage Italic</vt:lpstr>
      <vt:lpstr>Office Theme</vt:lpstr>
      <vt:lpstr>CSCI 5343 Algorithms Spring 2025 </vt:lpstr>
      <vt:lpstr>Objectives</vt:lpstr>
      <vt:lpstr>Divide-and-Conquer &amp; Dynamic Programming</vt:lpstr>
      <vt:lpstr>Optimization Problems</vt:lpstr>
      <vt:lpstr>Developing a Dynamic-Programming Algorithm</vt:lpstr>
      <vt:lpstr>Example - Rod Cutting Problem</vt:lpstr>
      <vt:lpstr>Rod Cutting Problem</vt:lpstr>
      <vt:lpstr>Rod Cutting Problem</vt:lpstr>
      <vt:lpstr>Rod Cutting Problem</vt:lpstr>
      <vt:lpstr>Rod Cutting Problem</vt:lpstr>
      <vt:lpstr>Cutting Up a Rod of 4 Inches in Length </vt:lpstr>
      <vt:lpstr>Optimal Solution</vt:lpstr>
      <vt:lpstr>Optimal Solution</vt:lpstr>
      <vt:lpstr>1. Recursive Top-Down Implementation</vt:lpstr>
      <vt:lpstr>Recursion Tree</vt:lpstr>
      <vt:lpstr>2. Using Dynamic Programming for Optimal Rod Cutting</vt:lpstr>
      <vt:lpstr>2. 1 Using Dynamic Programming</vt:lpstr>
      <vt:lpstr>2.1 Using Dynamic Programming</vt:lpstr>
      <vt:lpstr>2. 2 Using Dynamic Programming</vt:lpstr>
      <vt:lpstr>PowerPoint Presentation</vt:lpstr>
      <vt:lpstr>2.2 Reconstructing a Solution</vt:lpstr>
      <vt:lpstr>2.2 Reconstructing a Solution</vt:lpstr>
      <vt:lpstr>Reconstructing a 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Fernando Estrada</dc:creator>
  <cp:lastModifiedBy>Jeong Yang</cp:lastModifiedBy>
  <cp:revision>125</cp:revision>
  <cp:lastPrinted>2020-01-21T18:08:03Z</cp:lastPrinted>
  <dcterms:created xsi:type="dcterms:W3CDTF">2018-03-09T22:17:24Z</dcterms:created>
  <dcterms:modified xsi:type="dcterms:W3CDTF">2025-02-24T21:58:14Z</dcterms:modified>
</cp:coreProperties>
</file>