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9" r:id="rId3"/>
    <p:sldId id="268" r:id="rId4"/>
    <p:sldId id="270" r:id="rId5"/>
    <p:sldId id="260" r:id="rId6"/>
    <p:sldId id="262" r:id="rId7"/>
    <p:sldId id="278" r:id="rId8"/>
    <p:sldId id="272" r:id="rId9"/>
    <p:sldId id="261" r:id="rId10"/>
    <p:sldId id="263" r:id="rId11"/>
    <p:sldId id="264" r:id="rId12"/>
    <p:sldId id="273" r:id="rId13"/>
    <p:sldId id="277" r:id="rId14"/>
    <p:sldId id="265" r:id="rId15"/>
    <p:sldId id="266" r:id="rId16"/>
    <p:sldId id="267" r:id="rId17"/>
    <p:sldId id="274" r:id="rId18"/>
    <p:sldId id="279" r:id="rId19"/>
    <p:sldId id="287" r:id="rId20"/>
    <p:sldId id="285" r:id="rId21"/>
    <p:sldId id="286" r:id="rId22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35" autoAdjust="0"/>
    <p:restoredTop sz="94658"/>
  </p:normalViewPr>
  <p:slideViewPr>
    <p:cSldViewPr snapToGrid="0" snapToObjects="1">
      <p:cViewPr varScale="1">
        <p:scale>
          <a:sx n="119" d="100"/>
          <a:sy n="119" d="100"/>
        </p:scale>
        <p:origin x="73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3E9484-A1AE-4848-978F-DB84137331BF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251DBA-7D26-427F-A8DB-8EB0BE3564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1278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2-15T02:27:09.468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0 187 919 0 0,'2'-9'80'0'0,"-1"2"-16"0"0,1-8 852 0 0,-1 3-441 0 0,2 0 0 0 0,-1 0 0 0 0,7-15 0 0 0,-7 20-464 0 0,-2 6 46 0 0,10-33 835 0 0,-8 25-892 0 0,0 0 0 0 0,3-7 72 0 0,-4 15 143 0 0,-1-1-150 0 0,3-4-11 0 0,1-1-33 0 0,-3 6 988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2-15T02:34:54.594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1 1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2-15T02:34:58.01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635"/>
      <inkml:brushProperty name="anchorY" value="-635"/>
      <inkml:brushProperty name="scaleFactor" value="0.5"/>
    </inkml:brush>
  </inkml:definitions>
  <inkml:trace contextRef="#ctx0" brushRef="#br0">1 6 24575,'0'0'0,"0"-2"0,0-1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2-15T02:34:58.53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270"/>
      <inkml:brushProperty name="anchorY" value="-1264.83484"/>
      <inkml:brushProperty name="scaleFactor" value="0.5"/>
    </inkml:brush>
  </inkml:definitions>
  <inkml:trace contextRef="#ctx0" brushRef="#br0">0 6 24575,'0'0'0,"0"-2"0,0-1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2-15T02:34:58.854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905"/>
      <inkml:brushProperty name="anchorY" value="-1894.66956"/>
      <inkml:brushProperty name="scaleFactor" value="0.5"/>
    </inkml:brush>
  </inkml:definitions>
  <inkml:trace contextRef="#ctx0" brushRef="#br0">1 0 24575,'0'0'0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2-15T02:35:01.91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540"/>
      <inkml:brushProperty name="anchorY" value="-2529.66968"/>
      <inkml:brushProperty name="scaleFactor" value="0.5"/>
    </inkml:brush>
  </inkml:definitions>
  <inkml:trace contextRef="#ctx0" brushRef="#br0">1 0 24575,'0'0'0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2-15T02:35:02.28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175"/>
      <inkml:brushProperty name="anchorY" value="-3164.66968"/>
      <inkml:brushProperty name="scaleFactor" value="0.5"/>
    </inkml:brush>
  </inkml:definitions>
  <inkml:trace contextRef="#ctx0" brushRef="#br0">0 1 24575,'0'0'0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2-15T02:35:02.64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810"/>
      <inkml:brushProperty name="anchorY" value="-3799.66968"/>
      <inkml:brushProperty name="scaleFactor" value="0.5"/>
    </inkml:brush>
  </inkml:definitions>
  <inkml:trace contextRef="#ctx0" brushRef="#br0">0 6 24575,'0'0'0,"0"-3"0,0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2-15T02:35:06.09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1 1 24575,'0'0'0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2-15T02:35:13.91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635"/>
      <inkml:brushProperty name="anchorY" value="-635"/>
      <inkml:brushProperty name="scaleFactor" value="0.5"/>
    </inkml:brush>
  </inkml:definitions>
  <inkml:trace contextRef="#ctx0" brushRef="#br0">0 5 24575,'0'0'0,"0"-2"0,0-1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2-15T02:35:15.03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270"/>
      <inkml:brushProperty name="anchorY" value="-1264.83398"/>
      <inkml:brushProperty name="scaleFactor" value="0.5"/>
    </inkml:brush>
  </inkml:definitions>
  <inkml:trace contextRef="#ctx0" brushRef="#br0">0 1 24575,'0'0'0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2-16T16:26:27.136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0 0 4807 0 0,'0'0'4824'0'0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2-16T16:26:27.136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0 0 4807 0 0,'0'0'4824'0'0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2-16T16:28:37.558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 11 9215 0 0,'0'0'976'0'0,"2"-5"-544"0"0,2 0-824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2-16T16:28:47.813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25 10 919 0 0,'0'0'4422'0'0,"-7"-3"1825"0"0,-10-3 1458 0 0,30 7-8892 0 0,-4-1 424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2-16T16:28:44.430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0 1 1375 0 0,'0'0'128'0'0,"4"5"-128"0"0,0 0 0 0 0,-1 0 0 0 0,1-2 1472 0 0,0 4 264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B843F6B6-C643-EB48-8E20-B61919A653AE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F6E6A39C-9C1F-2A4A-AF30-046BACDB3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277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06F780E-9DEC-114C-B59D-A82F5B1305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703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DB4BCB-6267-7C4C-B43A-E90C40649B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8D4E9D-E0FF-4A40-92D3-F584F728C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AA4489E-2E74-F340-B15A-B2A6F494503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91286" y="118872"/>
            <a:ext cx="9209427" cy="87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08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76A11-4AC1-8748-B27A-412000BFD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39F17-8DC0-704B-9AE7-F0ACCDF4C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4A4D8-C6D2-0E40-92C4-2BCFF05A1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TEXAS A&amp;M-SAN ANTONIO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86E18-20E2-9044-890C-17969EAC4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063ED-17C5-384F-8A20-6B5F1E692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572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5D519-9498-A74B-A50E-3FE856C93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EA1DE4-D61E-B948-97DB-95EA3642C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EC6AA-5BA9-6C4B-9C05-A4DF3EB3C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70A15-8FCB-1145-B769-EBE016DEC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6DD52-61E1-7644-A884-1919EF7DF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175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0ADC3-8E98-4046-9AAD-79B345A96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E0A05-7784-8E43-A36D-9DF6EB0DA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6BC6E6-C854-644C-8127-782D346629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2892C8-648C-E648-909E-43B6AB5CE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65A266-0D34-A848-B798-09F9F6C30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E07C42-7FD9-8A46-9771-76E49801F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907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9DF53-106B-564F-A34E-66D6D5527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3E6C4E-D1C9-7E43-8BE6-6FF6C0297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884BC5-819E-184D-B400-C628FC4E7A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D4D157-B42E-B04A-9802-E4687A2B0F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BE22DF-E739-C941-8F53-FEB1143BE8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D40280-C860-6543-8954-037C3B8DD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C3B322-30C5-7A48-80C9-34D80F20B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0A570F-CCB9-8A4D-A1DF-182EDBD9E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403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7A4AD-56A7-D544-8CC4-C59732383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5C9BB6-238C-9849-8A11-ED3068252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23E8EC-9A7F-CE49-8A55-A5D7CD716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3C0A83-16F0-D946-B562-A591524C4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864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F29F64-1BDD-504B-A6CA-0E20C98EF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8C1686-9F4A-094D-AD83-7AAFEDFD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004E1-8548-F84D-B00A-A977C4D04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454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73EF2-341F-F844-AFCF-6433054D0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D4C50-3B10-0B41-9B37-D7C15E263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DF77F2-1CF2-E444-9FAD-9E8F541494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BD50E1-5F20-BB45-A98E-EBF4F1C1D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6EF63F-A284-684A-A9AD-5E8434D7B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8865B0-3686-3341-AD20-5617C52E1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449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FA22E-AA44-194A-BF2A-701D2B5FF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78C7F6-4BD5-E641-B632-A1B5A1DC03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77162C-C948-1943-97BA-5AB7865AFD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0FC85A-702E-DD4C-B6D4-ABFDB8A87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86D28-396E-8E48-AC2E-0FFF126DF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C52750-349A-6946-B6A4-04B5FB366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757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AD500-C0C2-5D47-8D80-53BD44C53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4353C2-7F77-A84A-A20F-985C4D4E05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B0480-39D0-9D45-907F-0B6A521E7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CE67D-E526-5843-B848-1C14DB188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4ADD1-3DAE-C94D-B565-D611793BA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827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162169-3F65-BD4A-838C-F27F6199AC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6FB8A1-5D3F-2A4E-B1C3-99D1601C14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78F54-DF87-5D42-BA44-CB6C6B654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80EB4-1594-5244-AFD3-740F69F71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BEE49-3691-D549-AC56-DB7355B65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610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8E62574-E313-A548-8CD1-53BB254DD36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70304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9B084-1E51-FA44-B2F1-C4E821A1B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24DE31-0525-CD4C-A8B3-E43493227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2773D-3906-1A4B-8CD5-0D836E29BA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Oswald" panose="02000503000000000000" pitchFamily="2" charset="0"/>
              </a:defRPr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2DC35-01F7-F14D-A158-C7100804C4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CDA7F-9F75-B94E-AEE1-3C966732A7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7D5D8-8021-D54A-A92F-C392C50DF18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AF6714-108A-9744-8E65-70ABDC5635ED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" y="0"/>
            <a:ext cx="826999" cy="82699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7F07C08-5274-364D-889D-20BEAFD80E1E}"/>
              </a:ext>
            </a:extLst>
          </p:cNvPr>
          <p:cNvCxnSpPr>
            <a:cxnSpLocks/>
          </p:cNvCxnSpPr>
          <p:nvPr userDrawn="1"/>
        </p:nvCxnSpPr>
        <p:spPr>
          <a:xfrm>
            <a:off x="2450592" y="6598227"/>
            <a:ext cx="97414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2290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tx1"/>
          </a:solidFill>
          <a:latin typeface="Oswald" panose="02000503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Vollkorn" panose="02000503070000020003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Vollkorn" panose="02000503070000020003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Vollkorn" panose="02000503070000020003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ollkorn" panose="02000503070000020003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ollkorn" panose="02000503070000020003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9.png"/><Relationship Id="rId18" Type="http://schemas.openxmlformats.org/officeDocument/2006/relationships/customXml" Target="../ink/ink8.xml"/><Relationship Id="rId3" Type="http://schemas.openxmlformats.org/officeDocument/2006/relationships/image" Target="../media/image14.png"/><Relationship Id="rId21" Type="http://schemas.openxmlformats.org/officeDocument/2006/relationships/image" Target="../media/image23.png"/><Relationship Id="rId7" Type="http://schemas.openxmlformats.org/officeDocument/2006/relationships/image" Target="../media/image16.png"/><Relationship Id="rId12" Type="http://schemas.openxmlformats.org/officeDocument/2006/relationships/customXml" Target="../ink/ink5.xml"/><Relationship Id="rId17" Type="http://schemas.openxmlformats.org/officeDocument/2006/relationships/image" Target="../media/image21.png"/><Relationship Id="rId25" Type="http://schemas.openxmlformats.org/officeDocument/2006/relationships/image" Target="../media/image25.png"/><Relationship Id="rId2" Type="http://schemas.openxmlformats.org/officeDocument/2006/relationships/image" Target="../media/image13.png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18.png"/><Relationship Id="rId24" Type="http://schemas.openxmlformats.org/officeDocument/2006/relationships/customXml" Target="../ink/ink11.xml"/><Relationship Id="rId5" Type="http://schemas.openxmlformats.org/officeDocument/2006/relationships/image" Target="../media/image15.png"/><Relationship Id="rId15" Type="http://schemas.openxmlformats.org/officeDocument/2006/relationships/image" Target="../media/image20.png"/><Relationship Id="rId23" Type="http://schemas.openxmlformats.org/officeDocument/2006/relationships/image" Target="../media/image24.png"/><Relationship Id="rId10" Type="http://schemas.openxmlformats.org/officeDocument/2006/relationships/customXml" Target="../ink/ink4.xml"/><Relationship Id="rId19" Type="http://schemas.openxmlformats.org/officeDocument/2006/relationships/image" Target="../media/image22.png"/><Relationship Id="rId4" Type="http://schemas.openxmlformats.org/officeDocument/2006/relationships/customXml" Target="../ink/ink1.xml"/><Relationship Id="rId9" Type="http://schemas.openxmlformats.org/officeDocument/2006/relationships/image" Target="../media/image17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0.png"/><Relationship Id="rId4" Type="http://schemas.openxmlformats.org/officeDocument/2006/relationships/customXml" Target="../ink/ink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0.png"/><Relationship Id="rId4" Type="http://schemas.openxmlformats.org/officeDocument/2006/relationships/customXml" Target="../ink/ink1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0.png"/><Relationship Id="rId3" Type="http://schemas.openxmlformats.org/officeDocument/2006/relationships/customXml" Target="../ink/ink14.xml"/><Relationship Id="rId7" Type="http://schemas.openxmlformats.org/officeDocument/2006/relationships/customXml" Target="../ink/ink16.xm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0.png"/><Relationship Id="rId5" Type="http://schemas.openxmlformats.org/officeDocument/2006/relationships/customXml" Target="../ink/ink15.xml"/><Relationship Id="rId4" Type="http://schemas.openxmlformats.org/officeDocument/2006/relationships/image" Target="../media/image33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E6319-A62A-B444-ADAD-8972AE1B0A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48118"/>
            <a:ext cx="9144000" cy="1922929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3100" dirty="0"/>
              <a:t>CSCI 5343 Algorithms</a:t>
            </a:r>
            <a:br>
              <a:rPr lang="en-US" sz="3100" dirty="0"/>
            </a:br>
            <a:r>
              <a:rPr lang="en-US" sz="3100" dirty="0"/>
              <a:t>Spring 2025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B2D859-22D5-E943-B0B7-72D5D0A6F6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9963"/>
            <a:ext cx="9144000" cy="1895755"/>
          </a:xfrm>
        </p:spPr>
        <p:txBody>
          <a:bodyPr>
            <a:normAutofit/>
          </a:bodyPr>
          <a:lstStyle/>
          <a:p>
            <a:pPr>
              <a:buClr>
                <a:srgbClr val="002060"/>
              </a:buClr>
              <a:buSzPct val="70000"/>
            </a:pPr>
            <a:r>
              <a:rPr lang="en-US" dirty="0"/>
              <a:t>Dept. of Computational, Engineering, and Computational Sciences</a:t>
            </a:r>
          </a:p>
          <a:p>
            <a:pPr>
              <a:buClr>
                <a:srgbClr val="002060"/>
              </a:buClr>
              <a:buSzPct val="70000"/>
            </a:pPr>
            <a:endParaRPr lang="en-US" dirty="0"/>
          </a:p>
          <a:p>
            <a:pPr>
              <a:buClr>
                <a:srgbClr val="002060"/>
              </a:buClr>
              <a:buSzPct val="70000"/>
            </a:pPr>
            <a:r>
              <a:rPr lang="en-US" dirty="0"/>
              <a:t>Chapter 4 Divide-And-Conquer</a:t>
            </a:r>
          </a:p>
        </p:txBody>
      </p:sp>
    </p:spTree>
    <p:extLst>
      <p:ext uri="{BB962C8B-B14F-4D97-AF65-F5344CB8AC3E}">
        <p14:creationId xmlns:p14="http://schemas.microsoft.com/office/powerpoint/2010/main" val="4186716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8E2F1-156D-48EB-AC57-2573B4EAB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557" y="21397"/>
            <a:ext cx="6954616" cy="1400530"/>
          </a:xfrm>
        </p:spPr>
        <p:txBody>
          <a:bodyPr/>
          <a:lstStyle/>
          <a:p>
            <a:r>
              <a:rPr lang="en-US" sz="3600" dirty="0"/>
              <a:t>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E8D4C-7AD3-4D05-97B8-FD6A8ABBE3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3701" y="1498208"/>
            <a:ext cx="9023021" cy="4505777"/>
          </a:xfrm>
        </p:spPr>
        <p:txBody>
          <a:bodyPr>
            <a:normAutofit/>
          </a:bodyPr>
          <a:lstStyle/>
          <a:p>
            <a:pPr>
              <a:buClr>
                <a:srgbClr val="002060"/>
              </a:buClr>
            </a:pPr>
            <a:r>
              <a:rPr lang="en-US" sz="2400" dirty="0">
                <a:latin typeface="Vollkorn" panose="02000503070000020003"/>
              </a:rPr>
              <a:t>Understand divide-and-conquer design paradigm</a:t>
            </a:r>
          </a:p>
          <a:p>
            <a:pPr>
              <a:buClr>
                <a:srgbClr val="002060"/>
              </a:buClr>
            </a:pPr>
            <a:r>
              <a:rPr lang="en-US" sz="2400" dirty="0">
                <a:latin typeface="Vollkorn" panose="02000503070000020003"/>
              </a:rPr>
              <a:t>Analyze recursive algorithms  </a:t>
            </a:r>
          </a:p>
          <a:p>
            <a:pPr>
              <a:buClr>
                <a:srgbClr val="002060"/>
              </a:buClr>
            </a:pPr>
            <a:r>
              <a:rPr lang="en-US" sz="2400" i="0" u="none" strike="noStrike" baseline="0" dirty="0">
                <a:latin typeface="Vollkorn" panose="02000503070000020003"/>
              </a:rPr>
              <a:t>Solutions for the maximum-subarray problem</a:t>
            </a:r>
          </a:p>
          <a:p>
            <a:pPr marL="914400" lvl="1" indent="-457200">
              <a:buClr>
                <a:srgbClr val="002060"/>
              </a:buClr>
              <a:buFont typeface="+mj-lt"/>
              <a:buAutoNum type="arabicPeriod"/>
            </a:pPr>
            <a:r>
              <a:rPr lang="en-US" i="0" u="none" strike="noStrike" baseline="0" dirty="0">
                <a:latin typeface="Vollkorn" panose="02000503070000020003"/>
              </a:rPr>
              <a:t>A brute-force solution</a:t>
            </a:r>
            <a:endParaRPr lang="en-US" dirty="0">
              <a:latin typeface="Vollkorn" panose="02000503070000020003"/>
            </a:endParaRPr>
          </a:p>
          <a:p>
            <a:pPr marL="914400" lvl="1" indent="-457200">
              <a:buClr>
                <a:srgbClr val="002060"/>
              </a:buClr>
              <a:buFont typeface="+mj-lt"/>
              <a:buAutoNum type="arabicPeriod"/>
            </a:pPr>
            <a:r>
              <a:rPr lang="en-US" i="0" u="none" strike="noStrike" baseline="0" dirty="0">
                <a:latin typeface="Vollkorn" panose="02000503070000020003"/>
              </a:rPr>
              <a:t>A solution to find max-subarray</a:t>
            </a:r>
          </a:p>
          <a:p>
            <a:pPr marL="914400" lvl="1" indent="-457200">
              <a:buClr>
                <a:srgbClr val="002060"/>
              </a:buClr>
              <a:buFont typeface="+mj-lt"/>
              <a:buAutoNum type="arabicPeriod"/>
            </a:pPr>
            <a:r>
              <a:rPr lang="en-US" i="0" u="none" strike="noStrike" baseline="0" dirty="0">
                <a:latin typeface="Vollkorn" panose="02000503070000020003"/>
              </a:rPr>
              <a:t>A solution with divide-and-conquer</a:t>
            </a:r>
          </a:p>
          <a:p>
            <a:pPr marL="914400" lvl="1" indent="-457200">
              <a:buClr>
                <a:srgbClr val="002060"/>
              </a:buClr>
              <a:buFont typeface="+mj-lt"/>
              <a:buAutoNum type="arabicPeriod"/>
            </a:pPr>
            <a:r>
              <a:rPr lang="en-US" sz="2400" dirty="0">
                <a:latin typeface="Vollkorn" panose="02000503070000020003"/>
              </a:rPr>
              <a:t>A solution with dynamic programming</a:t>
            </a:r>
          </a:p>
          <a:p>
            <a:pPr>
              <a:buClr>
                <a:srgbClr val="002060"/>
              </a:buClr>
            </a:pPr>
            <a:r>
              <a:rPr lang="en-US" sz="2400" dirty="0">
                <a:latin typeface="Vollkorn" panose="02000503070000020003"/>
              </a:rPr>
              <a:t>Analyze the running times of algorithms</a:t>
            </a:r>
          </a:p>
          <a:p>
            <a:pPr lvl="1">
              <a:buClr>
                <a:srgbClr val="002060"/>
              </a:buClr>
            </a:pPr>
            <a:endParaRPr lang="en-US" i="0" u="none" strike="noStrike" baseline="0" dirty="0">
              <a:latin typeface="Vollkorn" panose="02000503070000020003"/>
            </a:endParaRPr>
          </a:p>
        </p:txBody>
      </p:sp>
    </p:spTree>
    <p:extLst>
      <p:ext uri="{BB962C8B-B14F-4D97-AF65-F5344CB8AC3E}">
        <p14:creationId xmlns:p14="http://schemas.microsoft.com/office/powerpoint/2010/main" val="2761529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034BF-CB3F-43B1-893D-49002D72E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633" y="0"/>
            <a:ext cx="10515600" cy="1172633"/>
          </a:xfrm>
        </p:spPr>
        <p:txBody>
          <a:bodyPr>
            <a:normAutofit/>
          </a:bodyPr>
          <a:lstStyle/>
          <a:p>
            <a:r>
              <a:rPr lang="en-US" sz="3600" dirty="0"/>
              <a:t>Divide-And-Conquer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5938E-0F38-4285-9F35-6F4DBAAE0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3647"/>
            <a:ext cx="10515600" cy="4563316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latin typeface="Vollkorn" panose="02000503070000020003"/>
              </a:rPr>
              <a:t>S</a:t>
            </a:r>
            <a:r>
              <a:rPr lang="en-US" sz="2400" b="0" i="0" u="none" strike="noStrike" baseline="0" dirty="0">
                <a:latin typeface="Vollkorn" panose="02000503070000020003"/>
              </a:rPr>
              <a:t>olve a problem recursively, applying three steps at each level of the recursion</a:t>
            </a:r>
            <a:endParaRPr lang="en-US" sz="2400" dirty="0">
              <a:latin typeface="Vollkorn" panose="02000503070000020003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6A229-9BBF-4491-B1F2-F94132080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TEXAS A&amp;M-SAN ANTONIO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9C0D1A-D7A5-48A9-983A-43FE86FC3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233" y="2256547"/>
            <a:ext cx="8900872" cy="2214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144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DDEA1-7D44-4F6F-B225-BA964EF9D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489" y="19793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Recurrence for Merge Sort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AA3DCD3-D354-40D3-8F84-9954CD96B5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6050" y="2503734"/>
            <a:ext cx="6502850" cy="3451107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5EEB0-C182-4BB9-A261-0F9E67F8E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TEXAS A&amp;M-SAN ANTONIO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FB089E-3E74-4FE2-8B23-B74C1FEF76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365" y="1178171"/>
            <a:ext cx="4550069" cy="1008099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A6BCB04-2565-4F25-AC5E-1D8410EAC0C4}"/>
              </a:ext>
            </a:extLst>
          </p:cNvPr>
          <p:cNvSpPr txBox="1">
            <a:spLocks/>
          </p:cNvSpPr>
          <p:nvPr/>
        </p:nvSpPr>
        <p:spPr>
          <a:xfrm>
            <a:off x="5856434" y="1218172"/>
            <a:ext cx="2743200" cy="10080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Vollkorn" panose="02000503070000020003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ollkorn" panose="02000503070000020003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ollkorn" panose="02000503070000020003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ollkorn" panose="02000503070000020003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ollkorn" panose="0200050307000002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Base case</a:t>
            </a:r>
          </a:p>
          <a:p>
            <a:pPr marL="0" indent="0">
              <a:buNone/>
            </a:pPr>
            <a:r>
              <a:rPr lang="en-US" dirty="0"/>
              <a:t>Recursive case</a:t>
            </a:r>
          </a:p>
        </p:txBody>
      </p:sp>
    </p:spTree>
    <p:extLst>
      <p:ext uri="{BB962C8B-B14F-4D97-AF65-F5344CB8AC3E}">
        <p14:creationId xmlns:p14="http://schemas.microsoft.com/office/powerpoint/2010/main" val="1911682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ED600-AA66-4303-8B42-724F3C081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571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Recursion Tree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C836C-8848-4718-BE0C-2200BB13D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TEXAS A&amp;M-SAN ANTONIO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4FD30C-F5FE-419E-88C1-F1554E968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462" y="1325563"/>
            <a:ext cx="7661840" cy="417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998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AC4EC-6277-40D4-98AD-51D0EAD46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524" y="1825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i="0" u="none" strike="noStrike" baseline="0" dirty="0">
                <a:latin typeface="Oswald" panose="02000503000000000000"/>
              </a:rPr>
              <a:t>Maximum-Subarray </a:t>
            </a:r>
            <a:r>
              <a:rPr lang="en-US" sz="3600" dirty="0">
                <a:latin typeface="Oswald" panose="02000503000000000000"/>
              </a:rPr>
              <a:t>P</a:t>
            </a:r>
            <a:r>
              <a:rPr lang="en-US" sz="3600" i="0" u="none" strike="noStrike" baseline="0" dirty="0">
                <a:latin typeface="Oswald" panose="02000503000000000000"/>
              </a:rPr>
              <a:t>roblem</a:t>
            </a:r>
            <a:endParaRPr lang="en-US" sz="3600" dirty="0">
              <a:latin typeface="Oswald" panose="0200050300000000000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847B8-0655-4620-B107-EF41FB2D5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698" y="1601889"/>
            <a:ext cx="10515600" cy="4351338"/>
          </a:xfrm>
        </p:spPr>
        <p:txBody>
          <a:bodyPr/>
          <a:lstStyle/>
          <a:p>
            <a:r>
              <a:rPr lang="en-US" dirty="0"/>
              <a:t>Scenario</a:t>
            </a:r>
          </a:p>
          <a:p>
            <a:pPr lvl="1"/>
            <a:r>
              <a:rPr lang="en-US" dirty="0">
                <a:latin typeface="Vollkorn" panose="02000503070000020003"/>
              </a:rPr>
              <a:t>T</a:t>
            </a:r>
            <a:r>
              <a:rPr lang="en-US" b="0" i="0" u="none" strike="noStrike" baseline="0" dirty="0">
                <a:latin typeface="Vollkorn" panose="02000503070000020003"/>
              </a:rPr>
              <a:t>he stock price of the Volatile Chemical Corporation is rather volatile</a:t>
            </a:r>
          </a:p>
          <a:p>
            <a:pPr lvl="1"/>
            <a:r>
              <a:rPr lang="en-US" dirty="0">
                <a:latin typeface="Vollkorn" panose="02000503070000020003"/>
              </a:rPr>
              <a:t>I</a:t>
            </a:r>
            <a:r>
              <a:rPr lang="en-US" b="0" i="0" u="none" strike="noStrike" baseline="0" dirty="0">
                <a:latin typeface="Vollkorn" panose="02000503070000020003"/>
              </a:rPr>
              <a:t>nvest in the Volatile Chemical Co</a:t>
            </a:r>
            <a:r>
              <a:rPr lang="en-US" dirty="0">
                <a:latin typeface="Vollkorn" panose="02000503070000020003"/>
              </a:rPr>
              <a:t>r</a:t>
            </a:r>
            <a:r>
              <a:rPr lang="en-US" b="0" i="0" u="none" strike="noStrike" baseline="0" dirty="0">
                <a:latin typeface="Vollkorn" panose="02000503070000020003"/>
              </a:rPr>
              <a:t>poration</a:t>
            </a:r>
          </a:p>
          <a:p>
            <a:pPr lvl="1"/>
            <a:r>
              <a:rPr lang="en-US" b="0" i="0" u="none" strike="noStrike" baseline="0" dirty="0">
                <a:latin typeface="Vollkorn" panose="02000503070000020003"/>
              </a:rPr>
              <a:t>Buy one unit of stock only one time and then sell it at a later date, </a:t>
            </a:r>
            <a:br>
              <a:rPr lang="en-US" b="0" i="0" u="none" strike="noStrike" baseline="0" dirty="0">
                <a:latin typeface="Vollkorn" panose="02000503070000020003"/>
              </a:rPr>
            </a:br>
            <a:r>
              <a:rPr lang="en-US" b="0" i="0" u="none" strike="noStrike" baseline="0" dirty="0">
                <a:highlight>
                  <a:srgbClr val="FFFF00"/>
                </a:highlight>
                <a:latin typeface="Vollkorn" panose="02000503070000020003"/>
              </a:rPr>
              <a:t>buying and selling after the close of trading for the day</a:t>
            </a:r>
          </a:p>
          <a:p>
            <a:pPr lvl="1"/>
            <a:r>
              <a:rPr lang="en-US" dirty="0">
                <a:latin typeface="Vollkorn" panose="02000503070000020003"/>
              </a:rPr>
              <a:t>G</a:t>
            </a:r>
            <a:r>
              <a:rPr lang="en-US" b="0" i="0" u="none" strike="noStrike" baseline="0" dirty="0">
                <a:latin typeface="Vollkorn" panose="02000503070000020003"/>
              </a:rPr>
              <a:t>oal is to maximize your profit</a:t>
            </a:r>
            <a:endParaRPr lang="en-US" dirty="0">
              <a:latin typeface="Vollkorn" panose="02000503070000020003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6B0A9-1FFA-4041-8D63-083620F11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TEXAS A&amp;M-SAN ANTONIO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68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AC4EC-6277-40D4-98AD-51D0EAD46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524" y="1825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i="0" u="none" strike="noStrike" baseline="0" dirty="0">
                <a:latin typeface="Oswald" panose="02000503000000000000"/>
              </a:rPr>
              <a:t>Maximum-Subarray </a:t>
            </a:r>
            <a:r>
              <a:rPr lang="en-US" sz="3600" dirty="0">
                <a:latin typeface="Oswald" panose="02000503000000000000"/>
              </a:rPr>
              <a:t>P</a:t>
            </a:r>
            <a:r>
              <a:rPr lang="en-US" sz="3600" i="0" u="none" strike="noStrike" baseline="0" dirty="0">
                <a:latin typeface="Oswald" panose="02000503000000000000"/>
              </a:rPr>
              <a:t>roblem</a:t>
            </a:r>
            <a:endParaRPr lang="en-US" sz="3600" dirty="0">
              <a:latin typeface="Oswald" panose="0200050300000000000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847B8-0655-4620-B107-EF41FB2D5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110" y="1104900"/>
            <a:ext cx="10515600" cy="4682957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Vollkorn" panose="02000503070000020003"/>
              </a:rPr>
              <a:t>P</a:t>
            </a:r>
            <a:r>
              <a:rPr lang="en-US" sz="2400" b="0" i="0" u="none" strike="noStrike" baseline="0" dirty="0">
                <a:latin typeface="Vollkorn" panose="02000503070000020003"/>
              </a:rPr>
              <a:t>rice of the stock over a 17-day period</a:t>
            </a:r>
            <a:endParaRPr lang="en-US" sz="2400" dirty="0">
              <a:latin typeface="Vollkorn" panose="02000503070000020003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6B0A9-1FFA-4041-8D63-083620F11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TEXAS A&amp;M-SAN ANTONIO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02EE59-76D4-43B1-8C9F-35D055F5F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733" y="1660066"/>
            <a:ext cx="8147810" cy="2403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264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AC4EC-6277-40D4-98AD-51D0EAD46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524" y="1825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i="0" u="none" strike="noStrike" baseline="0" dirty="0">
                <a:latin typeface="Oswald" panose="02000503000000000000"/>
              </a:rPr>
              <a:t>Maximum-Subarray </a:t>
            </a:r>
            <a:r>
              <a:rPr lang="en-US" sz="3600" dirty="0">
                <a:latin typeface="Oswald" panose="02000503000000000000"/>
              </a:rPr>
              <a:t>P</a:t>
            </a:r>
            <a:r>
              <a:rPr lang="en-US" sz="3600" i="0" u="none" strike="noStrike" baseline="0" dirty="0">
                <a:latin typeface="Oswald" panose="02000503000000000000"/>
              </a:rPr>
              <a:t>roblem</a:t>
            </a:r>
            <a:endParaRPr lang="en-US" sz="3600" dirty="0">
              <a:latin typeface="Oswald" panose="0200050300000000000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847B8-0655-4620-B107-EF41FB2D5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110" y="1100667"/>
            <a:ext cx="10515600" cy="4682957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Vollkorn" panose="02000503070000020003"/>
              </a:rPr>
              <a:t>P</a:t>
            </a:r>
            <a:r>
              <a:rPr lang="en-US" sz="2400" b="0" i="0" u="none" strike="noStrike" baseline="0" dirty="0">
                <a:latin typeface="Vollkorn" panose="02000503070000020003"/>
              </a:rPr>
              <a:t>rice of the stock over a 17-day period</a:t>
            </a:r>
            <a:endParaRPr lang="en-US" sz="2400" dirty="0">
              <a:latin typeface="Vollkorn" panose="02000503070000020003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6B0A9-1FFA-4041-8D63-083620F11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TEXAS A&amp;M-SAN ANTONIO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527A7B-8B1D-4CF5-A5A7-CD60A30EB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524" y="1483977"/>
            <a:ext cx="8432800" cy="4836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496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DA853-1380-4B02-96D7-72B822437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0B9C806-7CD6-4C18-9472-3BC1891E3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434" y="14929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i="0" u="none" strike="noStrike" baseline="0" dirty="0">
                <a:latin typeface="Oswald" panose="02000503000000000000"/>
              </a:rPr>
              <a:t>Maximum-Subarray </a:t>
            </a:r>
            <a:r>
              <a:rPr lang="en-US" sz="3600" dirty="0">
                <a:latin typeface="Oswald" panose="02000503000000000000"/>
              </a:rPr>
              <a:t>P</a:t>
            </a:r>
            <a:r>
              <a:rPr lang="en-US" sz="3600" i="0" u="none" strike="noStrike" baseline="0" dirty="0">
                <a:latin typeface="Oswald" panose="02000503000000000000"/>
              </a:rPr>
              <a:t>roblem</a:t>
            </a:r>
            <a:endParaRPr lang="en-US" sz="3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21804F-7C44-4702-BC0E-419FF7320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894" y="1543308"/>
            <a:ext cx="9391733" cy="4268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117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D55D4-E27C-4F39-BA6F-9D32503C1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663" y="1825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i="0" u="none" strike="noStrike" baseline="0" dirty="0">
                <a:latin typeface="Oswald" panose="02000503000000000000"/>
              </a:rPr>
              <a:t>1. A brute-force solution</a:t>
            </a:r>
            <a:endParaRPr lang="en-US" sz="3600" dirty="0">
              <a:latin typeface="Oswald" panose="0200050300000000000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ABD58-4722-4D76-8F17-72E229FF4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3570" y="1475429"/>
            <a:ext cx="10515600" cy="4351338"/>
          </a:xfrm>
        </p:spPr>
        <p:txBody>
          <a:bodyPr>
            <a:noAutofit/>
          </a:bodyPr>
          <a:lstStyle/>
          <a:p>
            <a:pPr algn="l"/>
            <a:r>
              <a:rPr lang="en-US" sz="2400" dirty="0">
                <a:latin typeface="Vollkorn" panose="02000503070000020003"/>
              </a:rPr>
              <a:t>T</a:t>
            </a:r>
            <a:r>
              <a:rPr lang="en-US" sz="2400" b="0" i="0" u="none" strike="noStrike" baseline="0" dirty="0">
                <a:latin typeface="Vollkorn" panose="02000503070000020003"/>
              </a:rPr>
              <a:t>ry every possible pair of buy and sell dates in which the buy date precedes the sell date </a:t>
            </a:r>
          </a:p>
          <a:p>
            <a:pPr algn="l"/>
            <a:r>
              <a:rPr lang="en-US" sz="2400" b="0" i="0" u="none" strike="noStrike" baseline="0" dirty="0">
                <a:latin typeface="Vollkorn" panose="02000503070000020003"/>
              </a:rPr>
              <a:t>A period of n days has such pairs of dates</a:t>
            </a:r>
          </a:p>
          <a:p>
            <a:r>
              <a:rPr lang="en-US" sz="2400" b="0" i="0" u="none" strike="noStrike" baseline="0" dirty="0">
                <a:latin typeface="Vollkorn" panose="02000503070000020003"/>
              </a:rPr>
              <a:t>Evaluate each pair of dates in O(</a:t>
            </a:r>
            <a:r>
              <a:rPr lang="en-US" sz="18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</a:t>
            </a:r>
            <a:r>
              <a:rPr lang="en-US" sz="1800" baseline="300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  <a:r>
              <a:rPr lang="en-US" sz="2400" b="0" i="0" u="none" strike="noStrike" baseline="0" dirty="0">
                <a:latin typeface="Vollkorn" panose="02000503070000020003"/>
              </a:rPr>
              <a:t>)</a:t>
            </a:r>
            <a:endParaRPr lang="en-US" sz="2400" dirty="0">
              <a:latin typeface="Vollkorn" panose="02000503070000020003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033D4-7FB3-4CBE-A568-A02FAD067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TEXAS A&amp;M-SAN ANTONIO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E38B06-5C5D-4163-8F32-F2AB8636B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0" y="3308733"/>
            <a:ext cx="8978900" cy="684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20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22FBE-3695-4278-B0FC-98286CB2D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2. Maximum </a:t>
            </a:r>
            <a:r>
              <a:rPr lang="en-US" sz="3600" dirty="0">
                <a:latin typeface="Oswald" panose="00000500000000000000" pitchFamily="2" charset="0"/>
              </a:rPr>
              <a:t>C</a:t>
            </a:r>
            <a:r>
              <a:rPr lang="en-US" sz="3600" i="0" u="none" strike="noStrike" baseline="0" dirty="0">
                <a:latin typeface="Oswald" panose="00000500000000000000" pitchFamily="2" charset="0"/>
              </a:rPr>
              <a:t>ontiguous</a:t>
            </a:r>
            <a:r>
              <a:rPr lang="en-US" sz="3600" b="1" i="0" u="none" strike="noStrike" baseline="0" dirty="0">
                <a:latin typeface="Vollkorn" panose="02000503070000020003"/>
              </a:rPr>
              <a:t> </a:t>
            </a:r>
            <a:r>
              <a:rPr lang="en-US" sz="3600" dirty="0"/>
              <a:t>Subarray</a:t>
            </a:r>
            <a:endParaRPr lang="en-US" sz="3600" dirty="0">
              <a:latin typeface="Oswald" panose="0200050300000000000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DD370-C60D-4C4A-B91F-DDC559640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351338"/>
          </a:xfrm>
        </p:spPr>
        <p:txBody>
          <a:bodyPr>
            <a:normAutofit/>
          </a:bodyPr>
          <a:lstStyle/>
          <a:p>
            <a:r>
              <a:rPr lang="en-US" sz="2600" dirty="0">
                <a:latin typeface="Vollkorn" panose="02000503070000020003"/>
              </a:rPr>
              <a:t>C</a:t>
            </a:r>
            <a:r>
              <a:rPr lang="en-US" sz="2600" b="0" i="0" u="none" strike="noStrike" baseline="0" dirty="0">
                <a:latin typeface="Vollkorn" panose="02000503070000020003"/>
              </a:rPr>
              <a:t>onsider the daily change in price</a:t>
            </a:r>
          </a:p>
          <a:p>
            <a:pPr algn="l"/>
            <a:r>
              <a:rPr lang="en-US" sz="2600" dirty="0">
                <a:latin typeface="Vollkorn" panose="02000503070000020003"/>
              </a:rPr>
              <a:t>T</a:t>
            </a:r>
            <a:r>
              <a:rPr lang="en-US" sz="2600" b="0" i="0" u="none" strike="noStrike" baseline="0" dirty="0">
                <a:latin typeface="Vollkorn" panose="02000503070000020003"/>
              </a:rPr>
              <a:t>he change on day </a:t>
            </a:r>
            <a:r>
              <a:rPr lang="en-US" sz="2600" b="0" i="0" u="none" strike="noStrike" baseline="0" dirty="0" err="1">
                <a:latin typeface="Vollkorn" panose="02000503070000020003"/>
              </a:rPr>
              <a:t>i</a:t>
            </a:r>
            <a:r>
              <a:rPr lang="en-US" sz="2600" b="0" i="0" u="none" strike="noStrike" baseline="0" dirty="0">
                <a:latin typeface="Vollkorn" panose="02000503070000020003"/>
              </a:rPr>
              <a:t> is the difference between the prices after day </a:t>
            </a:r>
            <a:r>
              <a:rPr lang="en-US" sz="2600" b="0" i="0" u="none" strike="noStrike" baseline="0" dirty="0" err="1">
                <a:latin typeface="Vollkorn" panose="02000503070000020003"/>
              </a:rPr>
              <a:t>i</a:t>
            </a:r>
            <a:r>
              <a:rPr lang="en-US" sz="2600" b="0" i="0" u="none" strike="noStrike" baseline="0" dirty="0">
                <a:latin typeface="Vollkorn" panose="02000503070000020003"/>
              </a:rPr>
              <a:t> - 1 and after day </a:t>
            </a:r>
            <a:r>
              <a:rPr lang="en-US" sz="2600" b="0" i="0" u="none" strike="noStrike" baseline="0" dirty="0" err="1">
                <a:latin typeface="Vollkorn" panose="02000503070000020003"/>
              </a:rPr>
              <a:t>i</a:t>
            </a:r>
            <a:r>
              <a:rPr lang="en-US" sz="2600" b="0" i="0" u="none" strike="noStrike" baseline="0" dirty="0">
                <a:latin typeface="Vollkorn" panose="02000503070000020003"/>
              </a:rPr>
              <a:t> </a:t>
            </a:r>
            <a:endParaRPr lang="en-US" sz="2600" dirty="0">
              <a:latin typeface="Vollkorn" panose="02000503070000020003"/>
            </a:endParaRPr>
          </a:p>
          <a:p>
            <a:pPr algn="l"/>
            <a:r>
              <a:rPr lang="en-US" sz="2600" dirty="0">
                <a:latin typeface="Vollkorn" panose="02000503070000020003"/>
              </a:rPr>
              <a:t>F</a:t>
            </a:r>
            <a:r>
              <a:rPr lang="en-US" sz="2600" b="0" i="0" u="none" strike="noStrike" baseline="0" dirty="0">
                <a:latin typeface="Vollkorn" panose="02000503070000020003"/>
              </a:rPr>
              <a:t>ind the </a:t>
            </a:r>
            <a:r>
              <a:rPr lang="en-US" sz="2600" b="1" i="0" u="none" strike="noStrike" baseline="0" dirty="0">
                <a:latin typeface="Vollkorn" panose="02000503070000020003"/>
              </a:rPr>
              <a:t>contiguous subarray </a:t>
            </a:r>
            <a:r>
              <a:rPr lang="en-US" sz="2600" b="0" i="0" u="none" strike="noStrike" baseline="0" dirty="0">
                <a:latin typeface="Vollkorn" panose="02000503070000020003"/>
              </a:rPr>
              <a:t>of whose values have the largest sum</a:t>
            </a:r>
          </a:p>
          <a:p>
            <a:r>
              <a:rPr lang="en-US" sz="2600" b="0" i="0" u="none" strike="noStrike" baseline="0" dirty="0">
                <a:latin typeface="Vollkorn" panose="02000503070000020003"/>
              </a:rPr>
              <a:t>The maximum-subarray problem is interesting only when the array contains some negative numbers</a:t>
            </a:r>
            <a:endParaRPr lang="en-US" sz="2600" dirty="0">
              <a:latin typeface="Vollkorn" panose="02000503070000020003"/>
            </a:endParaRPr>
          </a:p>
          <a:p>
            <a:pPr algn="l"/>
            <a:endParaRPr lang="en-US" sz="2500" dirty="0">
              <a:latin typeface="Vollkorn" panose="02000503070000020003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F6EC3-9534-497C-A4EB-9FA9557C2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TEXAS A&amp;M-SAN ANTONIO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1AF0E4-80A0-4A4F-BFE6-100F96796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550" y="4108484"/>
            <a:ext cx="8771467" cy="1100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4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22FBE-3695-4278-B0FC-98286CB2D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2. Maximum </a:t>
            </a:r>
            <a:r>
              <a:rPr lang="en-US" sz="3600" dirty="0">
                <a:latin typeface="Oswald" panose="00000500000000000000" pitchFamily="2" charset="0"/>
              </a:rPr>
              <a:t>C</a:t>
            </a:r>
            <a:r>
              <a:rPr lang="en-US" sz="3600" i="0" u="none" strike="noStrike" baseline="0" dirty="0">
                <a:latin typeface="Oswald" panose="00000500000000000000" pitchFamily="2" charset="0"/>
              </a:rPr>
              <a:t>ontiguous</a:t>
            </a:r>
            <a:r>
              <a:rPr lang="en-US" sz="3600" b="1" i="0" u="none" strike="noStrike" baseline="0" dirty="0">
                <a:latin typeface="Vollkorn" panose="02000503070000020003"/>
              </a:rPr>
              <a:t> </a:t>
            </a:r>
            <a:r>
              <a:rPr lang="en-US" sz="3600" dirty="0"/>
              <a:t>Subarray</a:t>
            </a:r>
            <a:endParaRPr lang="en-US" sz="3600" dirty="0">
              <a:latin typeface="Oswald" panose="0200050300000000000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DD370-C60D-4C4A-B91F-DDC559640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0749" y="1278467"/>
            <a:ext cx="11047931" cy="39243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Vollkorn" panose="02000503070000020003"/>
              </a:rPr>
              <a:t>Maximum subarray of A[1..16] is A[8..11] with the sum 43</a:t>
            </a:r>
          </a:p>
          <a:p>
            <a:pPr algn="l"/>
            <a:r>
              <a:rPr lang="en-US" sz="2400" dirty="0">
                <a:latin typeface="Vollkorn" panose="02000503070000020003"/>
              </a:rPr>
              <a:t>W</a:t>
            </a:r>
            <a:r>
              <a:rPr lang="en-US" sz="2400" b="0" i="0" u="none" strike="noStrike" baseline="0" dirty="0">
                <a:latin typeface="Vollkorn" panose="02000503070000020003"/>
              </a:rPr>
              <a:t>ant to buy the stock just before day 8 (that is, after day 70 at the close of the day) and sell it after day 11, earning a profit of $43 per share.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F6EC3-9534-497C-A4EB-9FA9557C2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TEXAS A&amp;M-SAN ANTONIO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ECF3E3-31AD-4724-A1AC-C36564119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084" y="3632210"/>
            <a:ext cx="10204450" cy="24441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4849587-8E2C-4986-B76F-21C06A3F7F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133" y="2611903"/>
            <a:ext cx="8826500" cy="91769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2D35085D-CC59-413B-A639-E62E76772FB1}"/>
                  </a:ext>
                </a:extLst>
              </p14:cNvPr>
              <p14:cNvContentPartPr/>
              <p14:nvPr/>
            </p14:nvContentPartPr>
            <p14:xfrm>
              <a:off x="8419064" y="4513039"/>
              <a:ext cx="18000" cy="676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2D35085D-CC59-413B-A639-E62E76772FB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10064" y="4504039"/>
                <a:ext cx="3564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6C88B6B2-1A12-4C34-8FF2-99A926A6CBC4}"/>
                  </a:ext>
                </a:extLst>
              </p14:cNvPr>
              <p14:cNvContentPartPr/>
              <p14:nvPr/>
            </p14:nvContentPartPr>
            <p14:xfrm>
              <a:off x="6812227" y="4437502"/>
              <a:ext cx="360" cy="3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6C88B6B2-1A12-4C34-8FF2-99A926A6CBC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803587" y="442886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F844B5FB-2F2C-416B-8A7A-560ED2295565}"/>
                  </a:ext>
                </a:extLst>
              </p14:cNvPr>
              <p14:cNvContentPartPr/>
              <p14:nvPr/>
            </p14:nvContentPartPr>
            <p14:xfrm>
              <a:off x="7375627" y="4093342"/>
              <a:ext cx="360" cy="21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F844B5FB-2F2C-416B-8A7A-560ED229556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366987" y="4084702"/>
                <a:ext cx="1800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1525AF61-1735-4EEC-BA79-E46B28C7DC51}"/>
                  </a:ext>
                </a:extLst>
              </p14:cNvPr>
              <p14:cNvContentPartPr/>
              <p14:nvPr/>
            </p14:nvContentPartPr>
            <p14:xfrm>
              <a:off x="4459267" y="1935142"/>
              <a:ext cx="360" cy="21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1525AF61-1735-4EEC-BA79-E46B28C7DC5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450267" y="1926502"/>
                <a:ext cx="1800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6DD50C86-B4F0-44F8-B962-E2B711DD8509}"/>
                  </a:ext>
                </a:extLst>
              </p14:cNvPr>
              <p14:cNvContentPartPr/>
              <p14:nvPr/>
            </p14:nvContentPartPr>
            <p14:xfrm>
              <a:off x="4472227" y="1755142"/>
              <a:ext cx="360" cy="36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6DD50C86-B4F0-44F8-B962-E2B711DD850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463587" y="174614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B762EECF-D712-445F-9D82-334F810BCC91}"/>
                  </a:ext>
                </a:extLst>
              </p14:cNvPr>
              <p14:cNvContentPartPr/>
              <p14:nvPr/>
            </p14:nvContentPartPr>
            <p14:xfrm>
              <a:off x="8277067" y="4220782"/>
              <a:ext cx="360" cy="36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B762EECF-D712-445F-9D82-334F810BCC9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268427" y="421178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CE3EE7A8-F061-4662-9A6B-C9CB0E2A492C}"/>
                  </a:ext>
                </a:extLst>
              </p14:cNvPr>
              <p14:cNvContentPartPr/>
              <p14:nvPr/>
            </p14:nvContentPartPr>
            <p14:xfrm>
              <a:off x="7679107" y="2686462"/>
              <a:ext cx="360" cy="36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CE3EE7A8-F061-4662-9A6B-C9CB0E2A492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670107" y="267782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D0540093-62B1-4EB4-831C-F316EE6AE093}"/>
                  </a:ext>
                </a:extLst>
              </p14:cNvPr>
              <p14:cNvContentPartPr/>
              <p14:nvPr/>
            </p14:nvContentPartPr>
            <p14:xfrm>
              <a:off x="5681107" y="1558222"/>
              <a:ext cx="360" cy="216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D0540093-62B1-4EB4-831C-F316EE6AE09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672107" y="1549222"/>
                <a:ext cx="1800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BE2E9177-1301-40AD-AC80-9E84D66D89B1}"/>
                  </a:ext>
                </a:extLst>
              </p14:cNvPr>
              <p14:cNvContentPartPr/>
              <p14:nvPr/>
            </p14:nvContentPartPr>
            <p14:xfrm>
              <a:off x="3379987" y="4480702"/>
              <a:ext cx="360" cy="3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BE2E9177-1301-40AD-AC80-9E84D66D89B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371347" y="447206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A667B3E6-0A84-4B7F-9C9E-E24DDDAB4CA7}"/>
                  </a:ext>
                </a:extLst>
              </p14:cNvPr>
              <p14:cNvContentPartPr/>
              <p14:nvPr/>
            </p14:nvContentPartPr>
            <p14:xfrm>
              <a:off x="6067027" y="2880142"/>
              <a:ext cx="360" cy="216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A667B3E6-0A84-4B7F-9C9E-E24DDDAB4CA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058027" y="2871142"/>
                <a:ext cx="1800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A2C97CD8-22ED-40AB-B52E-5FAEC6A8C2D1}"/>
                  </a:ext>
                </a:extLst>
              </p14:cNvPr>
              <p14:cNvContentPartPr/>
              <p14:nvPr/>
            </p14:nvContentPartPr>
            <p14:xfrm>
              <a:off x="10626067" y="4840342"/>
              <a:ext cx="360" cy="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A2C97CD8-22ED-40AB-B52E-5FAEC6A8C2D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617067" y="4831702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17360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22FBE-3695-4278-B0FC-98286CB2D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2. Maximum </a:t>
            </a:r>
            <a:r>
              <a:rPr lang="en-US" sz="3600" dirty="0">
                <a:latin typeface="Oswald" panose="00000500000000000000" pitchFamily="2" charset="0"/>
              </a:rPr>
              <a:t>C</a:t>
            </a:r>
            <a:r>
              <a:rPr lang="en-US" sz="3600" i="0" u="none" strike="noStrike" baseline="0" dirty="0">
                <a:latin typeface="Oswald" panose="00000500000000000000" pitchFamily="2" charset="0"/>
              </a:rPr>
              <a:t>ontiguous</a:t>
            </a:r>
            <a:r>
              <a:rPr lang="en-US" sz="3600" b="1" i="0" u="none" strike="noStrike" baseline="0" dirty="0">
                <a:latin typeface="Vollkorn" panose="02000503070000020003"/>
              </a:rPr>
              <a:t> </a:t>
            </a:r>
            <a:r>
              <a:rPr lang="en-US" sz="3600" dirty="0"/>
              <a:t>Subarray</a:t>
            </a:r>
            <a:endParaRPr lang="en-US" sz="3600" dirty="0">
              <a:latin typeface="Oswald" panose="0200050300000000000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F6EC3-9534-497C-A4EB-9FA9557C2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TEXAS A&amp;M-SAN ANTONIO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D37D79-E0C0-4F4F-9454-ADCA2678D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084" y="3632210"/>
            <a:ext cx="10204450" cy="2444137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2007C2D-B050-4841-9CD3-F79024F06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0749" y="1476515"/>
            <a:ext cx="11047931" cy="3726251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latin typeface="Vollkorn" panose="02000503070000020003"/>
              </a:rPr>
              <a:t>Still need to check O(</a:t>
            </a:r>
            <a:r>
              <a:rPr lang="en-US" sz="24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</a:t>
            </a:r>
            <a:r>
              <a:rPr lang="en-US" sz="2400" baseline="300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Vollkorn" panose="02000503070000020003"/>
              </a:rPr>
              <a:t>) subarrays for a period of n days</a:t>
            </a:r>
          </a:p>
          <a:p>
            <a:pPr algn="l"/>
            <a:r>
              <a:rPr lang="en-US" sz="2400" dirty="0">
                <a:latin typeface="Vollkorn" panose="02000503070000020003"/>
              </a:rPr>
              <a:t>Similar to the brute-force solution takes O(</a:t>
            </a:r>
            <a:r>
              <a:rPr lang="en-US" sz="24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</a:t>
            </a:r>
            <a:r>
              <a:rPr lang="en-US" sz="2400" baseline="300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Vollkorn" panose="02000503070000020003"/>
              </a:rPr>
              <a:t>) </a:t>
            </a:r>
            <a:endParaRPr lang="en-US" sz="2400" b="0" i="0" u="none" strike="noStrike" baseline="0" dirty="0">
              <a:latin typeface="Vollkorn" panose="02000503070000020003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62FB119-D0CF-4C5D-B104-E879002446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133" y="2611903"/>
            <a:ext cx="8826500" cy="917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323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905EA-D868-4CCA-9133-AB32A6DA8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7886"/>
            <a:ext cx="10515600" cy="4351338"/>
          </a:xfrm>
        </p:spPr>
        <p:txBody>
          <a:bodyPr/>
          <a:lstStyle/>
          <a:p>
            <a:r>
              <a:rPr lang="en-US" sz="2400" dirty="0">
                <a:latin typeface="Vollkorn" panose="02000503070000020003"/>
              </a:rPr>
              <a:t>More efficient solution</a:t>
            </a:r>
          </a:p>
          <a:p>
            <a:pPr algn="l"/>
            <a:r>
              <a:rPr lang="en-US" sz="2400" b="0" i="0" u="none" strike="noStrike" baseline="0" dirty="0">
                <a:latin typeface="Vollkorn" panose="02000503070000020003"/>
              </a:rPr>
              <a:t>Divide the subarray into two subarrays of as equal size as possible</a:t>
            </a:r>
          </a:p>
          <a:p>
            <a:pPr algn="l"/>
            <a:r>
              <a:rPr lang="en-US" sz="2400" b="0" i="0" u="none" strike="noStrike" baseline="0" dirty="0">
                <a:latin typeface="Vollkorn" panose="02000503070000020003"/>
              </a:rPr>
              <a:t>Find  the midpoint, </a:t>
            </a:r>
            <a:r>
              <a:rPr lang="en-US" sz="2400" b="0" i="1" u="none" strike="noStrike" baseline="0" dirty="0">
                <a:latin typeface="Vollkorn" panose="02000503070000020003"/>
              </a:rPr>
              <a:t>mid</a:t>
            </a:r>
            <a:r>
              <a:rPr lang="en-US" sz="2400" b="0" i="0" u="none" strike="noStrike" baseline="0" dirty="0">
                <a:latin typeface="Vollkorn" panose="02000503070000020003"/>
              </a:rPr>
              <a:t>, of the subarray, and consider the subarrays </a:t>
            </a:r>
            <a:r>
              <a:rPr lang="en-US" sz="2400" b="0" u="none" strike="noStrike" baseline="0" dirty="0">
                <a:latin typeface="Vollkorn" panose="02000503070000020003"/>
              </a:rPr>
              <a:t>A[low </a:t>
            </a:r>
            <a:r>
              <a:rPr lang="en-US" sz="2400" dirty="0">
                <a:latin typeface="Vollkorn" panose="02000503070000020003"/>
              </a:rPr>
              <a:t>..</a:t>
            </a:r>
            <a:r>
              <a:rPr lang="en-US" sz="2400" b="0" u="none" strike="noStrike" baseline="0" dirty="0">
                <a:latin typeface="Vollkorn" panose="02000503070000020003"/>
              </a:rPr>
              <a:t> Mid] and A[mid+1..high]</a:t>
            </a:r>
          </a:p>
          <a:p>
            <a:pPr algn="l"/>
            <a:r>
              <a:rPr lang="en-US" sz="2400" dirty="0">
                <a:latin typeface="Vollkorn" panose="02000503070000020003"/>
              </a:rPr>
              <a:t>A</a:t>
            </a:r>
            <a:r>
              <a:rPr lang="en-US" sz="2400" b="0" i="0" u="none" strike="noStrike" baseline="0" dirty="0">
                <a:latin typeface="Vollkorn" panose="02000503070000020003"/>
              </a:rPr>
              <a:t>ny contiguous subarray (</a:t>
            </a:r>
            <a:r>
              <a:rPr lang="en-US" sz="2400" dirty="0">
                <a:latin typeface="Vollkorn" panose="02000503070000020003"/>
              </a:rPr>
              <a:t>M</a:t>
            </a:r>
            <a:r>
              <a:rPr lang="en-US" sz="2400" b="0" i="0" u="none" strike="noStrike" baseline="0" dirty="0">
                <a:latin typeface="Vollkorn" panose="02000503070000020003"/>
              </a:rPr>
              <a:t>aximum) </a:t>
            </a:r>
            <a:r>
              <a:rPr lang="en-US" sz="2400" b="0" u="none" strike="noStrike" baseline="0" dirty="0">
                <a:latin typeface="Vollkorn" panose="02000503070000020003"/>
              </a:rPr>
              <a:t>A[</a:t>
            </a:r>
            <a:r>
              <a:rPr lang="en-US" sz="2400" b="0" u="none" strike="noStrike" baseline="0" dirty="0" err="1">
                <a:latin typeface="Vollkorn" panose="02000503070000020003"/>
              </a:rPr>
              <a:t>i</a:t>
            </a:r>
            <a:r>
              <a:rPr lang="en-US" sz="2400" b="0" u="none" strike="noStrike" baseline="0" dirty="0">
                <a:latin typeface="Vollkorn" panose="02000503070000020003"/>
              </a:rPr>
              <a:t>..j] of A[</a:t>
            </a:r>
            <a:r>
              <a:rPr lang="en-US" sz="2400" b="0" u="none" strike="noStrike" baseline="0" dirty="0" err="1">
                <a:latin typeface="Vollkorn" panose="02000503070000020003"/>
              </a:rPr>
              <a:t>low..high</a:t>
            </a:r>
            <a:r>
              <a:rPr lang="en-US" sz="2400" b="0" u="none" strike="noStrike" baseline="0" dirty="0">
                <a:latin typeface="Vollkorn" panose="02000503070000020003"/>
              </a:rPr>
              <a:t>] </a:t>
            </a:r>
            <a:r>
              <a:rPr lang="en-US" sz="2400" b="0" i="0" u="none" strike="noStrike" baseline="0" dirty="0">
                <a:latin typeface="Vollkorn" panose="02000503070000020003"/>
              </a:rPr>
              <a:t>must lie in one of the following places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F3C93-1F2C-4808-AE9C-5BEE38E6A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70810A6-BB02-44A2-A25B-0A12D68A6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3. Solution with Divide-and-Conquer</a:t>
            </a:r>
            <a:endParaRPr lang="en-US" sz="3600" dirty="0">
              <a:latin typeface="Oswald" panose="0200050300000000000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79266E-F80E-4B8C-932B-27F5634D1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010" y="4061224"/>
            <a:ext cx="10327106" cy="150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4778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5EA9F-D375-4F0B-87C3-8C274D8BC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4"/>
            <a:ext cx="10515600" cy="4851400"/>
          </a:xfrm>
        </p:spPr>
        <p:txBody>
          <a:bodyPr/>
          <a:lstStyle/>
          <a:p>
            <a:pPr algn="l"/>
            <a:r>
              <a:rPr lang="en-US" sz="2400" b="0" i="0" u="none" strike="noStrike" baseline="0" dirty="0">
                <a:latin typeface="Vollkorn" panose="02000503070000020003"/>
              </a:rPr>
              <a:t>Need to find maximum subarrays of the form A[</a:t>
            </a:r>
            <a:r>
              <a:rPr lang="en-US" sz="2400" b="0" i="0" u="none" strike="noStrike" baseline="0" dirty="0" err="1">
                <a:latin typeface="Vollkorn" panose="02000503070000020003"/>
              </a:rPr>
              <a:t>i</a:t>
            </a:r>
            <a:r>
              <a:rPr lang="en-US" sz="2400" b="0" i="0" u="none" strike="noStrike" baseline="0" dirty="0">
                <a:latin typeface="Vollkorn" panose="02000503070000020003"/>
              </a:rPr>
              <a:t>.. </a:t>
            </a:r>
            <a:r>
              <a:rPr lang="en-US" sz="2400" b="0" i="1" u="none" strike="noStrike" baseline="0" dirty="0">
                <a:latin typeface="Vollkorn" panose="02000503070000020003"/>
              </a:rPr>
              <a:t>Mid]</a:t>
            </a:r>
            <a:r>
              <a:rPr lang="en-US" sz="2400" b="0" i="0" u="none" strike="noStrike" baseline="0" dirty="0">
                <a:latin typeface="Vollkorn" panose="02000503070000020003"/>
              </a:rPr>
              <a:t> and A[</a:t>
            </a:r>
            <a:r>
              <a:rPr lang="en-US" sz="2400" b="0" i="1" u="none" strike="noStrike" baseline="0" dirty="0">
                <a:latin typeface="Vollkorn" panose="02000503070000020003"/>
              </a:rPr>
              <a:t>Mid+1</a:t>
            </a:r>
            <a:r>
              <a:rPr lang="en-US" sz="2400" b="0" i="0" u="none" strike="noStrike" baseline="0" dirty="0">
                <a:latin typeface="Vollkorn" panose="02000503070000020003"/>
              </a:rPr>
              <a:t>..j]  and then combine them</a:t>
            </a:r>
          </a:p>
          <a:p>
            <a:r>
              <a:rPr lang="en-US" sz="2400" dirty="0">
                <a:latin typeface="Vollkorn" panose="02000503070000020003"/>
              </a:rPr>
              <a:t>Consider </a:t>
            </a:r>
            <a:r>
              <a:rPr lang="en-US" sz="2400" b="0" i="0" u="none" strike="noStrike" baseline="0" dirty="0">
                <a:latin typeface="Vollkorn" panose="02000503070000020003"/>
              </a:rPr>
              <a:t>that the subarray it chooses must cross the midpoint</a:t>
            </a:r>
          </a:p>
          <a:p>
            <a:pPr algn="l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04E58-88BF-4CA8-AEEC-53BD0069C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C9CEC75-7803-4C53-8992-BCB145330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3. Solution with Divide-and-Conquer</a:t>
            </a:r>
            <a:endParaRPr lang="en-US" sz="3600" dirty="0">
              <a:latin typeface="Oswald" panose="0200050300000000000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CEAA8D-A6DD-4DC8-B75A-04D636D1B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220" y="2643240"/>
            <a:ext cx="9326880" cy="3237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2408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2AECB-1D79-4A46-9DC1-B3A329082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4" y="-7408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3. Solution with Divide-and-Conquer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6189AB0-2267-4B94-9A43-2685A0306C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12354" y="1782451"/>
            <a:ext cx="4831010" cy="3940703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36E3A5-B115-448D-AFD6-BE654341A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TEXAS A&amp;M-SAN ANTONIO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20868D-7BB2-4011-887A-B2B754BD9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83" y="1589691"/>
            <a:ext cx="7142610" cy="40423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39D5379-4EBE-435F-ACCF-D6586C8950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9968" y="921503"/>
            <a:ext cx="7795684" cy="725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47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B0762-4F8D-47F5-860C-8D718BDA8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266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3. Analysis Using Divide-and-Conquer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82713-A7BF-4F71-BD26-81392DEE2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833" y="1151735"/>
            <a:ext cx="10515600" cy="4716463"/>
          </a:xfrm>
        </p:spPr>
        <p:txBody>
          <a:bodyPr>
            <a:normAutofit/>
          </a:bodyPr>
          <a:lstStyle/>
          <a:p>
            <a:pPr algn="l"/>
            <a:r>
              <a:rPr lang="en-US" sz="2200" b="0" i="0" u="none" strike="noStrike" baseline="0" dirty="0">
                <a:latin typeface="Vollkorn" panose="02000503070000020003"/>
              </a:rPr>
              <a:t>FIND-MAX-CROSSING-SUBARRAY</a:t>
            </a:r>
          </a:p>
          <a:p>
            <a:pPr lvl="1"/>
            <a:r>
              <a:rPr lang="en-US" sz="2200" b="0" i="0" u="none" strike="noStrike" baseline="0" dirty="0">
                <a:latin typeface="Vollkorn" panose="02000503070000020003"/>
              </a:rPr>
              <a:t>The </a:t>
            </a:r>
            <a:r>
              <a:rPr lang="en-US" sz="2200" b="1" i="0" u="none" strike="noStrike" baseline="0" dirty="0">
                <a:latin typeface="Vollkorn" panose="02000503070000020003"/>
              </a:rPr>
              <a:t>for </a:t>
            </a:r>
            <a:r>
              <a:rPr lang="en-US" sz="2200" b="0" i="0" u="none" strike="noStrike" baseline="0" dirty="0">
                <a:latin typeface="Vollkorn" panose="02000503070000020003"/>
              </a:rPr>
              <a:t>loop of lines 3–7 makes (</a:t>
            </a:r>
            <a:r>
              <a:rPr lang="en-US" sz="2200" b="0" i="1" u="none" strike="noStrike" baseline="0" dirty="0">
                <a:latin typeface="Vollkorn" panose="02000503070000020003"/>
              </a:rPr>
              <a:t>mid -</a:t>
            </a:r>
            <a:r>
              <a:rPr lang="en-US" sz="2200" b="0" i="0" u="none" strike="noStrike" baseline="0" dirty="0">
                <a:latin typeface="Vollkorn" panose="02000503070000020003"/>
              </a:rPr>
              <a:t> </a:t>
            </a:r>
            <a:r>
              <a:rPr lang="en-US" sz="2200" b="0" i="1" u="none" strike="noStrike" baseline="0" dirty="0">
                <a:latin typeface="Vollkorn" panose="02000503070000020003"/>
              </a:rPr>
              <a:t>low </a:t>
            </a:r>
            <a:r>
              <a:rPr lang="en-US" sz="2200" dirty="0">
                <a:latin typeface="Vollkorn" panose="02000503070000020003"/>
              </a:rPr>
              <a:t>+</a:t>
            </a:r>
            <a:r>
              <a:rPr lang="en-US" sz="2200" b="0" i="0" u="none" strike="noStrike" baseline="0" dirty="0">
                <a:latin typeface="Vollkorn" panose="02000503070000020003"/>
              </a:rPr>
              <a:t> 1) iterations, and the </a:t>
            </a:r>
            <a:r>
              <a:rPr lang="en-US" sz="2200" b="1" i="0" u="none" strike="noStrike" baseline="0" dirty="0">
                <a:latin typeface="Vollkorn" panose="02000503070000020003"/>
              </a:rPr>
              <a:t>for </a:t>
            </a:r>
            <a:r>
              <a:rPr lang="en-US" sz="2200" b="0" i="0" u="none" strike="noStrike" baseline="0" dirty="0">
                <a:latin typeface="Vollkorn" panose="02000503070000020003"/>
              </a:rPr>
              <a:t>loop of lines 10–14  makes (</a:t>
            </a:r>
            <a:r>
              <a:rPr lang="en-US" sz="2200" b="0" i="1" u="none" strike="noStrike" baseline="0" dirty="0">
                <a:latin typeface="Vollkorn" panose="02000503070000020003"/>
              </a:rPr>
              <a:t>high –</a:t>
            </a:r>
            <a:r>
              <a:rPr lang="en-US" sz="2200" b="0" i="0" u="none" strike="noStrike" baseline="0" dirty="0">
                <a:latin typeface="Vollkorn" panose="02000503070000020003"/>
              </a:rPr>
              <a:t> </a:t>
            </a:r>
            <a:r>
              <a:rPr lang="en-US" sz="2200" b="0" i="1" u="none" strike="noStrike" baseline="0" dirty="0">
                <a:latin typeface="Vollkorn" panose="02000503070000020003"/>
              </a:rPr>
              <a:t>mid) </a:t>
            </a:r>
            <a:r>
              <a:rPr lang="en-US" sz="2200" b="0" i="0" u="none" strike="noStrike" baseline="0" dirty="0">
                <a:latin typeface="Vollkorn" panose="02000503070000020003"/>
              </a:rPr>
              <a:t>iterations, and so the total number of iterations is</a:t>
            </a:r>
          </a:p>
          <a:p>
            <a:pPr lvl="1"/>
            <a:endParaRPr lang="en-US" sz="2200" dirty="0">
              <a:latin typeface="Vollkorn" panose="02000503070000020003"/>
            </a:endParaRPr>
          </a:p>
          <a:p>
            <a:pPr lvl="1"/>
            <a:endParaRPr lang="en-US" sz="2200" b="0" i="0" u="none" strike="noStrike" baseline="0" dirty="0">
              <a:latin typeface="Vollkorn" panose="02000503070000020003"/>
            </a:endParaRPr>
          </a:p>
          <a:p>
            <a:r>
              <a:rPr lang="en-US" sz="2200" dirty="0">
                <a:latin typeface="Vollkorn" panose="02000503070000020003"/>
              </a:rPr>
              <a:t>FIND-MAX-SUBARRAY </a:t>
            </a:r>
          </a:p>
          <a:p>
            <a:pPr lvl="1"/>
            <a:r>
              <a:rPr lang="en-US" sz="2000" dirty="0">
                <a:latin typeface="Vollkorn" panose="02000503070000020003"/>
              </a:rPr>
              <a:t>Base case when n = 1, T(1) = O(1) for lines 1-2</a:t>
            </a:r>
          </a:p>
          <a:p>
            <a:pPr lvl="1"/>
            <a:r>
              <a:rPr lang="en-US" sz="2000" b="0" i="0" u="none" strike="noStrike" baseline="0" dirty="0">
                <a:latin typeface="Vollkorn" panose="02000503070000020003"/>
              </a:rPr>
              <a:t>Recursive case when n &gt; 1 </a:t>
            </a:r>
          </a:p>
          <a:p>
            <a:pPr lvl="2"/>
            <a:r>
              <a:rPr lang="en-US" b="0" i="0" u="none" strike="noStrike" baseline="0" dirty="0">
                <a:latin typeface="Vollkorn" panose="02000503070000020003"/>
              </a:rPr>
              <a:t>O(1) for lines 1-3</a:t>
            </a:r>
          </a:p>
          <a:p>
            <a:pPr lvl="2"/>
            <a:r>
              <a:rPr lang="en-US" b="0" i="0" u="none" strike="noStrike" baseline="0" dirty="0">
                <a:latin typeface="Vollkorn" panose="02000503070000020003"/>
              </a:rPr>
              <a:t>T(n/2) for each subarray for line 4 and 5</a:t>
            </a:r>
          </a:p>
          <a:p>
            <a:pPr lvl="2"/>
            <a:r>
              <a:rPr lang="en-US" dirty="0">
                <a:latin typeface="Vollkorn" panose="02000503070000020003"/>
              </a:rPr>
              <a:t>O(n) for line 6</a:t>
            </a:r>
          </a:p>
          <a:p>
            <a:pPr lvl="2"/>
            <a:r>
              <a:rPr lang="en-US" b="0" i="0" u="none" strike="noStrike" baseline="0" dirty="0">
                <a:latin typeface="Vollkorn" panose="02000503070000020003"/>
              </a:rPr>
              <a:t>O(1) for lines 7-11</a:t>
            </a:r>
          </a:p>
          <a:p>
            <a:pPr marL="914400" lvl="2" indent="0">
              <a:buNone/>
            </a:pPr>
            <a:endParaRPr lang="en-US" sz="1000" b="0" i="0" u="none" strike="noStrike" baseline="0" dirty="0">
              <a:latin typeface="Times-Roman"/>
            </a:endParaRPr>
          </a:p>
          <a:p>
            <a:pPr lvl="2"/>
            <a:endParaRPr lang="en-US" sz="1000" b="0" i="0" u="none" strike="noStrike" baseline="0" dirty="0">
              <a:latin typeface="Times-Roman"/>
            </a:endParaRPr>
          </a:p>
          <a:p>
            <a:pPr algn="l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C51BA-E44D-4D07-BB7A-ED7932582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TEXAS A&amp;M-SAN ANTONIO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4F4D62-D049-4999-AAA9-7E85A495C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958" y="2242265"/>
            <a:ext cx="5966263" cy="6874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0771B5-A832-4B2D-9092-FA827CC63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9058" y="5424803"/>
            <a:ext cx="4278842" cy="707778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43E7AD3-1870-4E1E-977F-BCC74E4BF8BE}"/>
              </a:ext>
            </a:extLst>
          </p:cNvPr>
          <p:cNvSpPr txBox="1">
            <a:spLocks/>
          </p:cNvSpPr>
          <p:nvPr/>
        </p:nvSpPr>
        <p:spPr>
          <a:xfrm>
            <a:off x="2455333" y="2417502"/>
            <a:ext cx="5001535" cy="21502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Vollkorn" panose="02000503070000020003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ollkorn" panose="02000503070000020003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ollkorn" panose="02000503070000020003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ollkorn" panose="02000503070000020003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ollkorn" panose="0200050307000002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sz="1000" dirty="0">
              <a:latin typeface="Times-Roman"/>
            </a:endParaRPr>
          </a:p>
          <a:p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FFCB01E-ED7E-48D7-9504-E9AA1C7EB1D9}"/>
              </a:ext>
            </a:extLst>
          </p:cNvPr>
          <p:cNvSpPr txBox="1">
            <a:spLocks/>
          </p:cNvSpPr>
          <p:nvPr/>
        </p:nvSpPr>
        <p:spPr>
          <a:xfrm>
            <a:off x="7149951" y="4285091"/>
            <a:ext cx="4540399" cy="149360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Vollkorn" panose="02000503070000020003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ollkorn" panose="02000503070000020003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ollkorn" panose="02000503070000020003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ollkorn" panose="02000503070000020003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ollkorn" panose="0200050307000002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Vollkorn" panose="02000503070000020003"/>
              </a:rPr>
              <a:t>This recurrence happens </a:t>
            </a:r>
            <a:r>
              <a:rPr lang="en-US" sz="2400" i="1" dirty="0" err="1">
                <a:latin typeface="Vollkorn" panose="02000503070000020003"/>
              </a:rPr>
              <a:t>logn</a:t>
            </a:r>
            <a:r>
              <a:rPr lang="en-US" sz="2400" dirty="0">
                <a:latin typeface="Vollkorn" panose="02000503070000020003"/>
              </a:rPr>
              <a:t> times</a:t>
            </a:r>
          </a:p>
          <a:p>
            <a:r>
              <a:rPr lang="en-US" sz="2400" dirty="0">
                <a:latin typeface="Vollkorn" panose="02000503070000020003"/>
              </a:rPr>
              <a:t>So,  the solution is </a:t>
            </a:r>
            <a:r>
              <a:rPr lang="pt-BR" sz="2400" b="0" i="1" u="none" strike="noStrike" baseline="0" dirty="0">
                <a:latin typeface="Vollkorn" panose="02000503070000020003"/>
              </a:rPr>
              <a:t>O(</a:t>
            </a:r>
            <a:r>
              <a:rPr lang="pt-BR" sz="2400" b="0" i="1" u="none" strike="noStrike" baseline="0" dirty="0" err="1">
                <a:latin typeface="Vollkorn" panose="02000503070000020003"/>
              </a:rPr>
              <a:t>nlogn</a:t>
            </a:r>
            <a:r>
              <a:rPr lang="pt-BR" sz="2400" b="0" i="1" u="none" strike="noStrike" baseline="0" dirty="0">
                <a:latin typeface="Vollkorn" panose="02000503070000020003"/>
              </a:rPr>
              <a:t>)</a:t>
            </a:r>
          </a:p>
          <a:p>
            <a:r>
              <a:rPr lang="en-US" sz="2400" b="0" i="0" u="none" strike="noStrike" baseline="0" dirty="0">
                <a:latin typeface="Vollkorn" panose="02000503070000020003"/>
              </a:rPr>
              <a:t>Asymptotically faster than the brute-force method</a:t>
            </a:r>
            <a:endParaRPr lang="en-US" sz="2400" i="1" dirty="0">
              <a:latin typeface="Vollkorn" panose="02000503070000020003"/>
            </a:endParaRPr>
          </a:p>
          <a:p>
            <a:pPr marL="914400" lvl="2" indent="0">
              <a:buFont typeface="Arial" panose="020B0604020202020204" pitchFamily="34" charset="0"/>
              <a:buNone/>
            </a:pPr>
            <a:endParaRPr lang="en-US" sz="2400" dirty="0">
              <a:latin typeface="Vollkorn" panose="02000503070000020003"/>
            </a:endParaRPr>
          </a:p>
          <a:p>
            <a:pPr lvl="2"/>
            <a:endParaRPr lang="en-US" sz="1000" dirty="0">
              <a:latin typeface="Times-Roman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54774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74474-BC4F-4237-A36F-B1B182540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886" y="1825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i="0" u="none" strike="noStrike" baseline="0" dirty="0">
                <a:latin typeface="Oswald" panose="02000503000000000000"/>
              </a:rPr>
              <a:t>4. Solution with Dynamic Programming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CFD95-2718-47F1-9AA8-5F6BE17D7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53331"/>
            <a:ext cx="6513993" cy="4351338"/>
          </a:xfrm>
        </p:spPr>
        <p:txBody>
          <a:bodyPr>
            <a:normAutofit fontScale="62500" lnSpcReduction="20000"/>
          </a:bodyPr>
          <a:lstStyle/>
          <a:p>
            <a:r>
              <a:rPr lang="en-US" sz="3100" dirty="0" err="1"/>
              <a:t>Kadane’s</a:t>
            </a:r>
            <a:r>
              <a:rPr lang="en-US" sz="3100" dirty="0"/>
              <a:t> Algorithm</a:t>
            </a:r>
          </a:p>
          <a:p>
            <a:pPr lvl="1"/>
            <a:r>
              <a:rPr lang="en-US" sz="3100" dirty="0" err="1"/>
              <a:t>max_at_index</a:t>
            </a:r>
            <a:r>
              <a:rPr lang="en-US" sz="3100" dirty="0"/>
              <a:t> at each array index</a:t>
            </a:r>
          </a:p>
          <a:p>
            <a:pPr lvl="1"/>
            <a:r>
              <a:rPr lang="en-US" sz="3100" dirty="0">
                <a:solidFill>
                  <a:schemeClr val="accent6">
                    <a:lumMod val="75000"/>
                    <a:lumOff val="25000"/>
                  </a:schemeClr>
                </a:solidFill>
                <a:latin typeface="Vollkorn" panose="02000503070000020003"/>
              </a:rPr>
              <a:t>Max</a:t>
            </a:r>
            <a:r>
              <a:rPr lang="en-US" sz="3100" dirty="0"/>
              <a:t> of subarray</a:t>
            </a:r>
          </a:p>
          <a:p>
            <a:endParaRPr lang="en-US" sz="3100" dirty="0"/>
          </a:p>
          <a:p>
            <a:pPr marL="0" indent="0">
              <a:buNone/>
            </a:pPr>
            <a:r>
              <a:rPr lang="en-US" sz="3100" dirty="0">
                <a:latin typeface="Vollkorn" panose="02000503070000020003"/>
              </a:rPr>
              <a:t>   int Maximum-</a:t>
            </a:r>
            <a:r>
              <a:rPr lang="en-US" sz="3100" dirty="0" err="1">
                <a:latin typeface="Vollkorn" panose="02000503070000020003"/>
              </a:rPr>
              <a:t>SubArray</a:t>
            </a:r>
            <a:r>
              <a:rPr lang="en-US" sz="3100" dirty="0">
                <a:latin typeface="Vollkorn" panose="02000503070000020003"/>
              </a:rPr>
              <a:t>-</a:t>
            </a:r>
            <a:r>
              <a:rPr lang="en-US" sz="3100" dirty="0" err="1">
                <a:latin typeface="Vollkorn" panose="02000503070000020003"/>
              </a:rPr>
              <a:t>Kadane</a:t>
            </a:r>
            <a:r>
              <a:rPr lang="en-US" sz="3100" dirty="0">
                <a:latin typeface="Vollkorn" panose="02000503070000020003"/>
              </a:rPr>
              <a:t> (int A[]) {</a:t>
            </a:r>
          </a:p>
          <a:p>
            <a:pPr marL="914400" lvl="2" indent="0">
              <a:buNone/>
            </a:pPr>
            <a:r>
              <a:rPr lang="en-US" sz="3100" dirty="0" err="1">
                <a:latin typeface="Vollkorn" panose="02000503070000020003"/>
              </a:rPr>
              <a:t>max_at_index</a:t>
            </a:r>
            <a:r>
              <a:rPr lang="en-US" sz="3100" dirty="0">
                <a:latin typeface="Vollkorn" panose="02000503070000020003"/>
              </a:rPr>
              <a:t> = 0, </a:t>
            </a:r>
            <a:r>
              <a:rPr lang="en-US" sz="3100" dirty="0">
                <a:solidFill>
                  <a:schemeClr val="accent6">
                    <a:lumMod val="75000"/>
                    <a:lumOff val="25000"/>
                  </a:schemeClr>
                </a:solidFill>
                <a:latin typeface="Vollkorn" panose="02000503070000020003"/>
              </a:rPr>
              <a:t>Max</a:t>
            </a:r>
            <a:r>
              <a:rPr lang="en-US" sz="3100" dirty="0">
                <a:latin typeface="Vollkorn" panose="02000503070000020003"/>
              </a:rPr>
              <a:t> = </a:t>
            </a:r>
            <a:r>
              <a:rPr lang="en-US" sz="3100" dirty="0">
                <a:effectLst/>
                <a:latin typeface="Vollkorn" panose="02000503070000020003"/>
                <a:ea typeface="Malgun Gothic" panose="020B0503020000020004" pitchFamily="34" charset="-127"/>
                <a:cs typeface="Times New Roman" panose="02020603050405020304" pitchFamily="18" charset="0"/>
              </a:rPr>
              <a:t>-</a:t>
            </a:r>
            <a:r>
              <a:rPr lang="en-US" sz="3100" dirty="0">
                <a:effectLst/>
                <a:latin typeface="Vollkorn" panose="02000503070000020003"/>
                <a:ea typeface="Malgun Gothic" panose="020B0503020000020004" pitchFamily="34" charset="-127"/>
                <a:cs typeface="Calibri" panose="020F0502020204030204" pitchFamily="34" charset="0"/>
              </a:rPr>
              <a:t>∞</a:t>
            </a:r>
            <a:r>
              <a:rPr lang="en-US" sz="3100" dirty="0">
                <a:latin typeface="Vollkorn" panose="02000503070000020003"/>
              </a:rPr>
              <a:t>;</a:t>
            </a:r>
          </a:p>
          <a:p>
            <a:pPr marL="914400" lvl="2" indent="0">
              <a:buNone/>
            </a:pPr>
            <a:r>
              <a:rPr lang="en-US" sz="3100" dirty="0">
                <a:latin typeface="Vollkorn" panose="02000503070000020003"/>
              </a:rPr>
              <a:t>for ( </a:t>
            </a:r>
            <a:r>
              <a:rPr lang="en-US" sz="3100" dirty="0" err="1">
                <a:latin typeface="Vollkorn" panose="02000503070000020003"/>
              </a:rPr>
              <a:t>i</a:t>
            </a:r>
            <a:r>
              <a:rPr lang="en-US" sz="3100" dirty="0">
                <a:latin typeface="Vollkorn" panose="02000503070000020003"/>
              </a:rPr>
              <a:t> = 1; </a:t>
            </a:r>
            <a:r>
              <a:rPr lang="en-US" sz="3100" dirty="0" err="1">
                <a:latin typeface="Vollkorn" panose="02000503070000020003"/>
              </a:rPr>
              <a:t>i</a:t>
            </a:r>
            <a:r>
              <a:rPr lang="en-US" sz="3100" dirty="0">
                <a:latin typeface="Vollkorn" panose="02000503070000020003"/>
              </a:rPr>
              <a:t> &lt;= </a:t>
            </a:r>
            <a:r>
              <a:rPr lang="en-US" sz="3100" dirty="0" err="1">
                <a:latin typeface="Vollkorn" panose="02000503070000020003"/>
              </a:rPr>
              <a:t>A.length</a:t>
            </a:r>
            <a:r>
              <a:rPr lang="en-US" sz="3100" dirty="0">
                <a:latin typeface="Vollkorn" panose="02000503070000020003"/>
              </a:rPr>
              <a:t>, </a:t>
            </a:r>
            <a:r>
              <a:rPr lang="en-US" sz="3100" dirty="0" err="1">
                <a:latin typeface="Vollkorn" panose="02000503070000020003"/>
              </a:rPr>
              <a:t>i</a:t>
            </a:r>
            <a:r>
              <a:rPr lang="en-US" sz="3100" dirty="0">
                <a:latin typeface="Vollkorn" panose="02000503070000020003"/>
              </a:rPr>
              <a:t>++) {</a:t>
            </a:r>
          </a:p>
          <a:p>
            <a:pPr marL="914400" lvl="2" indent="0">
              <a:buNone/>
            </a:pPr>
            <a:r>
              <a:rPr lang="en-US" sz="3100" dirty="0">
                <a:latin typeface="Vollkorn" panose="02000503070000020003"/>
              </a:rPr>
              <a:t>      </a:t>
            </a:r>
            <a:r>
              <a:rPr lang="en-US" sz="3100" dirty="0" err="1">
                <a:latin typeface="Vollkorn" panose="02000503070000020003"/>
              </a:rPr>
              <a:t>max_at_index</a:t>
            </a:r>
            <a:r>
              <a:rPr lang="en-US" sz="3100" dirty="0">
                <a:latin typeface="Vollkorn" panose="02000503070000020003"/>
              </a:rPr>
              <a:t> = </a:t>
            </a:r>
            <a:r>
              <a:rPr lang="en-US" sz="3100" dirty="0" err="1">
                <a:latin typeface="Vollkorn" panose="02000503070000020003"/>
              </a:rPr>
              <a:t>max_at_index</a:t>
            </a:r>
            <a:r>
              <a:rPr lang="en-US" sz="3100" dirty="0">
                <a:latin typeface="Vollkorn" panose="02000503070000020003"/>
              </a:rPr>
              <a:t> + A[</a:t>
            </a:r>
            <a:r>
              <a:rPr lang="en-US" sz="3100" dirty="0" err="1">
                <a:latin typeface="Vollkorn" panose="02000503070000020003"/>
              </a:rPr>
              <a:t>i</a:t>
            </a:r>
            <a:r>
              <a:rPr lang="en-US" sz="3100" dirty="0">
                <a:latin typeface="Vollkorn" panose="02000503070000020003"/>
              </a:rPr>
              <a:t>];</a:t>
            </a:r>
          </a:p>
          <a:p>
            <a:pPr marL="914400" lvl="2" indent="0">
              <a:buNone/>
            </a:pPr>
            <a:r>
              <a:rPr lang="en-US" sz="3100" dirty="0">
                <a:latin typeface="Vollkorn" panose="02000503070000020003"/>
              </a:rPr>
              <a:t>      if (</a:t>
            </a:r>
            <a:r>
              <a:rPr lang="en-US" sz="3100" dirty="0" err="1">
                <a:latin typeface="Vollkorn" panose="02000503070000020003"/>
              </a:rPr>
              <a:t>max_at_index</a:t>
            </a:r>
            <a:r>
              <a:rPr lang="en-US" sz="3100" dirty="0">
                <a:latin typeface="Vollkorn" panose="02000503070000020003"/>
              </a:rPr>
              <a:t> &gt; max) </a:t>
            </a:r>
          </a:p>
          <a:p>
            <a:pPr marL="914400" lvl="2" indent="0">
              <a:buNone/>
            </a:pPr>
            <a:r>
              <a:rPr lang="en-US" sz="3100" dirty="0">
                <a:latin typeface="Vollkorn" panose="02000503070000020003"/>
              </a:rPr>
              <a:t>	</a:t>
            </a:r>
            <a:r>
              <a:rPr lang="en-US" sz="3100" dirty="0"/>
              <a:t> </a:t>
            </a:r>
            <a:r>
              <a:rPr lang="en-US" sz="3100" dirty="0">
                <a:solidFill>
                  <a:schemeClr val="accent6">
                    <a:lumMod val="75000"/>
                    <a:lumOff val="25000"/>
                  </a:schemeClr>
                </a:solidFill>
                <a:latin typeface="Vollkorn" panose="02000503070000020003"/>
              </a:rPr>
              <a:t>Max</a:t>
            </a:r>
            <a:r>
              <a:rPr lang="en-US" sz="3100" dirty="0">
                <a:latin typeface="Vollkorn" panose="02000503070000020003"/>
              </a:rPr>
              <a:t> = </a:t>
            </a:r>
            <a:r>
              <a:rPr lang="en-US" sz="3100" dirty="0" err="1">
                <a:latin typeface="Vollkorn" panose="02000503070000020003"/>
              </a:rPr>
              <a:t>max_at_index</a:t>
            </a:r>
            <a:r>
              <a:rPr lang="en-US" sz="3100" dirty="0">
                <a:latin typeface="Vollkorn" panose="02000503070000020003"/>
              </a:rPr>
              <a:t>;</a:t>
            </a:r>
          </a:p>
          <a:p>
            <a:pPr marL="914400" lvl="2" indent="0">
              <a:buNone/>
            </a:pPr>
            <a:r>
              <a:rPr lang="en-US" sz="3100" dirty="0">
                <a:latin typeface="Vollkorn" panose="02000503070000020003"/>
              </a:rPr>
              <a:t>      if (</a:t>
            </a:r>
            <a:r>
              <a:rPr lang="en-US" sz="3100" dirty="0" err="1">
                <a:latin typeface="Vollkorn" panose="02000503070000020003"/>
              </a:rPr>
              <a:t>max_at_index</a:t>
            </a:r>
            <a:r>
              <a:rPr lang="en-US" sz="3100" dirty="0">
                <a:latin typeface="Vollkorn" panose="02000503070000020003"/>
              </a:rPr>
              <a:t> &lt; 0)</a:t>
            </a:r>
          </a:p>
          <a:p>
            <a:pPr marL="914400" lvl="2" indent="0">
              <a:buNone/>
            </a:pPr>
            <a:r>
              <a:rPr lang="en-US" sz="3100" dirty="0">
                <a:latin typeface="Vollkorn" panose="02000503070000020003"/>
              </a:rPr>
              <a:t>	 </a:t>
            </a:r>
            <a:r>
              <a:rPr lang="en-US" sz="3100" dirty="0" err="1"/>
              <a:t>max</a:t>
            </a:r>
            <a:r>
              <a:rPr lang="en-US" sz="3100" dirty="0" err="1">
                <a:latin typeface="Vollkorn" panose="02000503070000020003"/>
              </a:rPr>
              <a:t>_at_index</a:t>
            </a:r>
            <a:r>
              <a:rPr lang="en-US" sz="3100" dirty="0">
                <a:latin typeface="Vollkorn" panose="02000503070000020003"/>
              </a:rPr>
              <a:t> = 0;</a:t>
            </a:r>
          </a:p>
          <a:p>
            <a:pPr marL="914400" lvl="2" indent="0">
              <a:buNone/>
            </a:pPr>
            <a:r>
              <a:rPr lang="en-US" sz="3100" dirty="0">
                <a:latin typeface="Vollkorn" panose="02000503070000020003"/>
              </a:rPr>
              <a:t>}</a:t>
            </a:r>
          </a:p>
          <a:p>
            <a:pPr marL="914400" lvl="2" indent="0">
              <a:buNone/>
            </a:pPr>
            <a:r>
              <a:rPr lang="en-US" sz="3100" dirty="0">
                <a:latin typeface="Vollkorn" panose="02000503070000020003"/>
              </a:rPr>
              <a:t>return </a:t>
            </a:r>
            <a:r>
              <a:rPr lang="en-US" sz="3100" dirty="0">
                <a:solidFill>
                  <a:schemeClr val="accent6">
                    <a:lumMod val="75000"/>
                    <a:lumOff val="25000"/>
                  </a:schemeClr>
                </a:solidFill>
                <a:latin typeface="Vollkorn" panose="02000503070000020003"/>
              </a:rPr>
              <a:t>Max</a:t>
            </a:r>
            <a:r>
              <a:rPr lang="en-US" sz="3100" dirty="0">
                <a:latin typeface="Vollkorn" panose="02000503070000020003"/>
              </a:rPr>
              <a:t>;</a:t>
            </a:r>
          </a:p>
          <a:p>
            <a:pPr marL="117475" lvl="2" indent="0">
              <a:buNone/>
            </a:pPr>
            <a:r>
              <a:rPr lang="en-US" sz="3100" dirty="0"/>
              <a:t>    }</a:t>
            </a:r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02546-B1F4-45C0-9EB3-8C132580B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E4D296F-625D-4B82-AEA2-F0D716DEAFB7}"/>
              </a:ext>
            </a:extLst>
          </p:cNvPr>
          <p:cNvSpPr txBox="1">
            <a:spLocks/>
          </p:cNvSpPr>
          <p:nvPr/>
        </p:nvSpPr>
        <p:spPr>
          <a:xfrm>
            <a:off x="5499401" y="1307023"/>
            <a:ext cx="5996326" cy="1006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Vollkorn" panose="02000503070000020003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ollkorn" panose="02000503070000020003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ollkorn" panose="02000503070000020003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ollkorn" panose="02000503070000020003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ollkorn" panose="0200050307000002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buFont typeface="Arial" panose="020B0604020202020204" pitchFamily="34" charset="0"/>
              <a:buNone/>
            </a:pPr>
            <a:endParaRPr lang="en-US" dirty="0"/>
          </a:p>
          <a:p>
            <a:pPr marL="914400" lvl="2" indent="0">
              <a:buFont typeface="Arial" panose="020B0604020202020204" pitchFamily="34" charset="0"/>
              <a:buNone/>
            </a:pPr>
            <a:endParaRPr lang="en-US" dirty="0"/>
          </a:p>
          <a:p>
            <a:pPr marL="914400" lvl="2" indent="0">
              <a:buFont typeface="Arial" panose="020B0604020202020204" pitchFamily="34" charset="0"/>
              <a:buNone/>
            </a:pPr>
            <a:endParaRPr lang="en-US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B4DCE2BA-880A-4775-B3EF-658727D2E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1748" y="1617596"/>
            <a:ext cx="7116626" cy="571088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E045DA7B-9546-4EBA-BF1A-1DC986D63A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1748" y="2667748"/>
            <a:ext cx="7043535" cy="30435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6D0929E9-156F-4F36-B886-DAC29656EB76}"/>
                  </a:ext>
                </a:extLst>
              </p14:cNvPr>
              <p14:cNvContentPartPr/>
              <p14:nvPr/>
            </p14:nvContentPartPr>
            <p14:xfrm>
              <a:off x="6673736" y="3417982"/>
              <a:ext cx="360" cy="3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6D0929E9-156F-4F36-B886-DAC29656EB7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64736" y="3408982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841236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1BA8A-59A1-678C-1C8C-92368F2AD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C4D7E-A018-A439-EAB3-D5E2B8CF6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886" y="1825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i="0" u="none" strike="noStrike" baseline="0" dirty="0">
                <a:latin typeface="Oswald" panose="02000503000000000000"/>
              </a:rPr>
              <a:t>4. Analysis with Dynamic Programming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1F1E1-CDAF-2B3F-5ADC-A99BB54111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53331"/>
            <a:ext cx="6513993" cy="4351338"/>
          </a:xfrm>
        </p:spPr>
        <p:txBody>
          <a:bodyPr>
            <a:normAutofit fontScale="62500" lnSpcReduction="20000"/>
          </a:bodyPr>
          <a:lstStyle/>
          <a:p>
            <a:r>
              <a:rPr lang="en-US" sz="3100" dirty="0" err="1"/>
              <a:t>Kadane’s</a:t>
            </a:r>
            <a:r>
              <a:rPr lang="en-US" sz="3100" dirty="0"/>
              <a:t> Algorithm</a:t>
            </a:r>
          </a:p>
          <a:p>
            <a:pPr lvl="1"/>
            <a:r>
              <a:rPr lang="en-US" sz="3100" dirty="0" err="1"/>
              <a:t>max_at_index</a:t>
            </a:r>
            <a:r>
              <a:rPr lang="en-US" sz="3100" dirty="0"/>
              <a:t> at each array index</a:t>
            </a:r>
          </a:p>
          <a:p>
            <a:pPr lvl="1"/>
            <a:r>
              <a:rPr lang="en-US" sz="3100" dirty="0">
                <a:solidFill>
                  <a:schemeClr val="accent6">
                    <a:lumMod val="75000"/>
                    <a:lumOff val="25000"/>
                  </a:schemeClr>
                </a:solidFill>
                <a:latin typeface="Vollkorn" panose="02000503070000020003"/>
              </a:rPr>
              <a:t>Max</a:t>
            </a:r>
            <a:r>
              <a:rPr lang="en-US" sz="3100" dirty="0"/>
              <a:t> of subarray</a:t>
            </a:r>
          </a:p>
          <a:p>
            <a:endParaRPr lang="en-US" sz="3100" dirty="0"/>
          </a:p>
          <a:p>
            <a:pPr marL="0" indent="0">
              <a:buNone/>
            </a:pPr>
            <a:r>
              <a:rPr lang="en-US" sz="3100" dirty="0">
                <a:latin typeface="Vollkorn" panose="02000503070000020003"/>
              </a:rPr>
              <a:t>   int Maximum-</a:t>
            </a:r>
            <a:r>
              <a:rPr lang="en-US" sz="3100" dirty="0" err="1">
                <a:latin typeface="Vollkorn" panose="02000503070000020003"/>
              </a:rPr>
              <a:t>SubArray</a:t>
            </a:r>
            <a:r>
              <a:rPr lang="en-US" sz="3100" dirty="0">
                <a:latin typeface="Vollkorn" panose="02000503070000020003"/>
              </a:rPr>
              <a:t>-</a:t>
            </a:r>
            <a:r>
              <a:rPr lang="en-US" sz="3100" dirty="0" err="1">
                <a:latin typeface="Vollkorn" panose="02000503070000020003"/>
              </a:rPr>
              <a:t>Kadane</a:t>
            </a:r>
            <a:r>
              <a:rPr lang="en-US" sz="3100" dirty="0">
                <a:latin typeface="Vollkorn" panose="02000503070000020003"/>
              </a:rPr>
              <a:t> (int A[]) {</a:t>
            </a:r>
          </a:p>
          <a:p>
            <a:pPr marL="914400" lvl="2" indent="0">
              <a:buNone/>
            </a:pPr>
            <a:r>
              <a:rPr lang="en-US" sz="3100" dirty="0" err="1">
                <a:latin typeface="Vollkorn" panose="02000503070000020003"/>
              </a:rPr>
              <a:t>max_at_index</a:t>
            </a:r>
            <a:r>
              <a:rPr lang="en-US" sz="3100" dirty="0">
                <a:latin typeface="Vollkorn" panose="02000503070000020003"/>
              </a:rPr>
              <a:t> = 0, </a:t>
            </a:r>
            <a:r>
              <a:rPr lang="en-US" sz="3100" dirty="0">
                <a:solidFill>
                  <a:schemeClr val="accent6">
                    <a:lumMod val="75000"/>
                    <a:lumOff val="25000"/>
                  </a:schemeClr>
                </a:solidFill>
                <a:latin typeface="Vollkorn" panose="02000503070000020003"/>
              </a:rPr>
              <a:t>Max</a:t>
            </a:r>
            <a:r>
              <a:rPr lang="en-US" sz="3100" dirty="0">
                <a:latin typeface="Vollkorn" panose="02000503070000020003"/>
              </a:rPr>
              <a:t> = </a:t>
            </a:r>
            <a:r>
              <a:rPr lang="en-US" sz="3100" dirty="0">
                <a:effectLst/>
                <a:latin typeface="Vollkorn" panose="02000503070000020003"/>
                <a:ea typeface="Malgun Gothic" panose="020B0503020000020004" pitchFamily="34" charset="-127"/>
                <a:cs typeface="Times New Roman" panose="02020603050405020304" pitchFamily="18" charset="0"/>
              </a:rPr>
              <a:t>-</a:t>
            </a:r>
            <a:r>
              <a:rPr lang="en-US" sz="3100" dirty="0">
                <a:effectLst/>
                <a:latin typeface="Vollkorn" panose="02000503070000020003"/>
                <a:ea typeface="Malgun Gothic" panose="020B0503020000020004" pitchFamily="34" charset="-127"/>
                <a:cs typeface="Calibri" panose="020F0502020204030204" pitchFamily="34" charset="0"/>
              </a:rPr>
              <a:t>∞</a:t>
            </a:r>
            <a:r>
              <a:rPr lang="en-US" sz="3100" dirty="0">
                <a:latin typeface="Vollkorn" panose="02000503070000020003"/>
              </a:rPr>
              <a:t>;</a:t>
            </a:r>
          </a:p>
          <a:p>
            <a:pPr marL="914400" lvl="2" indent="0">
              <a:buNone/>
            </a:pPr>
            <a:r>
              <a:rPr lang="en-US" sz="3100" dirty="0">
                <a:latin typeface="Vollkorn" panose="02000503070000020003"/>
              </a:rPr>
              <a:t>for ( </a:t>
            </a:r>
            <a:r>
              <a:rPr lang="en-US" sz="3100" dirty="0" err="1">
                <a:latin typeface="Vollkorn" panose="02000503070000020003"/>
              </a:rPr>
              <a:t>i</a:t>
            </a:r>
            <a:r>
              <a:rPr lang="en-US" sz="3100" dirty="0">
                <a:latin typeface="Vollkorn" panose="02000503070000020003"/>
              </a:rPr>
              <a:t> = 1; </a:t>
            </a:r>
            <a:r>
              <a:rPr lang="en-US" sz="3100" dirty="0" err="1">
                <a:latin typeface="Vollkorn" panose="02000503070000020003"/>
              </a:rPr>
              <a:t>i</a:t>
            </a:r>
            <a:r>
              <a:rPr lang="en-US" sz="3100" dirty="0">
                <a:latin typeface="Vollkorn" panose="02000503070000020003"/>
              </a:rPr>
              <a:t> &lt;= </a:t>
            </a:r>
            <a:r>
              <a:rPr lang="en-US" sz="3100" dirty="0" err="1">
                <a:latin typeface="Vollkorn" panose="02000503070000020003"/>
              </a:rPr>
              <a:t>A.length</a:t>
            </a:r>
            <a:r>
              <a:rPr lang="en-US" sz="3100" dirty="0">
                <a:latin typeface="Vollkorn" panose="02000503070000020003"/>
              </a:rPr>
              <a:t>, </a:t>
            </a:r>
            <a:r>
              <a:rPr lang="en-US" sz="3100" dirty="0" err="1">
                <a:latin typeface="Vollkorn" panose="02000503070000020003"/>
              </a:rPr>
              <a:t>i</a:t>
            </a:r>
            <a:r>
              <a:rPr lang="en-US" sz="3100" dirty="0">
                <a:latin typeface="Vollkorn" panose="02000503070000020003"/>
              </a:rPr>
              <a:t>++) {</a:t>
            </a:r>
          </a:p>
          <a:p>
            <a:pPr marL="914400" lvl="2" indent="0">
              <a:buNone/>
            </a:pPr>
            <a:r>
              <a:rPr lang="en-US" sz="3100" dirty="0">
                <a:latin typeface="Vollkorn" panose="02000503070000020003"/>
              </a:rPr>
              <a:t>      </a:t>
            </a:r>
            <a:r>
              <a:rPr lang="en-US" sz="3100" dirty="0" err="1">
                <a:latin typeface="Vollkorn" panose="02000503070000020003"/>
              </a:rPr>
              <a:t>max_at_index</a:t>
            </a:r>
            <a:r>
              <a:rPr lang="en-US" sz="3100" dirty="0">
                <a:latin typeface="Vollkorn" panose="02000503070000020003"/>
              </a:rPr>
              <a:t> = </a:t>
            </a:r>
            <a:r>
              <a:rPr lang="en-US" sz="3100" dirty="0" err="1">
                <a:latin typeface="Vollkorn" panose="02000503070000020003"/>
              </a:rPr>
              <a:t>max_at_index</a:t>
            </a:r>
            <a:r>
              <a:rPr lang="en-US" sz="3100" dirty="0">
                <a:latin typeface="Vollkorn" panose="02000503070000020003"/>
              </a:rPr>
              <a:t> + A[</a:t>
            </a:r>
            <a:r>
              <a:rPr lang="en-US" sz="3100" dirty="0" err="1">
                <a:latin typeface="Vollkorn" panose="02000503070000020003"/>
              </a:rPr>
              <a:t>i</a:t>
            </a:r>
            <a:r>
              <a:rPr lang="en-US" sz="3100" dirty="0">
                <a:latin typeface="Vollkorn" panose="02000503070000020003"/>
              </a:rPr>
              <a:t>];</a:t>
            </a:r>
          </a:p>
          <a:p>
            <a:pPr marL="914400" lvl="2" indent="0">
              <a:buNone/>
            </a:pPr>
            <a:r>
              <a:rPr lang="en-US" sz="3100" dirty="0">
                <a:latin typeface="Vollkorn" panose="02000503070000020003"/>
              </a:rPr>
              <a:t>      if (</a:t>
            </a:r>
            <a:r>
              <a:rPr lang="en-US" sz="3100" dirty="0" err="1">
                <a:latin typeface="Vollkorn" panose="02000503070000020003"/>
              </a:rPr>
              <a:t>max_at_index</a:t>
            </a:r>
            <a:r>
              <a:rPr lang="en-US" sz="3100" dirty="0">
                <a:latin typeface="Vollkorn" panose="02000503070000020003"/>
              </a:rPr>
              <a:t> &gt; max) </a:t>
            </a:r>
          </a:p>
          <a:p>
            <a:pPr marL="914400" lvl="2" indent="0">
              <a:buNone/>
            </a:pPr>
            <a:r>
              <a:rPr lang="en-US" sz="3100" dirty="0">
                <a:latin typeface="Vollkorn" panose="02000503070000020003"/>
              </a:rPr>
              <a:t>	</a:t>
            </a:r>
            <a:r>
              <a:rPr lang="en-US" sz="3100" dirty="0"/>
              <a:t> </a:t>
            </a:r>
            <a:r>
              <a:rPr lang="en-US" sz="3100" dirty="0">
                <a:solidFill>
                  <a:schemeClr val="accent6">
                    <a:lumMod val="75000"/>
                    <a:lumOff val="25000"/>
                  </a:schemeClr>
                </a:solidFill>
                <a:latin typeface="Vollkorn" panose="02000503070000020003"/>
              </a:rPr>
              <a:t>Max</a:t>
            </a:r>
            <a:r>
              <a:rPr lang="en-US" sz="3100" dirty="0">
                <a:latin typeface="Vollkorn" panose="02000503070000020003"/>
              </a:rPr>
              <a:t> = </a:t>
            </a:r>
            <a:r>
              <a:rPr lang="en-US" sz="3100" dirty="0" err="1">
                <a:latin typeface="Vollkorn" panose="02000503070000020003"/>
              </a:rPr>
              <a:t>max_at_index</a:t>
            </a:r>
            <a:r>
              <a:rPr lang="en-US" sz="3100" dirty="0">
                <a:latin typeface="Vollkorn" panose="02000503070000020003"/>
              </a:rPr>
              <a:t>;</a:t>
            </a:r>
          </a:p>
          <a:p>
            <a:pPr marL="914400" lvl="2" indent="0">
              <a:buNone/>
            </a:pPr>
            <a:r>
              <a:rPr lang="en-US" sz="3100" dirty="0">
                <a:latin typeface="Vollkorn" panose="02000503070000020003"/>
              </a:rPr>
              <a:t>      if (</a:t>
            </a:r>
            <a:r>
              <a:rPr lang="en-US" sz="3100" dirty="0" err="1">
                <a:latin typeface="Vollkorn" panose="02000503070000020003"/>
              </a:rPr>
              <a:t>max_at_index</a:t>
            </a:r>
            <a:r>
              <a:rPr lang="en-US" sz="3100" dirty="0">
                <a:latin typeface="Vollkorn" panose="02000503070000020003"/>
              </a:rPr>
              <a:t> &lt; 0)</a:t>
            </a:r>
          </a:p>
          <a:p>
            <a:pPr marL="914400" lvl="2" indent="0">
              <a:buNone/>
            </a:pPr>
            <a:r>
              <a:rPr lang="en-US" sz="3100" dirty="0">
                <a:latin typeface="Vollkorn" panose="02000503070000020003"/>
              </a:rPr>
              <a:t>	 </a:t>
            </a:r>
            <a:r>
              <a:rPr lang="en-US" sz="3100" dirty="0" err="1"/>
              <a:t>max</a:t>
            </a:r>
            <a:r>
              <a:rPr lang="en-US" sz="3100" dirty="0" err="1">
                <a:latin typeface="Vollkorn" panose="02000503070000020003"/>
              </a:rPr>
              <a:t>_at_index</a:t>
            </a:r>
            <a:r>
              <a:rPr lang="en-US" sz="3100" dirty="0">
                <a:latin typeface="Vollkorn" panose="02000503070000020003"/>
              </a:rPr>
              <a:t> = 0;</a:t>
            </a:r>
          </a:p>
          <a:p>
            <a:pPr marL="914400" lvl="2" indent="0">
              <a:buNone/>
            </a:pPr>
            <a:r>
              <a:rPr lang="en-US" sz="3100" dirty="0">
                <a:latin typeface="Vollkorn" panose="02000503070000020003"/>
              </a:rPr>
              <a:t>}</a:t>
            </a:r>
          </a:p>
          <a:p>
            <a:pPr marL="914400" lvl="2" indent="0">
              <a:buNone/>
            </a:pPr>
            <a:r>
              <a:rPr lang="en-US" sz="3100" dirty="0">
                <a:latin typeface="Vollkorn" panose="02000503070000020003"/>
              </a:rPr>
              <a:t>return </a:t>
            </a:r>
            <a:r>
              <a:rPr lang="en-US" sz="3100" dirty="0">
                <a:solidFill>
                  <a:schemeClr val="accent6">
                    <a:lumMod val="75000"/>
                    <a:lumOff val="25000"/>
                  </a:schemeClr>
                </a:solidFill>
                <a:latin typeface="Vollkorn" panose="02000503070000020003"/>
              </a:rPr>
              <a:t>Max</a:t>
            </a:r>
            <a:r>
              <a:rPr lang="en-US" sz="3100" dirty="0">
                <a:latin typeface="Vollkorn" panose="02000503070000020003"/>
              </a:rPr>
              <a:t>;</a:t>
            </a:r>
          </a:p>
          <a:p>
            <a:pPr marL="117475" lvl="2" indent="0">
              <a:buNone/>
            </a:pPr>
            <a:r>
              <a:rPr lang="en-US" sz="3100" dirty="0"/>
              <a:t>    }</a:t>
            </a:r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9C18CB-8AD7-FD96-984C-A56DF8190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76B89AF-0CD8-DE1C-8FA6-6D4B23F5301E}"/>
              </a:ext>
            </a:extLst>
          </p:cNvPr>
          <p:cNvSpPr txBox="1">
            <a:spLocks/>
          </p:cNvSpPr>
          <p:nvPr/>
        </p:nvSpPr>
        <p:spPr>
          <a:xfrm>
            <a:off x="5499401" y="1307023"/>
            <a:ext cx="5996326" cy="1006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Vollkorn" panose="02000503070000020003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ollkorn" panose="02000503070000020003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ollkorn" panose="02000503070000020003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ollkorn" panose="02000503070000020003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ollkorn" panose="0200050307000002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buFont typeface="Arial" panose="020B0604020202020204" pitchFamily="34" charset="0"/>
              <a:buNone/>
            </a:pPr>
            <a:endParaRPr lang="en-US" dirty="0"/>
          </a:p>
          <a:p>
            <a:pPr marL="914400" lvl="2" indent="0">
              <a:buFont typeface="Arial" panose="020B0604020202020204" pitchFamily="34" charset="0"/>
              <a:buNone/>
            </a:pPr>
            <a:endParaRPr lang="en-US" dirty="0"/>
          </a:p>
          <a:p>
            <a:pPr marL="914400" lvl="2" indent="0">
              <a:buFont typeface="Arial" panose="020B0604020202020204" pitchFamily="34" charset="0"/>
              <a:buNone/>
            </a:pPr>
            <a:endParaRPr lang="en-US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C5356073-7704-0A6E-9F47-4D5B3C138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1748" y="1617596"/>
            <a:ext cx="7116626" cy="571088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CD46FA89-2DC0-0DA4-760A-941680B01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1748" y="2667748"/>
            <a:ext cx="7043535" cy="30435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4263042B-4050-15FB-0E6F-E577D09BAAD6}"/>
                  </a:ext>
                </a:extLst>
              </p14:cNvPr>
              <p14:cNvContentPartPr/>
              <p14:nvPr/>
            </p14:nvContentPartPr>
            <p14:xfrm>
              <a:off x="6673736" y="3417982"/>
              <a:ext cx="360" cy="3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6D0929E9-156F-4F36-B886-DAC29656EB7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64736" y="3408982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BFCBF72-EADE-AECA-6505-1154813A4B08}"/>
              </a:ext>
            </a:extLst>
          </p:cNvPr>
          <p:cNvSpPr txBox="1">
            <a:spLocks/>
          </p:cNvSpPr>
          <p:nvPr/>
        </p:nvSpPr>
        <p:spPr>
          <a:xfrm>
            <a:off x="5499401" y="3376069"/>
            <a:ext cx="4923026" cy="25829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Vollkorn" panose="02000503070000020003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ollkorn" panose="02000503070000020003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ollkorn" panose="02000503070000020003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ollkorn" panose="02000503070000020003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ollkorn" panose="0200050307000002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This algorithm now maintains the indices of low and high of the subarray and returns a Max of the array. </a:t>
            </a:r>
          </a:p>
          <a:p>
            <a:r>
              <a:rPr lang="en-US" sz="2200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This algorithm only returns a max of the subarray. </a:t>
            </a:r>
          </a:p>
          <a:p>
            <a:r>
              <a:rPr lang="en-US" sz="2200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The solution takes O(n).</a:t>
            </a:r>
          </a:p>
          <a:p>
            <a:endParaRPr lang="en-US" sz="2200" dirty="0">
              <a:solidFill>
                <a:schemeClr val="accent6">
                  <a:lumMod val="75000"/>
                  <a:lumOff val="25000"/>
                </a:schemeClr>
              </a:solidFill>
            </a:endParaRPr>
          </a:p>
          <a:p>
            <a:pPr marL="914400" lvl="2" indent="0">
              <a:buFont typeface="Arial" panose="020B0604020202020204" pitchFamily="34" charset="0"/>
              <a:buNone/>
            </a:pPr>
            <a:endParaRPr lang="en-US" dirty="0"/>
          </a:p>
          <a:p>
            <a:pPr marL="914400" lvl="2" indent="0">
              <a:buFont typeface="Arial" panose="020B0604020202020204" pitchFamily="34" charset="0"/>
              <a:buNone/>
            </a:pPr>
            <a:endParaRPr lang="en-US" dirty="0"/>
          </a:p>
          <a:p>
            <a:pPr marL="914400" lvl="2" indent="0">
              <a:buFont typeface="Arial" panose="020B0604020202020204" pitchFamily="34" charset="0"/>
              <a:buNone/>
            </a:pPr>
            <a:endParaRPr lang="en-US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5794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74474-BC4F-4237-A36F-B1B182540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886" y="1825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i="0" u="none" strike="noStrike" baseline="0" dirty="0">
                <a:latin typeface="Oswald" panose="02000503000000000000"/>
              </a:rPr>
              <a:t>4. Analysis using Dynamic Programming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CFD95-2718-47F1-9AA8-5F6BE17D7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90" y="1230756"/>
            <a:ext cx="10355569" cy="5018366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7200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         int low, high, t;</a:t>
            </a:r>
          </a:p>
          <a:p>
            <a:pPr marL="0" indent="0">
              <a:buNone/>
            </a:pPr>
            <a:r>
              <a:rPr lang="en-US" sz="7200" dirty="0"/>
              <a:t>         int Maximum-</a:t>
            </a:r>
            <a:r>
              <a:rPr lang="en-US" sz="7200" dirty="0" err="1"/>
              <a:t>SubArray</a:t>
            </a:r>
            <a:r>
              <a:rPr lang="en-US" sz="7200" dirty="0"/>
              <a:t>-</a:t>
            </a:r>
            <a:r>
              <a:rPr lang="en-US" sz="7200" dirty="0" err="1"/>
              <a:t>Kadane</a:t>
            </a:r>
            <a:r>
              <a:rPr lang="en-US" sz="7200" dirty="0"/>
              <a:t> (int A[]) {</a:t>
            </a:r>
          </a:p>
          <a:p>
            <a:pPr marL="914400" lvl="2" indent="0">
              <a:buNone/>
            </a:pPr>
            <a:r>
              <a:rPr lang="en-US" sz="7200" dirty="0" err="1"/>
              <a:t>max_at_index</a:t>
            </a:r>
            <a:r>
              <a:rPr lang="en-US" sz="7200" dirty="0"/>
              <a:t> = 0, </a:t>
            </a:r>
            <a:r>
              <a:rPr lang="en-US" sz="7200" dirty="0">
                <a:solidFill>
                  <a:srgbClr val="0070C0"/>
                </a:solidFill>
                <a:latin typeface="Vollkorn" panose="02000503070000020003"/>
              </a:rPr>
              <a:t>Max</a:t>
            </a:r>
            <a:r>
              <a:rPr lang="en-US" sz="7200" dirty="0">
                <a:latin typeface="Vollkorn" panose="02000503070000020003"/>
              </a:rPr>
              <a:t> = </a:t>
            </a:r>
            <a:r>
              <a:rPr lang="en-US" sz="7200" dirty="0">
                <a:effectLst/>
                <a:latin typeface="Vollkorn" panose="02000503070000020003"/>
                <a:ea typeface="Malgun Gothic" panose="020B0503020000020004" pitchFamily="34" charset="-127"/>
                <a:cs typeface="Times New Roman" panose="02020603050405020304" pitchFamily="18" charset="0"/>
              </a:rPr>
              <a:t>-</a:t>
            </a:r>
            <a:r>
              <a:rPr lang="en-US" sz="7200" dirty="0">
                <a:effectLst/>
                <a:latin typeface="Vollkorn" panose="02000503070000020003"/>
                <a:ea typeface="Malgun Gothic" panose="020B0503020000020004" pitchFamily="34" charset="-127"/>
                <a:cs typeface="Calibri" panose="020F0502020204030204" pitchFamily="34" charset="0"/>
              </a:rPr>
              <a:t>∞</a:t>
            </a:r>
            <a:r>
              <a:rPr lang="en-US" sz="7200" dirty="0"/>
              <a:t>;</a:t>
            </a:r>
          </a:p>
          <a:p>
            <a:pPr marL="914400" lvl="2" indent="0">
              <a:buNone/>
            </a:pPr>
            <a:r>
              <a:rPr lang="en-US" sz="7200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low = 0, high = 0, l = 0;</a:t>
            </a:r>
          </a:p>
          <a:p>
            <a:pPr marL="914400" lvl="2" indent="0">
              <a:buNone/>
            </a:pPr>
            <a:r>
              <a:rPr lang="en-US" sz="7200" dirty="0"/>
              <a:t>for ( </a:t>
            </a:r>
            <a:r>
              <a:rPr lang="en-US" sz="7200" dirty="0" err="1"/>
              <a:t>i</a:t>
            </a:r>
            <a:r>
              <a:rPr lang="en-US" sz="7200" dirty="0"/>
              <a:t> = 1; </a:t>
            </a:r>
            <a:r>
              <a:rPr lang="en-US" sz="7200" dirty="0" err="1"/>
              <a:t>i</a:t>
            </a:r>
            <a:r>
              <a:rPr lang="en-US" sz="7200" dirty="0"/>
              <a:t> &lt;= </a:t>
            </a:r>
            <a:r>
              <a:rPr lang="en-US" sz="7200" dirty="0" err="1"/>
              <a:t>A.length</a:t>
            </a:r>
            <a:r>
              <a:rPr lang="en-US" sz="7200" dirty="0"/>
              <a:t>, </a:t>
            </a:r>
            <a:r>
              <a:rPr lang="en-US" sz="7200" dirty="0" err="1"/>
              <a:t>i</a:t>
            </a:r>
            <a:r>
              <a:rPr lang="en-US" sz="7200" dirty="0"/>
              <a:t>++) {</a:t>
            </a:r>
          </a:p>
          <a:p>
            <a:pPr marL="914400" lvl="2" indent="0">
              <a:buNone/>
            </a:pPr>
            <a:r>
              <a:rPr lang="en-US" sz="7200" dirty="0"/>
              <a:t>      max_ at _index = max_ at _index + A[</a:t>
            </a:r>
            <a:r>
              <a:rPr lang="en-US" sz="7200" dirty="0" err="1"/>
              <a:t>i</a:t>
            </a:r>
            <a:r>
              <a:rPr lang="en-US" sz="7200" dirty="0"/>
              <a:t>];</a:t>
            </a:r>
          </a:p>
          <a:p>
            <a:pPr marL="914400" lvl="2" indent="0">
              <a:buNone/>
            </a:pPr>
            <a:r>
              <a:rPr lang="en-US" sz="7200" dirty="0"/>
              <a:t>      if (max_ at _index &gt; Max) {</a:t>
            </a:r>
          </a:p>
          <a:p>
            <a:pPr marL="914400" lvl="2" indent="0">
              <a:buNone/>
            </a:pPr>
            <a:r>
              <a:rPr lang="en-US" sz="7200" dirty="0"/>
              <a:t>	</a:t>
            </a:r>
            <a:r>
              <a:rPr lang="en-US" sz="7200" dirty="0">
                <a:solidFill>
                  <a:srgbClr val="0070C0"/>
                </a:solidFill>
                <a:latin typeface="Vollkorn" panose="02000503070000020003"/>
              </a:rPr>
              <a:t>Max</a:t>
            </a:r>
            <a:r>
              <a:rPr lang="en-US" sz="7200" dirty="0"/>
              <a:t> = max_ at _index;</a:t>
            </a:r>
          </a:p>
          <a:p>
            <a:pPr marL="914400" lvl="2" indent="0">
              <a:buNone/>
            </a:pPr>
            <a:r>
              <a:rPr lang="en-US" sz="7200" dirty="0"/>
              <a:t>	</a:t>
            </a:r>
            <a:r>
              <a:rPr lang="en-US" sz="7200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low = t;</a:t>
            </a:r>
          </a:p>
          <a:p>
            <a:pPr marL="914400" lvl="2" indent="0">
              <a:buNone/>
            </a:pPr>
            <a:r>
              <a:rPr lang="en-US" sz="7200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	high = </a:t>
            </a:r>
            <a:r>
              <a:rPr lang="en-US" sz="7200" dirty="0" err="1">
                <a:solidFill>
                  <a:schemeClr val="accent6">
                    <a:lumMod val="75000"/>
                    <a:lumOff val="25000"/>
                  </a:schemeClr>
                </a:solidFill>
              </a:rPr>
              <a:t>i</a:t>
            </a:r>
            <a:r>
              <a:rPr lang="en-US" sz="7200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;</a:t>
            </a:r>
          </a:p>
          <a:p>
            <a:pPr marL="914400" lvl="2" indent="0">
              <a:buNone/>
            </a:pPr>
            <a:r>
              <a:rPr lang="en-US" sz="7200" dirty="0"/>
              <a:t>       }</a:t>
            </a:r>
          </a:p>
          <a:p>
            <a:pPr marL="914400" lvl="2" indent="0">
              <a:buNone/>
            </a:pPr>
            <a:r>
              <a:rPr lang="en-US" sz="7200" dirty="0"/>
              <a:t>      if (max_ at _index &lt; 0) {</a:t>
            </a:r>
          </a:p>
          <a:p>
            <a:pPr marL="914400" lvl="2" indent="0">
              <a:buNone/>
            </a:pPr>
            <a:r>
              <a:rPr lang="en-US" sz="7200" dirty="0"/>
              <a:t>	</a:t>
            </a:r>
            <a:r>
              <a:rPr lang="en-US" sz="7200" dirty="0" err="1"/>
              <a:t>max_this_index</a:t>
            </a:r>
            <a:r>
              <a:rPr lang="en-US" sz="7200" dirty="0"/>
              <a:t> = 0;</a:t>
            </a:r>
          </a:p>
          <a:p>
            <a:pPr marL="914400" lvl="2" indent="0">
              <a:buNone/>
            </a:pPr>
            <a:r>
              <a:rPr lang="en-US" sz="7200" dirty="0"/>
              <a:t>	</a:t>
            </a:r>
            <a:r>
              <a:rPr lang="en-US" sz="7200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t = </a:t>
            </a:r>
            <a:r>
              <a:rPr lang="en-US" sz="7200" dirty="0" err="1">
                <a:solidFill>
                  <a:schemeClr val="accent6">
                    <a:lumMod val="75000"/>
                    <a:lumOff val="25000"/>
                  </a:schemeClr>
                </a:solidFill>
              </a:rPr>
              <a:t>i</a:t>
            </a:r>
            <a:r>
              <a:rPr lang="en-US" sz="7200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 + 1;</a:t>
            </a:r>
          </a:p>
          <a:p>
            <a:pPr marL="914400" lvl="2" indent="0">
              <a:buNone/>
            </a:pPr>
            <a:r>
              <a:rPr lang="en-US" sz="7200" dirty="0"/>
              <a:t>      }</a:t>
            </a:r>
          </a:p>
          <a:p>
            <a:pPr marL="914400" lvl="2" indent="0">
              <a:buNone/>
            </a:pPr>
            <a:r>
              <a:rPr lang="en-US" sz="7200" dirty="0"/>
              <a:t>}</a:t>
            </a:r>
          </a:p>
          <a:p>
            <a:pPr marL="914400" lvl="2" indent="0">
              <a:buNone/>
            </a:pPr>
            <a:r>
              <a:rPr lang="en-US" sz="7200" dirty="0"/>
              <a:t>return </a:t>
            </a:r>
            <a:r>
              <a:rPr lang="en-US" sz="7200" dirty="0">
                <a:solidFill>
                  <a:srgbClr val="0070C0"/>
                </a:solidFill>
                <a:latin typeface="Vollkorn" panose="02000503070000020003"/>
              </a:rPr>
              <a:t>Max</a:t>
            </a:r>
            <a:r>
              <a:rPr lang="en-US" sz="7200" dirty="0"/>
              <a:t>;</a:t>
            </a:r>
          </a:p>
          <a:p>
            <a:pPr marL="117475" lvl="2" indent="0">
              <a:buNone/>
            </a:pPr>
            <a:r>
              <a:rPr lang="en-US" sz="7200" dirty="0"/>
              <a:t>       }</a:t>
            </a:r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02546-B1F4-45C0-9EB3-8C132580B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9A0015B-034C-40BF-A4BE-90EEC60D25E9}"/>
              </a:ext>
            </a:extLst>
          </p:cNvPr>
          <p:cNvSpPr txBox="1">
            <a:spLocks/>
          </p:cNvSpPr>
          <p:nvPr/>
        </p:nvSpPr>
        <p:spPr>
          <a:xfrm>
            <a:off x="5308947" y="1468851"/>
            <a:ext cx="5888441" cy="905382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Vollkorn" panose="02000503070000020003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ollkorn" panose="02000503070000020003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ollkorn" panose="02000503070000020003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ollkorn" panose="02000503070000020003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ollkorn" panose="0200050307000002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100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To maintain indices of low and high of the subarray</a:t>
            </a:r>
          </a:p>
          <a:p>
            <a:r>
              <a:rPr lang="en-US" sz="3100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The solution takes O(n).</a:t>
            </a:r>
          </a:p>
          <a:p>
            <a:endParaRPr lang="en-US" sz="2200" dirty="0">
              <a:solidFill>
                <a:schemeClr val="accent6">
                  <a:lumMod val="75000"/>
                  <a:lumOff val="25000"/>
                </a:schemeClr>
              </a:solidFill>
            </a:endParaRPr>
          </a:p>
          <a:p>
            <a:pPr marL="914400" lvl="2" indent="0">
              <a:buFont typeface="Arial" panose="020B0604020202020204" pitchFamily="34" charset="0"/>
              <a:buNone/>
            </a:pPr>
            <a:endParaRPr lang="en-US" dirty="0"/>
          </a:p>
          <a:p>
            <a:pPr marL="914400" lvl="2" indent="0">
              <a:buFont typeface="Arial" panose="020B0604020202020204" pitchFamily="34" charset="0"/>
              <a:buNone/>
            </a:pPr>
            <a:endParaRPr lang="en-US" dirty="0"/>
          </a:p>
          <a:p>
            <a:pPr marL="914400" lvl="2" indent="0">
              <a:buFont typeface="Arial" panose="020B0604020202020204" pitchFamily="34" charset="0"/>
              <a:buNone/>
            </a:pPr>
            <a:endParaRPr lang="en-US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A94D90-A57F-4521-99CB-BC6C4A26F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4184" y="2821919"/>
            <a:ext cx="6859546" cy="1204958"/>
          </a:xfrm>
          <a:prstGeom prst="rect">
            <a:avLst/>
          </a:prstGeom>
        </p:spPr>
      </p:pic>
      <p:grpSp>
        <p:nvGrpSpPr>
          <p:cNvPr id="141" name="Group 140">
            <a:extLst>
              <a:ext uri="{FF2B5EF4-FFF2-40B4-BE49-F238E27FC236}">
                <a16:creationId xmlns:a16="http://schemas.microsoft.com/office/drawing/2014/main" id="{3E9DD837-797F-47E0-8138-D7681311A82A}"/>
              </a:ext>
            </a:extLst>
          </p:cNvPr>
          <p:cNvGrpSpPr/>
          <p:nvPr/>
        </p:nvGrpSpPr>
        <p:grpSpPr>
          <a:xfrm>
            <a:off x="4737656" y="4566382"/>
            <a:ext cx="822600" cy="798840"/>
            <a:chOff x="4737656" y="4566382"/>
            <a:chExt cx="822600" cy="79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533B43A-F23E-47B9-942C-71A605519727}"/>
                    </a:ext>
                  </a:extLst>
                </p14:cNvPr>
                <p14:cNvContentPartPr/>
                <p14:nvPr/>
              </p14:nvContentPartPr>
              <p14:xfrm>
                <a:off x="4741616" y="5361262"/>
                <a:ext cx="2520" cy="3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533B43A-F23E-47B9-942C-71A60551972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732976" y="5352622"/>
                  <a:ext cx="201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129374E-4D9F-4805-A94C-A01DBCDFBA73}"/>
                    </a:ext>
                  </a:extLst>
                </p14:cNvPr>
                <p14:cNvContentPartPr/>
                <p14:nvPr/>
              </p14:nvContentPartPr>
              <p14:xfrm>
                <a:off x="4737656" y="5359102"/>
                <a:ext cx="9360" cy="39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129374E-4D9F-4805-A94C-A01DBCDFBA7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729016" y="5350462"/>
                  <a:ext cx="270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71696E4-49FF-4883-99DE-C3A0A9D751FE}"/>
                    </a:ext>
                  </a:extLst>
                </p14:cNvPr>
                <p14:cNvContentPartPr/>
                <p14:nvPr/>
              </p14:nvContentPartPr>
              <p14:xfrm>
                <a:off x="5553416" y="4566382"/>
                <a:ext cx="6840" cy="9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71696E4-49FF-4883-99DE-C3A0A9D751F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544416" y="4557742"/>
                  <a:ext cx="24480" cy="27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238811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6FE31-2466-8F7C-510B-7E57C181B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48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Applications of Maximum–Subarray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DD831-E66D-BD89-6270-11273090D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8621" y="1576973"/>
            <a:ext cx="10515600" cy="321961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Stock market analysis</a:t>
            </a:r>
          </a:p>
          <a:p>
            <a:pPr lvl="1"/>
            <a:r>
              <a:rPr lang="en-US" dirty="0"/>
              <a:t>Analyze stock price over time and identify the period with the highest profit</a:t>
            </a:r>
          </a:p>
          <a:p>
            <a:r>
              <a:rPr lang="en-US" dirty="0"/>
              <a:t>Feature selection in machine learning</a:t>
            </a:r>
          </a:p>
          <a:p>
            <a:pPr lvl="1"/>
            <a:r>
              <a:rPr lang="en-US" dirty="0"/>
              <a:t>Identify the most relevant features contributing to the prediction of outcomes</a:t>
            </a:r>
          </a:p>
          <a:p>
            <a:r>
              <a:rPr lang="en-US" dirty="0"/>
              <a:t>Noise reduction in signal processing</a:t>
            </a:r>
          </a:p>
          <a:p>
            <a:pPr lvl="1"/>
            <a:r>
              <a:rPr lang="en-US" b="0" i="0" dirty="0">
                <a:solidFill>
                  <a:srgbClr val="282829"/>
                </a:solidFill>
                <a:effectLst/>
                <a:latin typeface="-apple-system"/>
              </a:rPr>
              <a:t>Identify the strongest signals amidst noise</a:t>
            </a:r>
            <a:endParaRPr lang="en-US" dirty="0"/>
          </a:p>
          <a:p>
            <a:r>
              <a:rPr lang="en-US" dirty="0"/>
              <a:t>Optimizing operations</a:t>
            </a:r>
          </a:p>
          <a:p>
            <a:pPr lvl="1"/>
            <a:r>
              <a:rPr lang="en-US" dirty="0">
                <a:solidFill>
                  <a:srgbClr val="282829"/>
                </a:solidFill>
                <a:latin typeface="-apple-system"/>
              </a:rPr>
              <a:t>I</a:t>
            </a:r>
            <a:r>
              <a:rPr lang="en-US" b="0" i="0" dirty="0">
                <a:solidFill>
                  <a:srgbClr val="282829"/>
                </a:solidFill>
                <a:effectLst/>
                <a:latin typeface="-apple-system"/>
              </a:rPr>
              <a:t>dentify the best times to allocate resources for max efficiency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42982-1DAC-1092-B4FF-2CFCC66CD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TEXAS A&amp;M-SAN ANTONIO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610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AMUSA PPT Color">
      <a:dk1>
        <a:srgbClr val="000000"/>
      </a:dk1>
      <a:lt1>
        <a:srgbClr val="FFFFFF"/>
      </a:lt1>
      <a:dk2>
        <a:srgbClr val="83888B"/>
      </a:dk2>
      <a:lt2>
        <a:srgbClr val="FFFFFF"/>
      </a:lt2>
      <a:accent1>
        <a:srgbClr val="332E70"/>
      </a:accent1>
      <a:accent2>
        <a:srgbClr val="668586"/>
      </a:accent2>
      <a:accent3>
        <a:srgbClr val="E6B729"/>
      </a:accent3>
      <a:accent4>
        <a:srgbClr val="B9CFD3"/>
      </a:accent4>
      <a:accent5>
        <a:srgbClr val="54849A"/>
      </a:accent5>
      <a:accent6>
        <a:srgbClr val="020000"/>
      </a:accent6>
      <a:hlink>
        <a:srgbClr val="702E3C"/>
      </a:hlink>
      <a:folHlink>
        <a:srgbClr val="460000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18 TAMUSA Template" id="{81250B71-C222-0A43-91FF-929A8BF7632C}" vid="{6EC503B3-3B3A-3D45-9BD1-3527F0E16E3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2018 TAMUSA Template-updated</Template>
  <TotalTime>3499</TotalTime>
  <Words>1201</Words>
  <Application>Microsoft Office PowerPoint</Application>
  <PresentationFormat>Widescreen</PresentationFormat>
  <Paragraphs>171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-apple-system</vt:lpstr>
      <vt:lpstr>Times-Roman</vt:lpstr>
      <vt:lpstr>Vollkorn</vt:lpstr>
      <vt:lpstr>Arial</vt:lpstr>
      <vt:lpstr>Calibri</vt:lpstr>
      <vt:lpstr>Corbel</vt:lpstr>
      <vt:lpstr>Oswald</vt:lpstr>
      <vt:lpstr>Office Theme</vt:lpstr>
      <vt:lpstr>CSCI 5343 Algorithms Spring 2025 </vt:lpstr>
      <vt:lpstr>Goals</vt:lpstr>
      <vt:lpstr>Divide-And-Conquer Approach</vt:lpstr>
      <vt:lpstr>Recurrence for Merge Sort</vt:lpstr>
      <vt:lpstr>Recursion Tree </vt:lpstr>
      <vt:lpstr>Maximum-Subarray Problem</vt:lpstr>
      <vt:lpstr>Maximum-Subarray Problem</vt:lpstr>
      <vt:lpstr>Maximum-Subarray Problem</vt:lpstr>
      <vt:lpstr>Maximum-Subarray Problem</vt:lpstr>
      <vt:lpstr>1. A brute-force solution</vt:lpstr>
      <vt:lpstr>2. Maximum Contiguous Subarray</vt:lpstr>
      <vt:lpstr>2. Maximum Contiguous Subarray</vt:lpstr>
      <vt:lpstr>2. Maximum Contiguous Subarray</vt:lpstr>
      <vt:lpstr>3. Solution with Divide-and-Conquer</vt:lpstr>
      <vt:lpstr>3. Solution with Divide-and-Conquer</vt:lpstr>
      <vt:lpstr>3. Solution with Divide-and-Conquer</vt:lpstr>
      <vt:lpstr>3. Analysis Using Divide-and-Conquer</vt:lpstr>
      <vt:lpstr>4. Solution with Dynamic Programming</vt:lpstr>
      <vt:lpstr>4. Analysis with Dynamic Programming</vt:lpstr>
      <vt:lpstr>4. Analysis using Dynamic Programming</vt:lpstr>
      <vt:lpstr>Applications of Maximum–Subarray Problem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Fernando Estrada</dc:creator>
  <cp:lastModifiedBy>Jeong Yang</cp:lastModifiedBy>
  <cp:revision>146</cp:revision>
  <cp:lastPrinted>2020-01-21T18:08:03Z</cp:lastPrinted>
  <dcterms:created xsi:type="dcterms:W3CDTF">2018-03-09T22:17:24Z</dcterms:created>
  <dcterms:modified xsi:type="dcterms:W3CDTF">2025-02-11T14:53:06Z</dcterms:modified>
</cp:coreProperties>
</file>