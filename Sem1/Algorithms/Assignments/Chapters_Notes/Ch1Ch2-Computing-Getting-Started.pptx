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304" r:id="rId3"/>
    <p:sldId id="305" r:id="rId4"/>
    <p:sldId id="332" r:id="rId5"/>
    <p:sldId id="334" r:id="rId6"/>
    <p:sldId id="338" r:id="rId7"/>
    <p:sldId id="348" r:id="rId8"/>
    <p:sldId id="347" r:id="rId9"/>
    <p:sldId id="307" r:id="rId10"/>
    <p:sldId id="308" r:id="rId11"/>
    <p:sldId id="310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20" r:id="rId20"/>
    <p:sldId id="319" r:id="rId21"/>
    <p:sldId id="321" r:id="rId22"/>
    <p:sldId id="324" r:id="rId23"/>
    <p:sldId id="325" r:id="rId24"/>
    <p:sldId id="326" r:id="rId25"/>
    <p:sldId id="349" r:id="rId26"/>
    <p:sldId id="350" r:id="rId27"/>
    <p:sldId id="351" r:id="rId28"/>
    <p:sldId id="329" r:id="rId29"/>
    <p:sldId id="330" r:id="rId30"/>
    <p:sldId id="331" r:id="rId31"/>
  </p:sldIdLst>
  <p:sldSz cx="12192000" cy="6858000"/>
  <p:notesSz cx="7010400" cy="9296400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834" autoAdjust="0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12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06D75-A25A-431A-B980-B40051AEF5CB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EAF2B0-1901-48D7-994E-75095AAE1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98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843F6B6-C643-EB48-8E20-B61919A653AE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6E6A39C-9C1F-2A4A-AF30-046BACDB3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7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70C586-994C-024A-B6DE-C2DC816A7C36}" type="slidenum">
              <a:rPr lang="en-US"/>
              <a:pPr/>
              <a:t>4</a:t>
            </a:fld>
            <a:endParaRPr lang="en-US"/>
          </a:p>
        </p:txBody>
      </p:sp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40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4CB15B-1135-7848-AF8C-A35CEF1DCD88}" type="slidenum">
              <a:rPr lang="en-US"/>
              <a:pPr/>
              <a:t>5</a:t>
            </a:fld>
            <a:endParaRPr lang="en-US"/>
          </a:p>
        </p:txBody>
      </p:sp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98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0FB2EE-44D3-3E47-BEA6-5D760EBC2522}" type="slidenum">
              <a:rPr lang="en-US"/>
              <a:pPr/>
              <a:t>6</a:t>
            </a:fld>
            <a:endParaRPr lang="en-US"/>
          </a:p>
        </p:txBody>
      </p:sp>
      <p:sp>
        <p:nvSpPr>
          <p:cNvPr id="179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57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B4A489-DC83-9843-B83E-29EE81C7EE73}" type="slidenum">
              <a:rPr lang="en-US"/>
              <a:pPr/>
              <a:t>8</a:t>
            </a:fld>
            <a:endParaRPr lang="en-US"/>
          </a:p>
        </p:txBody>
      </p:sp>
      <p:sp>
        <p:nvSpPr>
          <p:cNvPr id="18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10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06F780E-9DEC-114C-B59D-A82F5B1305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70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DB4BCB-6267-7C4C-B43A-E90C40649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D4E9D-E0FF-4A40-92D3-F584F728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A4489E-2E74-F340-B15A-B2A6F49450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91286" y="118872"/>
            <a:ext cx="9209427" cy="87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0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76A11-4AC1-8748-B27A-412000BFD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39F17-8DC0-704B-9AE7-F0ACCDF4C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4A4D8-C6D2-0E40-92C4-2BCFF05A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TEXAS A&amp;M-SAN ANTONIO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86E18-20E2-9044-890C-17969EAC4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063ED-17C5-384F-8A20-6B5F1E69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72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D519-9498-A74B-A50E-3FE856C93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A1DE4-D61E-B948-97DB-95EA3642C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EC6AA-5BA9-6C4B-9C05-A4DF3EB3C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70A15-8FCB-1145-B769-EBE016DE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6DD52-61E1-7644-A884-1919EF7DF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7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ADC3-8E98-4046-9AAD-79B345A96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E0A05-7784-8E43-A36D-9DF6EB0DA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BC6E6-C854-644C-8127-782D34662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892C8-648C-E648-909E-43B6AB5CE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5A266-0D34-A848-B798-09F9F6C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07C42-7FD9-8A46-9771-76E49801F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07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9DF53-106B-564F-A34E-66D6D552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E6C4E-D1C9-7E43-8BE6-6FF6C029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84BC5-819E-184D-B400-C628FC4E7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D4D157-B42E-B04A-9802-E4687A2B0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E22DF-E739-C941-8F53-FEB1143BE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D40280-C860-6543-8954-037C3B8DD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C3B322-30C5-7A48-80C9-34D80F20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0A570F-CCB9-8A4D-A1DF-182EDBD9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0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A4AD-56A7-D544-8CC4-C59732383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5C9BB6-238C-9849-8A11-ED3068252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23E8EC-9A7F-CE49-8A55-A5D7CD71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C0A83-16F0-D946-B562-A591524C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64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F29F64-1BDD-504B-A6CA-0E20C98EF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8C1686-9F4A-094D-AD83-7AAFEDFD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004E1-8548-F84D-B00A-A977C4D0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54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73EF2-341F-F844-AFCF-6433054D0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D4C50-3B10-0B41-9B37-D7C15E263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F77F2-1CF2-E444-9FAD-9E8F54149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D50E1-5F20-BB45-A98E-EBF4F1C1D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EF63F-A284-684A-A9AD-5E8434D7B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865B0-3686-3341-AD20-5617C52E1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4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FA22E-AA44-194A-BF2A-701D2B5FF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8C7F6-4BD5-E641-B632-A1B5A1DC0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7162C-C948-1943-97BA-5AB7865AF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FC85A-702E-DD4C-B6D4-ABFDB8A8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86D28-396E-8E48-AC2E-0FFF126D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52750-349A-6946-B6A4-04B5FB36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5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D500-C0C2-5D47-8D80-53BD44C53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353C2-7F77-A84A-A20F-985C4D4E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B0480-39D0-9D45-907F-0B6A521E7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CE67D-E526-5843-B848-1C14DB188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4ADD1-3DAE-C94D-B565-D611793B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27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162169-3F65-BD4A-838C-F27F6199A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FB8A1-5D3F-2A4E-B1C3-99D1601C1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78F54-DF87-5D42-BA44-CB6C6B654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80EB4-1594-5244-AFD3-740F69F71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BEE49-3691-D549-AC56-DB7355B65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10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084" y="100013"/>
            <a:ext cx="109728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67784" y="1214439"/>
            <a:ext cx="53848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55784" y="1214438"/>
            <a:ext cx="53848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55784" y="3829051"/>
            <a:ext cx="5384800" cy="2462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397625"/>
            <a:ext cx="3860800" cy="3238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CS 477/677 - Lecture 1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37600" y="6397625"/>
            <a:ext cx="2844800" cy="323850"/>
          </a:xfrm>
        </p:spPr>
        <p:txBody>
          <a:bodyPr/>
          <a:lstStyle>
            <a:lvl1pPr>
              <a:defRPr smtClean="0"/>
            </a:lvl1pPr>
          </a:lstStyle>
          <a:p>
            <a:fld id="{5DA3C0E3-8C81-6E42-BDC5-759A6331DB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6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E62574-E313-A548-8CD1-53BB254DD36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7030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9B084-1E51-FA44-B2F1-C4E821A1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4DE31-0525-CD4C-A8B3-E43493227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2773D-3906-1A4B-8CD5-0D836E29B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Oswald" panose="02000503000000000000" pitchFamily="2" charset="0"/>
              </a:defRPr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2DC35-01F7-F14D-A158-C7100804C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CDA7F-9F75-B94E-AEE1-3C966732A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7D5D8-8021-D54A-A92F-C392C50DF18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AF6714-108A-9744-8E65-70ABDC5635ED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" y="0"/>
            <a:ext cx="826999" cy="82699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F07C08-5274-364D-889D-20BEAFD80E1E}"/>
              </a:ext>
            </a:extLst>
          </p:cNvPr>
          <p:cNvCxnSpPr>
            <a:cxnSpLocks/>
          </p:cNvCxnSpPr>
          <p:nvPr userDrawn="1"/>
        </p:nvCxnSpPr>
        <p:spPr>
          <a:xfrm>
            <a:off x="2450592" y="6598227"/>
            <a:ext cx="97414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29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Oswald" panose="02000503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9.wmf"/><Relationship Id="rId18" Type="http://schemas.openxmlformats.org/officeDocument/2006/relationships/image" Target="../media/image12.png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6319-A62A-B444-ADAD-8972AE1B0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8118"/>
            <a:ext cx="9144000" cy="192292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100" dirty="0"/>
              <a:t>CSCI 5343 Algorithms</a:t>
            </a:r>
            <a:br>
              <a:rPr lang="en-US" sz="3100" dirty="0"/>
            </a:br>
            <a:r>
              <a:rPr lang="en-US" sz="3100" dirty="0"/>
              <a:t>Spring 2025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B2D859-22D5-E943-B0B7-72D5D0A6F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895755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  <a:buSzPct val="70000"/>
            </a:pPr>
            <a:r>
              <a:rPr lang="en-US" dirty="0"/>
              <a:t>Dept. of Computational, Engineering, and Mathematical Sciences</a:t>
            </a:r>
          </a:p>
          <a:p>
            <a:pPr>
              <a:buClr>
                <a:srgbClr val="002060"/>
              </a:buClr>
              <a:buSzPct val="70000"/>
            </a:pPr>
            <a:endParaRPr lang="en-US" dirty="0"/>
          </a:p>
          <a:p>
            <a:pPr>
              <a:buClr>
                <a:srgbClr val="002060"/>
              </a:buClr>
              <a:buSzPct val="70000"/>
            </a:pPr>
            <a:r>
              <a:rPr lang="en-US" dirty="0"/>
              <a:t>Chapters 1 &amp; 2 Algorithms in Computing and Getting Started</a:t>
            </a:r>
          </a:p>
        </p:txBody>
      </p:sp>
    </p:spTree>
    <p:extLst>
      <p:ext uri="{BB962C8B-B14F-4D97-AF65-F5344CB8AC3E}">
        <p14:creationId xmlns:p14="http://schemas.microsoft.com/office/powerpoint/2010/main" val="4186716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740" y="0"/>
            <a:ext cx="10515600" cy="1325563"/>
          </a:xfrm>
        </p:spPr>
        <p:txBody>
          <a:bodyPr/>
          <a:lstStyle/>
          <a:p>
            <a:r>
              <a:rPr lang="en-US" sz="3600" dirty="0"/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3321" y="1685174"/>
            <a:ext cx="9084860" cy="4195481"/>
          </a:xfrm>
        </p:spPr>
        <p:txBody>
          <a:bodyPr>
            <a:normAutofit/>
          </a:bodyPr>
          <a:lstStyle/>
          <a:p>
            <a:pPr>
              <a:buClr>
                <a:srgbClr val="332E70"/>
              </a:buClr>
            </a:pPr>
            <a:r>
              <a:rPr lang="en-US" sz="2300" dirty="0"/>
              <a:t>Describe and analyze algorithms.</a:t>
            </a:r>
          </a:p>
          <a:p>
            <a:pPr>
              <a:buClr>
                <a:srgbClr val="332E70"/>
              </a:buClr>
            </a:pPr>
            <a:r>
              <a:rPr lang="en-US" sz="2300" dirty="0"/>
              <a:t>Examine two algorithms for sorting: insertion sort and merge sort.</a:t>
            </a:r>
          </a:p>
          <a:p>
            <a:pPr>
              <a:buClr>
                <a:srgbClr val="332E70"/>
              </a:buClr>
            </a:pPr>
            <a:r>
              <a:rPr lang="en-US" sz="2300" dirty="0"/>
              <a:t>Describe algorithms in pseudocode.</a:t>
            </a:r>
          </a:p>
          <a:p>
            <a:pPr>
              <a:buClr>
                <a:srgbClr val="332E70"/>
              </a:buClr>
            </a:pPr>
            <a:r>
              <a:rPr lang="en-US" sz="2300" dirty="0"/>
              <a:t>Use asymptotic notations to express running-time analysis.</a:t>
            </a:r>
          </a:p>
          <a:p>
            <a:pPr>
              <a:buClr>
                <a:srgbClr val="332E70"/>
              </a:buClr>
            </a:pPr>
            <a:r>
              <a:rPr lang="en-US" sz="2300" dirty="0"/>
              <a:t>Learn the technique of divide and conquer in the context of merge sort.</a:t>
            </a:r>
          </a:p>
        </p:txBody>
      </p:sp>
    </p:spTree>
    <p:extLst>
      <p:ext uri="{BB962C8B-B14F-4D97-AF65-F5344CB8AC3E}">
        <p14:creationId xmlns:p14="http://schemas.microsoft.com/office/powerpoint/2010/main" val="2176661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0B9D-4C4D-4EBC-943F-2D11B0BE3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60" y="0"/>
            <a:ext cx="10515600" cy="1325563"/>
          </a:xfrm>
        </p:spPr>
        <p:txBody>
          <a:bodyPr/>
          <a:lstStyle/>
          <a:p>
            <a:r>
              <a:rPr lang="en-US" sz="3600" dirty="0"/>
              <a:t>What is an algorithm?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E4B89-0450-4B86-B7DF-914AD1923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475" y="1602555"/>
            <a:ext cx="9725388" cy="4054968"/>
          </a:xfrm>
        </p:spPr>
        <p:txBody>
          <a:bodyPr/>
          <a:lstStyle/>
          <a:p>
            <a:pPr>
              <a:buClr>
                <a:srgbClr val="332E70"/>
              </a:buClr>
            </a:pPr>
            <a:r>
              <a:rPr lang="en-US" altLang="en-US" sz="2400" dirty="0"/>
              <a:t>Idea behind computer programs to solve problems.</a:t>
            </a:r>
          </a:p>
          <a:p>
            <a:pPr>
              <a:buClr>
                <a:srgbClr val="332E70"/>
              </a:buClr>
            </a:pPr>
            <a:r>
              <a:rPr lang="en-US" altLang="en-US" sz="2400" dirty="0"/>
              <a:t>Method that stays the same regardless of programming language and the computing hardware.</a:t>
            </a:r>
          </a:p>
          <a:p>
            <a:pPr>
              <a:lnSpc>
                <a:spcPct val="90000"/>
              </a:lnSpc>
              <a:buClr>
                <a:srgbClr val="002060"/>
              </a:buClr>
            </a:pPr>
            <a:r>
              <a:rPr lang="en-US" altLang="en-US" sz="2400" dirty="0"/>
              <a:t>Precise and unambiguous specification of a sequence of steps that can be carried out to solve a given problem or to achieve a given condition.</a:t>
            </a:r>
          </a:p>
          <a:p>
            <a:pPr>
              <a:lnSpc>
                <a:spcPct val="90000"/>
              </a:lnSpc>
              <a:buClr>
                <a:srgbClr val="002060"/>
              </a:buClr>
            </a:pPr>
            <a:r>
              <a:rPr lang="en-US" altLang="en-US" sz="2400" dirty="0"/>
              <a:t>Accepts some value or set of values as input and produces a value or set of values as output.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174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6"/>
          <p:cNvSpPr>
            <a:spLocks noGrp="1" noChangeArrowheads="1"/>
          </p:cNvSpPr>
          <p:nvPr>
            <p:ph type="title"/>
          </p:nvPr>
        </p:nvSpPr>
        <p:spPr>
          <a:xfrm>
            <a:off x="1058933" y="0"/>
            <a:ext cx="10972800" cy="1190625"/>
          </a:xfrm>
        </p:spPr>
        <p:txBody>
          <a:bodyPr>
            <a:normAutofit/>
          </a:bodyPr>
          <a:lstStyle/>
          <a:p>
            <a:r>
              <a:rPr lang="en-US" sz="3600" dirty="0"/>
              <a:t>Why Study Algorithms?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150219" y="1390650"/>
            <a:ext cx="8513762" cy="518977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sz="2400" dirty="0"/>
              <a:t>Necessary in any computer programming problem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Improve algorithm efficiency: run faster, process more data, do something that would otherwise be impossible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Solve problems of significantly large size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Compare algorithms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Algorithms as a field of study	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Learn about a standard set of algorithms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New discoveries arise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Numerous application areas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Learn techniques of </a:t>
            </a:r>
            <a:r>
              <a:rPr lang="en-US" sz="2400" b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algorithm design</a:t>
            </a:r>
            <a:r>
              <a:rPr lang="en-US" sz="24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329729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5234" y="2816"/>
            <a:ext cx="10515600" cy="1325563"/>
          </a:xfrm>
        </p:spPr>
        <p:txBody>
          <a:bodyPr/>
          <a:lstStyle/>
          <a:p>
            <a:r>
              <a:rPr lang="en-US" sz="3600" dirty="0"/>
              <a:t>Roadmap</a:t>
            </a:r>
          </a:p>
        </p:txBody>
      </p:sp>
      <p:sp>
        <p:nvSpPr>
          <p:cNvPr id="98310" name="Rectangle 6"/>
          <p:cNvSpPr>
            <a:spLocks noGrp="1" noChangeArrowheads="1"/>
          </p:cNvSpPr>
          <p:nvPr>
            <p:ph sz="half" idx="1"/>
          </p:nvPr>
        </p:nvSpPr>
        <p:spPr>
          <a:xfrm>
            <a:off x="838200" y="1666695"/>
            <a:ext cx="5181600" cy="4351338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2400" dirty="0"/>
              <a:t>Different problems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Sorting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Searching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String processing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Graph problems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Geometric problems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Numerical problems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63183" y="1644650"/>
            <a:ext cx="4595217" cy="5076825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2400" dirty="0"/>
              <a:t>Different design paradigms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Divide-and-conquer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Incremental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Dynamic programming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Greedy algorithms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Randomized/probabilistic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087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74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Typical Running Time Functions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24" y="1271319"/>
            <a:ext cx="5016260" cy="399035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30000"/>
              </a:lnSpc>
            </a:pPr>
            <a:r>
              <a:rPr lang="en-US" sz="2400" dirty="0">
                <a:latin typeface="Comic Sans MS" pitchFamily="-107" charset="0"/>
              </a:rPr>
              <a:t>1 </a:t>
            </a:r>
            <a:r>
              <a:rPr lang="en-US" sz="2400" dirty="0"/>
              <a:t>(constant running time): </a:t>
            </a:r>
          </a:p>
          <a:p>
            <a:pPr lvl="1">
              <a:lnSpc>
                <a:spcPct val="130000"/>
              </a:lnSpc>
            </a:pPr>
            <a:r>
              <a:rPr lang="en-US" sz="2000" dirty="0"/>
              <a:t>Instructions are executed once or a few times</a:t>
            </a:r>
          </a:p>
          <a:p>
            <a:pPr>
              <a:lnSpc>
                <a:spcPct val="130000"/>
              </a:lnSpc>
            </a:pPr>
            <a:r>
              <a:rPr lang="en-US" sz="2400" dirty="0" err="1">
                <a:latin typeface="Comic Sans MS" pitchFamily="-107" charset="0"/>
              </a:rPr>
              <a:t>logN</a:t>
            </a:r>
            <a:r>
              <a:rPr lang="en-US" sz="2400" dirty="0"/>
              <a:t> (logarithmic)</a:t>
            </a:r>
          </a:p>
          <a:p>
            <a:pPr lvl="1">
              <a:lnSpc>
                <a:spcPct val="130000"/>
              </a:lnSpc>
            </a:pPr>
            <a:r>
              <a:rPr lang="en-US" sz="2000" dirty="0"/>
              <a:t>A big problem is solved by cutting the original problem in smaller sizes, by a constant fraction at each step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Comic Sans MS" pitchFamily="-107" charset="0"/>
              </a:rPr>
              <a:t>N</a:t>
            </a:r>
            <a:r>
              <a:rPr lang="en-US" sz="2400" dirty="0"/>
              <a:t> (linear)</a:t>
            </a:r>
          </a:p>
          <a:p>
            <a:pPr lvl="1">
              <a:lnSpc>
                <a:spcPct val="130000"/>
              </a:lnSpc>
            </a:pPr>
            <a:r>
              <a:rPr lang="en-US" sz="2000" dirty="0"/>
              <a:t>A small amount of processing is done on each input element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Comic Sans MS" pitchFamily="-107" charset="0"/>
              </a:rPr>
              <a:t>N </a:t>
            </a:r>
            <a:r>
              <a:rPr lang="en-US" sz="2400" dirty="0" err="1">
                <a:latin typeface="Comic Sans MS" pitchFamily="-107" charset="0"/>
              </a:rPr>
              <a:t>logN</a:t>
            </a:r>
            <a:r>
              <a:rPr lang="en-US" sz="2400" dirty="0">
                <a:latin typeface="Comic Sans MS" pitchFamily="-107" charset="0"/>
              </a:rPr>
              <a:t> (</a:t>
            </a:r>
            <a:r>
              <a:rPr lang="en-US" sz="2400" dirty="0" err="1">
                <a:latin typeface="Vollkorn" panose="02000503070000020003"/>
              </a:rPr>
              <a:t>linearithmic</a:t>
            </a:r>
            <a:r>
              <a:rPr lang="en-US" sz="2400" dirty="0">
                <a:latin typeface="Comic Sans MS" pitchFamily="-107" charset="0"/>
              </a:rPr>
              <a:t>) </a:t>
            </a:r>
          </a:p>
          <a:p>
            <a:pPr lvl="1">
              <a:lnSpc>
                <a:spcPct val="130000"/>
              </a:lnSpc>
            </a:pPr>
            <a:r>
              <a:rPr lang="en-US" sz="2000" dirty="0"/>
              <a:t>A problem is solved by dividing it into smaller problems, solving them independently and combining the solution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A041E44-D0C2-B71D-4BE3-762365DA421A}"/>
              </a:ext>
            </a:extLst>
          </p:cNvPr>
          <p:cNvSpPr txBox="1">
            <a:spLocks noChangeArrowheads="1"/>
          </p:cNvSpPr>
          <p:nvPr/>
        </p:nvSpPr>
        <p:spPr>
          <a:xfrm>
            <a:off x="6168325" y="1146875"/>
            <a:ext cx="5659928" cy="5029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400" dirty="0">
                <a:latin typeface="Comic Sans MS" pitchFamily="-107" charset="0"/>
              </a:rPr>
              <a:t>N</a:t>
            </a:r>
            <a:r>
              <a:rPr lang="en-US" sz="2400" baseline="30000" dirty="0">
                <a:latin typeface="Comic Sans MS" pitchFamily="-107" charset="0"/>
              </a:rPr>
              <a:t>2</a:t>
            </a:r>
            <a:r>
              <a:rPr lang="en-US" sz="2400" dirty="0"/>
              <a:t> (quadratic)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Typical for algorithms that process all pairs of data items (double nested loops)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mic Sans MS" pitchFamily="-107" charset="0"/>
              </a:rPr>
              <a:t>N</a:t>
            </a:r>
            <a:r>
              <a:rPr lang="en-US" sz="2400" baseline="30000" dirty="0">
                <a:latin typeface="Comic Sans MS" pitchFamily="-107" charset="0"/>
              </a:rPr>
              <a:t>3</a:t>
            </a:r>
            <a:r>
              <a:rPr lang="en-US" sz="2400" dirty="0">
                <a:latin typeface="Comic Sans MS" pitchFamily="-107" charset="0"/>
              </a:rPr>
              <a:t> </a:t>
            </a:r>
            <a:r>
              <a:rPr lang="en-US" sz="2400" dirty="0"/>
              <a:t>(cubic)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Processing of triples of data (triple nested loops)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mic Sans MS" pitchFamily="-107" charset="0"/>
              </a:rPr>
              <a:t>N</a:t>
            </a:r>
            <a:r>
              <a:rPr lang="en-US" sz="2400" baseline="30000" dirty="0">
                <a:latin typeface="Comic Sans MS" pitchFamily="-107" charset="0"/>
              </a:rPr>
              <a:t>K</a:t>
            </a:r>
            <a:r>
              <a:rPr lang="en-US" sz="2400" dirty="0"/>
              <a:t> (polynomial)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A function f(n) is </a:t>
            </a:r>
            <a:r>
              <a:rPr lang="en-US" sz="2000" dirty="0" err="1"/>
              <a:t>polynomially</a:t>
            </a:r>
            <a:r>
              <a:rPr lang="en-US" sz="2000" dirty="0"/>
              <a:t> bounded if f(n) = </a:t>
            </a:r>
            <a:r>
              <a:rPr lang="en-US" dirty="0"/>
              <a:t>O(</a:t>
            </a:r>
            <a:r>
              <a:rPr lang="en-US" dirty="0" err="1"/>
              <a:t>n</a:t>
            </a:r>
            <a:r>
              <a:rPr lang="en-US" baseline="30000" dirty="0" err="1"/>
              <a:t>k</a:t>
            </a:r>
            <a:r>
              <a:rPr lang="en-US" dirty="0"/>
              <a:t>)</a:t>
            </a:r>
            <a:r>
              <a:rPr lang="en-US" sz="2000" dirty="0"/>
              <a:t> for some constant k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mic Sans MS" pitchFamily="-107" charset="0"/>
              </a:rPr>
              <a:t>2</a:t>
            </a:r>
            <a:r>
              <a:rPr lang="en-US" sz="2400" baseline="30000" dirty="0">
                <a:latin typeface="Comic Sans MS" pitchFamily="-107" charset="0"/>
              </a:rPr>
              <a:t>N</a:t>
            </a:r>
            <a:r>
              <a:rPr lang="en-US" sz="2400" dirty="0"/>
              <a:t> (exponential)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A few exponential algorithms are appropriate for practical use (recursive approach of TSP)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mic Sans MS" panose="030F0702030302020204" pitchFamily="66" charset="0"/>
              </a:rPr>
              <a:t>N! </a:t>
            </a:r>
            <a:r>
              <a:rPr lang="en-US" sz="2400" dirty="0"/>
              <a:t>(factorial)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Grows factorially,  n! = 1 * 2* 3 * … * n (brute-force of TSP)</a:t>
            </a:r>
          </a:p>
          <a:p>
            <a:pPr lvl="1">
              <a:lnSpc>
                <a:spcPct val="150000"/>
              </a:lnSpc>
            </a:pPr>
            <a:endParaRPr lang="en-US" sz="2000" dirty="0"/>
          </a:p>
          <a:p>
            <a:pPr lvl="1"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9542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427" y="221605"/>
            <a:ext cx="8229600" cy="609600"/>
          </a:xfrm>
          <a:noFill/>
        </p:spPr>
        <p:txBody>
          <a:bodyPr/>
          <a:lstStyle/>
          <a:p>
            <a:r>
              <a:rPr lang="en-US" altLang="en-US" sz="3600" dirty="0"/>
              <a:t>Comparing </a:t>
            </a:r>
            <a:r>
              <a:rPr lang="en-US" sz="3600" dirty="0"/>
              <a:t>Running Time </a:t>
            </a:r>
            <a:r>
              <a:rPr lang="en-US" altLang="en-US" sz="3600" dirty="0"/>
              <a:t>Functions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-647699" y="3009445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0728" name="Rectangle 11"/>
          <p:cNvSpPr>
            <a:spLocks noChangeArrowheads="1"/>
          </p:cNvSpPr>
          <p:nvPr/>
        </p:nvSpPr>
        <p:spPr bwMode="auto">
          <a:xfrm>
            <a:off x="-647699" y="3104695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3072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484307"/>
              </p:ext>
            </p:extLst>
          </p:nvPr>
        </p:nvGraphicFramePr>
        <p:xfrm>
          <a:off x="1524001" y="1247414"/>
          <a:ext cx="76850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95700" imgH="228600" progId="Equation.3">
                  <p:embed/>
                </p:oleObj>
              </mc:Choice>
              <mc:Fallback>
                <p:oleObj name="Equation" r:id="rId2" imgW="3695700" imgH="228600" progId="Equation.3">
                  <p:embed/>
                  <p:pic>
                    <p:nvPicPr>
                      <p:cNvPr id="3072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1" y="1247414"/>
                        <a:ext cx="768508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1" name="Rectangle 22"/>
          <p:cNvSpPr>
            <a:spLocks noGrp="1" noChangeArrowheads="1"/>
          </p:cNvSpPr>
          <p:nvPr>
            <p:ph type="body" idx="1"/>
          </p:nvPr>
        </p:nvSpPr>
        <p:spPr>
          <a:xfrm>
            <a:off x="2951785" y="1901289"/>
            <a:ext cx="3581400" cy="381000"/>
          </a:xfrm>
          <a:noFill/>
        </p:spPr>
        <p:txBody>
          <a:bodyPr>
            <a:noAutofit/>
          </a:bodyPr>
          <a:lstStyle/>
          <a:p>
            <a:pPr marL="263525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time</a:t>
            </a:r>
          </a:p>
        </p:txBody>
      </p:sp>
      <p:graphicFrame>
        <p:nvGraphicFramePr>
          <p:cNvPr id="30732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754711"/>
              </p:ext>
            </p:extLst>
          </p:nvPr>
        </p:nvGraphicFramePr>
        <p:xfrm>
          <a:off x="1503985" y="2393364"/>
          <a:ext cx="104933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58558" imgH="203112" progId="Equation.3">
                  <p:embed/>
                </p:oleObj>
              </mc:Choice>
              <mc:Fallback>
                <p:oleObj name="Equation" r:id="rId4" imgW="558558" imgH="203112" progId="Equation.3">
                  <p:embed/>
                  <p:pic>
                    <p:nvPicPr>
                      <p:cNvPr id="30732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985" y="2393364"/>
                        <a:ext cx="1049338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3" name="Rectangle 24"/>
          <p:cNvSpPr>
            <a:spLocks noChangeArrowheads="1"/>
          </p:cNvSpPr>
          <p:nvPr/>
        </p:nvSpPr>
        <p:spPr bwMode="auto">
          <a:xfrm>
            <a:off x="2951785" y="2319678"/>
            <a:ext cx="3581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263525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Logarithmic time </a:t>
            </a:r>
          </a:p>
        </p:txBody>
      </p:sp>
      <p:graphicFrame>
        <p:nvGraphicFramePr>
          <p:cNvPr id="30734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930870"/>
              </p:ext>
            </p:extLst>
          </p:nvPr>
        </p:nvGraphicFramePr>
        <p:xfrm>
          <a:off x="1503986" y="3002964"/>
          <a:ext cx="6445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751" imgH="203112" progId="Equation.3">
                  <p:embed/>
                </p:oleObj>
              </mc:Choice>
              <mc:Fallback>
                <p:oleObj name="Equation" r:id="rId6" imgW="342751" imgH="203112" progId="Equation.3">
                  <p:embed/>
                  <p:pic>
                    <p:nvPicPr>
                      <p:cNvPr id="30734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986" y="3002964"/>
                        <a:ext cx="6445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5" name="Rectangle 26"/>
          <p:cNvSpPr>
            <a:spLocks noChangeArrowheads="1"/>
          </p:cNvSpPr>
          <p:nvPr/>
        </p:nvSpPr>
        <p:spPr bwMode="auto">
          <a:xfrm>
            <a:off x="2951785" y="2843824"/>
            <a:ext cx="3581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263525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Linear time </a:t>
            </a:r>
          </a:p>
        </p:txBody>
      </p:sp>
      <p:graphicFrame>
        <p:nvGraphicFramePr>
          <p:cNvPr id="30736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1292166"/>
              </p:ext>
            </p:extLst>
          </p:nvPr>
        </p:nvGraphicFramePr>
        <p:xfrm>
          <a:off x="1503986" y="3612564"/>
          <a:ext cx="12414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0113" imgH="203112" progId="Equation.3">
                  <p:embed/>
                </p:oleObj>
              </mc:Choice>
              <mc:Fallback>
                <p:oleObj name="Equation" r:id="rId8" imgW="660113" imgH="203112" progId="Equation.3">
                  <p:embed/>
                  <p:pic>
                    <p:nvPicPr>
                      <p:cNvPr id="30736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986" y="3612564"/>
                        <a:ext cx="12414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7" name="Rectangle 28"/>
          <p:cNvSpPr>
            <a:spLocks noChangeArrowheads="1"/>
          </p:cNvSpPr>
          <p:nvPr/>
        </p:nvSpPr>
        <p:spPr bwMode="auto">
          <a:xfrm>
            <a:off x="2951785" y="3491019"/>
            <a:ext cx="3581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263525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Log-linear time </a:t>
            </a:r>
          </a:p>
        </p:txBody>
      </p:sp>
      <p:graphicFrame>
        <p:nvGraphicFramePr>
          <p:cNvPr id="30738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939773"/>
              </p:ext>
            </p:extLst>
          </p:nvPr>
        </p:nvGraphicFramePr>
        <p:xfrm>
          <a:off x="1528660" y="4197104"/>
          <a:ext cx="7620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06224" imgH="228501" progId="Equation.3">
                  <p:embed/>
                </p:oleObj>
              </mc:Choice>
              <mc:Fallback>
                <p:oleObj name="Equation" r:id="rId10" imgW="406224" imgH="228501" progId="Equation.3">
                  <p:embed/>
                  <p:pic>
                    <p:nvPicPr>
                      <p:cNvPr id="30738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660" y="4197104"/>
                        <a:ext cx="7620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9" name="Rectangle 30"/>
          <p:cNvSpPr>
            <a:spLocks noChangeArrowheads="1"/>
          </p:cNvSpPr>
          <p:nvPr/>
        </p:nvSpPr>
        <p:spPr bwMode="auto">
          <a:xfrm>
            <a:off x="2951785" y="4109451"/>
            <a:ext cx="3581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263525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Quadratic time </a:t>
            </a:r>
          </a:p>
        </p:txBody>
      </p:sp>
      <p:graphicFrame>
        <p:nvGraphicFramePr>
          <p:cNvPr id="30740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9162151"/>
              </p:ext>
            </p:extLst>
          </p:nvPr>
        </p:nvGraphicFramePr>
        <p:xfrm>
          <a:off x="1537836" y="4780050"/>
          <a:ext cx="7620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6224" imgH="228501" progId="Equation.3">
                  <p:embed/>
                </p:oleObj>
              </mc:Choice>
              <mc:Fallback>
                <p:oleObj name="Equation" r:id="rId12" imgW="406224" imgH="228501" progId="Equation.3">
                  <p:embed/>
                  <p:pic>
                    <p:nvPicPr>
                      <p:cNvPr id="3074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7836" y="4780050"/>
                        <a:ext cx="7620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1" name="Rectangle 32"/>
          <p:cNvSpPr>
            <a:spLocks noChangeArrowheads="1"/>
          </p:cNvSpPr>
          <p:nvPr/>
        </p:nvSpPr>
        <p:spPr bwMode="auto">
          <a:xfrm>
            <a:off x="2951785" y="4739803"/>
            <a:ext cx="3581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263525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Cubic time </a:t>
            </a:r>
          </a:p>
        </p:txBody>
      </p:sp>
      <p:graphicFrame>
        <p:nvGraphicFramePr>
          <p:cNvPr id="30742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607455"/>
              </p:ext>
            </p:extLst>
          </p:nvPr>
        </p:nvGraphicFramePr>
        <p:xfrm>
          <a:off x="1528660" y="5337936"/>
          <a:ext cx="7620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06224" imgH="228501" progId="Equation.3">
                  <p:embed/>
                </p:oleObj>
              </mc:Choice>
              <mc:Fallback>
                <p:oleObj name="Equation" r:id="rId14" imgW="406224" imgH="228501" progId="Equation.3">
                  <p:embed/>
                  <p:pic>
                    <p:nvPicPr>
                      <p:cNvPr id="30742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660" y="5337936"/>
                        <a:ext cx="7620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3" name="Rectangle 34"/>
          <p:cNvSpPr>
            <a:spLocks noChangeArrowheads="1"/>
          </p:cNvSpPr>
          <p:nvPr/>
        </p:nvSpPr>
        <p:spPr bwMode="auto">
          <a:xfrm>
            <a:off x="2951785" y="5289673"/>
            <a:ext cx="3581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263525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Exponential time </a:t>
            </a:r>
          </a:p>
        </p:txBody>
      </p:sp>
      <p:sp>
        <p:nvSpPr>
          <p:cNvPr id="2" name="Rectangle 22">
            <a:extLst>
              <a:ext uri="{FF2B5EF4-FFF2-40B4-BE49-F238E27FC236}">
                <a16:creationId xmlns:a16="http://schemas.microsoft.com/office/drawing/2014/main" id="{AE248063-EA55-7D88-9367-116548C17985}"/>
              </a:ext>
            </a:extLst>
          </p:cNvPr>
          <p:cNvSpPr txBox="1">
            <a:spLocks noChangeArrowheads="1"/>
          </p:cNvSpPr>
          <p:nvPr/>
        </p:nvSpPr>
        <p:spPr>
          <a:xfrm>
            <a:off x="2951785" y="5916543"/>
            <a:ext cx="3581400" cy="3810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525" indent="0">
              <a:buFont typeface="Arial" panose="020B0604020202020204" pitchFamily="34" charset="0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Factorial Time</a:t>
            </a:r>
          </a:p>
        </p:txBody>
      </p:sp>
      <p:graphicFrame>
        <p:nvGraphicFramePr>
          <p:cNvPr id="3" name="Object 21">
            <a:extLst>
              <a:ext uri="{FF2B5EF4-FFF2-40B4-BE49-F238E27FC236}">
                <a16:creationId xmlns:a16="http://schemas.microsoft.com/office/drawing/2014/main" id="{E0E1498F-662C-06F8-E8C2-F923196D3D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820347"/>
              </p:ext>
            </p:extLst>
          </p:nvPr>
        </p:nvGraphicFramePr>
        <p:xfrm>
          <a:off x="1505413" y="1912575"/>
          <a:ext cx="5953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17225" imgH="203024" progId="Equation.3">
                  <p:embed/>
                </p:oleObj>
              </mc:Choice>
              <mc:Fallback>
                <p:oleObj name="Equation" r:id="rId16" imgW="317225" imgH="203024" progId="Equation.3">
                  <p:embed/>
                  <p:pic>
                    <p:nvPicPr>
                      <p:cNvPr id="3073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5413" y="1912575"/>
                        <a:ext cx="5953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8E5587B-3950-0B0B-64AA-9633DF404A66}"/>
              </a:ext>
            </a:extLst>
          </p:cNvPr>
          <p:cNvSpPr txBox="1"/>
          <p:nvPr/>
        </p:nvSpPr>
        <p:spPr>
          <a:xfrm>
            <a:off x="1486821" y="5738566"/>
            <a:ext cx="992537" cy="539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O(n! 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2D86DD-71AE-4569-6E5D-6CFAC04C1399}"/>
              </a:ext>
            </a:extLst>
          </p:cNvPr>
          <p:cNvSpPr txBox="1"/>
          <p:nvPr/>
        </p:nvSpPr>
        <p:spPr>
          <a:xfrm>
            <a:off x="9209089" y="1131631"/>
            <a:ext cx="1575156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O(n! 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432089-7987-1360-B7A2-C983299D7E9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82732" y="1901289"/>
            <a:ext cx="4922645" cy="41432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2D79B3-947A-2FF0-201C-E5087C92EFB6}"/>
              </a:ext>
            </a:extLst>
          </p:cNvPr>
          <p:cNvSpPr txBox="1"/>
          <p:nvPr/>
        </p:nvSpPr>
        <p:spPr>
          <a:xfrm>
            <a:off x="8038760" y="6129484"/>
            <a:ext cx="3455275" cy="295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source: google image</a:t>
            </a:r>
          </a:p>
        </p:txBody>
      </p:sp>
    </p:spTree>
    <p:extLst>
      <p:ext uri="{BB962C8B-B14F-4D97-AF65-F5344CB8AC3E}">
        <p14:creationId xmlns:p14="http://schemas.microsoft.com/office/powerpoint/2010/main" val="2657585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58B4-AB37-254F-88EF-D08DD5348D4F}" type="slidenum">
              <a:rPr lang="en-US"/>
              <a:pPr/>
              <a:t>8</a:t>
            </a:fld>
            <a:endParaRPr lang="en-US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74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Types of Analysis on Running Times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739" y="1214439"/>
            <a:ext cx="9582509" cy="5354637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Worst case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Provides an upper bound on running time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An absolute </a:t>
            </a:r>
            <a:r>
              <a:rPr lang="en-U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guarantee</a:t>
            </a:r>
            <a:r>
              <a:rPr lang="en-US" dirty="0"/>
              <a:t> that the algorithm would not run longer, no matter what the inputs are</a:t>
            </a:r>
          </a:p>
          <a:p>
            <a:pPr>
              <a:lnSpc>
                <a:spcPct val="110000"/>
              </a:lnSpc>
            </a:pPr>
            <a:r>
              <a:rPr lang="en-US" dirty="0"/>
              <a:t>Best case</a:t>
            </a:r>
            <a:endParaRPr lang="en-US" dirty="0">
              <a:latin typeface="Comic Sans MS" pitchFamily="-107" charset="0"/>
            </a:endParaRPr>
          </a:p>
          <a:p>
            <a:pPr lvl="1">
              <a:lnSpc>
                <a:spcPct val="110000"/>
              </a:lnSpc>
            </a:pPr>
            <a:r>
              <a:rPr lang="en-US" dirty="0"/>
              <a:t>Input is the one for which the algorithm runs the fastest</a:t>
            </a:r>
          </a:p>
          <a:p>
            <a:pPr>
              <a:lnSpc>
                <a:spcPct val="110000"/>
              </a:lnSpc>
            </a:pPr>
            <a:r>
              <a:rPr lang="en-US" dirty="0"/>
              <a:t>Average case </a:t>
            </a:r>
            <a:endParaRPr lang="en-US" dirty="0">
              <a:latin typeface="Comic Sans MS" pitchFamily="-107" charset="0"/>
            </a:endParaRPr>
          </a:p>
          <a:p>
            <a:pPr lvl="1">
              <a:lnSpc>
                <a:spcPct val="110000"/>
              </a:lnSpc>
            </a:pPr>
            <a:r>
              <a:rPr lang="en-US" dirty="0"/>
              <a:t>Provides a </a:t>
            </a:r>
            <a:r>
              <a:rPr lang="en-U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prediction</a:t>
            </a:r>
            <a:r>
              <a:rPr lang="en-US" dirty="0"/>
              <a:t> about the running time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Assumes that the input is random</a:t>
            </a:r>
          </a:p>
        </p:txBody>
      </p:sp>
    </p:spTree>
    <p:extLst>
      <p:ext uri="{BB962C8B-B14F-4D97-AF65-F5344CB8AC3E}">
        <p14:creationId xmlns:p14="http://schemas.microsoft.com/office/powerpoint/2010/main" val="39892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783A8-DCAF-4176-A65F-49B8DDF79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245" y="0"/>
            <a:ext cx="10515600" cy="1325563"/>
          </a:xfrm>
        </p:spPr>
        <p:txBody>
          <a:bodyPr/>
          <a:lstStyle/>
          <a:p>
            <a:r>
              <a:rPr lang="en-US" altLang="en-US" sz="3600" dirty="0"/>
              <a:t>Example – Sorting Problem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531EE8-1DF2-4FB3-99A3-E576A06F9914}"/>
              </a:ext>
            </a:extLst>
          </p:cNvPr>
          <p:cNvSpPr txBox="1">
            <a:spLocks noChangeArrowheads="1"/>
          </p:cNvSpPr>
          <p:nvPr/>
        </p:nvSpPr>
        <p:spPr>
          <a:xfrm>
            <a:off x="1188720" y="1601339"/>
            <a:ext cx="9206109" cy="3876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rgbClr val="990033"/>
                </a:solidFill>
                <a:latin typeface="Vollkorn" charset="0"/>
                <a:ea typeface="Vollkorn" charset="0"/>
                <a:cs typeface="Vollkorn" charset="0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rgbClr val="990033"/>
                </a:solidFill>
                <a:latin typeface="Vollkorn" charset="0"/>
                <a:ea typeface="Vollkorn" charset="0"/>
                <a:cs typeface="Vollkorn" charset="0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rgbClr val="990033"/>
                </a:solidFill>
                <a:latin typeface="Vollkorn" charset="0"/>
                <a:ea typeface="Vollkorn" charset="0"/>
                <a:cs typeface="Vollkorn" charset="0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rgbClr val="990033"/>
                </a:solidFill>
                <a:latin typeface="Vollkorn" charset="0"/>
                <a:ea typeface="Vollkorn" charset="0"/>
                <a:cs typeface="Vollkorn" charset="0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rgbClr val="990033"/>
                </a:solidFill>
                <a:latin typeface="Vollkorn" charset="0"/>
                <a:ea typeface="Vollkorn" charset="0"/>
                <a:cs typeface="Vollkorn" charset="0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Clr>
                <a:srgbClr val="002060"/>
              </a:buClr>
            </a:pPr>
            <a:r>
              <a:rPr lang="en-US" altLang="en-US" sz="2400" dirty="0">
                <a:solidFill>
                  <a:schemeClr val="tx1"/>
                </a:solidFill>
              </a:rPr>
              <a:t>Input: A sequence of N numbers a</a:t>
            </a:r>
            <a:r>
              <a:rPr lang="en-US" altLang="en-US" sz="2400" baseline="-25000" dirty="0">
                <a:solidFill>
                  <a:schemeClr val="tx1"/>
                </a:solidFill>
              </a:rPr>
              <a:t>1</a:t>
            </a:r>
            <a:r>
              <a:rPr lang="en-US" altLang="en-US" sz="2400" dirty="0">
                <a:solidFill>
                  <a:schemeClr val="tx1"/>
                </a:solidFill>
              </a:rPr>
              <a:t>…a</a:t>
            </a:r>
            <a:r>
              <a:rPr lang="en-US" altLang="en-US" sz="2400" baseline="-25000" dirty="0">
                <a:solidFill>
                  <a:schemeClr val="tx1"/>
                </a:solidFill>
              </a:rPr>
              <a:t>n</a:t>
            </a:r>
          </a:p>
          <a:p>
            <a:pPr>
              <a:buClr>
                <a:srgbClr val="002060"/>
              </a:buClr>
            </a:pPr>
            <a:r>
              <a:rPr lang="en-US" altLang="en-US" sz="2400" dirty="0">
                <a:solidFill>
                  <a:schemeClr val="tx1"/>
                </a:solidFill>
              </a:rPr>
              <a:t>Output: the permutation (reordering) of the input sequence such that a</a:t>
            </a:r>
            <a:r>
              <a:rPr lang="en-US" altLang="en-US" sz="2400" baseline="-25000" dirty="0">
                <a:solidFill>
                  <a:schemeClr val="tx1"/>
                </a:solidFill>
              </a:rPr>
              <a:t>1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cs typeface="Times New Roman" pitchFamily="18" charset="0"/>
              </a:rPr>
              <a:t>≤</a:t>
            </a:r>
            <a:r>
              <a:rPr lang="en-US" altLang="en-US" sz="2400" dirty="0">
                <a:solidFill>
                  <a:schemeClr val="tx1"/>
                </a:solidFill>
              </a:rPr>
              <a:t> a</a:t>
            </a:r>
            <a:r>
              <a:rPr lang="en-US" altLang="en-US" sz="2400" baseline="-25000" dirty="0">
                <a:solidFill>
                  <a:schemeClr val="tx1"/>
                </a:solidFill>
              </a:rPr>
              <a:t>2</a:t>
            </a:r>
            <a:r>
              <a:rPr lang="en-US" altLang="en-US" sz="2400" dirty="0">
                <a:solidFill>
                  <a:schemeClr val="tx1"/>
                </a:solidFill>
              </a:rPr>
              <a:t> … </a:t>
            </a:r>
            <a:r>
              <a:rPr lang="en-US" altLang="en-US" sz="2400" dirty="0">
                <a:solidFill>
                  <a:schemeClr val="tx1"/>
                </a:solidFill>
                <a:cs typeface="Times New Roman" pitchFamily="18" charset="0"/>
              </a:rPr>
              <a:t>≤</a:t>
            </a:r>
            <a:r>
              <a:rPr lang="en-US" altLang="en-US" sz="2400" dirty="0">
                <a:solidFill>
                  <a:schemeClr val="tx1"/>
                </a:solidFill>
              </a:rPr>
              <a:t> a</a:t>
            </a:r>
            <a:r>
              <a:rPr lang="en-US" altLang="en-US" sz="2400" baseline="-25000" dirty="0">
                <a:solidFill>
                  <a:schemeClr val="tx1"/>
                </a:solidFill>
              </a:rPr>
              <a:t>n</a:t>
            </a:r>
            <a:r>
              <a:rPr lang="en-US" altLang="en-US" sz="2400" dirty="0">
                <a:solidFill>
                  <a:schemeClr val="tx1"/>
                </a:solidFill>
              </a:rPr>
              <a:t>.</a:t>
            </a:r>
          </a:p>
          <a:p>
            <a:pPr>
              <a:buClr>
                <a:srgbClr val="002060"/>
              </a:buClr>
            </a:pPr>
            <a:r>
              <a:rPr lang="en-US" altLang="en-US" sz="2400" dirty="0">
                <a:solidFill>
                  <a:schemeClr val="tx1"/>
                </a:solidFill>
              </a:rPr>
              <a:t>Possible algorithms you’ve learned so far</a:t>
            </a:r>
          </a:p>
          <a:p>
            <a:pPr lvl="1">
              <a:buClr>
                <a:srgbClr val="002060"/>
              </a:buClr>
            </a:pPr>
            <a:r>
              <a:rPr lang="en-US" altLang="en-US" sz="2400" dirty="0">
                <a:solidFill>
                  <a:schemeClr val="tx1"/>
                </a:solidFill>
              </a:rPr>
              <a:t>Insertion, selection, bubble, quick, merge, heap, …</a:t>
            </a:r>
          </a:p>
        </p:txBody>
      </p:sp>
    </p:spTree>
    <p:extLst>
      <p:ext uri="{BB962C8B-B14F-4D97-AF65-F5344CB8AC3E}">
        <p14:creationId xmlns:p14="http://schemas.microsoft.com/office/powerpoint/2010/main" val="222245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619" y="2606"/>
            <a:ext cx="10515600" cy="1325563"/>
          </a:xfrm>
        </p:spPr>
        <p:txBody>
          <a:bodyPr/>
          <a:lstStyle/>
          <a:p>
            <a:r>
              <a:rPr lang="en-US" sz="3600" dirty="0"/>
              <a:t>Example – Sorting </a:t>
            </a:r>
            <a:r>
              <a:rPr lang="en-US" altLang="en-US" sz="3600" dirty="0"/>
              <a:t>Problem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9585" y="1328169"/>
            <a:ext cx="8174580" cy="4614478"/>
          </a:xfrm>
        </p:spPr>
        <p:txBody>
          <a:bodyPr>
            <a:normAutofit/>
          </a:bodyPr>
          <a:lstStyle/>
          <a:p>
            <a:pPr>
              <a:buClr>
                <a:srgbClr val="332E70"/>
              </a:buClr>
            </a:pPr>
            <a:r>
              <a:rPr lang="en-US" sz="2400" dirty="0"/>
              <a:t>The sorting problem</a:t>
            </a:r>
          </a:p>
          <a:p>
            <a:pPr lvl="1">
              <a:buClr>
                <a:srgbClr val="332E70"/>
              </a:buClr>
            </a:pPr>
            <a:r>
              <a:rPr lang="en-US" dirty="0"/>
              <a:t>The sequences are typically stored in arrays</a:t>
            </a:r>
          </a:p>
          <a:p>
            <a:pPr lvl="1">
              <a:buClr>
                <a:srgbClr val="332E70"/>
              </a:buClr>
            </a:pPr>
            <a:r>
              <a:rPr lang="en-US" dirty="0"/>
              <a:t>Several ways to solve the sorting problem</a:t>
            </a:r>
          </a:p>
          <a:p>
            <a:pPr lvl="1">
              <a:buClr>
                <a:srgbClr val="332E70"/>
              </a:buClr>
            </a:pPr>
            <a:r>
              <a:rPr lang="en-US" dirty="0"/>
              <a:t>Each way will be expressed as an </a:t>
            </a:r>
            <a:r>
              <a:rPr lang="en-US" b="1" i="1" dirty="0"/>
              <a:t>algorithm</a:t>
            </a:r>
            <a:endParaRPr lang="en-US" dirty="0"/>
          </a:p>
          <a:p>
            <a:pPr>
              <a:buClr>
                <a:srgbClr val="332E70"/>
              </a:buClr>
            </a:pPr>
            <a:r>
              <a:rPr lang="en-US" sz="2400" dirty="0"/>
              <a:t>Algorithm</a:t>
            </a:r>
          </a:p>
          <a:p>
            <a:pPr lvl="1">
              <a:buClr>
                <a:srgbClr val="332E70"/>
              </a:buClr>
            </a:pPr>
            <a:r>
              <a:rPr lang="en-US" dirty="0"/>
              <a:t>a well-defined computational procedure</a:t>
            </a:r>
          </a:p>
          <a:p>
            <a:pPr lvl="1">
              <a:buClr>
                <a:srgbClr val="332E70"/>
              </a:buClr>
            </a:pPr>
            <a:r>
              <a:rPr lang="en-US" dirty="0"/>
              <a:t>takes some value, or set of values, as input</a:t>
            </a:r>
          </a:p>
          <a:p>
            <a:pPr lvl="1">
              <a:buClr>
                <a:srgbClr val="332E70"/>
              </a:buClr>
            </a:pPr>
            <a:r>
              <a:rPr lang="en-US" dirty="0"/>
              <a:t>produces some value, or set of values, as output</a:t>
            </a:r>
          </a:p>
          <a:p>
            <a:pPr>
              <a:buClr>
                <a:srgbClr val="332E70"/>
              </a:buClr>
            </a:pPr>
            <a:r>
              <a:rPr lang="en-US" altLang="en-US" sz="2400" dirty="0"/>
              <a:t>Seek algorithms that are both </a:t>
            </a:r>
            <a:r>
              <a:rPr lang="en-US" altLang="en-US" sz="2400" i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correct</a:t>
            </a:r>
            <a:r>
              <a:rPr lang="en-US" altLang="en-US" sz="2400" i="1" dirty="0"/>
              <a:t> </a:t>
            </a:r>
            <a:r>
              <a:rPr lang="en-US" altLang="en-US" sz="2400" dirty="0"/>
              <a:t>and </a:t>
            </a:r>
            <a:r>
              <a:rPr lang="en-US" altLang="en-US" sz="2400" i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efficient</a:t>
            </a:r>
          </a:p>
          <a:p>
            <a:pPr lvl="1">
              <a:buClr>
                <a:srgbClr val="332E70"/>
              </a:buClr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58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8431" y="280190"/>
            <a:ext cx="8763546" cy="548768"/>
          </a:xfrm>
        </p:spPr>
        <p:txBody>
          <a:bodyPr>
            <a:noAutofit/>
          </a:bodyPr>
          <a:lstStyle/>
          <a:p>
            <a:r>
              <a:rPr lang="en-US" sz="3600" dirty="0"/>
              <a:t>Insertion Sort Algorithm – Pseudocode &amp; Operation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EC5C96-77C9-7408-A4C8-E482795F1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720" y="1090416"/>
            <a:ext cx="5273370" cy="25726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13CA7D-1009-7612-DA52-58732B36D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91" y="3924534"/>
            <a:ext cx="9098921" cy="227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83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2487" y="0"/>
            <a:ext cx="10515600" cy="1325563"/>
          </a:xfrm>
        </p:spPr>
        <p:txBody>
          <a:bodyPr/>
          <a:lstStyle/>
          <a:p>
            <a:r>
              <a:rPr lang="en-US" sz="3600" dirty="0"/>
              <a:t>Input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8815" y="1475983"/>
            <a:ext cx="9611071" cy="4226077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200" dirty="0"/>
              <a:t>Depends on the problem being studied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Usually, the number of items in the input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Size </a:t>
            </a:r>
            <a:r>
              <a:rPr lang="en-US" sz="2200" i="1" dirty="0"/>
              <a:t>n </a:t>
            </a:r>
            <a:r>
              <a:rPr lang="en-US" sz="2200" dirty="0"/>
              <a:t>of the array being sorted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But could be something else</a:t>
            </a:r>
          </a:p>
          <a:p>
            <a:pPr lvl="2">
              <a:buClr>
                <a:srgbClr val="002060"/>
              </a:buClr>
            </a:pPr>
            <a:r>
              <a:rPr lang="en-US" dirty="0"/>
              <a:t>If multiplying two integers, could be the total number of digits(bits) in the two integers.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Could be described by more than one number. </a:t>
            </a:r>
          </a:p>
          <a:p>
            <a:pPr lvl="2">
              <a:buClr>
                <a:srgbClr val="002060"/>
              </a:buClr>
            </a:pPr>
            <a:r>
              <a:rPr lang="en-US" dirty="0"/>
              <a:t>For example, graph algorithm running times are usually expressed in terms of the number of vertices and the number of edges in the input graph.</a:t>
            </a:r>
          </a:p>
        </p:txBody>
      </p:sp>
    </p:spTree>
    <p:extLst>
      <p:ext uri="{BB962C8B-B14F-4D97-AF65-F5344CB8AC3E}">
        <p14:creationId xmlns:p14="http://schemas.microsoft.com/office/powerpoint/2010/main" val="3267705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366" y="0"/>
            <a:ext cx="10515600" cy="1325563"/>
          </a:xfrm>
        </p:spPr>
        <p:txBody>
          <a:bodyPr/>
          <a:lstStyle/>
          <a:p>
            <a:r>
              <a:rPr lang="en-US" sz="3600" dirty="0"/>
              <a:t>Running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366" y="1322658"/>
            <a:ext cx="10048336" cy="5004356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200" dirty="0"/>
              <a:t>On a particular input, it is the number of primitive operations (steps) executed.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Want to define steps to be machine-independent.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Figure that each line of pseudocode requires a constant amount of time.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One line may take a different amount of time than another, but each execution of line </a:t>
            </a:r>
            <a:r>
              <a:rPr lang="en-US" sz="2200" i="1" dirty="0" err="1"/>
              <a:t>i</a:t>
            </a:r>
            <a:r>
              <a:rPr lang="en-US" sz="2200" i="1" dirty="0"/>
              <a:t> </a:t>
            </a:r>
            <a:r>
              <a:rPr lang="en-US" sz="2200" dirty="0"/>
              <a:t>takes the same amount of time </a:t>
            </a:r>
            <a:r>
              <a:rPr lang="en-US" sz="2200" i="1" dirty="0"/>
              <a:t>ci </a:t>
            </a:r>
            <a:r>
              <a:rPr lang="en-US" sz="2200" dirty="0"/>
              <a:t>.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Assuming that the line consists only of primitive operations.</a:t>
            </a:r>
          </a:p>
          <a:p>
            <a:pPr lvl="2">
              <a:buClr>
                <a:srgbClr val="002060"/>
              </a:buClr>
            </a:pPr>
            <a:r>
              <a:rPr lang="en-US" sz="2200" dirty="0"/>
              <a:t>If the line is a subroutine call, then the actual call takes constant time, but the execution of the subroutine being called might not.</a:t>
            </a:r>
          </a:p>
          <a:p>
            <a:pPr lvl="2">
              <a:buClr>
                <a:srgbClr val="002060"/>
              </a:buClr>
            </a:pPr>
            <a:r>
              <a:rPr lang="en-US" sz="2200" dirty="0"/>
              <a:t>If the line specifies operations other than primitive ones, then it might take more than constant time.</a:t>
            </a:r>
          </a:p>
        </p:txBody>
      </p:sp>
    </p:spTree>
    <p:extLst>
      <p:ext uri="{BB962C8B-B14F-4D97-AF65-F5344CB8AC3E}">
        <p14:creationId xmlns:p14="http://schemas.microsoft.com/office/powerpoint/2010/main" val="76233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2487" y="0"/>
            <a:ext cx="10515600" cy="1325563"/>
          </a:xfrm>
        </p:spPr>
        <p:txBody>
          <a:bodyPr/>
          <a:lstStyle/>
          <a:p>
            <a:r>
              <a:rPr lang="en-US" sz="3600" dirty="0"/>
              <a:t>Analysis of Insertion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2487" y="1325563"/>
            <a:ext cx="9780917" cy="4840520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Add statement costs and number of times executed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Assume that the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 err="1"/>
              <a:t>th</a:t>
            </a:r>
            <a:r>
              <a:rPr lang="en-US" dirty="0"/>
              <a:t> line takes time </a:t>
            </a:r>
            <a:r>
              <a:rPr lang="en-US" i="1" dirty="0"/>
              <a:t>ci </a:t>
            </a:r>
            <a:r>
              <a:rPr lang="en-US" dirty="0"/>
              <a:t>, which is a constant. (If a line is a comment, it takes no time.)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For </a:t>
            </a:r>
            <a:r>
              <a:rPr lang="en-US" i="1" dirty="0"/>
              <a:t>j </a:t>
            </a:r>
            <a:r>
              <a:rPr lang="en-US" dirty="0"/>
              <a:t>= 2</a:t>
            </a:r>
            <a:r>
              <a:rPr lang="en-US" i="1" dirty="0"/>
              <a:t>, </a:t>
            </a:r>
            <a:r>
              <a:rPr lang="en-US" dirty="0"/>
              <a:t>3</a:t>
            </a:r>
            <a:r>
              <a:rPr lang="en-US" i="1" dirty="0"/>
              <a:t>, . . . , n</a:t>
            </a:r>
            <a:r>
              <a:rPr lang="en-US" dirty="0"/>
              <a:t>, let </a:t>
            </a:r>
            <a:r>
              <a:rPr lang="en-US" i="1" dirty="0" err="1"/>
              <a:t>tj</a:t>
            </a:r>
            <a:r>
              <a:rPr lang="en-US" i="1" dirty="0"/>
              <a:t> </a:t>
            </a:r>
            <a:r>
              <a:rPr lang="en-US" dirty="0"/>
              <a:t>be the number of times that the </a:t>
            </a:r>
            <a:r>
              <a:rPr lang="en-US" b="1" dirty="0"/>
              <a:t>while </a:t>
            </a:r>
            <a:r>
              <a:rPr lang="en-US" dirty="0"/>
              <a:t>loop test is executed for that value of </a:t>
            </a:r>
            <a:r>
              <a:rPr lang="en-US" i="1" dirty="0"/>
              <a:t>j </a:t>
            </a:r>
            <a:r>
              <a:rPr lang="en-US" dirty="0"/>
              <a:t>.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Note that when a </a:t>
            </a:r>
            <a:r>
              <a:rPr lang="en-US" b="1" dirty="0"/>
              <a:t>for </a:t>
            </a:r>
            <a:r>
              <a:rPr lang="en-US" dirty="0"/>
              <a:t>or </a:t>
            </a:r>
            <a:r>
              <a:rPr lang="en-US" b="1" dirty="0"/>
              <a:t>while </a:t>
            </a:r>
            <a:r>
              <a:rPr lang="en-US" dirty="0"/>
              <a:t>loop exits in the usual way - due to the test in the loop header - the test is executed one time more than the loop body.</a:t>
            </a:r>
          </a:p>
        </p:txBody>
      </p:sp>
    </p:spTree>
    <p:extLst>
      <p:ext uri="{BB962C8B-B14F-4D97-AF65-F5344CB8AC3E}">
        <p14:creationId xmlns:p14="http://schemas.microsoft.com/office/powerpoint/2010/main" val="1176208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742" y="186881"/>
            <a:ext cx="7055380" cy="534253"/>
          </a:xfrm>
        </p:spPr>
        <p:txBody>
          <a:bodyPr>
            <a:noAutofit/>
          </a:bodyPr>
          <a:lstStyle/>
          <a:p>
            <a:r>
              <a:rPr lang="en-US" sz="3600" dirty="0"/>
              <a:t>Analysis of Insertion Sort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0538C2-66F8-9DED-FB8A-F42ABB7E5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95" y="1371376"/>
            <a:ext cx="9030960" cy="32008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2D31EA-47AB-9B94-BA69-D9679E542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5" y="4653077"/>
            <a:ext cx="7516274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29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1071114" y="28695"/>
            <a:ext cx="10515600" cy="1325563"/>
          </a:xfrm>
        </p:spPr>
        <p:txBody>
          <a:bodyPr/>
          <a:lstStyle/>
          <a:p>
            <a:r>
              <a:rPr lang="en-US" sz="3600" dirty="0"/>
              <a:t>Best Case of Insertion Sort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57904" y="1354258"/>
            <a:ext cx="7054644" cy="4840520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When the array is already sorted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17" y="1774107"/>
            <a:ext cx="8949178" cy="29781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A4FE7D-F3AE-8DBB-5D25-396C1A4E9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61" y="4752252"/>
            <a:ext cx="5695326" cy="1256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4638C8-D03B-EBA7-FB5B-6104455AD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858" y="1774107"/>
            <a:ext cx="3179625" cy="2658920"/>
          </a:xfrm>
          <a:prstGeom prst="rect">
            <a:avLst/>
          </a:prstGeom>
          <a:ln w="31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35781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285" y="0"/>
            <a:ext cx="10515600" cy="1325563"/>
          </a:xfrm>
        </p:spPr>
        <p:txBody>
          <a:bodyPr/>
          <a:lstStyle/>
          <a:p>
            <a:r>
              <a:rPr lang="en-US" sz="3600" dirty="0"/>
              <a:t>Worst Case of Insertion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172" y="1325563"/>
            <a:ext cx="9204500" cy="4622806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When the array is in reverse sorted order.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Always find that </a:t>
            </a:r>
            <a:r>
              <a:rPr lang="en-US" sz="2400" i="1" dirty="0"/>
              <a:t>A</a:t>
            </a:r>
            <a:r>
              <a:rPr lang="en-US" sz="2400" dirty="0"/>
              <a:t>[</a:t>
            </a:r>
            <a:r>
              <a:rPr lang="en-US" sz="2400" i="1" dirty="0" err="1"/>
              <a:t>i</a:t>
            </a:r>
            <a:r>
              <a:rPr lang="en-US" sz="2400" i="1" dirty="0"/>
              <a:t> </a:t>
            </a:r>
            <a:r>
              <a:rPr lang="en-US" sz="2400" dirty="0"/>
              <a:t>] </a:t>
            </a:r>
            <a:r>
              <a:rPr lang="en-US" sz="2400" i="1" dirty="0"/>
              <a:t>&gt; key </a:t>
            </a:r>
            <a:r>
              <a:rPr lang="en-US" sz="2400" dirty="0"/>
              <a:t>in while loop test.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Have to compare </a:t>
            </a:r>
            <a:r>
              <a:rPr lang="en-US" sz="2400" i="1" dirty="0"/>
              <a:t>key </a:t>
            </a:r>
            <a:r>
              <a:rPr lang="en-US" sz="2400" dirty="0"/>
              <a:t>with all elements to the left of the </a:t>
            </a:r>
            <a:br>
              <a:rPr lang="en-US" sz="2400" dirty="0"/>
            </a:br>
            <a:r>
              <a:rPr lang="en-US" sz="2400" i="1" dirty="0"/>
              <a:t>j </a:t>
            </a:r>
            <a:r>
              <a:rPr lang="en-US" sz="2400" dirty="0" err="1"/>
              <a:t>th</a:t>
            </a:r>
            <a:r>
              <a:rPr lang="en-US" sz="2400" dirty="0"/>
              <a:t> position ⇒ compare with </a:t>
            </a:r>
            <a:r>
              <a:rPr lang="en-US" sz="2400" i="1" dirty="0"/>
              <a:t>j </a:t>
            </a:r>
            <a:r>
              <a:rPr lang="en-US" sz="2400" dirty="0"/>
              <a:t>− 1 elements.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16" y="3103567"/>
            <a:ext cx="8019291" cy="32686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DD2F5A-DA5F-98FD-2F69-8E69EDFF1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674" y="222583"/>
            <a:ext cx="5695326" cy="12564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C7A16F-B7FF-A4D7-F00E-18BE21F5A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807" y="1927621"/>
            <a:ext cx="3179625" cy="2658920"/>
          </a:xfrm>
          <a:prstGeom prst="rect">
            <a:avLst/>
          </a:prstGeom>
          <a:ln w="31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82301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113" y="0"/>
            <a:ext cx="10515600" cy="1325563"/>
          </a:xfrm>
        </p:spPr>
        <p:txBody>
          <a:bodyPr/>
          <a:lstStyle/>
          <a:p>
            <a:r>
              <a:rPr lang="en-US" sz="3600" dirty="0"/>
              <a:t>Worst Case and Average Case Analysis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13" y="1456434"/>
            <a:ext cx="9191867" cy="398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44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73834" y="4862810"/>
            <a:ext cx="9144000" cy="1676103"/>
          </a:xfrm>
        </p:spPr>
        <p:txBody>
          <a:bodyPr>
            <a:normAutofit/>
          </a:bodyPr>
          <a:lstStyle/>
          <a:p>
            <a:pPr>
              <a:lnSpc>
                <a:spcPct val="60000"/>
              </a:lnSpc>
              <a:buNone/>
              <a:tabLst>
                <a:tab pos="1311275" algn="l"/>
              </a:tabLst>
            </a:pPr>
            <a:endParaRPr lang="en-US" altLang="en-US" sz="1800" b="1" dirty="0"/>
          </a:p>
          <a:p>
            <a:pPr>
              <a:lnSpc>
                <a:spcPct val="60000"/>
              </a:lnSpc>
              <a:buNone/>
              <a:tabLst>
                <a:tab pos="1311275" algn="l"/>
              </a:tabLst>
            </a:pPr>
            <a:r>
              <a:rPr lang="en-US" altLang="en-US" sz="1800" dirty="0"/>
              <a:t>The growth rate of all terms of function </a:t>
            </a:r>
          </a:p>
          <a:p>
            <a:pPr>
              <a:lnSpc>
                <a:spcPct val="60000"/>
              </a:lnSpc>
              <a:buNone/>
              <a:tabLst>
                <a:tab pos="1311275" algn="l"/>
              </a:tabLst>
            </a:pPr>
            <a:r>
              <a:rPr lang="en-US" altLang="en-US" sz="1800" i="1" dirty="0"/>
              <a:t>     f </a:t>
            </a:r>
            <a:r>
              <a:rPr lang="en-US" altLang="en-US" sz="1800" dirty="0"/>
              <a:t>(</a:t>
            </a:r>
            <a:r>
              <a:rPr lang="en-US" altLang="en-US" sz="1800" i="1" dirty="0"/>
              <a:t>n</a:t>
            </a:r>
            <a:r>
              <a:rPr lang="en-US" altLang="en-US" sz="1800" dirty="0"/>
              <a:t>) = </a:t>
            </a:r>
            <a:r>
              <a:rPr lang="en-US" altLang="en-US" sz="1800" i="1" dirty="0"/>
              <a:t>n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 + 100</a:t>
            </a:r>
            <a:r>
              <a:rPr lang="en-US" altLang="en-US" sz="1800" i="1" dirty="0"/>
              <a:t>n </a:t>
            </a:r>
            <a:r>
              <a:rPr lang="en-US" altLang="en-US" sz="1800" dirty="0"/>
              <a:t>+   log</a:t>
            </a:r>
            <a:r>
              <a:rPr lang="en-US" altLang="en-US" sz="1800" baseline="-25000" dirty="0"/>
              <a:t>10</a:t>
            </a:r>
            <a:r>
              <a:rPr lang="en-US" altLang="en-US" sz="1800" i="1" dirty="0"/>
              <a:t>n </a:t>
            </a:r>
            <a:r>
              <a:rPr lang="en-US" altLang="en-US" sz="1800" dirty="0"/>
              <a:t>+ 1,000</a:t>
            </a:r>
          </a:p>
          <a:p>
            <a:pPr>
              <a:lnSpc>
                <a:spcPct val="60000"/>
              </a:lnSpc>
              <a:buNone/>
              <a:tabLst>
                <a:tab pos="1311275" algn="l"/>
              </a:tabLst>
            </a:pPr>
            <a:r>
              <a:rPr lang="en-US" altLang="en-US" sz="1800" dirty="0"/>
              <a:t>For large  values of n, the value of function f depends mainly on the value of the first term </a:t>
            </a:r>
            <a:r>
              <a:rPr lang="en-US" altLang="en-US" sz="1800" i="1" dirty="0"/>
              <a:t>n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 .</a:t>
            </a:r>
          </a:p>
          <a:p>
            <a:pPr>
              <a:lnSpc>
                <a:spcPct val="60000"/>
              </a:lnSpc>
              <a:buNone/>
              <a:tabLst>
                <a:tab pos="1311275" algn="l"/>
              </a:tabLst>
            </a:pPr>
            <a:endParaRPr lang="en-US" altLang="en-US" sz="1700" dirty="0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079" y="1357249"/>
            <a:ext cx="9144118" cy="343876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9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fld id="{4249C8D3-742E-4520-B0BA-02487E7ACF0C}" type="slidenum"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4310" y="0"/>
            <a:ext cx="7055380" cy="1400530"/>
          </a:xfrm>
        </p:spPr>
        <p:txBody>
          <a:bodyPr/>
          <a:lstStyle/>
          <a:p>
            <a:r>
              <a:rPr lang="en-US" sz="3600" dirty="0"/>
              <a:t>Order of Growth</a:t>
            </a:r>
          </a:p>
        </p:txBody>
      </p:sp>
    </p:spTree>
    <p:extLst>
      <p:ext uri="{BB962C8B-B14F-4D97-AF65-F5344CB8AC3E}">
        <p14:creationId xmlns:p14="http://schemas.microsoft.com/office/powerpoint/2010/main" val="1235036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872" y="0"/>
            <a:ext cx="10515600" cy="1325563"/>
          </a:xfrm>
        </p:spPr>
        <p:txBody>
          <a:bodyPr/>
          <a:lstStyle/>
          <a:p>
            <a:r>
              <a:rPr lang="en-US" sz="3600" dirty="0"/>
              <a:t>Order of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2768" y="1444455"/>
            <a:ext cx="9077171" cy="4195481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Another abstraction to ease analysis and focus on the important features.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Look only at the leading term of the formula for running time.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Drop lower-order terms.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Ignore the constant coefficient in the leading term</a:t>
            </a:r>
          </a:p>
        </p:txBody>
      </p:sp>
    </p:spTree>
    <p:extLst>
      <p:ext uri="{BB962C8B-B14F-4D97-AF65-F5344CB8AC3E}">
        <p14:creationId xmlns:p14="http://schemas.microsoft.com/office/powerpoint/2010/main" val="1421229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3861" y="0"/>
            <a:ext cx="10515600" cy="1325563"/>
          </a:xfrm>
        </p:spPr>
        <p:txBody>
          <a:bodyPr/>
          <a:lstStyle/>
          <a:p>
            <a:r>
              <a:rPr lang="en-US" sz="3600" dirty="0"/>
              <a:t>Order of Growth: Insertion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7880" y="1553048"/>
            <a:ext cx="10622516" cy="4462762"/>
          </a:xfrm>
        </p:spPr>
        <p:txBody>
          <a:bodyPr>
            <a:noAutofit/>
          </a:bodyPr>
          <a:lstStyle/>
          <a:p>
            <a:pPr>
              <a:buClr>
                <a:srgbClr val="332E70"/>
              </a:buClr>
            </a:pPr>
            <a:r>
              <a:rPr lang="en-US" sz="2200" dirty="0"/>
              <a:t>Abstracted the actual statement costs: the worst-case running time is </a:t>
            </a:r>
            <a:r>
              <a:rPr lang="en-US" sz="2200" i="1" dirty="0"/>
              <a:t>an</a:t>
            </a:r>
            <a:r>
              <a:rPr lang="en-US" sz="2200" i="1" baseline="30000" dirty="0"/>
              <a:t>2</a:t>
            </a:r>
            <a:r>
              <a:rPr lang="en-US" sz="2200" i="1" dirty="0"/>
              <a:t> + bn + c</a:t>
            </a:r>
            <a:r>
              <a:rPr lang="en-US" sz="2200" dirty="0"/>
              <a:t>.</a:t>
            </a:r>
          </a:p>
          <a:p>
            <a:pPr>
              <a:buClr>
                <a:srgbClr val="332E70"/>
              </a:buClr>
            </a:pPr>
            <a:r>
              <a:rPr lang="en-US" sz="2200" dirty="0"/>
              <a:t>Drop lower-order terms⇒ </a:t>
            </a:r>
            <a:r>
              <a:rPr lang="en-US" sz="2200" i="1" dirty="0"/>
              <a:t>an</a:t>
            </a:r>
            <a:r>
              <a:rPr lang="en-US" sz="2200" i="1" baseline="30000" dirty="0"/>
              <a:t>2</a:t>
            </a:r>
            <a:r>
              <a:rPr lang="en-US" sz="2200" i="1" dirty="0"/>
              <a:t> + </a:t>
            </a:r>
            <a:r>
              <a:rPr lang="en-US" sz="2200" i="1" strike="sngStrike" dirty="0" err="1"/>
              <a:t>bn</a:t>
            </a:r>
            <a:r>
              <a:rPr lang="en-US" sz="2200" i="1" dirty="0"/>
              <a:t> + </a:t>
            </a:r>
            <a:r>
              <a:rPr lang="en-US" sz="2200" i="1" strike="sngStrike" dirty="0"/>
              <a:t>c</a:t>
            </a:r>
            <a:r>
              <a:rPr lang="en-US" sz="2200" dirty="0"/>
              <a:t>  ⇒ </a:t>
            </a:r>
            <a:r>
              <a:rPr lang="en-US" sz="2200" i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an</a:t>
            </a:r>
            <a:r>
              <a:rPr lang="en-US" sz="2200" i="1" baseline="300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2</a:t>
            </a:r>
            <a:r>
              <a:rPr lang="en-US" sz="2200" dirty="0"/>
              <a:t>. </a:t>
            </a:r>
          </a:p>
          <a:p>
            <a:pPr>
              <a:buClr>
                <a:srgbClr val="332E70"/>
              </a:buClr>
            </a:pPr>
            <a:r>
              <a:rPr lang="en-US" sz="2200" dirty="0"/>
              <a:t>Ignore constant coefficient ⇒ </a:t>
            </a:r>
            <a:r>
              <a:rPr lang="en-US" sz="2200" i="1" strike="sngStrike" dirty="0"/>
              <a:t>a</a:t>
            </a:r>
            <a:r>
              <a:rPr lang="en-US" sz="2200" i="1" dirty="0"/>
              <a:t>n</a:t>
            </a:r>
            <a:r>
              <a:rPr lang="en-US" sz="2200" i="1" baseline="30000" dirty="0"/>
              <a:t>2</a:t>
            </a:r>
            <a:r>
              <a:rPr lang="en-US" sz="2200" dirty="0"/>
              <a:t> ⇒ </a:t>
            </a:r>
            <a:r>
              <a:rPr lang="en-US" sz="2200" i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n</a:t>
            </a:r>
            <a:r>
              <a:rPr lang="en-US" sz="2200" i="1" baseline="300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2</a:t>
            </a:r>
            <a:r>
              <a:rPr lang="en-US" sz="2200" dirty="0"/>
              <a:t>.</a:t>
            </a:r>
          </a:p>
          <a:p>
            <a:pPr>
              <a:buClr>
                <a:srgbClr val="332E70"/>
              </a:buClr>
            </a:pPr>
            <a:r>
              <a:rPr lang="en-US" sz="2200" dirty="0"/>
              <a:t>But we cannot say that the worst-case running time </a:t>
            </a:r>
            <a:r>
              <a:rPr lang="en-US" sz="2200" i="1" dirty="0"/>
              <a:t>T(n) equals n</a:t>
            </a:r>
            <a:r>
              <a:rPr lang="en-US" sz="2200" i="1" baseline="30000" dirty="0"/>
              <a:t>2</a:t>
            </a:r>
            <a:r>
              <a:rPr lang="en-US" sz="2200" dirty="0"/>
              <a:t>.</a:t>
            </a:r>
          </a:p>
          <a:p>
            <a:pPr>
              <a:buClr>
                <a:srgbClr val="332E70"/>
              </a:buClr>
            </a:pPr>
            <a:r>
              <a:rPr lang="en-US" sz="22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It </a:t>
            </a:r>
            <a:r>
              <a:rPr lang="en-US" sz="2200" i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grows like </a:t>
            </a:r>
            <a:r>
              <a:rPr lang="en-US" sz="22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n</a:t>
            </a:r>
            <a:r>
              <a:rPr lang="en-US" sz="2200" baseline="300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2</a:t>
            </a:r>
            <a:r>
              <a:rPr lang="en-US" sz="22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. But it doesn’t </a:t>
            </a:r>
            <a:r>
              <a:rPr lang="en-US" sz="2200" i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equal n</a:t>
            </a:r>
            <a:r>
              <a:rPr lang="en-US" sz="2200" i="1" baseline="300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2</a:t>
            </a:r>
            <a:r>
              <a:rPr lang="en-US" sz="2200" dirty="0"/>
              <a:t>. </a:t>
            </a:r>
          </a:p>
          <a:p>
            <a:pPr>
              <a:buClr>
                <a:srgbClr val="332E70"/>
              </a:buClr>
            </a:pPr>
            <a:r>
              <a:rPr lang="en-US" sz="2200" dirty="0"/>
              <a:t>We say that the running time is</a:t>
            </a:r>
            <a:r>
              <a:rPr lang="en-US" sz="2200" i="1" dirty="0"/>
              <a:t> </a:t>
            </a:r>
            <a:r>
              <a:rPr lang="el-GR" sz="2400" i="1" dirty="0"/>
              <a:t>Θ</a:t>
            </a:r>
            <a:r>
              <a:rPr lang="en-US" sz="2200" i="1" dirty="0"/>
              <a:t>(n</a:t>
            </a:r>
            <a:r>
              <a:rPr lang="en-US" sz="2200" i="1" baseline="30000" dirty="0"/>
              <a:t>2</a:t>
            </a:r>
            <a:r>
              <a:rPr lang="en-US" sz="2200" i="1" dirty="0"/>
              <a:t>) </a:t>
            </a:r>
            <a:r>
              <a:rPr lang="en-US" sz="2200" dirty="0"/>
              <a:t>to capture the notion that the </a:t>
            </a:r>
            <a:r>
              <a:rPr lang="en-US" sz="2200" i="1" dirty="0"/>
              <a:t>order of growth </a:t>
            </a:r>
            <a:r>
              <a:rPr lang="en-US" sz="2200" dirty="0"/>
              <a:t>is </a:t>
            </a:r>
            <a:r>
              <a:rPr lang="en-US" sz="2200" i="1" dirty="0"/>
              <a:t>n</a:t>
            </a:r>
            <a:r>
              <a:rPr lang="en-US" sz="2200" i="1" baseline="30000" dirty="0"/>
              <a:t>2</a:t>
            </a:r>
            <a:r>
              <a:rPr lang="en-US" sz="2200" dirty="0"/>
              <a:t>. </a:t>
            </a:r>
          </a:p>
          <a:p>
            <a:pPr>
              <a:buClr>
                <a:srgbClr val="332E70"/>
              </a:buClr>
            </a:pPr>
            <a:r>
              <a:rPr lang="en-US" sz="2200" dirty="0"/>
              <a:t>We usually consider one algorithm to be more efficient than another if its worst case running time has a smaller order of growth.</a:t>
            </a:r>
          </a:p>
        </p:txBody>
      </p:sp>
    </p:spTree>
    <p:extLst>
      <p:ext uri="{BB962C8B-B14F-4D97-AF65-F5344CB8AC3E}">
        <p14:creationId xmlns:p14="http://schemas.microsoft.com/office/powerpoint/2010/main" val="3650929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114" y="0"/>
            <a:ext cx="10515600" cy="1325563"/>
          </a:xfrm>
        </p:spPr>
        <p:txBody>
          <a:bodyPr/>
          <a:lstStyle/>
          <a:p>
            <a:r>
              <a:rPr lang="en-US" sz="3600" dirty="0"/>
              <a:t>Designing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3321" y="1473929"/>
            <a:ext cx="9654204" cy="4195481"/>
          </a:xfrm>
        </p:spPr>
        <p:txBody>
          <a:bodyPr/>
          <a:lstStyle/>
          <a:p>
            <a:pPr>
              <a:buClr>
                <a:srgbClr val="002060"/>
              </a:buClr>
            </a:pPr>
            <a:r>
              <a:rPr lang="en-US" sz="2400" dirty="0"/>
              <a:t>Insertion sort uses </a:t>
            </a:r>
            <a:r>
              <a:rPr lang="en-US" sz="2400" b="1" dirty="0"/>
              <a:t>incremental approach</a:t>
            </a:r>
            <a:r>
              <a:rPr lang="en-US" sz="2400" dirty="0"/>
              <a:t>.</a:t>
            </a:r>
          </a:p>
          <a:p>
            <a:pPr>
              <a:buClr>
                <a:srgbClr val="002060"/>
              </a:buClr>
            </a:pPr>
            <a:r>
              <a:rPr lang="en-US" sz="2400" b="1" dirty="0"/>
              <a:t>Divide and Conquer</a:t>
            </a:r>
            <a:r>
              <a:rPr lang="en-US" sz="2400" dirty="0"/>
              <a:t>: anther common approach</a:t>
            </a:r>
          </a:p>
          <a:p>
            <a:pPr lvl="1">
              <a:buClr>
                <a:srgbClr val="002060"/>
              </a:buClr>
            </a:pPr>
            <a:r>
              <a:rPr lang="en-US" sz="2200" b="1" dirty="0"/>
              <a:t>Divide</a:t>
            </a:r>
            <a:r>
              <a:rPr lang="en-US" sz="2200" dirty="0"/>
              <a:t>  the problem into a number of subproblems. </a:t>
            </a:r>
          </a:p>
          <a:p>
            <a:pPr lvl="1">
              <a:buClr>
                <a:srgbClr val="002060"/>
              </a:buClr>
            </a:pPr>
            <a:r>
              <a:rPr lang="en-US" sz="2200" b="1" dirty="0"/>
              <a:t>Conquer</a:t>
            </a:r>
            <a:r>
              <a:rPr lang="en-US" sz="2200" dirty="0"/>
              <a:t> the subproblems by solving them recursively.</a:t>
            </a:r>
          </a:p>
          <a:p>
            <a:pPr lvl="1">
              <a:buClr>
                <a:srgbClr val="002060"/>
              </a:buClr>
            </a:pPr>
            <a:r>
              <a:rPr lang="en-US" sz="2200" b="1" dirty="0"/>
              <a:t>Combine</a:t>
            </a:r>
            <a:r>
              <a:rPr lang="en-US" sz="2200" dirty="0"/>
              <a:t> the subproblem solutions to give a solution to the original problem.</a:t>
            </a:r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162939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92" y="0"/>
            <a:ext cx="10515600" cy="1325563"/>
          </a:xfrm>
        </p:spPr>
        <p:txBody>
          <a:bodyPr/>
          <a:lstStyle/>
          <a:p>
            <a:r>
              <a:rPr lang="en-US" sz="3600" dirty="0"/>
              <a:t>Merge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991" y="1325563"/>
            <a:ext cx="10068991" cy="4411359"/>
          </a:xfrm>
        </p:spPr>
        <p:txBody>
          <a:bodyPr/>
          <a:lstStyle/>
          <a:p>
            <a:pPr>
              <a:buClr>
                <a:srgbClr val="002060"/>
              </a:buClr>
            </a:pPr>
            <a:r>
              <a:rPr lang="en-US" sz="2400" dirty="0"/>
              <a:t>A sorting algorithm based on divide and conquer.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Its worst-case running time has a lower order of growth than insertion sort.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479727-2B65-4504-B270-226815344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544" y="2393548"/>
            <a:ext cx="8694713" cy="31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244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93752-E9E1-4A33-8B7A-D688DC253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619" y="0"/>
            <a:ext cx="10515600" cy="1325563"/>
          </a:xfrm>
        </p:spPr>
        <p:txBody>
          <a:bodyPr/>
          <a:lstStyle/>
          <a:p>
            <a:r>
              <a:rPr lang="en-US" sz="3600" dirty="0"/>
              <a:t>Merge Sort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74E31C-99A5-4289-67E7-4325402B9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373188"/>
            <a:ext cx="6175942" cy="23606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13CAF6-9B92-D489-C8BC-00456DE20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942" y="0"/>
            <a:ext cx="6016058" cy="6858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3DE4D0-2DB7-7218-A5CD-D2F1499C0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922" y="3954604"/>
            <a:ext cx="5633882" cy="2336637"/>
          </a:xfrm>
        </p:spPr>
        <p:txBody>
          <a:bodyPr>
            <a:normAutofit/>
          </a:bodyPr>
          <a:lstStyle/>
          <a:p>
            <a:pPr marL="0" indent="0">
              <a:buClr>
                <a:srgbClr val="002060"/>
              </a:buClr>
              <a:buNone/>
            </a:pPr>
            <a:r>
              <a:rPr lang="en-US" sz="2400" dirty="0"/>
              <a:t>Two things to consider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Merge-Sort recursive calls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Merge (combine)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936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7E8C8-E901-821E-DC81-5E25C4D78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52" y="1212850"/>
            <a:ext cx="3505200" cy="1111250"/>
          </a:xfrm>
        </p:spPr>
        <p:txBody>
          <a:bodyPr>
            <a:normAutofit/>
          </a:bodyPr>
          <a:lstStyle/>
          <a:p>
            <a:r>
              <a:rPr lang="en-US" sz="3600" dirty="0"/>
              <a:t>Operation of Merge Sort on Array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1A333-DE37-2A5D-C7E4-0FB707114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FE3539-FB95-19D2-E393-CDCB7BDB3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303" y="0"/>
            <a:ext cx="60034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116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85DEB-E67F-F487-0FC8-1AB8D8291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991395"/>
          </a:xfrm>
        </p:spPr>
        <p:txBody>
          <a:bodyPr>
            <a:normAutofit/>
          </a:bodyPr>
          <a:lstStyle/>
          <a:p>
            <a:r>
              <a:rPr lang="en-US" sz="3600" dirty="0"/>
              <a:t>Analysis of Merge Sort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74C58-8C48-599C-67B2-3D7717E8A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E1893D-C91C-6A90-BBBD-C5F896055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292384"/>
            <a:ext cx="8877300" cy="22616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6741A5-F2C5-6C85-1F39-086045A9C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6" y="3554031"/>
            <a:ext cx="3257550" cy="5502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36171B-2A5A-C3BA-33A4-70621DF84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4228002"/>
            <a:ext cx="4457700" cy="90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7610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D8763-68B0-A606-5878-DFF06E280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835" y="107950"/>
            <a:ext cx="4714875" cy="1082675"/>
          </a:xfrm>
        </p:spPr>
        <p:txBody>
          <a:bodyPr>
            <a:normAutofit/>
          </a:bodyPr>
          <a:lstStyle/>
          <a:p>
            <a:r>
              <a:rPr lang="en-US" sz="3600" dirty="0"/>
              <a:t>Construct a Recursion Tree for Recurrence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16D88-8AE5-606B-55AF-933D0A0C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436" y="6365586"/>
            <a:ext cx="2743200" cy="365125"/>
          </a:xfrm>
        </p:spPr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74C5DB-F3A4-510F-9E53-4C18ACBAC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1634757"/>
            <a:ext cx="5645710" cy="26324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E4A089-D928-6437-8C14-E9AB4E954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443" y="534987"/>
            <a:ext cx="6295832" cy="599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9390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6029-0E2C-40FE-A642-821D93ECF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801" y="0"/>
            <a:ext cx="4681912" cy="1068389"/>
          </a:xfrm>
        </p:spPr>
        <p:txBody>
          <a:bodyPr>
            <a:normAutofit/>
          </a:bodyPr>
          <a:lstStyle/>
          <a:p>
            <a:r>
              <a:rPr lang="en-US" sz="3600" dirty="0"/>
              <a:t>Running Time on Merging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8F8A2A2-FD43-43CB-85DA-F24E656A1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31" y="3652918"/>
            <a:ext cx="5633882" cy="2336637"/>
          </a:xfrm>
        </p:spPr>
        <p:txBody>
          <a:bodyPr>
            <a:normAutofit/>
          </a:bodyPr>
          <a:lstStyle/>
          <a:p>
            <a:pPr marL="0" indent="0">
              <a:buClr>
                <a:srgbClr val="002060"/>
              </a:buClr>
              <a:buNone/>
            </a:pPr>
            <a:r>
              <a:rPr lang="en-US" sz="2400" b="1" dirty="0"/>
              <a:t>Running time on Merge </a:t>
            </a:r>
          </a:p>
          <a:p>
            <a:pPr marL="514350" lvl="1"/>
            <a:r>
              <a:rPr lang="en-US" sz="2000" dirty="0"/>
              <a:t>The first two for loops take </a:t>
            </a:r>
            <a:r>
              <a:rPr lang="el-GR" sz="2000" i="1" dirty="0">
                <a:sym typeface="Symbol" pitchFamily="-107" charset="2"/>
              </a:rPr>
              <a:t>Θ</a:t>
            </a:r>
            <a:r>
              <a:rPr lang="en-US" sz="2000" i="1" dirty="0"/>
              <a:t>(n1+n2) =</a:t>
            </a:r>
            <a:r>
              <a:rPr lang="el-GR" sz="2000" i="1" dirty="0">
                <a:sym typeface="Symbol" pitchFamily="-107" charset="2"/>
              </a:rPr>
              <a:t> Θ</a:t>
            </a:r>
            <a:r>
              <a:rPr lang="en-US" sz="2000" i="1" dirty="0"/>
              <a:t>(n) </a:t>
            </a:r>
            <a:r>
              <a:rPr lang="en-US" sz="2000" dirty="0"/>
              <a:t>time. </a:t>
            </a:r>
          </a:p>
          <a:p>
            <a:pPr marL="514350" lvl="1"/>
            <a:r>
              <a:rPr lang="en-US" sz="2000" dirty="0"/>
              <a:t>The last for loop makes n iterations, each taking constant time, for </a:t>
            </a:r>
            <a:r>
              <a:rPr lang="el-GR" sz="2000" i="1" dirty="0">
                <a:sym typeface="Symbol" pitchFamily="-107" charset="2"/>
              </a:rPr>
              <a:t>Θ</a:t>
            </a:r>
            <a:r>
              <a:rPr lang="en-US" sz="2000" i="1" dirty="0"/>
              <a:t>(n) </a:t>
            </a:r>
            <a:r>
              <a:rPr lang="en-US" sz="2000" dirty="0"/>
              <a:t>time. </a:t>
            </a:r>
          </a:p>
          <a:p>
            <a:pPr marL="514350" lvl="1"/>
            <a:r>
              <a:rPr lang="en-US" sz="2000" dirty="0"/>
              <a:t>Total time</a:t>
            </a:r>
            <a:r>
              <a:rPr lang="en-US" sz="2000" i="1" dirty="0"/>
              <a:t>: </a:t>
            </a:r>
            <a:r>
              <a:rPr lang="el-GR" sz="2000" i="1" dirty="0">
                <a:sym typeface="Symbol" pitchFamily="-107" charset="2"/>
              </a:rPr>
              <a:t>Θ</a:t>
            </a:r>
            <a:r>
              <a:rPr lang="en-US" sz="2000" i="1" dirty="0"/>
              <a:t>(n).</a:t>
            </a:r>
            <a:endParaRPr lang="en-US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BE7546-8C7A-BE01-40FE-8CFEF6149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68389"/>
            <a:ext cx="6175942" cy="23606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4E1A71-F15B-AF35-17AA-E4BB256FA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942" y="0"/>
            <a:ext cx="60160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7808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E3D8C-1FB2-444D-8960-872CDCAD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006" y="156297"/>
            <a:ext cx="7055380" cy="646806"/>
          </a:xfrm>
        </p:spPr>
        <p:txBody>
          <a:bodyPr/>
          <a:lstStyle/>
          <a:p>
            <a:r>
              <a:rPr lang="en-US" sz="3600" dirty="0"/>
              <a:t>Running Time on Recursions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5B3173-25E3-06A9-90D8-31542784A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51" y="848825"/>
            <a:ext cx="6609423" cy="588799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0B17D9-FC35-645C-F16D-2C9216A9F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0971" y="909485"/>
            <a:ext cx="3953803" cy="2336637"/>
          </a:xfrm>
        </p:spPr>
        <p:txBody>
          <a:bodyPr>
            <a:normAutofit fontScale="85000" lnSpcReduction="10000"/>
          </a:bodyPr>
          <a:lstStyle/>
          <a:p>
            <a:pPr marL="0" indent="0">
              <a:buClr>
                <a:srgbClr val="002060"/>
              </a:buClr>
              <a:buNone/>
            </a:pPr>
            <a:r>
              <a:rPr lang="en-US" sz="3100" b="1" dirty="0"/>
              <a:t>Running time on recursions</a:t>
            </a:r>
          </a:p>
          <a:p>
            <a:pPr marL="514350" lvl="1"/>
            <a:r>
              <a:rPr lang="en-US" sz="2200" dirty="0">
                <a:latin typeface="Vollkorn" panose="02000503070000020003"/>
              </a:rPr>
              <a:t>Recursive calls: continue expanding until the problem sizes get down to 1</a:t>
            </a:r>
          </a:p>
          <a:p>
            <a:pPr marL="514350" lvl="1"/>
            <a:r>
              <a:rPr lang="en-US" sz="2200" dirty="0">
                <a:latin typeface="Vollkorn" panose="02000503070000020003"/>
              </a:rPr>
              <a:t>Want to know ‘k’ which is the number of expanding (steps) of dividing until </a:t>
            </a:r>
            <a:r>
              <a:rPr lang="en-US" sz="2200" b="1" dirty="0">
                <a:solidFill>
                  <a:srgbClr val="303B53"/>
                </a:solidFill>
                <a:effectLst/>
                <a:latin typeface="Vollkorn" panose="02000503070000020003"/>
                <a:ea typeface="Times New Roman" panose="02020603050405020304" pitchFamily="18" charset="0"/>
              </a:rPr>
              <a:t> 2</a:t>
            </a:r>
            <a:r>
              <a:rPr lang="en-US" sz="2200" b="1" baseline="30000" dirty="0">
                <a:solidFill>
                  <a:srgbClr val="303B53"/>
                </a:solidFill>
                <a:effectLst/>
                <a:latin typeface="Vollkorn" panose="02000503070000020003"/>
                <a:ea typeface="Times New Roman" panose="02020603050405020304" pitchFamily="18" charset="0"/>
              </a:rPr>
              <a:t>k </a:t>
            </a:r>
            <a:r>
              <a:rPr lang="en-US" sz="2200" b="1" dirty="0">
                <a:solidFill>
                  <a:srgbClr val="303B53"/>
                </a:solidFill>
                <a:effectLst/>
                <a:latin typeface="Vollkorn" panose="02000503070000020003"/>
                <a:ea typeface="Times New Roman" panose="02020603050405020304" pitchFamily="18" charset="0"/>
              </a:rPr>
              <a:t>= 1</a:t>
            </a:r>
            <a:endParaRPr lang="en-US" sz="2200" b="1" dirty="0">
              <a:effectLst/>
              <a:latin typeface="Vollkorn" panose="02000503070000020003"/>
              <a:ea typeface="Times New Roman" panose="02020603050405020304" pitchFamily="18" charset="0"/>
            </a:endParaRPr>
          </a:p>
          <a:p>
            <a:pPr marL="514350" lvl="1"/>
            <a:r>
              <a:rPr lang="en-US" sz="2200" dirty="0">
                <a:latin typeface="Vollkorn" panose="02000503070000020003"/>
              </a:rPr>
              <a:t>Therefore k = </a:t>
            </a:r>
            <a:r>
              <a:rPr lang="en-US" sz="2200" b="1" dirty="0">
                <a:solidFill>
                  <a:srgbClr val="303B53"/>
                </a:solidFill>
                <a:effectLst/>
                <a:latin typeface="Vollkorn" panose="02000503070000020003"/>
                <a:ea typeface="Times New Roman" panose="02020603050405020304" pitchFamily="18" charset="0"/>
              </a:rPr>
              <a:t> log</a:t>
            </a:r>
            <a:r>
              <a:rPr lang="en-US" sz="2200" b="1" baseline="-25000" dirty="0">
                <a:solidFill>
                  <a:srgbClr val="303B53"/>
                </a:solidFill>
                <a:effectLst/>
                <a:latin typeface="Vollkorn" panose="02000503070000020003"/>
                <a:ea typeface="Times New Roman" panose="02020603050405020304" pitchFamily="18" charset="0"/>
              </a:rPr>
              <a:t>2</a:t>
            </a:r>
            <a:r>
              <a:rPr lang="en-US" sz="2200" b="1" dirty="0">
                <a:solidFill>
                  <a:srgbClr val="303B53"/>
                </a:solidFill>
                <a:effectLst/>
                <a:latin typeface="Vollkorn" panose="02000503070000020003"/>
                <a:ea typeface="Times New Roman" panose="02020603050405020304" pitchFamily="18" charset="0"/>
              </a:rPr>
              <a:t>n</a:t>
            </a:r>
            <a:endParaRPr lang="en-US" sz="2200" dirty="0">
              <a:latin typeface="Vollkorn" panose="02000503070000020003"/>
            </a:endParaRPr>
          </a:p>
        </p:txBody>
      </p:sp>
    </p:spTree>
    <p:extLst>
      <p:ext uri="{BB962C8B-B14F-4D97-AF65-F5344CB8AC3E}">
        <p14:creationId xmlns:p14="http://schemas.microsoft.com/office/powerpoint/2010/main" val="17611462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4B8AA-5548-4E82-B12B-418258583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816" y="4145"/>
            <a:ext cx="7055380" cy="865589"/>
          </a:xfrm>
        </p:spPr>
        <p:txBody>
          <a:bodyPr/>
          <a:lstStyle/>
          <a:p>
            <a:r>
              <a:rPr lang="en-US" sz="3600" dirty="0"/>
              <a:t>Analysis of Merge Sort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F8B2B6-D72A-4E66-B490-5F8690F98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816" y="967434"/>
            <a:ext cx="8765305" cy="28008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36B2E3-0D36-4BC7-8B29-F4D711684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816" y="3866006"/>
            <a:ext cx="9465971" cy="135315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F8436-343F-8F7F-2495-30B02E472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970" y="5316859"/>
            <a:ext cx="9682059" cy="573707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Discussion: what about best case, worst case, and average case?</a:t>
            </a:r>
          </a:p>
        </p:txBody>
      </p:sp>
    </p:spTree>
    <p:extLst>
      <p:ext uri="{BB962C8B-B14F-4D97-AF65-F5344CB8AC3E}">
        <p14:creationId xmlns:p14="http://schemas.microsoft.com/office/powerpoint/2010/main" val="8834232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f0035b64-44f8-48be-b842-57520a854024"/>
  <p:tag name="SLIDO_EVENT_SECTION_UUID" val="f534f8bc-ddf4-415b-9282-bbb9fefaac40"/>
</p:tagLst>
</file>

<file path=ppt/theme/theme1.xml><?xml version="1.0" encoding="utf-8"?>
<a:theme xmlns:a="http://schemas.openxmlformats.org/drawingml/2006/main" name="Office Theme">
  <a:themeElements>
    <a:clrScheme name="TAMUSA PPT Color">
      <a:dk1>
        <a:srgbClr val="000000"/>
      </a:dk1>
      <a:lt1>
        <a:srgbClr val="FFFFFF"/>
      </a:lt1>
      <a:dk2>
        <a:srgbClr val="83888B"/>
      </a:dk2>
      <a:lt2>
        <a:srgbClr val="FFFFFF"/>
      </a:lt2>
      <a:accent1>
        <a:srgbClr val="332E70"/>
      </a:accent1>
      <a:accent2>
        <a:srgbClr val="668586"/>
      </a:accent2>
      <a:accent3>
        <a:srgbClr val="E6B729"/>
      </a:accent3>
      <a:accent4>
        <a:srgbClr val="B9CFD3"/>
      </a:accent4>
      <a:accent5>
        <a:srgbClr val="54849A"/>
      </a:accent5>
      <a:accent6>
        <a:srgbClr val="020000"/>
      </a:accent6>
      <a:hlink>
        <a:srgbClr val="702E3C"/>
      </a:hlink>
      <a:folHlink>
        <a:srgbClr val="4600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 TAMUSA Template" id="{81250B71-C222-0A43-91FF-929A8BF7632C}" vid="{6EC503B3-3B3A-3D45-9BD1-3527F0E16E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 TAMUSA Template-updated</Template>
  <TotalTime>2016</TotalTime>
  <Words>1469</Words>
  <Application>Microsoft Office PowerPoint</Application>
  <PresentationFormat>Widescreen</PresentationFormat>
  <Paragraphs>179</Paragraphs>
  <Slides>30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Monotype Sorts</vt:lpstr>
      <vt:lpstr>Vollkorn</vt:lpstr>
      <vt:lpstr>Arial</vt:lpstr>
      <vt:lpstr>Calibri</vt:lpstr>
      <vt:lpstr>Comic Sans MS</vt:lpstr>
      <vt:lpstr>Corbel</vt:lpstr>
      <vt:lpstr>Oswald</vt:lpstr>
      <vt:lpstr>Symbol</vt:lpstr>
      <vt:lpstr>Times New Roman</vt:lpstr>
      <vt:lpstr>Office Theme</vt:lpstr>
      <vt:lpstr>Equation</vt:lpstr>
      <vt:lpstr>CSCI 5343 Algorithms Spring 2025 </vt:lpstr>
      <vt:lpstr>Goals</vt:lpstr>
      <vt:lpstr>What is an algorithm?</vt:lpstr>
      <vt:lpstr>Why Study Algorithms?</vt:lpstr>
      <vt:lpstr>Roadmap</vt:lpstr>
      <vt:lpstr>Typical Running Time Functions</vt:lpstr>
      <vt:lpstr>Comparing Running Time Functions</vt:lpstr>
      <vt:lpstr>Types of Analysis on Running Times</vt:lpstr>
      <vt:lpstr>Example – Sorting Problem</vt:lpstr>
      <vt:lpstr>Example – Sorting Problem</vt:lpstr>
      <vt:lpstr>Insertion Sort Algorithm – Pseudocode &amp; Operation </vt:lpstr>
      <vt:lpstr>Input Size</vt:lpstr>
      <vt:lpstr>Running Time</vt:lpstr>
      <vt:lpstr>Analysis of Insertion Sort</vt:lpstr>
      <vt:lpstr>Analysis of Insertion Sort</vt:lpstr>
      <vt:lpstr>Best Case of Insertion Sort</vt:lpstr>
      <vt:lpstr>Worst Case of Insertion Sort</vt:lpstr>
      <vt:lpstr>Worst Case and Average Case Analysis</vt:lpstr>
      <vt:lpstr>Order of Growth</vt:lpstr>
      <vt:lpstr>Order of Growth</vt:lpstr>
      <vt:lpstr>Order of Growth: Insertion Sort</vt:lpstr>
      <vt:lpstr>Designing Algorithms</vt:lpstr>
      <vt:lpstr>Merge Sort</vt:lpstr>
      <vt:lpstr>Merge Sort Algorithm</vt:lpstr>
      <vt:lpstr>Operation of Merge Sort on Array </vt:lpstr>
      <vt:lpstr>Analysis of Merge Sort</vt:lpstr>
      <vt:lpstr>Construct a Recursion Tree for Recurrence</vt:lpstr>
      <vt:lpstr>Running Time on Merging</vt:lpstr>
      <vt:lpstr>Running Time on Recursions</vt:lpstr>
      <vt:lpstr>Analysis of Merge Sort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Fernando Estrada</dc:creator>
  <cp:lastModifiedBy>Jeong Yang</cp:lastModifiedBy>
  <cp:revision>95</cp:revision>
  <cp:lastPrinted>2020-01-16T16:48:26Z</cp:lastPrinted>
  <dcterms:created xsi:type="dcterms:W3CDTF">2018-03-09T22:17:24Z</dcterms:created>
  <dcterms:modified xsi:type="dcterms:W3CDTF">2025-01-20T17:40:24Z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1.5.3.3511</vt:lpwstr>
  </property>
</Properties>
</file>