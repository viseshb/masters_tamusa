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3.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48" r:id="rId1"/>
  </p:sldMasterIdLst>
  <p:notesMasterIdLst>
    <p:notesMasterId r:id="rId35"/>
  </p:notesMasterIdLst>
  <p:handoutMasterIdLst>
    <p:handoutMasterId r:id="rId36"/>
  </p:handoutMasterIdLst>
  <p:sldIdLst>
    <p:sldId id="256" r:id="rId2"/>
    <p:sldId id="257" r:id="rId3"/>
    <p:sldId id="258" r:id="rId4"/>
    <p:sldId id="259" r:id="rId5"/>
    <p:sldId id="260" r:id="rId6"/>
    <p:sldId id="261" r:id="rId7"/>
    <p:sldId id="262" r:id="rId8"/>
    <p:sldId id="263" r:id="rId9"/>
    <p:sldId id="264" r:id="rId10"/>
    <p:sldId id="265" r:id="rId11"/>
    <p:sldId id="266" r:id="rId12"/>
    <p:sldId id="291" r:id="rId13"/>
    <p:sldId id="268" r:id="rId14"/>
    <p:sldId id="269" r:id="rId15"/>
    <p:sldId id="272" r:id="rId16"/>
    <p:sldId id="277" r:id="rId17"/>
    <p:sldId id="273" r:id="rId18"/>
    <p:sldId id="274" r:id="rId19"/>
    <p:sldId id="271" r:id="rId20"/>
    <p:sldId id="292" r:id="rId21"/>
    <p:sldId id="278" r:id="rId22"/>
    <p:sldId id="275" r:id="rId23"/>
    <p:sldId id="276" r:id="rId24"/>
    <p:sldId id="290" r:id="rId25"/>
    <p:sldId id="287" r:id="rId26"/>
    <p:sldId id="280" r:id="rId27"/>
    <p:sldId id="289" r:id="rId28"/>
    <p:sldId id="281" r:id="rId29"/>
    <p:sldId id="282" r:id="rId30"/>
    <p:sldId id="283" r:id="rId31"/>
    <p:sldId id="286" r:id="rId32"/>
    <p:sldId id="285" r:id="rId33"/>
    <p:sldId id="284" r:id="rId3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494" autoAdjust="0"/>
    <p:restoredTop sz="94658"/>
  </p:normalViewPr>
  <p:slideViewPr>
    <p:cSldViewPr snapToGrid="0" snapToObjects="1">
      <p:cViewPr>
        <p:scale>
          <a:sx n="119" d="100"/>
          <a:sy n="119"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5F3E9484-A1AE-4848-978F-DB84137331BF}" type="datetimeFigureOut">
              <a:rPr lang="en-US" smtClean="0"/>
              <a:t>4/7/2025</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1C251DBA-7D26-427F-A8DB-8EB0BE356427}" type="slidenum">
              <a:rPr lang="en-US" smtClean="0"/>
              <a:t>‹#›</a:t>
            </a:fld>
            <a:endParaRPr lang="en-US"/>
          </a:p>
        </p:txBody>
      </p:sp>
    </p:spTree>
    <p:extLst>
      <p:ext uri="{BB962C8B-B14F-4D97-AF65-F5344CB8AC3E}">
        <p14:creationId xmlns:p14="http://schemas.microsoft.com/office/powerpoint/2010/main" val="303712782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08T15:49:59.96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8T15:51:15.260"/>
    </inkml:context>
    <inkml:brush xml:id="br0">
      <inkml:brushProperty name="width" value="0.025" units="cm"/>
      <inkml:brushProperty name="height" value="0.025" units="cm"/>
      <inkml:brushProperty name="color" value="#E71224"/>
    </inkml:brush>
  </inkml:definitions>
  <inkml:trace contextRef="#ctx0" brushRef="#br0">48 98 2303 0 0,'-7'-16'200'0'0,"1"5"-200"0"0,1 1 0 0 0,-2-2 0 0 0,0-4 736 0 0,-1 0 96 0 0,0 0 32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8T15:56:32.082"/>
    </inkml:context>
    <inkml:brush xml:id="br0">
      <inkml:brushProperty name="width" value="0.05" units="cm"/>
      <inkml:brushProperty name="height" value="0.05" units="cm"/>
      <inkml:brushProperty name="color" value="#008C3A"/>
    </inkml:brush>
  </inkml:definitions>
  <inkml:trace contextRef="#ctx0" brushRef="#br0">88 85 5983 0 0,'0'0'536'0'0,"-10"-9"-432"0"0,-1-2-104 0 0,-1 1 0 0 0,-1-2 384 0 0,-1-2 48 0 0,0 1 16 0 0,0-2-3560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08T15:57:59.24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6,'0'-2,"0"-1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08T15:57:59.86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5,'0'-2,"0"0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3:20.839"/>
    </inkml:context>
    <inkml:brush xml:id="br0">
      <inkml:brushProperty name="width" value="0.05" units="cm"/>
      <inkml:brushProperty name="height" value="0.05" units="cm"/>
      <inkml:brushProperty name="color" value="#E71224"/>
    </inkml:brush>
  </inkml:definitions>
  <inkml:trace contextRef="#ctx0" brushRef="#br0">11 11 5639 0 0,'0'0'3422'0'0,"-8"17"-2341"0"0,6-14 679 0 0,1-7-1946 0 0,3-12-2203 0 0,-2 15 2192 0 0,1-8-3254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3:43.902"/>
    </inkml:context>
    <inkml:brush xml:id="br0">
      <inkml:brushProperty name="width" value="0.05" units="cm"/>
      <inkml:brushProperty name="height" value="0.05" units="cm"/>
      <inkml:brushProperty name="color" value="#E71224"/>
    </inkml:brush>
  </inkml:definitions>
  <inkml:trace contextRef="#ctx0" brushRef="#br0">39 1 3223 0 0,'0'0'1975'0'0,"-2"0"-1863"0"0,-15 7 65 0 0,15-6-142 0 0,-10 8 10 0 0,6-3-414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4:13.175"/>
    </inkml:context>
    <inkml:brush xml:id="br0">
      <inkml:brushProperty name="width" value="0.05" units="cm"/>
      <inkml:brushProperty name="height" value="0.05" units="cm"/>
      <inkml:brushProperty name="color" value="#66CC00"/>
    </inkml:brush>
  </inkml:definitions>
  <inkml:trace contextRef="#ctx0" brushRef="#br0">0 0 1375 0 0,'0'0'6359'0'0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4:15.319"/>
    </inkml:context>
    <inkml:brush xml:id="br0">
      <inkml:brushProperty name="width" value="0.05" units="cm"/>
      <inkml:brushProperty name="height" value="0.05" units="cm"/>
      <inkml:brushProperty name="color" value="#66CC00"/>
    </inkml:brush>
  </inkml:definitions>
  <inkml:trace contextRef="#ctx0" brushRef="#br0">7 8 1839 0 0,'0'0'176'0'0,"-6"-7"3784"0"0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4:15.829"/>
    </inkml:context>
    <inkml:brush xml:id="br0">
      <inkml:brushProperty name="width" value="0.05" units="cm"/>
      <inkml:brushProperty name="height" value="0.05" units="cm"/>
      <inkml:brushProperty name="color" value="#66CC00"/>
    </inkml:brush>
  </inkml:definitions>
  <inkml:trace contextRef="#ctx0" brushRef="#br0">10 37 5983 0 0,'-5'-8'536'0'0,"3"-1"-432"0"0,-1-1 352 0 0,3 0 1600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16:41.302"/>
    </inkml:context>
    <inkml:brush xml:id="br0">
      <inkml:brushProperty name="width" value="0.05" units="cm"/>
      <inkml:brushProperty name="height" value="0.05" units="cm"/>
      <inkml:brushProperty name="color" value="#66CC00"/>
    </inkml:brush>
  </inkml:definitions>
  <inkml:trace contextRef="#ctx0" brushRef="#br0">12 8 5583 0 0,'-11'-7'544'0'0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13T22:31:44.46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13T22:31:46.857"/>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13T22:31:47.898"/>
    </inkml:context>
    <inkml:brush xml:id="br0">
      <inkml:brushProperty name="width" value="0.05" units="cm"/>
      <inkml:brushProperty name="height" value="0.05" units="cm"/>
      <inkml:brushProperty name="color" value="#E71224"/>
    </inkml:brush>
  </inkml:definitions>
  <inkml:trace contextRef="#ctx0" brushRef="#br0">0 1 24575,'2'0'0,"5"0"0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18:49.720"/>
    </inkml:context>
    <inkml:brush xml:id="br0">
      <inkml:brushProperty name="width" value="0.05" units="cm"/>
      <inkml:brushProperty name="height" value="0.05" units="cm"/>
      <inkml:brushProperty name="color" value="#66CC00"/>
    </inkml:brush>
  </inkml:definitions>
  <inkml:trace contextRef="#ctx0" brushRef="#br0">82 4 6911 0 0,'-15'-3'608'0'0,"5"2"-480"0"0,-2 2-128 0 0,1 1 64 0 0,0 1-64 0 0,0 5 88 0 0,0-1-3200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0:55.258"/>
    </inkml:context>
    <inkml:brush xml:id="br0">
      <inkml:brushProperty name="width" value="0.05" units="cm"/>
      <inkml:brushProperty name="height" value="0.05" units="cm"/>
      <inkml:brushProperty name="color" value="#66CC00"/>
    </inkml:brush>
  </inkml:definitions>
  <inkml:trace contextRef="#ctx0" brushRef="#br0">19 1 6911 0 0,'0'0'608'0'0,"-9"1"-480"0"0,-1 2-128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2:04.399"/>
    </inkml:context>
    <inkml:brush xml:id="br0">
      <inkml:brushProperty name="width" value="0.05" units="cm"/>
      <inkml:brushProperty name="height" value="0.05" units="cm"/>
      <inkml:brushProperty name="color" value="#66CC00"/>
    </inkml:brush>
  </inkml:definitions>
  <inkml:trace contextRef="#ctx0" brushRef="#br0">1 0 6015 0 0,'0'0'1768'0'0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5:31.259"/>
    </inkml:context>
    <inkml:brush xml:id="br0">
      <inkml:brushProperty name="width" value="0.05" units="cm"/>
      <inkml:brushProperty name="height" value="0.05" units="cm"/>
      <inkml:brushProperty name="color" value="#66CC00"/>
    </inkml:brush>
  </inkml:definitions>
  <inkml:trace contextRef="#ctx0" brushRef="#br0">7 59 20271 0 0,'0'0'896'0'0,"-2"-10"408"0"0,-1 2-1304 0 0,2-1 1952 0 0,5-1-880 0 0,2 3 8 0 0,4-1-2368 0 0,2 1-472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5:24.109"/>
    </inkml:context>
    <inkml:brush xml:id="br0">
      <inkml:brushProperty name="width" value="0.05" units="cm"/>
      <inkml:brushProperty name="height" value="0.05" units="cm"/>
      <inkml:brushProperty name="color" value="#66CC00"/>
    </inkml:brush>
  </inkml:definitions>
  <inkml:trace contextRef="#ctx0" brushRef="#br0">148 35 10135 0 0,'0'0'1080'0'0,"-7"-11"176"0"0,-3 1-816 0 0,-2 4-672 0 0,0 1 40 0 0,-1 2 0 0 0,0 3-424 0 0,-1 2-88 0 0,0 0-24 0 0,-2 2 0 0 0,-2-2-336 0 0,0 2-72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6:13.440"/>
    </inkml:context>
    <inkml:brush xml:id="br0">
      <inkml:brushProperty name="width" value="0.05" units="cm"/>
      <inkml:brushProperty name="height" value="0.05" units="cm"/>
      <inkml:brushProperty name="color" value="#66CC00"/>
    </inkml:brush>
  </inkml:definitions>
  <inkml:trace contextRef="#ctx0" brushRef="#br0">1 1 4607 0 0,'0'0'488'0'0,"6"7"1648"0"0,0-1 408 0 0,-1 0 2728 0 0,3 1-4968 0 0,-1-3-2424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B843F6B6-C643-EB48-8E20-B61919A653AE}" type="datetimeFigureOut">
              <a:rPr lang="en-US" smtClean="0"/>
              <a:t>4/7/2025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F6E6A39C-9C1F-2A4A-AF30-046BACDB3F4B}" type="slidenum">
              <a:rPr lang="en-US" smtClean="0"/>
              <a:t>‹#›</a:t>
            </a:fld>
            <a:endParaRPr lang="en-US"/>
          </a:p>
        </p:txBody>
      </p:sp>
    </p:spTree>
    <p:extLst>
      <p:ext uri="{BB962C8B-B14F-4D97-AF65-F5344CB8AC3E}">
        <p14:creationId xmlns:p14="http://schemas.microsoft.com/office/powerpoint/2010/main" val="2317277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EE3D77EE-CC85-42F9-805C-BEA481CCEB13}" type="slidenum">
              <a:rPr lang="en-US" altLang="en-US"/>
              <a:pPr eaLnBrk="1" hangingPunct="1">
                <a:spcBef>
                  <a:spcPct val="0"/>
                </a:spcBef>
              </a:pPr>
              <a:t>2</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818335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7A8C10D4-6EF2-4596-934D-8009488D3411}" type="slidenum">
              <a:rPr lang="en-US" altLang="en-US">
                <a:cs typeface="Arial" panose="020B0604020202020204" pitchFamily="34" charset="0"/>
              </a:rPr>
              <a:pPr eaLnBrk="1" hangingPunct="1">
                <a:spcBef>
                  <a:spcPct val="0"/>
                </a:spcBef>
              </a:pPr>
              <a:t>14</a:t>
            </a:fld>
            <a:endParaRPr lang="en-US" altLang="en-US">
              <a:cs typeface="Arial" panose="020B060402020202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Section 8.3.</a:t>
            </a:r>
          </a:p>
        </p:txBody>
      </p:sp>
    </p:spTree>
    <p:extLst>
      <p:ext uri="{BB962C8B-B14F-4D97-AF65-F5344CB8AC3E}">
        <p14:creationId xmlns:p14="http://schemas.microsoft.com/office/powerpoint/2010/main" val="1132882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32FF2A51-FF75-4BFC-9335-9FB9253FCCE8}" type="slidenum">
              <a:rPr lang="en-US" altLang="en-US">
                <a:cs typeface="Arial" panose="020B0604020202020204" pitchFamily="34" charset="0"/>
              </a:rPr>
              <a:pPr eaLnBrk="1" hangingPunct="1">
                <a:spcBef>
                  <a:spcPct val="0"/>
                </a:spcBef>
              </a:pPr>
              <a:t>18</a:t>
            </a:fld>
            <a:endParaRPr lang="en-US" altLang="en-US">
              <a:cs typeface="Arial" panose="020B060402020202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Cf. Figure 8.7.</a:t>
            </a:r>
          </a:p>
        </p:txBody>
      </p:sp>
    </p:spTree>
    <p:extLst>
      <p:ext uri="{BB962C8B-B14F-4D97-AF65-F5344CB8AC3E}">
        <p14:creationId xmlns:p14="http://schemas.microsoft.com/office/powerpoint/2010/main" val="17160427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6F780E-9DEC-114C-B59D-A82F5B1305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1670304"/>
          </a:xfrm>
          <a:prstGeom prst="rect">
            <a:avLst/>
          </a:prstGeom>
        </p:spPr>
      </p:pic>
      <p:sp>
        <p:nvSpPr>
          <p:cNvPr id="2" name="Title 1">
            <a:extLst>
              <a:ext uri="{FF2B5EF4-FFF2-40B4-BE49-F238E27FC236}">
                <a16:creationId xmlns:a16="http://schemas.microsoft.com/office/drawing/2014/main" id="{BCDB4BCB-6267-7C4C-B43A-E90C40649B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C8D4E9D-E0FF-4A40-92D3-F584F728CC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2" name="Picture 11">
            <a:extLst>
              <a:ext uri="{FF2B5EF4-FFF2-40B4-BE49-F238E27FC236}">
                <a16:creationId xmlns:a16="http://schemas.microsoft.com/office/drawing/2014/main" id="{8AA4489E-2E74-F340-B15A-B2A6F4945035}"/>
              </a:ext>
            </a:extLst>
          </p:cNvPr>
          <p:cNvPicPr>
            <a:picLocks noChangeAspect="1"/>
          </p:cNvPicPr>
          <p:nvPr userDrawn="1"/>
        </p:nvPicPr>
        <p:blipFill>
          <a:blip r:embed="rId3"/>
          <a:stretch>
            <a:fillRect/>
          </a:stretch>
        </p:blipFill>
        <p:spPr>
          <a:xfrm>
            <a:off x="1491286" y="118872"/>
            <a:ext cx="9209427" cy="872472"/>
          </a:xfrm>
          <a:prstGeom prst="rect">
            <a:avLst/>
          </a:prstGeom>
        </p:spPr>
      </p:pic>
    </p:spTree>
    <p:extLst>
      <p:ext uri="{BB962C8B-B14F-4D97-AF65-F5344CB8AC3E}">
        <p14:creationId xmlns:p14="http://schemas.microsoft.com/office/powerpoint/2010/main" val="350208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76A11-4AC1-8748-B27A-412000BFD7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239F17-8DC0-704B-9AE7-F0ACCDF4C63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14A4D8-C6D2-0E40-92C4-2BCFF05A1D9A}"/>
              </a:ext>
            </a:extLst>
          </p:cNvPr>
          <p:cNvSpPr>
            <a:spLocks noGrp="1"/>
          </p:cNvSpPr>
          <p:nvPr>
            <p:ph type="dt" sz="half" idx="10"/>
          </p:nvPr>
        </p:nvSpPr>
        <p:spPr/>
        <p:txBody>
          <a:bodyPr/>
          <a:lstStyle>
            <a:lvl1pPr>
              <a:defRPr/>
            </a:lvl1pPr>
          </a:lstStyle>
          <a:p>
            <a:r>
              <a:rPr lang="en-US" dirty="0"/>
              <a:t>TEXAS A&amp;M-SAN ANTONIO</a:t>
            </a:r>
          </a:p>
        </p:txBody>
      </p:sp>
      <p:sp>
        <p:nvSpPr>
          <p:cNvPr id="5" name="Footer Placeholder 4">
            <a:extLst>
              <a:ext uri="{FF2B5EF4-FFF2-40B4-BE49-F238E27FC236}">
                <a16:creationId xmlns:a16="http://schemas.microsoft.com/office/drawing/2014/main" id="{29086E18-20E2-9044-890C-17969EAC4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B063ED-17C5-384F-8A20-6B5F1E6926E7}"/>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2395572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5D519-9498-A74B-A50E-3FE856C939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EA1DE4-D61E-B948-97DB-95EA3642C1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0EC6AA-5BA9-6C4B-9C05-A4DF3EB3CF3F}"/>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5" name="Footer Placeholder 4">
            <a:extLst>
              <a:ext uri="{FF2B5EF4-FFF2-40B4-BE49-F238E27FC236}">
                <a16:creationId xmlns:a16="http://schemas.microsoft.com/office/drawing/2014/main" id="{4E170A15-8FCB-1145-B769-EBE016DEC7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6DD52-61E1-7644-A884-1919EF7DF42F}"/>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244917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ADC3-8E98-4046-9AAD-79B345A962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FE0A05-7784-8E43-A36D-9DF6EB0DACC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6BC6E6-C854-644C-8127-782D346629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2892C8-648C-E648-909E-43B6AB5CE909}"/>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6" name="Footer Placeholder 5">
            <a:extLst>
              <a:ext uri="{FF2B5EF4-FFF2-40B4-BE49-F238E27FC236}">
                <a16:creationId xmlns:a16="http://schemas.microsoft.com/office/drawing/2014/main" id="{7465A266-0D34-A848-B798-09F9F6C301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E07C42-7FD9-8A46-9771-76E49801F389}"/>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667907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9DF53-106B-564F-A34E-66D6D55271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3E6C4E-D1C9-7E43-8BE6-6FF6C0297E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884BC5-819E-184D-B400-C628FC4E7AC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D4D157-B42E-B04A-9802-E4687A2B0F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2BE22DF-E739-C941-8F53-FEB1143BE83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D40280-C860-6543-8954-037C3B8DDD9F}"/>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8" name="Footer Placeholder 7">
            <a:extLst>
              <a:ext uri="{FF2B5EF4-FFF2-40B4-BE49-F238E27FC236}">
                <a16:creationId xmlns:a16="http://schemas.microsoft.com/office/drawing/2014/main" id="{5DC3B322-30C5-7A48-80C9-34D80F20B5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0A570F-CCB9-8A4D-A1DF-182EDBD9E8A0}"/>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374140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A4AD-56A7-D544-8CC4-C597323833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5C9BB6-238C-9849-8A11-ED306825204C}"/>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4" name="Footer Placeholder 3">
            <a:extLst>
              <a:ext uri="{FF2B5EF4-FFF2-40B4-BE49-F238E27FC236}">
                <a16:creationId xmlns:a16="http://schemas.microsoft.com/office/drawing/2014/main" id="{B123E8EC-9A7F-CE49-8A55-A5D7CD716A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3C0A83-16F0-D946-B562-A591524C42E7}"/>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3801864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F29F64-1BDD-504B-A6CA-0E20C98EF6F2}"/>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3" name="Footer Placeholder 2">
            <a:extLst>
              <a:ext uri="{FF2B5EF4-FFF2-40B4-BE49-F238E27FC236}">
                <a16:creationId xmlns:a16="http://schemas.microsoft.com/office/drawing/2014/main" id="{948C1686-9F4A-094D-AD83-7AAFEDFD3A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9004E1-8548-F84D-B00A-A977C4D04499}"/>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827454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73EF2-341F-F844-AFCF-6433054D02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BD4C50-3B10-0B41-9B37-D7C15E2632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DF77F2-1CF2-E444-9FAD-9E8F541494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DBD50E1-5F20-BB45-A98E-EBF4F1C1DA6D}"/>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6" name="Footer Placeholder 5">
            <a:extLst>
              <a:ext uri="{FF2B5EF4-FFF2-40B4-BE49-F238E27FC236}">
                <a16:creationId xmlns:a16="http://schemas.microsoft.com/office/drawing/2014/main" id="{996EF63F-A284-684A-A9AD-5E8434D7B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8865B0-3686-3341-AD20-5617C52E1BF8}"/>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992449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FA22E-AA44-194A-BF2A-701D2B5FF0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78C7F6-4BD5-E641-B632-A1B5A1DC03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077162C-C948-1943-97BA-5AB7865AF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50FC85A-702E-DD4C-B6D4-ABFDB8A879A9}"/>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6" name="Footer Placeholder 5">
            <a:extLst>
              <a:ext uri="{FF2B5EF4-FFF2-40B4-BE49-F238E27FC236}">
                <a16:creationId xmlns:a16="http://schemas.microsoft.com/office/drawing/2014/main" id="{A7586D28-396E-8E48-AC2E-0FFF126DFF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C52750-349A-6946-B6A4-04B5FB366FF4}"/>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53375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AD500-C0C2-5D47-8D80-53BD44C53F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4353C2-7F77-A84A-A20F-985C4D4E059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0B0480-39D0-9D45-907F-0B6A521E716E}"/>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5" name="Footer Placeholder 4">
            <a:extLst>
              <a:ext uri="{FF2B5EF4-FFF2-40B4-BE49-F238E27FC236}">
                <a16:creationId xmlns:a16="http://schemas.microsoft.com/office/drawing/2014/main" id="{ACFCE67D-E526-5843-B848-1C14DB188C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34ADD1-3DAE-C94D-B565-D611793BA9A5}"/>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703827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162169-3F65-BD4A-838C-F27F6199AC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6FB8A1-5D3F-2A4E-B1C3-99D1601C148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B78F54-DF87-5D42-BA44-CB6C6B6543AF}"/>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5" name="Footer Placeholder 4">
            <a:extLst>
              <a:ext uri="{FF2B5EF4-FFF2-40B4-BE49-F238E27FC236}">
                <a16:creationId xmlns:a16="http://schemas.microsoft.com/office/drawing/2014/main" id="{FC280EB4-1594-5244-AFD3-740F69F71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EBEE49-3691-D549-AC56-DB7355B65123}"/>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676610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8128000" y="6248401"/>
            <a:ext cx="3556000" cy="365125"/>
          </a:xfrm>
          <a:prstGeom prst="rect">
            <a:avLst/>
          </a:prstGeom>
        </p:spPr>
        <p:txBody>
          <a:bodyPr/>
          <a:lstStyle>
            <a:lvl1pPr>
              <a:defRPr/>
            </a:lvl1pPr>
          </a:lstStyle>
          <a:p>
            <a:pPr>
              <a:defRPr/>
            </a:pPr>
            <a:endParaRPr lang="en-US" altLang="en-US"/>
          </a:p>
        </p:txBody>
      </p:sp>
      <p:sp>
        <p:nvSpPr>
          <p:cNvPr id="6" name="Footer Placeholder 5"/>
          <p:cNvSpPr>
            <a:spLocks noGrp="1" noChangeArrowheads="1"/>
          </p:cNvSpPr>
          <p:nvPr>
            <p:ph type="ftr" sz="quarter" idx="11"/>
          </p:nvPr>
        </p:nvSpPr>
        <p:spPr>
          <a:xfrm>
            <a:off x="812801" y="6248401"/>
            <a:ext cx="7228417" cy="365125"/>
          </a:xfrm>
          <a:prstGeom prst="rect">
            <a:avLst/>
          </a:prstGeom>
        </p:spPr>
        <p:txBody>
          <a:bodyPr/>
          <a:lstStyle>
            <a:lvl1pPr>
              <a:defRPr/>
            </a:lvl1pPr>
          </a:lstStyle>
          <a:p>
            <a:pPr>
              <a:defRPr/>
            </a:pPr>
            <a:endParaRPr lang="en-US" altLang="en-US"/>
          </a:p>
        </p:txBody>
      </p:sp>
      <p:sp>
        <p:nvSpPr>
          <p:cNvPr id="7" name="Slide Number Placeholder 6"/>
          <p:cNvSpPr>
            <a:spLocks noGrp="1" noChangeArrowheads="1"/>
          </p:cNvSpPr>
          <p:nvPr>
            <p:ph type="sldNum" sz="quarter" idx="12"/>
          </p:nvPr>
        </p:nvSpPr>
        <p:spPr>
          <a:xfrm>
            <a:off x="0" y="1271589"/>
            <a:ext cx="711200" cy="244475"/>
          </a:xfrm>
          <a:prstGeom prst="rect">
            <a:avLst/>
          </a:prstGeom>
        </p:spPr>
        <p:txBody>
          <a:bodyPr/>
          <a:lstStyle>
            <a:lvl1pPr>
              <a:defRPr/>
            </a:lvl1pPr>
          </a:lstStyle>
          <a:p>
            <a:fld id="{522027CB-E1DA-4984-A693-8F87F7219869}" type="slidenum">
              <a:rPr lang="en-US" altLang="en-US"/>
              <a:pPr/>
              <a:t>‹#›</a:t>
            </a:fld>
            <a:endParaRPr lang="en-US" altLang="en-US"/>
          </a:p>
        </p:txBody>
      </p:sp>
    </p:spTree>
    <p:extLst>
      <p:ext uri="{BB962C8B-B14F-4D97-AF65-F5344CB8AC3E}">
        <p14:creationId xmlns:p14="http://schemas.microsoft.com/office/powerpoint/2010/main" val="1174800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E62574-E313-A548-8CD1-53BB254DD36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1670304"/>
          </a:xfrm>
          <a:prstGeom prst="rect">
            <a:avLst/>
          </a:prstGeom>
        </p:spPr>
      </p:pic>
      <p:sp>
        <p:nvSpPr>
          <p:cNvPr id="2" name="Title Placeholder 1">
            <a:extLst>
              <a:ext uri="{FF2B5EF4-FFF2-40B4-BE49-F238E27FC236}">
                <a16:creationId xmlns:a16="http://schemas.microsoft.com/office/drawing/2014/main" id="{3929B084-1E51-FA44-B2F1-C4E821A1BA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C24DE31-0525-CD4C-A8B3-E43493227C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92773D-3906-1A4B-8CD5-0D836E29BA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latin typeface="Oswald" panose="02000503000000000000" pitchFamily="2" charset="0"/>
              </a:defRPr>
            </a:lvl1pPr>
          </a:lstStyle>
          <a:p>
            <a:r>
              <a:rPr lang="en-US"/>
              <a:t>TEXAS A&amp;M-SAN ANTONIO</a:t>
            </a:r>
            <a:endParaRPr lang="en-US" dirty="0"/>
          </a:p>
        </p:txBody>
      </p:sp>
      <p:sp>
        <p:nvSpPr>
          <p:cNvPr id="5" name="Footer Placeholder 4">
            <a:extLst>
              <a:ext uri="{FF2B5EF4-FFF2-40B4-BE49-F238E27FC236}">
                <a16:creationId xmlns:a16="http://schemas.microsoft.com/office/drawing/2014/main" id="{CE62DC35-01F7-F14D-A158-C7100804C4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9FCDA7F-9F75-B94E-AEE1-3C966732A7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57D5D8-8021-D54A-A92F-C392C50DF18D}" type="slidenum">
              <a:rPr lang="en-US" smtClean="0"/>
              <a:t>‹#›</a:t>
            </a:fld>
            <a:endParaRPr lang="en-US" dirty="0"/>
          </a:p>
        </p:txBody>
      </p:sp>
      <p:pic>
        <p:nvPicPr>
          <p:cNvPr id="8" name="Picture 7">
            <a:extLst>
              <a:ext uri="{FF2B5EF4-FFF2-40B4-BE49-F238E27FC236}">
                <a16:creationId xmlns:a16="http://schemas.microsoft.com/office/drawing/2014/main" id="{EAAF6714-108A-9744-8E65-70ABDC5635ED}"/>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1201" y="0"/>
            <a:ext cx="826999" cy="826999"/>
          </a:xfrm>
          <a:prstGeom prst="rect">
            <a:avLst/>
          </a:prstGeom>
        </p:spPr>
      </p:pic>
      <p:cxnSp>
        <p:nvCxnSpPr>
          <p:cNvPr id="9" name="Straight Connector 8">
            <a:extLst>
              <a:ext uri="{FF2B5EF4-FFF2-40B4-BE49-F238E27FC236}">
                <a16:creationId xmlns:a16="http://schemas.microsoft.com/office/drawing/2014/main" id="{47F07C08-5274-364D-889D-20BEAFD80E1E}"/>
              </a:ext>
            </a:extLst>
          </p:cNvPr>
          <p:cNvCxnSpPr>
            <a:cxnSpLocks/>
          </p:cNvCxnSpPr>
          <p:nvPr userDrawn="1"/>
        </p:nvCxnSpPr>
        <p:spPr>
          <a:xfrm>
            <a:off x="2450592" y="6598227"/>
            <a:ext cx="97414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290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baseline="0">
          <a:solidFill>
            <a:schemeClr val="tx1"/>
          </a:solidFill>
          <a:latin typeface="Oswald" panose="02000503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ollkorn" panose="0200050307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ollkorn" panose="0200050307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ollkorn" panose="0200050307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ollkorn" panose="0200050307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ollkorn" panose="0200050307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16.png"/><Relationship Id="rId4" Type="http://schemas.openxmlformats.org/officeDocument/2006/relationships/image" Target="../media/image130.png"/><Relationship Id="rId9" Type="http://schemas.openxmlformats.org/officeDocument/2006/relationships/customXml" Target="../ink/ink4.xml"/></Relationships>
</file>

<file path=ppt/slides/_rels/slide17.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22.png"/><Relationship Id="rId3" Type="http://schemas.openxmlformats.org/officeDocument/2006/relationships/image" Target="../media/image11.png"/><Relationship Id="rId7" Type="http://schemas.openxmlformats.org/officeDocument/2006/relationships/image" Target="../media/image19.png"/><Relationship Id="rId12" Type="http://schemas.openxmlformats.org/officeDocument/2006/relationships/customXml" Target="../ink/ink10.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customXml" Target="../ink/ink7.xml"/><Relationship Id="rId11" Type="http://schemas.openxmlformats.org/officeDocument/2006/relationships/image" Target="../media/image21.png"/><Relationship Id="rId5" Type="http://schemas.openxmlformats.org/officeDocument/2006/relationships/image" Target="../media/image18.png"/><Relationship Id="rId10" Type="http://schemas.openxmlformats.org/officeDocument/2006/relationships/customXml" Target="../ink/ink9.xml"/><Relationship Id="rId4" Type="http://schemas.openxmlformats.org/officeDocument/2006/relationships/customXml" Target="../ink/ink6.xml"/><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customXml" Target="../ink/ink14.xml"/><Relationship Id="rId7" Type="http://schemas.openxmlformats.org/officeDocument/2006/relationships/customXml" Target="../ink/ink13.xml"/><Relationship Id="rId2" Type="http://schemas.openxmlformats.org/officeDocument/2006/relationships/customXml" Target="../ink/ink11.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29.png"/><Relationship Id="rId5" Type="http://schemas.openxmlformats.org/officeDocument/2006/relationships/customXml" Target="../ink/ink12.xml"/><Relationship Id="rId10" Type="http://schemas.openxmlformats.org/officeDocument/2006/relationships/image" Target="../media/image28.png"/><Relationship Id="rId4" Type="http://schemas.openxmlformats.org/officeDocument/2006/relationships/image" Target="../media/image290.png"/><Relationship Id="rId9"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60.png"/><Relationship Id="rId13" Type="http://schemas.openxmlformats.org/officeDocument/2006/relationships/customXml" Target="../ink/ink20.xml"/><Relationship Id="rId3" Type="http://schemas.openxmlformats.org/officeDocument/2006/relationships/customXml" Target="../ink/ink15.xml"/><Relationship Id="rId7" Type="http://schemas.openxmlformats.org/officeDocument/2006/relationships/customXml" Target="../ink/ink17.xml"/><Relationship Id="rId12"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customXml" Target="../ink/ink19.xml"/><Relationship Id="rId5" Type="http://schemas.openxmlformats.org/officeDocument/2006/relationships/customXml" Target="../ink/ink16.xml"/><Relationship Id="rId15" Type="http://schemas.openxmlformats.org/officeDocument/2006/relationships/image" Target="../media/image28.png"/><Relationship Id="rId10" Type="http://schemas.openxmlformats.org/officeDocument/2006/relationships/image" Target="../media/image37.png"/><Relationship Id="rId4" Type="http://schemas.openxmlformats.org/officeDocument/2006/relationships/image" Target="../media/image340.png"/><Relationship Id="rId9" Type="http://schemas.openxmlformats.org/officeDocument/2006/relationships/customXml" Target="../ink/ink18.xml"/><Relationship Id="rId1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E6319-A62A-B444-ADAD-8972AE1B0A71}"/>
              </a:ext>
            </a:extLst>
          </p:cNvPr>
          <p:cNvSpPr>
            <a:spLocks noGrp="1"/>
          </p:cNvSpPr>
          <p:nvPr>
            <p:ph type="ctrTitle"/>
          </p:nvPr>
        </p:nvSpPr>
        <p:spPr>
          <a:xfrm>
            <a:off x="1524000" y="1748118"/>
            <a:ext cx="9144000" cy="1922929"/>
          </a:xfrm>
        </p:spPr>
        <p:txBody>
          <a:bodyPr>
            <a:normAutofit fontScale="90000"/>
          </a:bodyPr>
          <a:lstStyle/>
          <a:p>
            <a:pPr>
              <a:lnSpc>
                <a:spcPct val="150000"/>
              </a:lnSpc>
            </a:pPr>
            <a:r>
              <a:rPr lang="en-US" sz="3600" dirty="0"/>
              <a:t>CSCI 5343 Algorithms</a:t>
            </a:r>
            <a:br>
              <a:rPr lang="en-US" sz="3600" dirty="0"/>
            </a:br>
            <a:r>
              <a:rPr lang="en-US" sz="3600" dirty="0"/>
              <a:t>Spring 2025</a:t>
            </a:r>
            <a:br>
              <a:rPr lang="en-US" sz="3600" dirty="0"/>
            </a:br>
            <a:endParaRPr lang="en-US" sz="3600" dirty="0"/>
          </a:p>
        </p:txBody>
      </p:sp>
      <p:sp>
        <p:nvSpPr>
          <p:cNvPr id="3" name="Subtitle 2">
            <a:extLst>
              <a:ext uri="{FF2B5EF4-FFF2-40B4-BE49-F238E27FC236}">
                <a16:creationId xmlns:a16="http://schemas.microsoft.com/office/drawing/2014/main" id="{3DB2D859-22D5-E943-B0B7-72D5D0A6F641}"/>
              </a:ext>
            </a:extLst>
          </p:cNvPr>
          <p:cNvSpPr>
            <a:spLocks noGrp="1"/>
          </p:cNvSpPr>
          <p:nvPr>
            <p:ph type="subTitle" idx="1"/>
          </p:nvPr>
        </p:nvSpPr>
        <p:spPr>
          <a:xfrm>
            <a:off x="1524000" y="3509963"/>
            <a:ext cx="9144000" cy="1895755"/>
          </a:xfrm>
        </p:spPr>
        <p:txBody>
          <a:bodyPr>
            <a:normAutofit/>
          </a:bodyPr>
          <a:lstStyle/>
          <a:p>
            <a:pPr>
              <a:buClr>
                <a:srgbClr val="002060"/>
              </a:buClr>
              <a:buSzPct val="70000"/>
            </a:pPr>
            <a:r>
              <a:rPr lang="en-US" dirty="0"/>
              <a:t>Dept. of Computational, Engineering, &amp; Mathematical Sciences</a:t>
            </a:r>
          </a:p>
          <a:p>
            <a:pPr>
              <a:buClr>
                <a:srgbClr val="002060"/>
              </a:buClr>
              <a:buSzPct val="70000"/>
            </a:pPr>
            <a:endParaRPr lang="en-US" dirty="0"/>
          </a:p>
          <a:p>
            <a:pPr>
              <a:buClr>
                <a:srgbClr val="002060"/>
              </a:buClr>
              <a:buSzPct val="70000"/>
            </a:pPr>
            <a:r>
              <a:rPr lang="en-US" dirty="0"/>
              <a:t>Chapter 22 Single-Source Shortest Paths</a:t>
            </a:r>
            <a:endParaRPr lang="en-US" altLang="en-US" dirty="0"/>
          </a:p>
          <a:p>
            <a:pPr>
              <a:buClr>
                <a:srgbClr val="002060"/>
              </a:buClr>
              <a:buSzPct val="70000"/>
            </a:pPr>
            <a:endParaRPr lang="en-US" dirty="0"/>
          </a:p>
        </p:txBody>
      </p:sp>
    </p:spTree>
    <p:extLst>
      <p:ext uri="{BB962C8B-B14F-4D97-AF65-F5344CB8AC3E}">
        <p14:creationId xmlns:p14="http://schemas.microsoft.com/office/powerpoint/2010/main" val="4186716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157990" y="0"/>
            <a:ext cx="8153400" cy="990600"/>
          </a:xfrm>
        </p:spPr>
        <p:txBody>
          <a:bodyPr>
            <a:normAutofit/>
          </a:bodyPr>
          <a:lstStyle/>
          <a:p>
            <a:pPr eaLnBrk="1" hangingPunct="1"/>
            <a:r>
              <a:rPr lang="en-US" altLang="en-US" sz="3600" dirty="0"/>
              <a:t>Objectives</a:t>
            </a:r>
          </a:p>
        </p:txBody>
      </p:sp>
      <p:sp>
        <p:nvSpPr>
          <p:cNvPr id="7172" name="Slide Number Placeholder 3"/>
          <p:cNvSpPr>
            <a:spLocks noGrp="1"/>
          </p:cNvSpPr>
          <p:nvPr>
            <p:ph type="sldNum" sz="quarter" idx="429496729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lnSpc>
                <a:spcPct val="80000"/>
              </a:lnSpc>
              <a:spcBef>
                <a:spcPct val="0"/>
              </a:spcBef>
              <a:buClrTx/>
              <a:buSzTx/>
              <a:buFontTx/>
              <a:buNone/>
            </a:pPr>
            <a:r>
              <a:rPr lang="en-US" altLang="en-US" sz="1200" dirty="0">
                <a:solidFill>
                  <a:schemeClr val="tx2"/>
                </a:solidFill>
                <a:latin typeface="Rage Italic" panose="03070502040507070304" pitchFamily="66" charset="0"/>
              </a:rPr>
              <a:t> </a:t>
            </a:r>
          </a:p>
        </p:txBody>
      </p:sp>
      <p:sp>
        <p:nvSpPr>
          <p:cNvPr id="11268" name="Rectangle 3"/>
          <p:cNvSpPr>
            <a:spLocks noGrp="1" noChangeArrowheads="1"/>
          </p:cNvSpPr>
          <p:nvPr>
            <p:ph sz="quarter" idx="1"/>
          </p:nvPr>
        </p:nvSpPr>
        <p:spPr>
          <a:xfrm>
            <a:off x="1314277" y="1444263"/>
            <a:ext cx="7954780" cy="2528047"/>
          </a:xfrm>
        </p:spPr>
        <p:txBody>
          <a:bodyPr>
            <a:normAutofit/>
          </a:bodyPr>
          <a:lstStyle/>
          <a:p>
            <a:pPr eaLnBrk="1" hangingPunct="1">
              <a:buFontTx/>
              <a:buNone/>
            </a:pPr>
            <a:r>
              <a:rPr lang="en-US" altLang="en-US" sz="2400" dirty="0"/>
              <a:t>Discuss the following topics: </a:t>
            </a:r>
          </a:p>
          <a:p>
            <a:pPr eaLnBrk="1" hangingPunct="1">
              <a:buClr>
                <a:srgbClr val="002060"/>
              </a:buClr>
            </a:pPr>
            <a:r>
              <a:rPr lang="en-US" altLang="en-US" sz="2400" dirty="0"/>
              <a:t>Single Source Shortest Path Problem</a:t>
            </a:r>
          </a:p>
          <a:p>
            <a:pPr eaLnBrk="1" hangingPunct="1">
              <a:buClr>
                <a:srgbClr val="002060"/>
              </a:buClr>
            </a:pPr>
            <a:r>
              <a:rPr lang="en-US" altLang="en-US" sz="2400" dirty="0"/>
              <a:t> Algorithms</a:t>
            </a:r>
          </a:p>
          <a:p>
            <a:pPr lvl="1">
              <a:buClr>
                <a:srgbClr val="002060"/>
              </a:buClr>
            </a:pPr>
            <a:r>
              <a:rPr lang="en-US" altLang="en-US" sz="2200" dirty="0" err="1"/>
              <a:t>Dijkstra’s</a:t>
            </a:r>
            <a:r>
              <a:rPr lang="en-US" altLang="en-US" sz="2200" dirty="0"/>
              <a:t> Shortest Path Algorithm with Greedy Strategy</a:t>
            </a:r>
          </a:p>
          <a:p>
            <a:pPr lvl="1">
              <a:buClr>
                <a:srgbClr val="002060"/>
              </a:buClr>
            </a:pPr>
            <a:r>
              <a:rPr lang="en-US" altLang="en-US" sz="2200" dirty="0"/>
              <a:t>Bellman-Ford Algorithm with Dynamic Programming</a:t>
            </a:r>
          </a:p>
          <a:p>
            <a:pPr eaLnBrk="1" hangingPunct="1"/>
            <a:endParaRPr lang="en-US" altLang="en-US" dirty="0"/>
          </a:p>
          <a:p>
            <a:pPr eaLnBrk="1" hangingPunct="1"/>
            <a:endParaRPr lang="en-US" altLang="en-US" dirty="0"/>
          </a:p>
        </p:txBody>
      </p:sp>
    </p:spTree>
    <p:extLst>
      <p:ext uri="{BB962C8B-B14F-4D97-AF65-F5344CB8AC3E}">
        <p14:creationId xmlns:p14="http://schemas.microsoft.com/office/powerpoint/2010/main" val="1453839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003" y="-9628"/>
            <a:ext cx="10515600" cy="1043950"/>
          </a:xfrm>
        </p:spPr>
        <p:txBody>
          <a:bodyPr/>
          <a:lstStyle/>
          <a:p>
            <a:r>
              <a:rPr lang="en-US" sz="3600" dirty="0"/>
              <a:t>Shortest Possible Route</a:t>
            </a:r>
          </a:p>
        </p:txBody>
      </p:sp>
      <p:sp>
        <p:nvSpPr>
          <p:cNvPr id="3" name="Content Placeholder 2"/>
          <p:cNvSpPr>
            <a:spLocks noGrp="1"/>
          </p:cNvSpPr>
          <p:nvPr>
            <p:ph idx="1"/>
          </p:nvPr>
        </p:nvSpPr>
        <p:spPr>
          <a:xfrm>
            <a:off x="105251" y="1678898"/>
            <a:ext cx="6104480" cy="3951092"/>
          </a:xfrm>
        </p:spPr>
        <p:txBody>
          <a:bodyPr>
            <a:normAutofit fontScale="92500"/>
          </a:bodyPr>
          <a:lstStyle/>
          <a:p>
            <a:pPr>
              <a:buClr>
                <a:srgbClr val="002060"/>
              </a:buClr>
            </a:pPr>
            <a:r>
              <a:rPr lang="en-US" sz="2200" dirty="0"/>
              <a:t>Wishes to find the shortest possible route from Phoenix to Indianapolis, or A&amp;M-SA to UT Austin. </a:t>
            </a:r>
          </a:p>
          <a:p>
            <a:pPr>
              <a:buClr>
                <a:srgbClr val="002060"/>
              </a:buClr>
            </a:pPr>
            <a:r>
              <a:rPr lang="en-US" sz="2200" dirty="0"/>
              <a:t>Given a road map of the United States on which the distance between each pair of adjacent intersections is marked, how can we determine a shortest route? </a:t>
            </a:r>
          </a:p>
          <a:p>
            <a:pPr>
              <a:buClr>
                <a:srgbClr val="002060"/>
              </a:buClr>
            </a:pPr>
            <a:r>
              <a:rPr lang="en-US" sz="2200" dirty="0"/>
              <a:t>One possible way would be to enumerate all the routes from Phoenix to Indianapolis, add up the distances on each route, and select the shortest.</a:t>
            </a:r>
          </a:p>
          <a:p>
            <a:pPr>
              <a:buClr>
                <a:srgbClr val="002060"/>
              </a:buClr>
            </a:pPr>
            <a:r>
              <a:rPr lang="en-US" sz="2200" dirty="0"/>
              <a:t>It is easy to see, however, that even disallowing routes that contain cycles, we would have to examine an enormous number of possibilities, most of which are simply not worth considering. </a:t>
            </a:r>
          </a:p>
        </p:txBody>
      </p:sp>
      <p:pic>
        <p:nvPicPr>
          <p:cNvPr id="4" name="Picture 3"/>
          <p:cNvPicPr>
            <a:picLocks noChangeAspect="1"/>
          </p:cNvPicPr>
          <p:nvPr/>
        </p:nvPicPr>
        <p:blipFill>
          <a:blip r:embed="rId2"/>
          <a:stretch>
            <a:fillRect/>
          </a:stretch>
        </p:blipFill>
        <p:spPr>
          <a:xfrm>
            <a:off x="6209731" y="1171730"/>
            <a:ext cx="5918651" cy="4965428"/>
          </a:xfrm>
          <a:prstGeom prst="rect">
            <a:avLst/>
          </a:prstGeom>
        </p:spPr>
      </p:pic>
    </p:spTree>
    <p:extLst>
      <p:ext uri="{BB962C8B-B14F-4D97-AF65-F5344CB8AC3E}">
        <p14:creationId xmlns:p14="http://schemas.microsoft.com/office/powerpoint/2010/main" val="1339183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8043" y="20352"/>
            <a:ext cx="10515600" cy="1133892"/>
          </a:xfrm>
        </p:spPr>
        <p:txBody>
          <a:bodyPr/>
          <a:lstStyle/>
          <a:p>
            <a:r>
              <a:rPr lang="en-US" sz="3600" dirty="0"/>
              <a:t>Shortest Paths Problem</a:t>
            </a:r>
          </a:p>
        </p:txBody>
      </p:sp>
      <p:sp>
        <p:nvSpPr>
          <p:cNvPr id="3" name="Content Placeholder 2"/>
          <p:cNvSpPr>
            <a:spLocks noGrp="1"/>
          </p:cNvSpPr>
          <p:nvPr>
            <p:ph idx="1"/>
          </p:nvPr>
        </p:nvSpPr>
        <p:spPr>
          <a:xfrm>
            <a:off x="0" y="1444463"/>
            <a:ext cx="6209731" cy="4551076"/>
          </a:xfrm>
        </p:spPr>
        <p:txBody>
          <a:bodyPr>
            <a:normAutofit/>
          </a:bodyPr>
          <a:lstStyle/>
          <a:p>
            <a:pPr>
              <a:buClr>
                <a:srgbClr val="002060"/>
              </a:buClr>
            </a:pPr>
            <a:r>
              <a:rPr lang="en-US" sz="2200" dirty="0"/>
              <a:t>How to solve such problems efficiently</a:t>
            </a:r>
          </a:p>
          <a:p>
            <a:pPr>
              <a:buClr>
                <a:srgbClr val="002060"/>
              </a:buClr>
            </a:pPr>
            <a:r>
              <a:rPr lang="en-US" sz="2200" dirty="0"/>
              <a:t>Given a weighted, directed graph G = (V, E), with weight function w : E -&gt; R mapping edges to real-valued weights. </a:t>
            </a:r>
          </a:p>
          <a:p>
            <a:pPr>
              <a:buClr>
                <a:srgbClr val="002060"/>
              </a:buClr>
            </a:pPr>
            <a:r>
              <a:rPr lang="en-US" sz="2200" dirty="0"/>
              <a:t>The weight w (p) of path </a:t>
            </a:r>
            <a:r>
              <a:rPr lang="en-US" sz="2200" i="1" dirty="0"/>
              <a:t>p = (v</a:t>
            </a:r>
            <a:r>
              <a:rPr lang="en-US" sz="2200" i="1" baseline="-25000" dirty="0"/>
              <a:t>0</a:t>
            </a:r>
            <a:r>
              <a:rPr lang="en-US" sz="2200" i="1" dirty="0"/>
              <a:t>, v</a:t>
            </a:r>
            <a:r>
              <a:rPr lang="en-US" sz="2200" i="1" baseline="-25000" dirty="0"/>
              <a:t>1</a:t>
            </a:r>
            <a:r>
              <a:rPr lang="en-US" sz="2200" i="1" dirty="0"/>
              <a:t>, …, </a:t>
            </a:r>
            <a:r>
              <a:rPr lang="en-US" sz="2200" i="1" dirty="0" err="1"/>
              <a:t>v</a:t>
            </a:r>
            <a:r>
              <a:rPr lang="en-US" sz="2200" i="1" baseline="-25000" dirty="0" err="1"/>
              <a:t>k</a:t>
            </a:r>
            <a:r>
              <a:rPr lang="en-US" sz="2200" i="1" dirty="0"/>
              <a:t>) </a:t>
            </a:r>
            <a:r>
              <a:rPr lang="en-US" sz="2200" dirty="0"/>
              <a:t>is the sum of the weights of its constituent edges:</a:t>
            </a:r>
          </a:p>
        </p:txBody>
      </p:sp>
      <p:pic>
        <p:nvPicPr>
          <p:cNvPr id="5" name="Picture 4"/>
          <p:cNvPicPr>
            <a:picLocks noChangeAspect="1"/>
          </p:cNvPicPr>
          <p:nvPr/>
        </p:nvPicPr>
        <p:blipFill>
          <a:blip r:embed="rId2"/>
          <a:stretch>
            <a:fillRect/>
          </a:stretch>
        </p:blipFill>
        <p:spPr>
          <a:xfrm>
            <a:off x="6209731" y="1171730"/>
            <a:ext cx="5918651" cy="4965428"/>
          </a:xfrm>
          <a:prstGeom prst="rect">
            <a:avLst/>
          </a:prstGeom>
        </p:spPr>
      </p:pic>
      <p:pic>
        <p:nvPicPr>
          <p:cNvPr id="7" name="Picture 6">
            <a:extLst>
              <a:ext uri="{FF2B5EF4-FFF2-40B4-BE49-F238E27FC236}">
                <a16:creationId xmlns:a16="http://schemas.microsoft.com/office/drawing/2014/main" id="{E9640A6B-E796-5252-7473-D09DAEB52BC6}"/>
              </a:ext>
            </a:extLst>
          </p:cNvPr>
          <p:cNvPicPr>
            <a:picLocks noChangeAspect="1"/>
          </p:cNvPicPr>
          <p:nvPr/>
        </p:nvPicPr>
        <p:blipFill>
          <a:blip r:embed="rId3"/>
          <a:stretch>
            <a:fillRect/>
          </a:stretch>
        </p:blipFill>
        <p:spPr>
          <a:xfrm>
            <a:off x="290611" y="3654444"/>
            <a:ext cx="2857772" cy="942693"/>
          </a:xfrm>
          <a:prstGeom prst="rect">
            <a:avLst/>
          </a:prstGeom>
        </p:spPr>
      </p:pic>
    </p:spTree>
    <p:extLst>
      <p:ext uri="{BB962C8B-B14F-4D97-AF65-F5344CB8AC3E}">
        <p14:creationId xmlns:p14="http://schemas.microsoft.com/office/powerpoint/2010/main" val="1598105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154243"/>
          </a:xfrm>
        </p:spPr>
        <p:txBody>
          <a:bodyPr/>
          <a:lstStyle/>
          <a:p>
            <a:r>
              <a:rPr lang="en-US" sz="3600" dirty="0"/>
              <a:t>Shortest Path Problem</a:t>
            </a:r>
          </a:p>
        </p:txBody>
      </p:sp>
      <p:pic>
        <p:nvPicPr>
          <p:cNvPr id="7" name="Picture 6">
            <a:extLst>
              <a:ext uri="{FF2B5EF4-FFF2-40B4-BE49-F238E27FC236}">
                <a16:creationId xmlns:a16="http://schemas.microsoft.com/office/drawing/2014/main" id="{3CAF7F11-6A45-8F51-C993-712A14259C45}"/>
              </a:ext>
            </a:extLst>
          </p:cNvPr>
          <p:cNvPicPr>
            <a:picLocks noChangeAspect="1"/>
          </p:cNvPicPr>
          <p:nvPr/>
        </p:nvPicPr>
        <p:blipFill>
          <a:blip r:embed="rId2"/>
          <a:stretch>
            <a:fillRect/>
          </a:stretch>
        </p:blipFill>
        <p:spPr>
          <a:xfrm>
            <a:off x="1221914" y="1361534"/>
            <a:ext cx="9975947" cy="2432952"/>
          </a:xfrm>
          <a:prstGeom prst="rect">
            <a:avLst/>
          </a:prstGeom>
        </p:spPr>
      </p:pic>
    </p:spTree>
    <p:extLst>
      <p:ext uri="{BB962C8B-B14F-4D97-AF65-F5344CB8AC3E}">
        <p14:creationId xmlns:p14="http://schemas.microsoft.com/office/powerpoint/2010/main" val="429808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004" y="1"/>
            <a:ext cx="10515600" cy="1109272"/>
          </a:xfrm>
        </p:spPr>
        <p:txBody>
          <a:bodyPr/>
          <a:lstStyle/>
          <a:p>
            <a:r>
              <a:rPr lang="en-US" sz="3600" dirty="0"/>
              <a:t>Phoenix-to-Indianapolis Example</a:t>
            </a:r>
          </a:p>
        </p:txBody>
      </p:sp>
      <p:sp>
        <p:nvSpPr>
          <p:cNvPr id="3" name="Content Placeholder 2"/>
          <p:cNvSpPr>
            <a:spLocks noGrp="1"/>
          </p:cNvSpPr>
          <p:nvPr>
            <p:ph idx="1"/>
          </p:nvPr>
        </p:nvSpPr>
        <p:spPr>
          <a:xfrm>
            <a:off x="1074202" y="1373947"/>
            <a:ext cx="9803539" cy="4569159"/>
          </a:xfrm>
        </p:spPr>
        <p:txBody>
          <a:bodyPr>
            <a:normAutofit/>
          </a:bodyPr>
          <a:lstStyle/>
          <a:p>
            <a:pPr>
              <a:buClr>
                <a:srgbClr val="002060"/>
              </a:buClr>
            </a:pPr>
            <a:r>
              <a:rPr lang="en-US" sz="2200" dirty="0"/>
              <a:t>We can model the road map as a graph: </a:t>
            </a:r>
          </a:p>
          <a:p>
            <a:pPr lvl="1">
              <a:buClr>
                <a:srgbClr val="002060"/>
              </a:buClr>
            </a:pPr>
            <a:r>
              <a:rPr lang="en-US" sz="2200" dirty="0"/>
              <a:t>vertices represent intersections</a:t>
            </a:r>
          </a:p>
          <a:p>
            <a:pPr lvl="1">
              <a:buClr>
                <a:srgbClr val="002060"/>
              </a:buClr>
            </a:pPr>
            <a:r>
              <a:rPr lang="en-US" sz="2200" dirty="0"/>
              <a:t>edges represent road segments between intersections</a:t>
            </a:r>
          </a:p>
          <a:p>
            <a:pPr lvl="1">
              <a:buClr>
                <a:srgbClr val="002060"/>
              </a:buClr>
            </a:pPr>
            <a:r>
              <a:rPr lang="en-US" sz="2200" dirty="0"/>
              <a:t>edge weights represent road distances</a:t>
            </a:r>
          </a:p>
          <a:p>
            <a:pPr>
              <a:buClr>
                <a:srgbClr val="002060"/>
              </a:buClr>
            </a:pPr>
            <a:r>
              <a:rPr lang="en-US" sz="2200" dirty="0"/>
              <a:t>Our goal is to find a shortest path from a given intersection in Phoenix to a given intersection in Indianapolis. </a:t>
            </a:r>
          </a:p>
          <a:p>
            <a:pPr>
              <a:buClr>
                <a:srgbClr val="002060"/>
              </a:buClr>
            </a:pPr>
            <a:r>
              <a:rPr lang="en-US" sz="2200" dirty="0"/>
              <a:t>In similar problems, edge weights can represent metrics other than distances, such as time, cost, penalties, loss, or any other quantity that accumulates linearly along a path and that we would want to minimize. </a:t>
            </a:r>
          </a:p>
        </p:txBody>
      </p:sp>
    </p:spTree>
    <p:extLst>
      <p:ext uri="{BB962C8B-B14F-4D97-AF65-F5344CB8AC3E}">
        <p14:creationId xmlns:p14="http://schemas.microsoft.com/office/powerpoint/2010/main" val="2493202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004" y="0"/>
            <a:ext cx="10515600" cy="1169233"/>
          </a:xfrm>
        </p:spPr>
        <p:txBody>
          <a:bodyPr/>
          <a:lstStyle/>
          <a:p>
            <a:r>
              <a:rPr lang="en-US" sz="3600" dirty="0"/>
              <a:t>Negative-Weight Edges</a:t>
            </a:r>
          </a:p>
        </p:txBody>
      </p:sp>
      <p:sp>
        <p:nvSpPr>
          <p:cNvPr id="3" name="Content Placeholder 2"/>
          <p:cNvSpPr>
            <a:spLocks noGrp="1"/>
          </p:cNvSpPr>
          <p:nvPr>
            <p:ph idx="1"/>
          </p:nvPr>
        </p:nvSpPr>
        <p:spPr>
          <a:xfrm>
            <a:off x="1189055" y="1323536"/>
            <a:ext cx="9181971" cy="4624157"/>
          </a:xfrm>
        </p:spPr>
        <p:txBody>
          <a:bodyPr>
            <a:normAutofit/>
          </a:bodyPr>
          <a:lstStyle/>
          <a:p>
            <a:pPr>
              <a:buClr>
                <a:srgbClr val="002060"/>
              </a:buClr>
            </a:pPr>
            <a:r>
              <a:rPr lang="en-US" sz="2200" dirty="0"/>
              <a:t>Some instances of the shortest-paths problem may include edges whose weights are negative.</a:t>
            </a:r>
          </a:p>
          <a:p>
            <a:pPr>
              <a:buClr>
                <a:srgbClr val="002060"/>
              </a:buClr>
            </a:pPr>
            <a:r>
              <a:rPr lang="en-US" sz="2200" dirty="0"/>
              <a:t>If the graph G = (V, E) contains no negative weight cycles reachable from the source s, then for all v ∈ V , the shortest-path (</a:t>
            </a:r>
            <a:r>
              <a:rPr lang="en-US" sz="2200" dirty="0" err="1"/>
              <a:t>s,v</a:t>
            </a:r>
            <a:r>
              <a:rPr lang="en-US" sz="2200" dirty="0"/>
              <a:t>) remains well defined, even if it has a negative value.</a:t>
            </a:r>
          </a:p>
          <a:p>
            <a:pPr>
              <a:buClr>
                <a:srgbClr val="002060"/>
              </a:buClr>
            </a:pPr>
            <a:r>
              <a:rPr lang="en-US" sz="2200" dirty="0"/>
              <a:t>If the graph contains a negative-weight cycle reachable from s, however, shortest-path weights are not well defined. </a:t>
            </a:r>
          </a:p>
        </p:txBody>
      </p:sp>
      <p:pic>
        <p:nvPicPr>
          <p:cNvPr id="5" name="Picture 4">
            <a:extLst>
              <a:ext uri="{FF2B5EF4-FFF2-40B4-BE49-F238E27FC236}">
                <a16:creationId xmlns:a16="http://schemas.microsoft.com/office/drawing/2014/main" id="{9B10211A-FAE7-4429-948F-307CB106CA65}"/>
              </a:ext>
            </a:extLst>
          </p:cNvPr>
          <p:cNvPicPr>
            <a:picLocks noChangeAspect="1"/>
          </p:cNvPicPr>
          <p:nvPr/>
        </p:nvPicPr>
        <p:blipFill>
          <a:blip r:embed="rId2"/>
          <a:stretch>
            <a:fillRect/>
          </a:stretch>
        </p:blipFill>
        <p:spPr>
          <a:xfrm>
            <a:off x="2717171" y="3901017"/>
            <a:ext cx="2756214" cy="1672714"/>
          </a:xfrm>
          <a:prstGeom prst="rect">
            <a:avLst/>
          </a:prstGeom>
        </p:spPr>
      </p:pic>
      <p:pic>
        <p:nvPicPr>
          <p:cNvPr id="7" name="Picture 6">
            <a:extLst>
              <a:ext uri="{FF2B5EF4-FFF2-40B4-BE49-F238E27FC236}">
                <a16:creationId xmlns:a16="http://schemas.microsoft.com/office/drawing/2014/main" id="{3D2042F7-ECF1-4D4A-A9F5-A19A282B6564}"/>
              </a:ext>
            </a:extLst>
          </p:cNvPr>
          <p:cNvPicPr>
            <a:picLocks noChangeAspect="1"/>
          </p:cNvPicPr>
          <p:nvPr/>
        </p:nvPicPr>
        <p:blipFill>
          <a:blip r:embed="rId3"/>
          <a:stretch>
            <a:fillRect/>
          </a:stretch>
        </p:blipFill>
        <p:spPr>
          <a:xfrm>
            <a:off x="5768724" y="3942113"/>
            <a:ext cx="2991440" cy="1713810"/>
          </a:xfrm>
          <a:prstGeom prst="rect">
            <a:avLst/>
          </a:prstGeom>
        </p:spPr>
      </p:pic>
    </p:spTree>
    <p:extLst>
      <p:ext uri="{BB962C8B-B14F-4D97-AF65-F5344CB8AC3E}">
        <p14:creationId xmlns:p14="http://schemas.microsoft.com/office/powerpoint/2010/main" val="2839572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1"/>
            <a:ext cx="10515600" cy="1139252"/>
          </a:xfrm>
        </p:spPr>
        <p:txBody>
          <a:bodyPr/>
          <a:lstStyle/>
          <a:p>
            <a:r>
              <a:rPr lang="en-US" sz="3600" dirty="0"/>
              <a:t>Negative-Weight Edges</a:t>
            </a:r>
          </a:p>
        </p:txBody>
      </p:sp>
      <p:sp>
        <p:nvSpPr>
          <p:cNvPr id="3" name="Content Placeholder 2"/>
          <p:cNvSpPr>
            <a:spLocks noGrp="1"/>
          </p:cNvSpPr>
          <p:nvPr>
            <p:ph idx="1"/>
          </p:nvPr>
        </p:nvSpPr>
        <p:spPr>
          <a:xfrm>
            <a:off x="1341124" y="1690367"/>
            <a:ext cx="9559709" cy="4395640"/>
          </a:xfrm>
        </p:spPr>
        <p:txBody>
          <a:bodyPr>
            <a:normAutofit/>
          </a:bodyPr>
          <a:lstStyle/>
          <a:p>
            <a:pPr>
              <a:buClr>
                <a:srgbClr val="002060"/>
              </a:buClr>
            </a:pPr>
            <a:r>
              <a:rPr lang="en-US" sz="2200" dirty="0"/>
              <a:t>Some shortest-paths algorithms, such as Dijkstra’s algorithm, assume that </a:t>
            </a:r>
            <a:r>
              <a:rPr lang="en-US" sz="2200" b="1" dirty="0"/>
              <a:t>all edge weights in the input graph are nonnegative</a:t>
            </a:r>
            <a:r>
              <a:rPr lang="en-US" sz="2200" dirty="0"/>
              <a:t>, as in the road-map example.</a:t>
            </a:r>
          </a:p>
          <a:p>
            <a:pPr>
              <a:buClr>
                <a:srgbClr val="002060"/>
              </a:buClr>
            </a:pPr>
            <a:r>
              <a:rPr lang="en-US" sz="2200" dirty="0"/>
              <a:t>Others, such as the Bellman-Ford algorithm, allow negative-weight edges in the input graph and produce a correct answer as long as no negative-weight cycles are reachable from the source. </a:t>
            </a:r>
          </a:p>
          <a:p>
            <a:pPr lvl="1">
              <a:buClr>
                <a:srgbClr val="002060"/>
              </a:buClr>
            </a:pPr>
            <a:r>
              <a:rPr lang="en-US" sz="2200" dirty="0"/>
              <a:t>Typically, if there is such a negative-weight cycle, the algorithm can detect and report its existence.</a:t>
            </a:r>
          </a:p>
        </p:txBody>
      </p:sp>
    </p:spTree>
    <p:extLst>
      <p:ext uri="{BB962C8B-B14F-4D97-AF65-F5344CB8AC3E}">
        <p14:creationId xmlns:p14="http://schemas.microsoft.com/office/powerpoint/2010/main" val="1397837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515" y="3013"/>
            <a:ext cx="7055380" cy="1106259"/>
          </a:xfrm>
        </p:spPr>
        <p:txBody>
          <a:bodyPr/>
          <a:lstStyle/>
          <a:p>
            <a:r>
              <a:rPr lang="en-US" sz="3600" dirty="0"/>
              <a:t>Cycles</a:t>
            </a:r>
          </a:p>
        </p:txBody>
      </p:sp>
      <p:sp>
        <p:nvSpPr>
          <p:cNvPr id="3" name="Content Placeholder 2"/>
          <p:cNvSpPr>
            <a:spLocks noGrp="1"/>
          </p:cNvSpPr>
          <p:nvPr>
            <p:ph idx="1"/>
          </p:nvPr>
        </p:nvSpPr>
        <p:spPr>
          <a:xfrm>
            <a:off x="1026981" y="1305109"/>
            <a:ext cx="9467521" cy="4356544"/>
          </a:xfrm>
        </p:spPr>
        <p:txBody>
          <a:bodyPr>
            <a:noAutofit/>
          </a:bodyPr>
          <a:lstStyle/>
          <a:p>
            <a:pPr>
              <a:buClr>
                <a:srgbClr val="002060"/>
              </a:buClr>
            </a:pPr>
            <a:r>
              <a:rPr lang="en-US" sz="2200" dirty="0"/>
              <a:t>Can a shortest path contain a cycle? </a:t>
            </a:r>
          </a:p>
          <a:p>
            <a:pPr>
              <a:buClr>
                <a:srgbClr val="002060"/>
              </a:buClr>
            </a:pPr>
            <a:r>
              <a:rPr lang="en-US" sz="2200" dirty="0"/>
              <a:t>As we have just seen, it </a:t>
            </a:r>
            <a:r>
              <a:rPr lang="en-US" sz="2200" b="1" dirty="0"/>
              <a:t>cannot contain a negative-weight cycle</a:t>
            </a:r>
            <a:r>
              <a:rPr lang="en-US" sz="2200" dirty="0"/>
              <a:t>. </a:t>
            </a:r>
          </a:p>
          <a:p>
            <a:pPr>
              <a:buClr>
                <a:srgbClr val="002060"/>
              </a:buClr>
            </a:pPr>
            <a:r>
              <a:rPr lang="en-US" sz="2200" b="1" dirty="0"/>
              <a:t>Nor can it contain a positive-weight cycle</a:t>
            </a:r>
            <a:r>
              <a:rPr lang="en-US" sz="2200" dirty="0"/>
              <a:t>, since removing the cycle from the path produces a path with the same source and destination vertices and a lower path weight.</a:t>
            </a:r>
          </a:p>
          <a:p>
            <a:pPr>
              <a:buClr>
                <a:srgbClr val="002060"/>
              </a:buClr>
            </a:pPr>
            <a:r>
              <a:rPr lang="en-US" sz="2200" dirty="0"/>
              <a:t>That is, if path </a:t>
            </a:r>
            <a:r>
              <a:rPr lang="en-US" sz="2200" i="1" dirty="0"/>
              <a:t>p = (v</a:t>
            </a:r>
            <a:r>
              <a:rPr lang="en-US" sz="2200" i="1" baseline="-25000" dirty="0"/>
              <a:t>0</a:t>
            </a:r>
            <a:r>
              <a:rPr lang="en-US" sz="2200" i="1" dirty="0"/>
              <a:t>, v</a:t>
            </a:r>
            <a:r>
              <a:rPr lang="en-US" sz="2200" i="1" baseline="-25000" dirty="0"/>
              <a:t>1</a:t>
            </a:r>
            <a:r>
              <a:rPr lang="en-US" sz="2200" i="1" dirty="0"/>
              <a:t>, …, </a:t>
            </a:r>
            <a:r>
              <a:rPr lang="en-US" sz="2200" i="1" dirty="0" err="1"/>
              <a:t>v</a:t>
            </a:r>
            <a:r>
              <a:rPr lang="en-US" sz="2200" i="1" baseline="-25000" dirty="0" err="1"/>
              <a:t>k</a:t>
            </a:r>
            <a:r>
              <a:rPr lang="en-US" sz="2200" i="1" dirty="0"/>
              <a:t>) </a:t>
            </a:r>
            <a:r>
              <a:rPr lang="en-US" sz="2200" dirty="0"/>
              <a:t>is a path and path </a:t>
            </a:r>
            <a:r>
              <a:rPr lang="en-US" sz="2200" i="1" dirty="0"/>
              <a:t>c = (</a:t>
            </a:r>
            <a:r>
              <a:rPr lang="en-US" sz="2200" b="1" i="1" dirty="0"/>
              <a:t>v</a:t>
            </a:r>
            <a:r>
              <a:rPr lang="en-US" sz="2200" b="1" i="1" baseline="-25000" dirty="0"/>
              <a:t>i</a:t>
            </a:r>
            <a:r>
              <a:rPr lang="en-US" sz="2200" b="1" i="1" dirty="0"/>
              <a:t>, v</a:t>
            </a:r>
            <a:r>
              <a:rPr lang="en-US" sz="2200" b="1" i="1" baseline="-25000" dirty="0"/>
              <a:t>i+1</a:t>
            </a:r>
            <a:r>
              <a:rPr lang="en-US" sz="2200" b="1" i="1" dirty="0"/>
              <a:t>, …, </a:t>
            </a:r>
            <a:r>
              <a:rPr lang="en-US" sz="2200" b="1" i="1" dirty="0" err="1"/>
              <a:t>v</a:t>
            </a:r>
            <a:r>
              <a:rPr lang="en-US" sz="2200" b="1" i="1" baseline="-25000" dirty="0" err="1"/>
              <a:t>j</a:t>
            </a:r>
            <a:r>
              <a:rPr lang="en-US" sz="2200" i="1" dirty="0"/>
              <a:t>)</a:t>
            </a:r>
            <a:r>
              <a:rPr lang="en-US" sz="2200" dirty="0"/>
              <a:t> is a positive-weight cycle on this path (so that </a:t>
            </a:r>
            <a:r>
              <a:rPr lang="en-US" sz="2200" i="1" dirty="0"/>
              <a:t>v</a:t>
            </a:r>
            <a:r>
              <a:rPr lang="en-US" sz="2200" i="1" baseline="-25000" dirty="0"/>
              <a:t>i  = </a:t>
            </a:r>
            <a:r>
              <a:rPr lang="en-US" sz="2200" i="1" dirty="0" err="1"/>
              <a:t>v</a:t>
            </a:r>
            <a:r>
              <a:rPr lang="en-US" sz="2200" i="1" baseline="-25000" dirty="0" err="1"/>
              <a:t>j</a:t>
            </a:r>
            <a:r>
              <a:rPr lang="en-US" sz="2200" i="1" dirty="0"/>
              <a:t> </a:t>
            </a:r>
            <a:r>
              <a:rPr lang="en-US" sz="2200" dirty="0"/>
              <a:t>and w (c) &gt; 0), </a:t>
            </a:r>
            <a:br>
              <a:rPr lang="en-US" sz="2200" dirty="0"/>
            </a:br>
            <a:r>
              <a:rPr lang="en-US" sz="2200" dirty="0"/>
              <a:t>then the path </a:t>
            </a:r>
            <a:r>
              <a:rPr lang="en-US" sz="2200" i="1" dirty="0"/>
              <a:t>p’ = (v</a:t>
            </a:r>
            <a:r>
              <a:rPr lang="en-US" sz="2200" i="1" baseline="-25000" dirty="0"/>
              <a:t>0</a:t>
            </a:r>
            <a:r>
              <a:rPr lang="en-US" sz="2200" i="1" dirty="0"/>
              <a:t>, v</a:t>
            </a:r>
            <a:r>
              <a:rPr lang="en-US" sz="2200" i="1" baseline="-25000" dirty="0"/>
              <a:t>1</a:t>
            </a:r>
            <a:r>
              <a:rPr lang="en-US" sz="2200" i="1" dirty="0"/>
              <a:t>, …, </a:t>
            </a:r>
            <a:r>
              <a:rPr lang="en-US" sz="2200" b="1" i="1" dirty="0"/>
              <a:t>v</a:t>
            </a:r>
            <a:r>
              <a:rPr lang="en-US" sz="2200" b="1" i="1" baseline="-25000" dirty="0"/>
              <a:t>i, </a:t>
            </a:r>
            <a:r>
              <a:rPr lang="en-US" sz="2200" b="1" i="1" dirty="0"/>
              <a:t>v</a:t>
            </a:r>
            <a:r>
              <a:rPr lang="en-US" sz="2200" b="1" i="1" baseline="-25000" dirty="0"/>
              <a:t>i+1</a:t>
            </a:r>
            <a:r>
              <a:rPr lang="en-US" sz="2200" b="1" i="1" dirty="0"/>
              <a:t>, …, </a:t>
            </a:r>
            <a:r>
              <a:rPr lang="en-US" sz="2200" b="1" i="1" dirty="0" err="1"/>
              <a:t>v</a:t>
            </a:r>
            <a:r>
              <a:rPr lang="en-US" sz="2200" b="1" i="1" baseline="-25000" dirty="0" err="1"/>
              <a:t>j</a:t>
            </a:r>
            <a:r>
              <a:rPr lang="en-US" sz="2200" b="1" i="1" dirty="0"/>
              <a:t> </a:t>
            </a:r>
            <a:r>
              <a:rPr lang="en-US" sz="2200" i="1" dirty="0"/>
              <a:t>, …</a:t>
            </a:r>
            <a:r>
              <a:rPr lang="en-US" sz="2200" i="1" dirty="0" err="1"/>
              <a:t>v</a:t>
            </a:r>
            <a:r>
              <a:rPr lang="en-US" sz="2200" i="1" baseline="-25000" dirty="0" err="1"/>
              <a:t>k</a:t>
            </a:r>
            <a:r>
              <a:rPr lang="en-US" sz="2200" i="1" dirty="0"/>
              <a:t>) </a:t>
            </a:r>
            <a:r>
              <a:rPr lang="en-US" sz="2200" dirty="0"/>
              <a:t>has weight</a:t>
            </a:r>
            <a:r>
              <a:rPr lang="en-US" sz="2200" i="1" dirty="0"/>
              <a:t> w(p’) </a:t>
            </a:r>
            <a:r>
              <a:rPr lang="en-US" sz="2200" dirty="0"/>
              <a:t>cannot be a shortest path from </a:t>
            </a:r>
            <a:r>
              <a:rPr lang="en-US" sz="2200" i="1" dirty="0"/>
              <a:t>v</a:t>
            </a:r>
            <a:r>
              <a:rPr lang="en-US" sz="2200" i="1" baseline="-25000" dirty="0"/>
              <a:t>0</a:t>
            </a:r>
            <a:r>
              <a:rPr lang="en-US" sz="2200" dirty="0"/>
              <a:t> to </a:t>
            </a:r>
            <a:r>
              <a:rPr lang="en-US" sz="2200" i="1" dirty="0" err="1"/>
              <a:t>v</a:t>
            </a:r>
            <a:r>
              <a:rPr lang="en-US" sz="2200" i="1" baseline="-25000" dirty="0" err="1"/>
              <a:t>k</a:t>
            </a:r>
            <a:r>
              <a:rPr lang="en-US" sz="2200" i="1" baseline="-25000" dirty="0"/>
              <a:t>.</a:t>
            </a:r>
          </a:p>
        </p:txBody>
      </p:sp>
    </p:spTree>
    <p:extLst>
      <p:ext uri="{BB962C8B-B14F-4D97-AF65-F5344CB8AC3E}">
        <p14:creationId xmlns:p14="http://schemas.microsoft.com/office/powerpoint/2010/main" val="738264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8023" y="1"/>
            <a:ext cx="10515600" cy="1139252"/>
          </a:xfrm>
        </p:spPr>
        <p:txBody>
          <a:bodyPr/>
          <a:lstStyle/>
          <a:p>
            <a:r>
              <a:rPr lang="en-US" sz="3600" dirty="0"/>
              <a:t>Cycles</a:t>
            </a:r>
          </a:p>
        </p:txBody>
      </p:sp>
      <p:sp>
        <p:nvSpPr>
          <p:cNvPr id="3" name="Content Placeholder 2"/>
          <p:cNvSpPr>
            <a:spLocks noGrp="1"/>
          </p:cNvSpPr>
          <p:nvPr>
            <p:ph idx="1"/>
          </p:nvPr>
        </p:nvSpPr>
        <p:spPr>
          <a:xfrm>
            <a:off x="1108023" y="1720277"/>
            <a:ext cx="10044659" cy="4195481"/>
          </a:xfrm>
        </p:spPr>
        <p:txBody>
          <a:bodyPr/>
          <a:lstStyle/>
          <a:p>
            <a:pPr>
              <a:buClr>
                <a:srgbClr val="002060"/>
              </a:buClr>
            </a:pPr>
            <a:r>
              <a:rPr lang="en-US" sz="2200" dirty="0"/>
              <a:t>Assume that when we are finding shortest paths, they have no cycles, i.e., they are simple paths. </a:t>
            </a:r>
          </a:p>
          <a:p>
            <a:pPr>
              <a:buClr>
                <a:srgbClr val="002060"/>
              </a:buClr>
            </a:pPr>
            <a:r>
              <a:rPr lang="en-US" sz="2200" dirty="0"/>
              <a:t>Since any acyclic path in a graph G = (V,E) contains at most |V| distinct vertices, it also contains at most |V| - 1 edges. </a:t>
            </a:r>
          </a:p>
          <a:p>
            <a:pPr>
              <a:buClr>
                <a:srgbClr val="002060"/>
              </a:buClr>
            </a:pPr>
            <a:r>
              <a:rPr lang="en-US" sz="2200" dirty="0"/>
              <a:t>Thus, we can restrict our attention to shortest paths of at most |V| - 1 edges.</a:t>
            </a:r>
            <a:endParaRPr lang="en-US" sz="2200" i="1" dirty="0"/>
          </a:p>
          <a:p>
            <a:endParaRPr lang="en-US" dirty="0"/>
          </a:p>
        </p:txBody>
      </p:sp>
    </p:spTree>
    <p:extLst>
      <p:ext uri="{BB962C8B-B14F-4D97-AF65-F5344CB8AC3E}">
        <p14:creationId xmlns:p14="http://schemas.microsoft.com/office/powerpoint/2010/main" val="2496997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983" y="1"/>
            <a:ext cx="10515600" cy="1124262"/>
          </a:xfrm>
        </p:spPr>
        <p:txBody>
          <a:bodyPr/>
          <a:lstStyle/>
          <a:p>
            <a:r>
              <a:rPr lang="en-US" altLang="en-US" sz="3600" dirty="0"/>
              <a:t>Shortest Path</a:t>
            </a:r>
            <a:endParaRPr lang="en-US" sz="3600" dirty="0"/>
          </a:p>
        </p:txBody>
      </p:sp>
      <p:sp>
        <p:nvSpPr>
          <p:cNvPr id="3" name="Content Placeholder 2"/>
          <p:cNvSpPr>
            <a:spLocks noGrp="1"/>
          </p:cNvSpPr>
          <p:nvPr>
            <p:ph idx="1"/>
          </p:nvPr>
        </p:nvSpPr>
        <p:spPr>
          <a:xfrm>
            <a:off x="1296152" y="1703711"/>
            <a:ext cx="8927139" cy="4629832"/>
          </a:xfrm>
        </p:spPr>
        <p:txBody>
          <a:bodyPr>
            <a:normAutofit/>
          </a:bodyPr>
          <a:lstStyle/>
          <a:p>
            <a:pPr>
              <a:buClr>
                <a:srgbClr val="002060"/>
              </a:buClr>
            </a:pPr>
            <a:r>
              <a:rPr lang="en-US" sz="2200" dirty="0"/>
              <a:t>A shortest-paths tree rooted at s is a directed subgraph G’ = (V’, E’), where V’ ⊆ V and E’⊆ E, such that</a:t>
            </a:r>
          </a:p>
        </p:txBody>
      </p:sp>
      <p:pic>
        <p:nvPicPr>
          <p:cNvPr id="6" name="Picture 5">
            <a:extLst>
              <a:ext uri="{FF2B5EF4-FFF2-40B4-BE49-F238E27FC236}">
                <a16:creationId xmlns:a16="http://schemas.microsoft.com/office/drawing/2014/main" id="{B3BF0547-0346-9034-3A7D-8747F93C766F}"/>
              </a:ext>
            </a:extLst>
          </p:cNvPr>
          <p:cNvPicPr>
            <a:picLocks noChangeAspect="1"/>
          </p:cNvPicPr>
          <p:nvPr/>
        </p:nvPicPr>
        <p:blipFill>
          <a:blip r:embed="rId2"/>
          <a:stretch>
            <a:fillRect/>
          </a:stretch>
        </p:blipFill>
        <p:spPr>
          <a:xfrm>
            <a:off x="1467300" y="2546073"/>
            <a:ext cx="8755991" cy="1765853"/>
          </a:xfrm>
          <a:prstGeom prst="rect">
            <a:avLst/>
          </a:prstGeom>
        </p:spPr>
      </p:pic>
    </p:spTree>
    <p:extLst>
      <p:ext uri="{BB962C8B-B14F-4D97-AF65-F5344CB8AC3E}">
        <p14:creationId xmlns:p14="http://schemas.microsoft.com/office/powerpoint/2010/main" val="2410468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062" y="0"/>
            <a:ext cx="10515600" cy="1184223"/>
          </a:xfrm>
        </p:spPr>
        <p:txBody>
          <a:bodyPr/>
          <a:lstStyle/>
          <a:p>
            <a:r>
              <a:rPr lang="en-US" sz="3600" dirty="0"/>
              <a:t>Shortest Path Example</a:t>
            </a:r>
          </a:p>
        </p:txBody>
      </p:sp>
      <p:pic>
        <p:nvPicPr>
          <p:cNvPr id="7" name="Picture 6">
            <a:extLst>
              <a:ext uri="{FF2B5EF4-FFF2-40B4-BE49-F238E27FC236}">
                <a16:creationId xmlns:a16="http://schemas.microsoft.com/office/drawing/2014/main" id="{C29C0A6E-6466-D0E9-5554-313A2CCD3999}"/>
              </a:ext>
            </a:extLst>
          </p:cNvPr>
          <p:cNvPicPr>
            <a:picLocks noChangeAspect="1"/>
          </p:cNvPicPr>
          <p:nvPr/>
        </p:nvPicPr>
        <p:blipFill>
          <a:blip r:embed="rId2"/>
          <a:stretch>
            <a:fillRect/>
          </a:stretch>
        </p:blipFill>
        <p:spPr>
          <a:xfrm>
            <a:off x="1048062" y="1530546"/>
            <a:ext cx="10313188" cy="4048937"/>
          </a:xfrm>
          <a:prstGeom prst="rect">
            <a:avLst/>
          </a:prstGeom>
        </p:spPr>
      </p:pic>
    </p:spTree>
    <p:extLst>
      <p:ext uri="{BB962C8B-B14F-4D97-AF65-F5344CB8AC3E}">
        <p14:creationId xmlns:p14="http://schemas.microsoft.com/office/powerpoint/2010/main" val="4000733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141751" y="71531"/>
            <a:ext cx="8153400" cy="990600"/>
          </a:xfrm>
        </p:spPr>
        <p:txBody>
          <a:bodyPr>
            <a:normAutofit/>
          </a:bodyPr>
          <a:lstStyle/>
          <a:p>
            <a:pPr eaLnBrk="1" hangingPunct="1"/>
            <a:r>
              <a:rPr lang="en-US" altLang="en-US" sz="3600" dirty="0"/>
              <a:t>Shortest Path Problem</a:t>
            </a:r>
          </a:p>
        </p:txBody>
      </p:sp>
      <p:sp>
        <p:nvSpPr>
          <p:cNvPr id="23556" name="Rectangle 3"/>
          <p:cNvSpPr>
            <a:spLocks noGrp="1" noChangeArrowheads="1"/>
          </p:cNvSpPr>
          <p:nvPr>
            <p:ph sz="quarter" idx="1"/>
          </p:nvPr>
        </p:nvSpPr>
        <p:spPr>
          <a:xfrm>
            <a:off x="1294150" y="1692344"/>
            <a:ext cx="9303895" cy="4359275"/>
          </a:xfrm>
        </p:spPr>
        <p:txBody>
          <a:bodyPr>
            <a:normAutofit/>
          </a:bodyPr>
          <a:lstStyle/>
          <a:p>
            <a:pPr eaLnBrk="1" hangingPunct="1">
              <a:lnSpc>
                <a:spcPct val="90000"/>
              </a:lnSpc>
              <a:buClr>
                <a:srgbClr val="002060"/>
              </a:buClr>
            </a:pPr>
            <a:r>
              <a:rPr lang="en-US" altLang="en-US" sz="2400" dirty="0"/>
              <a:t>Determining the shortest path from vertex v to vertex u</a:t>
            </a:r>
          </a:p>
          <a:p>
            <a:pPr eaLnBrk="1" hangingPunct="1">
              <a:lnSpc>
                <a:spcPct val="90000"/>
              </a:lnSpc>
              <a:buClr>
                <a:srgbClr val="002060"/>
              </a:buClr>
            </a:pPr>
            <a:r>
              <a:rPr lang="en-US" altLang="en-US" sz="2400" dirty="0"/>
              <a:t>Edges can be assigned certain weights representing:</a:t>
            </a:r>
          </a:p>
          <a:p>
            <a:pPr lvl="1" eaLnBrk="1" hangingPunct="1">
              <a:lnSpc>
                <a:spcPct val="90000"/>
              </a:lnSpc>
              <a:buClr>
                <a:srgbClr val="002060"/>
              </a:buClr>
            </a:pPr>
            <a:r>
              <a:rPr lang="en-US" altLang="en-US" sz="2200" dirty="0"/>
              <a:t>Distances between cities</a:t>
            </a:r>
          </a:p>
          <a:p>
            <a:pPr lvl="1" eaLnBrk="1" hangingPunct="1">
              <a:lnSpc>
                <a:spcPct val="90000"/>
              </a:lnSpc>
              <a:buClr>
                <a:srgbClr val="002060"/>
              </a:buClr>
            </a:pPr>
            <a:r>
              <a:rPr lang="en-US" altLang="en-US" sz="2200" dirty="0"/>
              <a:t>Times separating the execution of tasks</a:t>
            </a:r>
          </a:p>
          <a:p>
            <a:pPr lvl="1" eaLnBrk="1" hangingPunct="1">
              <a:lnSpc>
                <a:spcPct val="90000"/>
              </a:lnSpc>
              <a:buClr>
                <a:srgbClr val="002060"/>
              </a:buClr>
            </a:pPr>
            <a:r>
              <a:rPr lang="en-US" altLang="en-US" sz="2200" dirty="0"/>
              <a:t>Costs of transmitting information between locations</a:t>
            </a:r>
          </a:p>
          <a:p>
            <a:pPr lvl="1" eaLnBrk="1" hangingPunct="1">
              <a:lnSpc>
                <a:spcPct val="90000"/>
              </a:lnSpc>
              <a:buClr>
                <a:srgbClr val="002060"/>
              </a:buClr>
            </a:pPr>
            <a:r>
              <a:rPr lang="en-US" altLang="en-US" sz="2200" dirty="0"/>
              <a:t>Amounts of substance transported from on place to another</a:t>
            </a:r>
          </a:p>
          <a:p>
            <a:pPr lvl="1" eaLnBrk="1" hangingPunct="1">
              <a:lnSpc>
                <a:spcPct val="90000"/>
              </a:lnSpc>
            </a:pPr>
            <a:endParaRPr lang="en-US" altLang="en-US" sz="2200" dirty="0"/>
          </a:p>
          <a:p>
            <a:pPr lvl="1" eaLnBrk="1" hangingPunct="1">
              <a:lnSpc>
                <a:spcPct val="90000"/>
              </a:lnSpc>
            </a:pPr>
            <a:endParaRPr lang="en-US" altLang="en-US" dirty="0"/>
          </a:p>
        </p:txBody>
      </p:sp>
    </p:spTree>
    <p:extLst>
      <p:ext uri="{BB962C8B-B14F-4D97-AF65-F5344CB8AC3E}">
        <p14:creationId xmlns:p14="http://schemas.microsoft.com/office/powerpoint/2010/main" val="3267489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104900" y="0"/>
            <a:ext cx="8758238" cy="914400"/>
          </a:xfrm>
          <a:extLst>
            <a:ext uri="{91240B29-F687-4F45-9708-019B960494DF}">
              <a14:hiddenLine xmlns:a14="http://schemas.microsoft.com/office/drawing/2010/main" w="12700">
                <a:solidFill>
                  <a:srgbClr val="000000"/>
                </a:solidFill>
                <a:miter lim="800000"/>
                <a:headEnd/>
                <a:tailEnd/>
              </a14:hiddenLine>
            </a:ext>
          </a:extLst>
        </p:spPr>
        <p:txBody>
          <a:bodyPr>
            <a:normAutofit/>
          </a:bodyPr>
          <a:lstStyle/>
          <a:p>
            <a:pPr eaLnBrk="1" hangingPunct="1"/>
            <a:r>
              <a:rPr lang="en-US" altLang="en-US" sz="3600" dirty="0" err="1"/>
              <a:t>Dijkstra’s</a:t>
            </a:r>
            <a:r>
              <a:rPr lang="en-US" altLang="en-US" sz="3600" dirty="0"/>
              <a:t> Algorithm To Find a Shortest Path</a:t>
            </a:r>
          </a:p>
        </p:txBody>
      </p:sp>
      <p:sp>
        <p:nvSpPr>
          <p:cNvPr id="24579" name="Rectangle 3"/>
          <p:cNvSpPr>
            <a:spLocks noGrp="1" noChangeArrowheads="1"/>
          </p:cNvSpPr>
          <p:nvPr>
            <p:ph sz="quarter" idx="1"/>
          </p:nvPr>
        </p:nvSpPr>
        <p:spPr>
          <a:xfrm>
            <a:off x="1269790" y="1510720"/>
            <a:ext cx="8941009" cy="4845631"/>
          </a:xfrm>
        </p:spPr>
        <p:txBody>
          <a:bodyPr>
            <a:normAutofit/>
          </a:bodyPr>
          <a:lstStyle/>
          <a:p>
            <a:pPr eaLnBrk="1" hangingPunct="1">
              <a:lnSpc>
                <a:spcPct val="80000"/>
              </a:lnSpc>
              <a:buFontTx/>
              <a:buNone/>
            </a:pPr>
            <a:r>
              <a:rPr lang="en-US" altLang="en-US" sz="2200" dirty="0" err="1">
                <a:latin typeface="Book Antiqua" panose="02040602050305030304" pitchFamily="18" charset="0"/>
              </a:rPr>
              <a:t>DijkstraAlgorithm</a:t>
            </a:r>
            <a:r>
              <a:rPr lang="en-US" altLang="en-US" sz="2200" dirty="0">
                <a:latin typeface="Book Antiqua" panose="02040602050305030304" pitchFamily="18" charset="0"/>
              </a:rPr>
              <a:t>(</a:t>
            </a:r>
            <a:r>
              <a:rPr lang="en-US" altLang="en-US" sz="2200" i="1" dirty="0">
                <a:latin typeface="Book Antiqua" panose="02040602050305030304" pitchFamily="18" charset="0"/>
              </a:rPr>
              <a:t>weighted simple</a:t>
            </a:r>
            <a:r>
              <a:rPr lang="en-US" altLang="en-US" sz="2200" dirty="0">
                <a:latin typeface="Book Antiqua" panose="02040602050305030304" pitchFamily="18" charset="0"/>
              </a:rPr>
              <a:t> digraph, </a:t>
            </a:r>
            <a:r>
              <a:rPr lang="en-US" altLang="en-US" sz="2200" i="1" dirty="0">
                <a:latin typeface="Book Antiqua" panose="02040602050305030304" pitchFamily="18" charset="0"/>
              </a:rPr>
              <a:t>vertex</a:t>
            </a:r>
            <a:r>
              <a:rPr lang="en-US" altLang="en-US" sz="2200" dirty="0">
                <a:latin typeface="Book Antiqua" panose="02040602050305030304" pitchFamily="18" charset="0"/>
              </a:rPr>
              <a:t> first)</a:t>
            </a:r>
          </a:p>
          <a:p>
            <a:pPr eaLnBrk="1" hangingPunct="1">
              <a:lnSpc>
                <a:spcPct val="80000"/>
              </a:lnSpc>
              <a:buFontTx/>
              <a:buNone/>
            </a:pPr>
            <a:r>
              <a:rPr lang="en-US" altLang="en-US" sz="2200" dirty="0">
                <a:latin typeface="Book Antiqua" panose="02040602050305030304" pitchFamily="18" charset="0"/>
              </a:rPr>
              <a:t>   for</a:t>
            </a:r>
            <a:r>
              <a:rPr lang="en-US" altLang="en-US" sz="2200" i="1" dirty="0">
                <a:latin typeface="Book Antiqua" panose="02040602050305030304" pitchFamily="18" charset="0"/>
              </a:rPr>
              <a:t> all vertices</a:t>
            </a:r>
            <a:r>
              <a:rPr lang="en-US" altLang="en-US" sz="2200" dirty="0">
                <a:latin typeface="Book Antiqua" panose="02040602050305030304" pitchFamily="18" charset="0"/>
              </a:rPr>
              <a:t> v</a:t>
            </a:r>
          </a:p>
          <a:p>
            <a:pPr eaLnBrk="1" hangingPunct="1">
              <a:lnSpc>
                <a:spcPct val="80000"/>
              </a:lnSpc>
              <a:buFontTx/>
              <a:buNone/>
            </a:pPr>
            <a:r>
              <a:rPr lang="en-US" altLang="en-US" sz="2200" dirty="0">
                <a:latin typeface="Book Antiqua" panose="02040602050305030304" pitchFamily="18" charset="0"/>
              </a:rPr>
              <a:t>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(v) = </a:t>
            </a:r>
            <a:r>
              <a:rPr lang="en-US" altLang="en-US" sz="2200" dirty="0">
                <a:latin typeface="Book Antiqua" panose="02040602050305030304" pitchFamily="18" charset="0"/>
                <a:sym typeface="Symbol" panose="05050102010706020507" pitchFamily="18" charset="2"/>
              </a:rPr>
              <a:t></a:t>
            </a:r>
            <a:r>
              <a:rPr lang="en-US" altLang="en-US" sz="2200" dirty="0">
                <a:latin typeface="Book Antiqua" panose="02040602050305030304" pitchFamily="18" charset="0"/>
              </a:rPr>
              <a:t>;</a:t>
            </a:r>
          </a:p>
          <a:p>
            <a:pPr eaLnBrk="1" hangingPunct="1">
              <a:lnSpc>
                <a:spcPct val="80000"/>
              </a:lnSpc>
              <a:buFontTx/>
              <a:buNone/>
            </a:pPr>
            <a:r>
              <a:rPr lang="en-US" altLang="en-US" sz="2200" dirty="0">
                <a:latin typeface="Book Antiqua" panose="02040602050305030304" pitchFamily="18" charset="0"/>
              </a:rPr>
              <a:t>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(first) = 0;</a:t>
            </a:r>
          </a:p>
          <a:p>
            <a:pPr eaLnBrk="1" hangingPunct="1">
              <a:lnSpc>
                <a:spcPct val="80000"/>
              </a:lnSpc>
              <a:buFontTx/>
              <a:buNone/>
            </a:pPr>
            <a:r>
              <a:rPr lang="en-US" altLang="en-US" sz="2200" dirty="0">
                <a:latin typeface="Book Antiqua" panose="02040602050305030304" pitchFamily="18" charset="0"/>
              </a:rPr>
              <a:t>  </a:t>
            </a:r>
            <a:r>
              <a:rPr lang="en-US" altLang="en-US" sz="2200" dirty="0" err="1">
                <a:latin typeface="Book Antiqua" panose="02040602050305030304" pitchFamily="18" charset="0"/>
              </a:rPr>
              <a:t>toBeChecked</a:t>
            </a:r>
            <a:r>
              <a:rPr lang="en-US" altLang="en-US" sz="2200" i="1" dirty="0">
                <a:latin typeface="Book Antiqua" panose="02040602050305030304" pitchFamily="18" charset="0"/>
              </a:rPr>
              <a:t> </a:t>
            </a:r>
            <a:r>
              <a:rPr lang="en-US" altLang="en-US" sz="2200" dirty="0">
                <a:latin typeface="Book Antiqua" panose="02040602050305030304" pitchFamily="18" charset="0"/>
              </a:rPr>
              <a:t>=</a:t>
            </a:r>
            <a:r>
              <a:rPr lang="en-US" altLang="en-US" sz="2200" i="1" dirty="0">
                <a:latin typeface="Book Antiqua" panose="02040602050305030304" pitchFamily="18" charset="0"/>
              </a:rPr>
              <a:t> all vertices</a:t>
            </a:r>
            <a:r>
              <a:rPr lang="en-US" altLang="en-US" sz="2200" dirty="0">
                <a:latin typeface="Book Antiqua" panose="02040602050305030304" pitchFamily="18" charset="0"/>
              </a:rPr>
              <a:t>;</a:t>
            </a:r>
          </a:p>
          <a:p>
            <a:pPr eaLnBrk="1" hangingPunct="1">
              <a:lnSpc>
                <a:spcPct val="80000"/>
              </a:lnSpc>
              <a:buFontTx/>
              <a:buNone/>
            </a:pPr>
            <a:r>
              <a:rPr lang="en-US" altLang="en-US" sz="2200" dirty="0">
                <a:latin typeface="Book Antiqua" panose="02040602050305030304" pitchFamily="18" charset="0"/>
              </a:rPr>
              <a:t>  while </a:t>
            </a:r>
            <a:r>
              <a:rPr lang="en-US" altLang="en-US" sz="2200" dirty="0" err="1">
                <a:latin typeface="Book Antiqua" panose="02040602050305030304" pitchFamily="18" charset="0"/>
              </a:rPr>
              <a:t>toBeChecked</a:t>
            </a:r>
            <a:r>
              <a:rPr lang="en-US" altLang="en-US" sz="2200" i="1" dirty="0">
                <a:latin typeface="Book Antiqua" panose="02040602050305030304" pitchFamily="18" charset="0"/>
              </a:rPr>
              <a:t> is not empty</a:t>
            </a:r>
            <a:endParaRPr lang="en-US" altLang="en-US" sz="2200" dirty="0">
              <a:latin typeface="Book Antiqua" panose="02040602050305030304" pitchFamily="18" charset="0"/>
            </a:endParaRPr>
          </a:p>
          <a:p>
            <a:pPr eaLnBrk="1" hangingPunct="1">
              <a:lnSpc>
                <a:spcPct val="80000"/>
              </a:lnSpc>
              <a:buFontTx/>
              <a:buNone/>
            </a:pPr>
            <a:r>
              <a:rPr lang="en-US" altLang="en-US" sz="2200" dirty="0">
                <a:latin typeface="Book Antiqua" panose="02040602050305030304" pitchFamily="18" charset="0"/>
              </a:rPr>
              <a:t>       v = </a:t>
            </a:r>
            <a:r>
              <a:rPr lang="en-US" altLang="en-US" sz="2200" i="1" dirty="0">
                <a:latin typeface="Book Antiqua" panose="02040602050305030304" pitchFamily="18" charset="0"/>
              </a:rPr>
              <a:t>a vertex in</a:t>
            </a:r>
            <a:r>
              <a:rPr lang="en-US" altLang="en-US" sz="2200" dirty="0">
                <a:latin typeface="Book Antiqua" panose="02040602050305030304" pitchFamily="18" charset="0"/>
              </a:rPr>
              <a:t> </a:t>
            </a:r>
            <a:r>
              <a:rPr lang="en-US" altLang="en-US" sz="2200" dirty="0" err="1">
                <a:latin typeface="Book Antiqua" panose="02040602050305030304" pitchFamily="18" charset="0"/>
              </a:rPr>
              <a:t>toBeChecked</a:t>
            </a:r>
            <a:r>
              <a:rPr lang="en-US" altLang="en-US" sz="2200" dirty="0">
                <a:latin typeface="Book Antiqua" panose="02040602050305030304" pitchFamily="18" charset="0"/>
              </a:rPr>
              <a:t> </a:t>
            </a:r>
            <a:r>
              <a:rPr lang="en-US" altLang="en-US" sz="2200" i="1" dirty="0">
                <a:latin typeface="Book Antiqua" panose="02040602050305030304" pitchFamily="18" charset="0"/>
              </a:rPr>
              <a:t>with minimal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(v); </a:t>
            </a:r>
          </a:p>
          <a:p>
            <a:pPr eaLnBrk="1" hangingPunct="1">
              <a:lnSpc>
                <a:spcPct val="80000"/>
              </a:lnSpc>
              <a:buFontTx/>
              <a:buNone/>
            </a:pPr>
            <a:r>
              <a:rPr lang="en-US" altLang="en-US" sz="2200" dirty="0">
                <a:latin typeface="Book Antiqua" panose="02040602050305030304" pitchFamily="18" charset="0"/>
              </a:rPr>
              <a:t>       </a:t>
            </a:r>
            <a:r>
              <a:rPr lang="en-US" altLang="en-US" sz="2200" i="1" dirty="0">
                <a:latin typeface="Book Antiqua" panose="02040602050305030304" pitchFamily="18" charset="0"/>
              </a:rPr>
              <a:t>remove</a:t>
            </a:r>
            <a:r>
              <a:rPr lang="en-US" altLang="en-US" sz="2200" dirty="0">
                <a:latin typeface="Book Antiqua" panose="02040602050305030304" pitchFamily="18" charset="0"/>
              </a:rPr>
              <a:t> v </a:t>
            </a:r>
            <a:r>
              <a:rPr lang="en-US" altLang="en-US" sz="2200" i="1" dirty="0">
                <a:latin typeface="Book Antiqua" panose="02040602050305030304" pitchFamily="18" charset="0"/>
              </a:rPr>
              <a:t>from</a:t>
            </a:r>
            <a:r>
              <a:rPr lang="en-US" altLang="en-US" sz="2200" dirty="0">
                <a:latin typeface="Book Antiqua" panose="02040602050305030304" pitchFamily="18" charset="0"/>
              </a:rPr>
              <a:t> </a:t>
            </a:r>
            <a:r>
              <a:rPr lang="en-US" altLang="en-US" sz="2200" dirty="0" err="1">
                <a:latin typeface="Book Antiqua" panose="02040602050305030304" pitchFamily="18" charset="0"/>
              </a:rPr>
              <a:t>toBeChecked</a:t>
            </a:r>
            <a:r>
              <a:rPr lang="en-US" altLang="en-US" sz="2200" dirty="0">
                <a:latin typeface="Book Antiqua" panose="02040602050305030304" pitchFamily="18" charset="0"/>
              </a:rPr>
              <a:t>;</a:t>
            </a:r>
          </a:p>
          <a:p>
            <a:pPr eaLnBrk="1" hangingPunct="1">
              <a:lnSpc>
                <a:spcPct val="80000"/>
              </a:lnSpc>
              <a:buFontTx/>
              <a:buNone/>
            </a:pPr>
            <a:r>
              <a:rPr lang="en-US" altLang="en-US" sz="2200" dirty="0">
                <a:latin typeface="Book Antiqua" panose="02040602050305030304" pitchFamily="18" charset="0"/>
              </a:rPr>
              <a:t>       for </a:t>
            </a:r>
            <a:r>
              <a:rPr lang="en-US" altLang="en-US" sz="2200" i="1" dirty="0">
                <a:latin typeface="Book Antiqua" panose="02040602050305030304" pitchFamily="18" charset="0"/>
              </a:rPr>
              <a:t>all vertices</a:t>
            </a:r>
            <a:r>
              <a:rPr lang="en-US" altLang="en-US" sz="2200" dirty="0">
                <a:latin typeface="Book Antiqua" panose="02040602050305030304" pitchFamily="18" charset="0"/>
              </a:rPr>
              <a:t> u </a:t>
            </a:r>
            <a:r>
              <a:rPr lang="en-US" altLang="en-US" sz="2200" i="1" dirty="0">
                <a:latin typeface="Book Antiqua" panose="02040602050305030304" pitchFamily="18" charset="0"/>
              </a:rPr>
              <a:t>adjacent to</a:t>
            </a:r>
            <a:r>
              <a:rPr lang="en-US" altLang="en-US" sz="2200" dirty="0">
                <a:latin typeface="Book Antiqua" panose="02040602050305030304" pitchFamily="18" charset="0"/>
              </a:rPr>
              <a:t> v</a:t>
            </a:r>
          </a:p>
          <a:p>
            <a:pPr eaLnBrk="1" hangingPunct="1">
              <a:lnSpc>
                <a:spcPct val="80000"/>
              </a:lnSpc>
              <a:buFontTx/>
              <a:buNone/>
            </a:pPr>
            <a:r>
              <a:rPr lang="en-US" altLang="en-US" sz="2200" dirty="0">
                <a:latin typeface="Book Antiqua" panose="02040602050305030304" pitchFamily="18" charset="0"/>
              </a:rPr>
              <a:t>            if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(u) &gt;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(v) + </a:t>
            </a:r>
            <a:r>
              <a:rPr lang="en-US" altLang="en-US" sz="2200" i="1" dirty="0">
                <a:latin typeface="Book Antiqua" panose="02040602050305030304" pitchFamily="18" charset="0"/>
              </a:rPr>
              <a:t>weight</a:t>
            </a:r>
            <a:r>
              <a:rPr lang="en-US" altLang="en-US" sz="2200" dirty="0">
                <a:latin typeface="Book Antiqua" panose="02040602050305030304" pitchFamily="18" charset="0"/>
              </a:rPr>
              <a:t>(</a:t>
            </a:r>
            <a:r>
              <a:rPr lang="en-US" altLang="en-US" sz="2200" i="1" dirty="0">
                <a:latin typeface="Book Antiqua" panose="02040602050305030304" pitchFamily="18" charset="0"/>
              </a:rPr>
              <a:t>edge</a:t>
            </a:r>
            <a:r>
              <a:rPr lang="en-US" altLang="en-US" sz="2200" dirty="0">
                <a:latin typeface="Book Antiqua" panose="02040602050305030304" pitchFamily="18" charset="0"/>
              </a:rPr>
              <a:t>(vu)) </a:t>
            </a:r>
          </a:p>
          <a:p>
            <a:pPr eaLnBrk="1" hangingPunct="1">
              <a:lnSpc>
                <a:spcPct val="80000"/>
              </a:lnSpc>
              <a:buFontTx/>
              <a:buNone/>
            </a:pPr>
            <a:r>
              <a:rPr lang="en-US" altLang="en-US" sz="2200" dirty="0">
                <a:latin typeface="Book Antiqua" panose="02040602050305030304" pitchFamily="18" charset="0"/>
              </a:rPr>
              <a:t>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(u) =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(v) + </a:t>
            </a:r>
            <a:r>
              <a:rPr lang="en-US" altLang="en-US" sz="2200" i="1" dirty="0">
                <a:latin typeface="Book Antiqua" panose="02040602050305030304" pitchFamily="18" charset="0"/>
              </a:rPr>
              <a:t>weight</a:t>
            </a:r>
            <a:r>
              <a:rPr lang="en-US" altLang="en-US" sz="2200" dirty="0">
                <a:latin typeface="Book Antiqua" panose="02040602050305030304" pitchFamily="18" charset="0"/>
              </a:rPr>
              <a:t>(</a:t>
            </a:r>
            <a:r>
              <a:rPr lang="en-US" altLang="en-US" sz="2200" i="1" dirty="0">
                <a:latin typeface="Book Antiqua" panose="02040602050305030304" pitchFamily="18" charset="0"/>
              </a:rPr>
              <a:t>edge</a:t>
            </a:r>
            <a:r>
              <a:rPr lang="en-US" altLang="en-US" sz="2200" dirty="0">
                <a:latin typeface="Book Antiqua" panose="02040602050305030304" pitchFamily="18" charset="0"/>
              </a:rPr>
              <a:t>(vu));</a:t>
            </a:r>
          </a:p>
          <a:p>
            <a:pPr eaLnBrk="1" hangingPunct="1">
              <a:lnSpc>
                <a:spcPct val="80000"/>
              </a:lnSpc>
              <a:buFontTx/>
              <a:buNone/>
            </a:pPr>
            <a:r>
              <a:rPr lang="en-US" altLang="en-US" sz="2200" dirty="0">
                <a:latin typeface="Book Antiqua" panose="02040602050305030304" pitchFamily="18" charset="0"/>
              </a:rPr>
              <a:t>                  </a:t>
            </a:r>
            <a:r>
              <a:rPr lang="en-US" altLang="en-US" sz="2200" i="1" dirty="0">
                <a:latin typeface="Book Antiqua" panose="02040602050305030304" pitchFamily="18" charset="0"/>
              </a:rPr>
              <a:t>predecessor</a:t>
            </a:r>
            <a:r>
              <a:rPr lang="en-US" altLang="en-US" sz="2200" dirty="0">
                <a:latin typeface="Book Antiqua" panose="02040602050305030304" pitchFamily="18" charset="0"/>
              </a:rPr>
              <a:t>(u) = v;</a:t>
            </a:r>
          </a:p>
        </p:txBody>
      </p:sp>
      <p:sp>
        <p:nvSpPr>
          <p:cNvPr id="2" name="Slide Number Placeholder 1"/>
          <p:cNvSpPr>
            <a:spLocks noGrp="1"/>
          </p:cNvSpPr>
          <p:nvPr>
            <p:ph type="sldNum" sz="quarter" idx="4294967295"/>
          </p:nvPr>
        </p:nvSpPr>
        <p:spPr>
          <a:xfrm>
            <a:off x="8077200" y="6356351"/>
            <a:ext cx="2133600" cy="365125"/>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pPr>
            <a:r>
              <a:rPr lang="en-US" altLang="en-US">
                <a:solidFill>
                  <a:srgbClr val="FFFFFF"/>
                </a:solidFill>
              </a:rPr>
              <a:t> </a:t>
            </a:r>
            <a:fld id="{F421DA28-F87C-4AE0-89A3-5391B75BFCC1}" type="slidenum">
              <a:rPr lang="en-US" altLang="en-US">
                <a:solidFill>
                  <a:srgbClr val="FFFFFF"/>
                </a:solidFill>
              </a:rPr>
              <a:pPr eaLnBrk="1" hangingPunct="1">
                <a:lnSpc>
                  <a:spcPct val="80000"/>
                </a:lnSpc>
              </a:pPr>
              <a:t>14</a:t>
            </a:fld>
            <a:endParaRPr lang="en-US" altLang="en-US">
              <a:solidFill>
                <a:srgbClr val="FFFFFF"/>
              </a:solidFill>
            </a:endParaRPr>
          </a:p>
        </p:txBody>
      </p:sp>
    </p:spTree>
    <p:extLst>
      <p:ext uri="{BB962C8B-B14F-4D97-AF65-F5344CB8AC3E}">
        <p14:creationId xmlns:p14="http://schemas.microsoft.com/office/powerpoint/2010/main" val="4116286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86868" y="50067"/>
            <a:ext cx="8153400" cy="990600"/>
          </a:xfrm>
        </p:spPr>
        <p:txBody>
          <a:bodyPr>
            <a:normAutofit fontScale="90000"/>
          </a:bodyPr>
          <a:lstStyle/>
          <a:p>
            <a:r>
              <a:rPr lang="en-US" altLang="en-US" sz="3600" dirty="0"/>
              <a:t>Shortest Paths Example with Dijkstra’s Algorithm </a:t>
            </a:r>
          </a:p>
        </p:txBody>
      </p:sp>
      <p:sp>
        <p:nvSpPr>
          <p:cNvPr id="25604" name="Text Box 3"/>
          <p:cNvSpPr txBox="1">
            <a:spLocks noChangeArrowheads="1"/>
          </p:cNvSpPr>
          <p:nvPr/>
        </p:nvSpPr>
        <p:spPr bwMode="auto">
          <a:xfrm>
            <a:off x="502858" y="5905223"/>
            <a:ext cx="70888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600" b="1" dirty="0">
                <a:latin typeface="Arial" panose="020B0604020202020204" pitchFamily="34" charset="0"/>
              </a:rPr>
              <a:t>An execution of </a:t>
            </a:r>
            <a:r>
              <a:rPr lang="en-US" altLang="en-US" sz="1600" b="1" dirty="0" err="1">
                <a:latin typeface="Courier New" panose="02070309020205020404" pitchFamily="49" charset="0"/>
              </a:rPr>
              <a:t>DijkstraAlgorithm</a:t>
            </a:r>
            <a:r>
              <a:rPr lang="en-US" altLang="en-US" sz="1600" b="1" dirty="0">
                <a:latin typeface="Courier New" panose="02070309020205020404" pitchFamily="49" charset="0"/>
              </a:rPr>
              <a:t>() and its </a:t>
            </a:r>
            <a:r>
              <a:rPr lang="en-US" altLang="en-US" sz="1600" b="1" dirty="0" err="1">
                <a:latin typeface="Courier New" panose="02070309020205020404" pitchFamily="49" charset="0"/>
              </a:rPr>
              <a:t>adjcency</a:t>
            </a:r>
            <a:r>
              <a:rPr lang="en-US" altLang="en-US" sz="1600" b="1" dirty="0">
                <a:latin typeface="Courier New" panose="02070309020205020404" pitchFamily="49" charset="0"/>
              </a:rPr>
              <a:t> matrix</a:t>
            </a:r>
          </a:p>
        </p:txBody>
      </p:sp>
      <p:pic>
        <p:nvPicPr>
          <p:cNvPr id="2560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951" y="1746528"/>
            <a:ext cx="6787004" cy="3705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2"/>
          <p:cNvSpPr>
            <a:spLocks noChangeArrowheads="1"/>
          </p:cNvSpPr>
          <p:nvPr/>
        </p:nvSpPr>
        <p:spPr bwMode="auto">
          <a:xfrm>
            <a:off x="6638926" y="174652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146954826"/>
              </p:ext>
            </p:extLst>
          </p:nvPr>
        </p:nvGraphicFramePr>
        <p:xfrm>
          <a:off x="7838136" y="1931194"/>
          <a:ext cx="4124013" cy="2754840"/>
        </p:xfrm>
        <a:graphic>
          <a:graphicData uri="http://schemas.openxmlformats.org/presentationml/2006/ole">
            <mc:AlternateContent xmlns:mc="http://schemas.openxmlformats.org/markup-compatibility/2006">
              <mc:Choice xmlns:v="urn:schemas-microsoft-com:vml" Requires="v">
                <p:oleObj name="Bitmap Image" r:id="rId3" imgW="3219899" imgH="2161905" progId="Paint.Picture">
                  <p:embed/>
                </p:oleObj>
              </mc:Choice>
              <mc:Fallback>
                <p:oleObj name="Bitmap Image" r:id="rId3" imgW="3219899" imgH="2161905" progId="Paint.Picture">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8136" y="1931194"/>
                        <a:ext cx="4124013" cy="2754840"/>
                      </a:xfrm>
                      <a:prstGeom prst="rect">
                        <a:avLst/>
                      </a:prstGeom>
                      <a:noFill/>
                    </p:spPr>
                  </p:pic>
                </p:oleObj>
              </mc:Fallback>
            </mc:AlternateContent>
          </a:graphicData>
        </a:graphic>
      </p:graphicFrame>
    </p:spTree>
    <p:extLst>
      <p:ext uri="{BB962C8B-B14F-4D97-AF65-F5344CB8AC3E}">
        <p14:creationId xmlns:p14="http://schemas.microsoft.com/office/powerpoint/2010/main" val="290435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fade">
                                      <p:cBhvr>
                                        <p:cTn id="7" dur="500"/>
                                        <p:tgtEl>
                                          <p:spTgt spid="256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86868" y="50067"/>
            <a:ext cx="8153400" cy="990600"/>
          </a:xfrm>
        </p:spPr>
        <p:txBody>
          <a:bodyPr>
            <a:normAutofit fontScale="90000"/>
          </a:bodyPr>
          <a:lstStyle/>
          <a:p>
            <a:r>
              <a:rPr lang="en-US" altLang="en-US" sz="3600" dirty="0"/>
              <a:t>Shortest Paths Example with Dijkstra’s Algorithm </a:t>
            </a:r>
          </a:p>
        </p:txBody>
      </p:sp>
      <p:sp>
        <p:nvSpPr>
          <p:cNvPr id="2" name="Rectangle 2"/>
          <p:cNvSpPr>
            <a:spLocks noChangeArrowheads="1"/>
          </p:cNvSpPr>
          <p:nvPr/>
        </p:nvSpPr>
        <p:spPr bwMode="auto">
          <a:xfrm>
            <a:off x="6638926" y="174652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2"/>
          <a:stretch>
            <a:fillRect/>
          </a:stretch>
        </p:blipFill>
        <p:spPr>
          <a:xfrm>
            <a:off x="195236" y="1894866"/>
            <a:ext cx="6681780" cy="3187422"/>
          </a:xfrm>
          <a:prstGeom prst="rect">
            <a:avLst/>
          </a:prstGeom>
        </p:spPr>
      </p:pic>
      <p:sp>
        <p:nvSpPr>
          <p:cNvPr id="5" name="Rectangle 3">
            <a:extLst>
              <a:ext uri="{FF2B5EF4-FFF2-40B4-BE49-F238E27FC236}">
                <a16:creationId xmlns:a16="http://schemas.microsoft.com/office/drawing/2014/main" id="{3DC03A14-44D6-4A7D-85A5-C4CF54EC465A}"/>
              </a:ext>
            </a:extLst>
          </p:cNvPr>
          <p:cNvSpPr>
            <a:spLocks noGrp="1" noChangeArrowheads="1"/>
          </p:cNvSpPr>
          <p:nvPr>
            <p:ph sz="quarter" idx="1"/>
          </p:nvPr>
        </p:nvSpPr>
        <p:spPr>
          <a:xfrm>
            <a:off x="6877016" y="1746528"/>
            <a:ext cx="5298219" cy="3868068"/>
          </a:xfrm>
        </p:spPr>
        <p:txBody>
          <a:bodyPr>
            <a:noAutofit/>
          </a:bodyPr>
          <a:lstStyle/>
          <a:p>
            <a:pPr eaLnBrk="1" hangingPunct="1">
              <a:lnSpc>
                <a:spcPct val="80000"/>
              </a:lnSpc>
              <a:buFontTx/>
              <a:buNone/>
            </a:pPr>
            <a:r>
              <a:rPr lang="en-US" altLang="en-US" sz="1600" dirty="0" err="1">
                <a:latin typeface="Book Antiqua" panose="02040602050305030304" pitchFamily="18" charset="0"/>
              </a:rPr>
              <a:t>DijkstraAlgorithm</a:t>
            </a:r>
            <a:r>
              <a:rPr lang="en-US" altLang="en-US" sz="1600" dirty="0">
                <a:latin typeface="Book Antiqua" panose="02040602050305030304" pitchFamily="18" charset="0"/>
              </a:rPr>
              <a:t>(</a:t>
            </a:r>
            <a:r>
              <a:rPr lang="en-US" altLang="en-US" sz="1600" i="1" dirty="0">
                <a:latin typeface="Book Antiqua" panose="02040602050305030304" pitchFamily="18" charset="0"/>
              </a:rPr>
              <a:t>weighted simple</a:t>
            </a:r>
            <a:r>
              <a:rPr lang="en-US" altLang="en-US" sz="1600" dirty="0">
                <a:latin typeface="Book Antiqua" panose="02040602050305030304" pitchFamily="18" charset="0"/>
              </a:rPr>
              <a:t> digraph, </a:t>
            </a:r>
            <a:r>
              <a:rPr lang="en-US" altLang="en-US" sz="1600" i="1" dirty="0">
                <a:latin typeface="Book Antiqua" panose="02040602050305030304" pitchFamily="18" charset="0"/>
              </a:rPr>
              <a:t>vertex</a:t>
            </a:r>
            <a:r>
              <a:rPr lang="en-US" altLang="en-US" sz="1600" dirty="0">
                <a:latin typeface="Book Antiqua" panose="02040602050305030304" pitchFamily="18" charset="0"/>
              </a:rPr>
              <a:t> first)</a:t>
            </a:r>
          </a:p>
          <a:p>
            <a:pPr eaLnBrk="1" hangingPunct="1">
              <a:lnSpc>
                <a:spcPct val="80000"/>
              </a:lnSpc>
              <a:buFontTx/>
              <a:buNone/>
            </a:pPr>
            <a:r>
              <a:rPr lang="en-US" altLang="en-US" sz="1600" dirty="0">
                <a:latin typeface="Book Antiqua" panose="02040602050305030304" pitchFamily="18" charset="0"/>
              </a:rPr>
              <a:t>   for</a:t>
            </a:r>
            <a:r>
              <a:rPr lang="en-US" altLang="en-US" sz="1600" i="1" dirty="0">
                <a:latin typeface="Book Antiqua" panose="02040602050305030304" pitchFamily="18" charset="0"/>
              </a:rPr>
              <a:t> all vertices</a:t>
            </a:r>
            <a:r>
              <a:rPr lang="en-US" altLang="en-US" sz="1600" dirty="0">
                <a:latin typeface="Book Antiqua" panose="02040602050305030304" pitchFamily="18" charset="0"/>
              </a:rPr>
              <a:t> v</a:t>
            </a:r>
          </a:p>
          <a:p>
            <a:pPr eaLnBrk="1" hangingPunct="1">
              <a:lnSpc>
                <a:spcPct val="80000"/>
              </a:lnSpc>
              <a:buFontTx/>
              <a:buNone/>
            </a:pPr>
            <a:r>
              <a:rPr lang="en-US" altLang="en-US" sz="1600" dirty="0">
                <a:latin typeface="Book Antiqua" panose="02040602050305030304" pitchFamily="18" charset="0"/>
              </a:rPr>
              <a:t>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(v) = </a:t>
            </a:r>
            <a:r>
              <a:rPr lang="en-US" altLang="en-US" sz="1600" dirty="0">
                <a:latin typeface="Book Antiqua" panose="02040602050305030304" pitchFamily="18" charset="0"/>
                <a:sym typeface="Symbol" panose="05050102010706020507" pitchFamily="18" charset="2"/>
              </a:rPr>
              <a:t></a:t>
            </a:r>
            <a:r>
              <a:rPr lang="en-US" altLang="en-US" sz="1600" dirty="0">
                <a:latin typeface="Book Antiqua" panose="02040602050305030304" pitchFamily="18" charset="0"/>
              </a:rPr>
              <a:t>;</a:t>
            </a:r>
          </a:p>
          <a:p>
            <a:pPr eaLnBrk="1" hangingPunct="1">
              <a:lnSpc>
                <a:spcPct val="80000"/>
              </a:lnSpc>
              <a:buFontTx/>
              <a:buNone/>
            </a:pPr>
            <a:r>
              <a:rPr lang="en-US" altLang="en-US" sz="1600" dirty="0">
                <a:latin typeface="Book Antiqua" panose="02040602050305030304" pitchFamily="18" charset="0"/>
              </a:rPr>
              <a:t>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(first) = 0;</a:t>
            </a:r>
          </a:p>
          <a:p>
            <a:pPr eaLnBrk="1" hangingPunct="1">
              <a:lnSpc>
                <a:spcPct val="80000"/>
              </a:lnSpc>
              <a:buFontTx/>
              <a:buNone/>
            </a:pPr>
            <a:r>
              <a:rPr lang="en-US" altLang="en-US" sz="1600" dirty="0">
                <a:latin typeface="Book Antiqua" panose="02040602050305030304" pitchFamily="18" charset="0"/>
              </a:rPr>
              <a:t>  </a:t>
            </a:r>
            <a:r>
              <a:rPr lang="en-US" altLang="en-US" sz="1600" dirty="0" err="1">
                <a:latin typeface="Book Antiqua" panose="02040602050305030304" pitchFamily="18" charset="0"/>
              </a:rPr>
              <a:t>toBeChecked</a:t>
            </a:r>
            <a:r>
              <a:rPr lang="en-US" altLang="en-US" sz="1600" i="1" dirty="0">
                <a:latin typeface="Book Antiqua" panose="02040602050305030304" pitchFamily="18" charset="0"/>
              </a:rPr>
              <a:t> </a:t>
            </a:r>
            <a:r>
              <a:rPr lang="en-US" altLang="en-US" sz="1600" dirty="0">
                <a:latin typeface="Book Antiqua" panose="02040602050305030304" pitchFamily="18" charset="0"/>
              </a:rPr>
              <a:t>=</a:t>
            </a:r>
            <a:r>
              <a:rPr lang="en-US" altLang="en-US" sz="1600" i="1" dirty="0">
                <a:latin typeface="Book Antiqua" panose="02040602050305030304" pitchFamily="18" charset="0"/>
              </a:rPr>
              <a:t> all vertices</a:t>
            </a:r>
            <a:r>
              <a:rPr lang="en-US" altLang="en-US" sz="1600" dirty="0">
                <a:latin typeface="Book Antiqua" panose="02040602050305030304" pitchFamily="18" charset="0"/>
              </a:rPr>
              <a:t>;</a:t>
            </a:r>
          </a:p>
          <a:p>
            <a:pPr eaLnBrk="1" hangingPunct="1">
              <a:lnSpc>
                <a:spcPct val="80000"/>
              </a:lnSpc>
              <a:buFontTx/>
              <a:buNone/>
            </a:pPr>
            <a:r>
              <a:rPr lang="en-US" altLang="en-US" sz="1600" dirty="0">
                <a:latin typeface="Book Antiqua" panose="02040602050305030304" pitchFamily="18" charset="0"/>
              </a:rPr>
              <a:t>  while </a:t>
            </a:r>
            <a:r>
              <a:rPr lang="en-US" altLang="en-US" sz="1600" dirty="0" err="1">
                <a:latin typeface="Book Antiqua" panose="02040602050305030304" pitchFamily="18" charset="0"/>
              </a:rPr>
              <a:t>toBeChecked</a:t>
            </a:r>
            <a:r>
              <a:rPr lang="en-US" altLang="en-US" sz="1600" i="1" dirty="0">
                <a:latin typeface="Book Antiqua" panose="02040602050305030304" pitchFamily="18" charset="0"/>
              </a:rPr>
              <a:t> is not empty</a:t>
            </a:r>
            <a:endParaRPr lang="en-US" altLang="en-US" sz="1600" dirty="0">
              <a:latin typeface="Book Antiqua" panose="02040602050305030304" pitchFamily="18" charset="0"/>
            </a:endParaRPr>
          </a:p>
          <a:p>
            <a:pPr eaLnBrk="1" hangingPunct="1">
              <a:lnSpc>
                <a:spcPct val="80000"/>
              </a:lnSpc>
              <a:buFontTx/>
              <a:buNone/>
            </a:pPr>
            <a:r>
              <a:rPr lang="en-US" altLang="en-US" sz="1600" dirty="0">
                <a:latin typeface="Book Antiqua" panose="02040602050305030304" pitchFamily="18" charset="0"/>
              </a:rPr>
              <a:t>       v = </a:t>
            </a:r>
            <a:r>
              <a:rPr lang="en-US" altLang="en-US" sz="1600" i="1" dirty="0">
                <a:latin typeface="Book Antiqua" panose="02040602050305030304" pitchFamily="18" charset="0"/>
              </a:rPr>
              <a:t>a vertex in</a:t>
            </a:r>
            <a:r>
              <a:rPr lang="en-US" altLang="en-US" sz="1600" dirty="0">
                <a:latin typeface="Book Antiqua" panose="02040602050305030304" pitchFamily="18" charset="0"/>
              </a:rPr>
              <a:t> </a:t>
            </a:r>
            <a:r>
              <a:rPr lang="en-US" altLang="en-US" sz="1600" dirty="0" err="1">
                <a:latin typeface="Book Antiqua" panose="02040602050305030304" pitchFamily="18" charset="0"/>
              </a:rPr>
              <a:t>toBeChecked</a:t>
            </a:r>
            <a:r>
              <a:rPr lang="en-US" altLang="en-US" sz="1600" dirty="0">
                <a:latin typeface="Book Antiqua" panose="02040602050305030304" pitchFamily="18" charset="0"/>
              </a:rPr>
              <a:t> </a:t>
            </a:r>
            <a:r>
              <a:rPr lang="en-US" altLang="en-US" sz="1600" i="1" dirty="0">
                <a:latin typeface="Book Antiqua" panose="02040602050305030304" pitchFamily="18" charset="0"/>
              </a:rPr>
              <a:t>with minimal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(v); </a:t>
            </a:r>
          </a:p>
          <a:p>
            <a:pPr eaLnBrk="1" hangingPunct="1">
              <a:lnSpc>
                <a:spcPct val="80000"/>
              </a:lnSpc>
              <a:buFontTx/>
              <a:buNone/>
            </a:pPr>
            <a:r>
              <a:rPr lang="en-US" altLang="en-US" sz="1600" dirty="0">
                <a:latin typeface="Book Antiqua" panose="02040602050305030304" pitchFamily="18" charset="0"/>
              </a:rPr>
              <a:t>       </a:t>
            </a:r>
            <a:r>
              <a:rPr lang="en-US" altLang="en-US" sz="1600" i="1" dirty="0">
                <a:latin typeface="Book Antiqua" panose="02040602050305030304" pitchFamily="18" charset="0"/>
              </a:rPr>
              <a:t>remove</a:t>
            </a:r>
            <a:r>
              <a:rPr lang="en-US" altLang="en-US" sz="1600" dirty="0">
                <a:latin typeface="Book Antiqua" panose="02040602050305030304" pitchFamily="18" charset="0"/>
              </a:rPr>
              <a:t> v </a:t>
            </a:r>
            <a:r>
              <a:rPr lang="en-US" altLang="en-US" sz="1600" i="1" dirty="0">
                <a:latin typeface="Book Antiqua" panose="02040602050305030304" pitchFamily="18" charset="0"/>
              </a:rPr>
              <a:t>from</a:t>
            </a:r>
            <a:r>
              <a:rPr lang="en-US" altLang="en-US" sz="1600" dirty="0">
                <a:latin typeface="Book Antiqua" panose="02040602050305030304" pitchFamily="18" charset="0"/>
              </a:rPr>
              <a:t> </a:t>
            </a:r>
            <a:r>
              <a:rPr lang="en-US" altLang="en-US" sz="1600" dirty="0" err="1">
                <a:latin typeface="Book Antiqua" panose="02040602050305030304" pitchFamily="18" charset="0"/>
              </a:rPr>
              <a:t>toBeChecked</a:t>
            </a:r>
            <a:r>
              <a:rPr lang="en-US" altLang="en-US" sz="1600" dirty="0">
                <a:latin typeface="Book Antiqua" panose="02040602050305030304" pitchFamily="18" charset="0"/>
              </a:rPr>
              <a:t>;</a:t>
            </a:r>
          </a:p>
          <a:p>
            <a:pPr eaLnBrk="1" hangingPunct="1">
              <a:lnSpc>
                <a:spcPct val="80000"/>
              </a:lnSpc>
              <a:buFontTx/>
              <a:buNone/>
            </a:pPr>
            <a:r>
              <a:rPr lang="en-US" altLang="en-US" sz="1600" dirty="0">
                <a:latin typeface="Book Antiqua" panose="02040602050305030304" pitchFamily="18" charset="0"/>
              </a:rPr>
              <a:t>       for </a:t>
            </a:r>
            <a:r>
              <a:rPr lang="en-US" altLang="en-US" sz="1600" i="1" dirty="0">
                <a:latin typeface="Book Antiqua" panose="02040602050305030304" pitchFamily="18" charset="0"/>
              </a:rPr>
              <a:t>all vertices</a:t>
            </a:r>
            <a:r>
              <a:rPr lang="en-US" altLang="en-US" sz="1600" dirty="0">
                <a:latin typeface="Book Antiqua" panose="02040602050305030304" pitchFamily="18" charset="0"/>
              </a:rPr>
              <a:t> u </a:t>
            </a:r>
            <a:r>
              <a:rPr lang="en-US" altLang="en-US" sz="1600" i="1" dirty="0">
                <a:latin typeface="Book Antiqua" panose="02040602050305030304" pitchFamily="18" charset="0"/>
              </a:rPr>
              <a:t>adjacent to</a:t>
            </a:r>
            <a:r>
              <a:rPr lang="en-US" altLang="en-US" sz="1600" dirty="0">
                <a:latin typeface="Book Antiqua" panose="02040602050305030304" pitchFamily="18" charset="0"/>
              </a:rPr>
              <a:t> v</a:t>
            </a:r>
          </a:p>
          <a:p>
            <a:pPr eaLnBrk="1" hangingPunct="1">
              <a:lnSpc>
                <a:spcPct val="80000"/>
              </a:lnSpc>
              <a:buFontTx/>
              <a:buNone/>
            </a:pPr>
            <a:r>
              <a:rPr lang="en-US" altLang="en-US" sz="1600" dirty="0">
                <a:latin typeface="Book Antiqua" panose="02040602050305030304" pitchFamily="18" charset="0"/>
              </a:rPr>
              <a:t>            if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(u) &gt;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(v) + </a:t>
            </a:r>
            <a:r>
              <a:rPr lang="en-US" altLang="en-US" sz="1600" i="1" dirty="0">
                <a:latin typeface="Book Antiqua" panose="02040602050305030304" pitchFamily="18" charset="0"/>
              </a:rPr>
              <a:t>weight</a:t>
            </a:r>
            <a:r>
              <a:rPr lang="en-US" altLang="en-US" sz="1600" dirty="0">
                <a:latin typeface="Book Antiqua" panose="02040602050305030304" pitchFamily="18" charset="0"/>
              </a:rPr>
              <a:t>(</a:t>
            </a:r>
            <a:r>
              <a:rPr lang="en-US" altLang="en-US" sz="1600" i="1" dirty="0">
                <a:latin typeface="Book Antiqua" panose="02040602050305030304" pitchFamily="18" charset="0"/>
              </a:rPr>
              <a:t>edge</a:t>
            </a:r>
            <a:r>
              <a:rPr lang="en-US" altLang="en-US" sz="1600" dirty="0">
                <a:latin typeface="Book Antiqua" panose="02040602050305030304" pitchFamily="18" charset="0"/>
              </a:rPr>
              <a:t>(vu)) </a:t>
            </a:r>
          </a:p>
          <a:p>
            <a:pPr eaLnBrk="1" hangingPunct="1">
              <a:lnSpc>
                <a:spcPct val="80000"/>
              </a:lnSpc>
              <a:buFontTx/>
              <a:buNone/>
            </a:pPr>
            <a:r>
              <a:rPr lang="en-US" altLang="en-US" sz="1600" dirty="0">
                <a:latin typeface="Book Antiqua" panose="02040602050305030304" pitchFamily="18" charset="0"/>
              </a:rPr>
              <a:t>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(u) =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(v) + </a:t>
            </a:r>
            <a:r>
              <a:rPr lang="en-US" altLang="en-US" sz="1600" i="1" dirty="0">
                <a:latin typeface="Book Antiqua" panose="02040602050305030304" pitchFamily="18" charset="0"/>
              </a:rPr>
              <a:t>weight</a:t>
            </a:r>
            <a:r>
              <a:rPr lang="en-US" altLang="en-US" sz="1600" dirty="0">
                <a:latin typeface="Book Antiqua" panose="02040602050305030304" pitchFamily="18" charset="0"/>
              </a:rPr>
              <a:t>(</a:t>
            </a:r>
            <a:r>
              <a:rPr lang="en-US" altLang="en-US" sz="1600" i="1" dirty="0">
                <a:latin typeface="Book Antiqua" panose="02040602050305030304" pitchFamily="18" charset="0"/>
              </a:rPr>
              <a:t>edge</a:t>
            </a:r>
            <a:r>
              <a:rPr lang="en-US" altLang="en-US" sz="1600" dirty="0">
                <a:latin typeface="Book Antiqua" panose="02040602050305030304" pitchFamily="18" charset="0"/>
              </a:rPr>
              <a:t>(vu));</a:t>
            </a:r>
          </a:p>
          <a:p>
            <a:pPr eaLnBrk="1" hangingPunct="1">
              <a:lnSpc>
                <a:spcPct val="80000"/>
              </a:lnSpc>
              <a:buFontTx/>
              <a:buNone/>
            </a:pPr>
            <a:r>
              <a:rPr lang="en-US" altLang="en-US" sz="1600" dirty="0">
                <a:latin typeface="Book Antiqua" panose="02040602050305030304" pitchFamily="18" charset="0"/>
              </a:rPr>
              <a:t>                  </a:t>
            </a:r>
            <a:r>
              <a:rPr lang="en-US" altLang="en-US" sz="1600" i="1" dirty="0">
                <a:latin typeface="Book Antiqua" panose="02040602050305030304" pitchFamily="18" charset="0"/>
              </a:rPr>
              <a:t>predecessor</a:t>
            </a:r>
            <a:r>
              <a:rPr lang="en-US" altLang="en-US" sz="1600" dirty="0">
                <a:latin typeface="Book Antiqua" panose="02040602050305030304" pitchFamily="18" charset="0"/>
              </a:rPr>
              <a:t>(u) = v;</a:t>
            </a:r>
          </a:p>
        </p:txBody>
      </p:sp>
      <mc:AlternateContent xmlns:mc="http://schemas.openxmlformats.org/markup-compatibility/2006" xmlns:p14="http://schemas.microsoft.com/office/powerpoint/2010/main">
        <mc:Choice Requires="p14">
          <p:contentPart p14:bwMode="auto" r:id="rId3">
            <p14:nvContentPartPr>
              <p14:cNvPr id="53" name="Ink 52">
                <a:extLst>
                  <a:ext uri="{FF2B5EF4-FFF2-40B4-BE49-F238E27FC236}">
                    <a16:creationId xmlns:a16="http://schemas.microsoft.com/office/drawing/2014/main" id="{D73D91AB-FB11-48F4-8E16-0C9D9EFF9F99}"/>
                  </a:ext>
                </a:extLst>
              </p14:cNvPr>
              <p14:cNvContentPartPr/>
              <p14:nvPr/>
            </p14:nvContentPartPr>
            <p14:xfrm>
              <a:off x="1911527" y="1775353"/>
              <a:ext cx="360" cy="360"/>
            </p14:xfrm>
          </p:contentPart>
        </mc:Choice>
        <mc:Fallback xmlns="">
          <p:pic>
            <p:nvPicPr>
              <p:cNvPr id="53" name="Ink 52">
                <a:extLst>
                  <a:ext uri="{FF2B5EF4-FFF2-40B4-BE49-F238E27FC236}">
                    <a16:creationId xmlns:a16="http://schemas.microsoft.com/office/drawing/2014/main" id="{D73D91AB-FB11-48F4-8E16-0C9D9EFF9F99}"/>
                  </a:ext>
                </a:extLst>
              </p:cNvPr>
              <p:cNvPicPr/>
              <p:nvPr/>
            </p:nvPicPr>
            <p:blipFill>
              <a:blip r:embed="rId4"/>
              <a:stretch>
                <a:fillRect/>
              </a:stretch>
            </p:blipFill>
            <p:spPr>
              <a:xfrm>
                <a:off x="1907207" y="177103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5626" name="Ink 25625">
                <a:extLst>
                  <a:ext uri="{FF2B5EF4-FFF2-40B4-BE49-F238E27FC236}">
                    <a16:creationId xmlns:a16="http://schemas.microsoft.com/office/drawing/2014/main" id="{FFD79B47-05D6-40E1-AC7F-E5D3EF5F55BD}"/>
                  </a:ext>
                </a:extLst>
              </p14:cNvPr>
              <p14:cNvContentPartPr/>
              <p14:nvPr/>
            </p14:nvContentPartPr>
            <p14:xfrm>
              <a:off x="10397807" y="3802153"/>
              <a:ext cx="17640" cy="35280"/>
            </p14:xfrm>
          </p:contentPart>
        </mc:Choice>
        <mc:Fallback xmlns="">
          <p:pic>
            <p:nvPicPr>
              <p:cNvPr id="25626" name="Ink 25625">
                <a:extLst>
                  <a:ext uri="{FF2B5EF4-FFF2-40B4-BE49-F238E27FC236}">
                    <a16:creationId xmlns:a16="http://schemas.microsoft.com/office/drawing/2014/main" id="{FFD79B47-05D6-40E1-AC7F-E5D3EF5F55BD}"/>
                  </a:ext>
                </a:extLst>
              </p:cNvPr>
              <p:cNvPicPr/>
              <p:nvPr/>
            </p:nvPicPr>
            <p:blipFill>
              <a:blip r:embed="rId6"/>
              <a:stretch>
                <a:fillRect/>
              </a:stretch>
            </p:blipFill>
            <p:spPr>
              <a:xfrm>
                <a:off x="10393487" y="3797833"/>
                <a:ext cx="262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643" name="Ink 25642">
                <a:extLst>
                  <a:ext uri="{FF2B5EF4-FFF2-40B4-BE49-F238E27FC236}">
                    <a16:creationId xmlns:a16="http://schemas.microsoft.com/office/drawing/2014/main" id="{BE351186-7806-4DF0-95F4-A70E80F0B193}"/>
                  </a:ext>
                </a:extLst>
              </p14:cNvPr>
              <p14:cNvContentPartPr/>
              <p14:nvPr/>
            </p14:nvContentPartPr>
            <p14:xfrm>
              <a:off x="4767047" y="5470033"/>
              <a:ext cx="32040" cy="30600"/>
            </p14:xfrm>
          </p:contentPart>
        </mc:Choice>
        <mc:Fallback xmlns="">
          <p:pic>
            <p:nvPicPr>
              <p:cNvPr id="25643" name="Ink 25642">
                <a:extLst>
                  <a:ext uri="{FF2B5EF4-FFF2-40B4-BE49-F238E27FC236}">
                    <a16:creationId xmlns:a16="http://schemas.microsoft.com/office/drawing/2014/main" id="{BE351186-7806-4DF0-95F4-A70E80F0B193}"/>
                  </a:ext>
                </a:extLst>
              </p:cNvPr>
              <p:cNvPicPr/>
              <p:nvPr/>
            </p:nvPicPr>
            <p:blipFill>
              <a:blip r:embed="rId8"/>
              <a:stretch>
                <a:fillRect/>
              </a:stretch>
            </p:blipFill>
            <p:spPr>
              <a:xfrm>
                <a:off x="4758047" y="5461393"/>
                <a:ext cx="4968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672" name="Ink 25671">
                <a:extLst>
                  <a:ext uri="{FF2B5EF4-FFF2-40B4-BE49-F238E27FC236}">
                    <a16:creationId xmlns:a16="http://schemas.microsoft.com/office/drawing/2014/main" id="{4AE00054-F457-44FA-B703-6A48B026B06C}"/>
                  </a:ext>
                </a:extLst>
              </p14:cNvPr>
              <p14:cNvContentPartPr/>
              <p14:nvPr/>
            </p14:nvContentPartPr>
            <p14:xfrm>
              <a:off x="9745127" y="4061713"/>
              <a:ext cx="360" cy="2160"/>
            </p14:xfrm>
          </p:contentPart>
        </mc:Choice>
        <mc:Fallback xmlns="">
          <p:pic>
            <p:nvPicPr>
              <p:cNvPr id="25672" name="Ink 25671">
                <a:extLst>
                  <a:ext uri="{FF2B5EF4-FFF2-40B4-BE49-F238E27FC236}">
                    <a16:creationId xmlns:a16="http://schemas.microsoft.com/office/drawing/2014/main" id="{4AE00054-F457-44FA-B703-6A48B026B06C}"/>
                  </a:ext>
                </a:extLst>
              </p:cNvPr>
              <p:cNvPicPr/>
              <p:nvPr/>
            </p:nvPicPr>
            <p:blipFill>
              <a:blip r:embed="rId10"/>
              <a:stretch>
                <a:fillRect/>
              </a:stretch>
            </p:blipFill>
            <p:spPr>
              <a:xfrm>
                <a:off x="9740807" y="4057393"/>
                <a:ext cx="9000" cy="10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673" name="Ink 25672">
                <a:extLst>
                  <a:ext uri="{FF2B5EF4-FFF2-40B4-BE49-F238E27FC236}">
                    <a16:creationId xmlns:a16="http://schemas.microsoft.com/office/drawing/2014/main" id="{10CFBF4D-5529-42F3-AF63-34742629DE8F}"/>
                  </a:ext>
                </a:extLst>
              </p14:cNvPr>
              <p14:cNvContentPartPr/>
              <p14:nvPr/>
            </p14:nvContentPartPr>
            <p14:xfrm>
              <a:off x="9804167" y="2542153"/>
              <a:ext cx="360" cy="2160"/>
            </p14:xfrm>
          </p:contentPart>
        </mc:Choice>
        <mc:Fallback xmlns="">
          <p:pic>
            <p:nvPicPr>
              <p:cNvPr id="25673" name="Ink 25672">
                <a:extLst>
                  <a:ext uri="{FF2B5EF4-FFF2-40B4-BE49-F238E27FC236}">
                    <a16:creationId xmlns:a16="http://schemas.microsoft.com/office/drawing/2014/main" id="{10CFBF4D-5529-42F3-AF63-34742629DE8F}"/>
                  </a:ext>
                </a:extLst>
              </p:cNvPr>
              <p:cNvPicPr/>
              <p:nvPr/>
            </p:nvPicPr>
            <p:blipFill>
              <a:blip r:embed="rId10"/>
              <a:stretch>
                <a:fillRect/>
              </a:stretch>
            </p:blipFill>
            <p:spPr>
              <a:xfrm>
                <a:off x="9799847" y="2537833"/>
                <a:ext cx="9000" cy="10800"/>
              </a:xfrm>
              <a:prstGeom prst="rect">
                <a:avLst/>
              </a:prstGeom>
            </p:spPr>
          </p:pic>
        </mc:Fallback>
      </mc:AlternateContent>
    </p:spTree>
    <p:extLst>
      <p:ext uri="{BB962C8B-B14F-4D97-AF65-F5344CB8AC3E}">
        <p14:creationId xmlns:p14="http://schemas.microsoft.com/office/powerpoint/2010/main" val="1517434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042589" y="62613"/>
            <a:ext cx="8153400" cy="990600"/>
          </a:xfrm>
        </p:spPr>
        <p:txBody>
          <a:bodyPr>
            <a:normAutofit/>
          </a:bodyPr>
          <a:lstStyle/>
          <a:p>
            <a:r>
              <a:rPr lang="en-US" altLang="en-US" sz="3600" dirty="0"/>
              <a:t>Shortest Paths with Dijkstra’s Algorithm</a:t>
            </a:r>
          </a:p>
        </p:txBody>
      </p:sp>
      <p:sp>
        <p:nvSpPr>
          <p:cNvPr id="26628" name="Text Box 3"/>
          <p:cNvSpPr txBox="1">
            <a:spLocks noChangeArrowheads="1"/>
          </p:cNvSpPr>
          <p:nvPr/>
        </p:nvSpPr>
        <p:spPr bwMode="auto">
          <a:xfrm>
            <a:off x="1810024" y="5577609"/>
            <a:ext cx="53014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600" b="1" dirty="0">
                <a:latin typeface="Arial" panose="020B0604020202020204" pitchFamily="34" charset="0"/>
              </a:rPr>
              <a:t>An execution of </a:t>
            </a:r>
            <a:r>
              <a:rPr lang="en-US" altLang="en-US" sz="1600" b="1" dirty="0" err="1">
                <a:latin typeface="Courier New" panose="02070309020205020404" pitchFamily="49" charset="0"/>
              </a:rPr>
              <a:t>DijkstraAlgorithm</a:t>
            </a:r>
            <a:r>
              <a:rPr lang="en-US" altLang="en-US" sz="1600" b="1" dirty="0">
                <a:latin typeface="Courier New" panose="02070309020205020404" pitchFamily="49" charset="0"/>
              </a:rPr>
              <a:t>()</a:t>
            </a:r>
            <a:r>
              <a:rPr lang="en-US" altLang="en-US" sz="1600" b="1" dirty="0">
                <a:latin typeface="Arial" panose="020B0604020202020204" pitchFamily="34" charset="0"/>
              </a:rPr>
              <a:t> (continued)</a:t>
            </a:r>
          </a:p>
        </p:txBody>
      </p:sp>
      <p:pic>
        <p:nvPicPr>
          <p:cNvPr id="266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9878" y="1259070"/>
            <a:ext cx="6811611" cy="3853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a:extLst>
              <a:ext uri="{FF2B5EF4-FFF2-40B4-BE49-F238E27FC236}">
                <a16:creationId xmlns:a16="http://schemas.microsoft.com/office/drawing/2014/main" id="{DFC2835D-5440-4B21-A2D3-60851656A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11" y="1813089"/>
            <a:ext cx="5233248" cy="2857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32" name="Ink 31">
                <a:extLst>
                  <a:ext uri="{FF2B5EF4-FFF2-40B4-BE49-F238E27FC236}">
                    <a16:creationId xmlns:a16="http://schemas.microsoft.com/office/drawing/2014/main" id="{C1B4E957-BC88-4197-9027-C911E2D51D70}"/>
                  </a:ext>
                </a:extLst>
              </p14:cNvPr>
              <p14:cNvContentPartPr/>
              <p14:nvPr/>
            </p14:nvContentPartPr>
            <p14:xfrm>
              <a:off x="1177725" y="4262182"/>
              <a:ext cx="4320" cy="11160"/>
            </p14:xfrm>
          </p:contentPart>
        </mc:Choice>
        <mc:Fallback xmlns="">
          <p:pic>
            <p:nvPicPr>
              <p:cNvPr id="32" name="Ink 31">
                <a:extLst>
                  <a:ext uri="{FF2B5EF4-FFF2-40B4-BE49-F238E27FC236}">
                    <a16:creationId xmlns:a16="http://schemas.microsoft.com/office/drawing/2014/main" id="{C1B4E957-BC88-4197-9027-C911E2D51D70}"/>
                  </a:ext>
                </a:extLst>
              </p:cNvPr>
              <p:cNvPicPr/>
              <p:nvPr/>
            </p:nvPicPr>
            <p:blipFill>
              <a:blip r:embed="rId5"/>
              <a:stretch>
                <a:fillRect/>
              </a:stretch>
            </p:blipFill>
            <p:spPr>
              <a:xfrm>
                <a:off x="1168725" y="4253542"/>
                <a:ext cx="219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a:extLst>
                  <a:ext uri="{FF2B5EF4-FFF2-40B4-BE49-F238E27FC236}">
                    <a16:creationId xmlns:a16="http://schemas.microsoft.com/office/drawing/2014/main" id="{BCC27409-B877-49C8-A8F6-679449AE6860}"/>
                  </a:ext>
                </a:extLst>
              </p14:cNvPr>
              <p14:cNvContentPartPr/>
              <p14:nvPr/>
            </p14:nvContentPartPr>
            <p14:xfrm>
              <a:off x="1614405" y="3903622"/>
              <a:ext cx="14040" cy="8640"/>
            </p14:xfrm>
          </p:contentPart>
        </mc:Choice>
        <mc:Fallback xmlns="">
          <p:pic>
            <p:nvPicPr>
              <p:cNvPr id="43" name="Ink 42">
                <a:extLst>
                  <a:ext uri="{FF2B5EF4-FFF2-40B4-BE49-F238E27FC236}">
                    <a16:creationId xmlns:a16="http://schemas.microsoft.com/office/drawing/2014/main" id="{BCC27409-B877-49C8-A8F6-679449AE6860}"/>
                  </a:ext>
                </a:extLst>
              </p:cNvPr>
              <p:cNvPicPr/>
              <p:nvPr/>
            </p:nvPicPr>
            <p:blipFill>
              <a:blip r:embed="rId7"/>
              <a:stretch>
                <a:fillRect/>
              </a:stretch>
            </p:blipFill>
            <p:spPr>
              <a:xfrm>
                <a:off x="1605405" y="3894982"/>
                <a:ext cx="316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634" name="Ink 26633">
                <a:extLst>
                  <a:ext uri="{FF2B5EF4-FFF2-40B4-BE49-F238E27FC236}">
                    <a16:creationId xmlns:a16="http://schemas.microsoft.com/office/drawing/2014/main" id="{CB7E5061-3CDF-4AD0-924E-460B5DC578AC}"/>
                  </a:ext>
                </a:extLst>
              </p14:cNvPr>
              <p14:cNvContentPartPr/>
              <p14:nvPr/>
            </p14:nvContentPartPr>
            <p14:xfrm>
              <a:off x="2195085" y="2873302"/>
              <a:ext cx="360" cy="360"/>
            </p14:xfrm>
          </p:contentPart>
        </mc:Choice>
        <mc:Fallback xmlns="">
          <p:pic>
            <p:nvPicPr>
              <p:cNvPr id="26634" name="Ink 26633">
                <a:extLst>
                  <a:ext uri="{FF2B5EF4-FFF2-40B4-BE49-F238E27FC236}">
                    <a16:creationId xmlns:a16="http://schemas.microsoft.com/office/drawing/2014/main" id="{CB7E5061-3CDF-4AD0-924E-460B5DC578AC}"/>
                  </a:ext>
                </a:extLst>
              </p:cNvPr>
              <p:cNvPicPr/>
              <p:nvPr/>
            </p:nvPicPr>
            <p:blipFill>
              <a:blip r:embed="rId9"/>
              <a:stretch>
                <a:fillRect/>
              </a:stretch>
            </p:blipFill>
            <p:spPr>
              <a:xfrm>
                <a:off x="2186085" y="28643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635" name="Ink 26634">
                <a:extLst>
                  <a:ext uri="{FF2B5EF4-FFF2-40B4-BE49-F238E27FC236}">
                    <a16:creationId xmlns:a16="http://schemas.microsoft.com/office/drawing/2014/main" id="{4CEED791-DB91-4321-A536-3E25AB74FCBC}"/>
                  </a:ext>
                </a:extLst>
              </p14:cNvPr>
              <p14:cNvContentPartPr/>
              <p14:nvPr/>
            </p14:nvContentPartPr>
            <p14:xfrm>
              <a:off x="1591365" y="2035942"/>
              <a:ext cx="2520" cy="2880"/>
            </p14:xfrm>
          </p:contentPart>
        </mc:Choice>
        <mc:Fallback xmlns="">
          <p:pic>
            <p:nvPicPr>
              <p:cNvPr id="26635" name="Ink 26634">
                <a:extLst>
                  <a:ext uri="{FF2B5EF4-FFF2-40B4-BE49-F238E27FC236}">
                    <a16:creationId xmlns:a16="http://schemas.microsoft.com/office/drawing/2014/main" id="{4CEED791-DB91-4321-A536-3E25AB74FCBC}"/>
                  </a:ext>
                </a:extLst>
              </p:cNvPr>
              <p:cNvPicPr/>
              <p:nvPr/>
            </p:nvPicPr>
            <p:blipFill>
              <a:blip r:embed="rId11"/>
              <a:stretch>
                <a:fillRect/>
              </a:stretch>
            </p:blipFill>
            <p:spPr>
              <a:xfrm>
                <a:off x="1582725" y="2027302"/>
                <a:ext cx="201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636" name="Ink 26635">
                <a:extLst>
                  <a:ext uri="{FF2B5EF4-FFF2-40B4-BE49-F238E27FC236}">
                    <a16:creationId xmlns:a16="http://schemas.microsoft.com/office/drawing/2014/main" id="{8CCA895C-AEA0-4945-BA79-1E33B9B36A2F}"/>
                  </a:ext>
                </a:extLst>
              </p14:cNvPr>
              <p14:cNvContentPartPr/>
              <p14:nvPr/>
            </p14:nvContentPartPr>
            <p14:xfrm>
              <a:off x="2075925" y="2665222"/>
              <a:ext cx="3960" cy="13680"/>
            </p14:xfrm>
          </p:contentPart>
        </mc:Choice>
        <mc:Fallback xmlns="">
          <p:pic>
            <p:nvPicPr>
              <p:cNvPr id="26636" name="Ink 26635">
                <a:extLst>
                  <a:ext uri="{FF2B5EF4-FFF2-40B4-BE49-F238E27FC236}">
                    <a16:creationId xmlns:a16="http://schemas.microsoft.com/office/drawing/2014/main" id="{8CCA895C-AEA0-4945-BA79-1E33B9B36A2F}"/>
                  </a:ext>
                </a:extLst>
              </p:cNvPr>
              <p:cNvPicPr/>
              <p:nvPr/>
            </p:nvPicPr>
            <p:blipFill>
              <a:blip r:embed="rId13"/>
              <a:stretch>
                <a:fillRect/>
              </a:stretch>
            </p:blipFill>
            <p:spPr>
              <a:xfrm>
                <a:off x="2066925" y="2656222"/>
                <a:ext cx="21600" cy="31320"/>
              </a:xfrm>
              <a:prstGeom prst="rect">
                <a:avLst/>
              </a:prstGeom>
            </p:spPr>
          </p:pic>
        </mc:Fallback>
      </mc:AlternateContent>
    </p:spTree>
    <p:extLst>
      <p:ext uri="{BB962C8B-B14F-4D97-AF65-F5344CB8AC3E}">
        <p14:creationId xmlns:p14="http://schemas.microsoft.com/office/powerpoint/2010/main" val="360859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fade">
                                      <p:cBhvr>
                                        <p:cTn id="12"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02"/>
          <p:cNvSpPr>
            <a:spLocks noGrp="1" noChangeArrowheads="1"/>
          </p:cNvSpPr>
          <p:nvPr>
            <p:ph type="title"/>
          </p:nvPr>
        </p:nvSpPr>
        <p:spPr>
          <a:xfrm>
            <a:off x="1091362" y="75907"/>
            <a:ext cx="8229600" cy="956717"/>
          </a:xfrm>
          <a:extLs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sz="3200" dirty="0"/>
              <a:t>Another Example with </a:t>
            </a:r>
            <a:r>
              <a:rPr lang="en-US" altLang="en-US" sz="3200" dirty="0" err="1"/>
              <a:t>Dijkstra’s</a:t>
            </a:r>
            <a:r>
              <a:rPr lang="en-US" altLang="en-US" sz="3200" dirty="0"/>
              <a:t> Algorithm </a:t>
            </a:r>
          </a:p>
        </p:txBody>
      </p:sp>
      <p:sp>
        <p:nvSpPr>
          <p:cNvPr id="27651" name="Rectangle 3"/>
          <p:cNvSpPr>
            <a:spLocks noGrp="1" noChangeArrowheads="1"/>
          </p:cNvSpPr>
          <p:nvPr>
            <p:ph type="body" sz="half" idx="1"/>
          </p:nvPr>
        </p:nvSpPr>
        <p:spPr>
          <a:xfrm>
            <a:off x="2496466" y="1801753"/>
            <a:ext cx="4710114" cy="1391583"/>
          </a:xfrm>
        </p:spPr>
        <p:txBody>
          <a:bodyPr>
            <a:normAutofit fontScale="92500" lnSpcReduction="10000"/>
          </a:bodyPr>
          <a:lstStyle/>
          <a:p>
            <a:pPr eaLnBrk="1" hangingPunct="1">
              <a:lnSpc>
                <a:spcPct val="90000"/>
              </a:lnSpc>
              <a:buFontTx/>
              <a:buNone/>
            </a:pPr>
            <a:r>
              <a:rPr lang="en-US" altLang="en-US" sz="1800" b="1" dirty="0"/>
              <a:t>a</a:t>
            </a:r>
            <a:r>
              <a:rPr lang="en-US" altLang="en-US" sz="1800" dirty="0"/>
              <a:t>                                       </a:t>
            </a:r>
            <a:r>
              <a:rPr lang="en-US" altLang="en-US" sz="1800" b="1" dirty="0"/>
              <a:t>b</a:t>
            </a:r>
            <a:r>
              <a:rPr lang="en-US" altLang="en-US" sz="1800" dirty="0"/>
              <a:t>		</a:t>
            </a:r>
            <a:r>
              <a:rPr lang="en-US" altLang="en-US" sz="1800" b="1" dirty="0"/>
              <a:t>c</a:t>
            </a:r>
          </a:p>
          <a:p>
            <a:pPr eaLnBrk="1" hangingPunct="1">
              <a:lnSpc>
                <a:spcPct val="90000"/>
              </a:lnSpc>
              <a:buFontTx/>
              <a:buNone/>
            </a:pPr>
            <a:endParaRPr lang="en-US" altLang="en-US" sz="1800" dirty="0"/>
          </a:p>
          <a:p>
            <a:pPr eaLnBrk="1" hangingPunct="1">
              <a:lnSpc>
                <a:spcPct val="90000"/>
              </a:lnSpc>
              <a:buFontTx/>
              <a:buNone/>
            </a:pPr>
            <a:endParaRPr lang="en-US" altLang="en-US" sz="1800" dirty="0"/>
          </a:p>
          <a:p>
            <a:pPr eaLnBrk="1" hangingPunct="1">
              <a:lnSpc>
                <a:spcPct val="90000"/>
              </a:lnSpc>
              <a:buFontTx/>
              <a:buNone/>
            </a:pPr>
            <a:r>
              <a:rPr lang="en-US" altLang="en-US" sz="1800" dirty="0"/>
              <a:t> </a:t>
            </a:r>
            <a:r>
              <a:rPr lang="en-US" altLang="en-US" sz="1800" b="1" dirty="0"/>
              <a:t>d</a:t>
            </a:r>
            <a:r>
              <a:rPr lang="en-US" altLang="en-US" sz="1800" dirty="0"/>
              <a:t>			</a:t>
            </a:r>
            <a:r>
              <a:rPr lang="en-US" altLang="en-US" sz="1800" b="1" dirty="0"/>
              <a:t>e </a:t>
            </a:r>
            <a:r>
              <a:rPr lang="en-US" altLang="en-US" sz="1800" dirty="0"/>
              <a:t>		</a:t>
            </a:r>
            <a:r>
              <a:rPr lang="en-US" altLang="en-US" sz="1800" b="1" dirty="0"/>
              <a:t>f</a:t>
            </a:r>
          </a:p>
        </p:txBody>
      </p:sp>
      <p:graphicFrame>
        <p:nvGraphicFramePr>
          <p:cNvPr id="12621" name="Group 333"/>
          <p:cNvGraphicFramePr>
            <a:graphicFrameLocks noGrp="1"/>
          </p:cNvGraphicFramePr>
          <p:nvPr>
            <p:ph sz="half" idx="2"/>
            <p:extLst>
              <p:ext uri="{D42A27DB-BD31-4B8C-83A1-F6EECF244321}">
                <p14:modId xmlns:p14="http://schemas.microsoft.com/office/powerpoint/2010/main" val="1857218479"/>
              </p:ext>
            </p:extLst>
          </p:nvPr>
        </p:nvGraphicFramePr>
        <p:xfrm>
          <a:off x="2052013" y="3451244"/>
          <a:ext cx="2305050" cy="2930524"/>
        </p:xfrm>
        <a:graphic>
          <a:graphicData uri="http://schemas.openxmlformats.org/drawingml/2006/table">
            <a:tbl>
              <a:tblPr/>
              <a:tblGrid>
                <a:gridCol w="1716087">
                  <a:extLst>
                    <a:ext uri="{9D8B030D-6E8A-4147-A177-3AD203B41FA5}">
                      <a16:colId xmlns:a16="http://schemas.microsoft.com/office/drawing/2014/main" val="20000"/>
                    </a:ext>
                  </a:extLst>
                </a:gridCol>
                <a:gridCol w="588963">
                  <a:extLst>
                    <a:ext uri="{9D8B030D-6E8A-4147-A177-3AD203B41FA5}">
                      <a16:colId xmlns:a16="http://schemas.microsoft.com/office/drawing/2014/main" val="20001"/>
                    </a:ext>
                  </a:extLst>
                </a:gridCol>
              </a:tblGrid>
              <a:tr h="3667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itchFamily="18" charset="0"/>
                          <a:cs typeface="Arial" charset="0"/>
                        </a:rPr>
                        <a:t>iteration:</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itchFamily="18" charset="0"/>
                          <a:cs typeface="Arial" charset="0"/>
                        </a:rPr>
                        <a:t>init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0"/>
                  </a:ext>
                </a:extLst>
              </a:tr>
              <a:tr h="365849">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itchFamily="18" charset="0"/>
                          <a:cs typeface="Arial" charset="0"/>
                        </a:rPr>
                        <a:t>active vertex </a:t>
                      </a:r>
                      <a:r>
                        <a:rPr kumimoji="0" lang="en-US" altLang="en-US" sz="1800" b="1" i="0" u="none" strike="noStrike" cap="none" normalizeH="0" baseline="0">
                          <a:ln>
                            <a:noFill/>
                          </a:ln>
                          <a:solidFill>
                            <a:schemeClr val="tx1"/>
                          </a:solidFill>
                          <a:effectLst/>
                          <a:latin typeface="Courier New" pitchFamily="49" charset="0"/>
                          <a:cs typeface="Arial" charset="0"/>
                        </a:rPr>
                        <a:t>v</a:t>
                      </a:r>
                      <a:r>
                        <a:rPr kumimoji="0" lang="en-US" altLang="en-US" sz="1800" b="1" i="0" u="none" strike="noStrike" cap="none" normalizeH="0" baseline="0">
                          <a:ln>
                            <a:noFill/>
                          </a:ln>
                          <a:solidFill>
                            <a:schemeClr val="tx1"/>
                          </a:solidFill>
                          <a:effectLst/>
                          <a:latin typeface="Times New Roman" pitchFamily="18" charset="0"/>
                          <a:cs typeface="Arial" charset="0"/>
                        </a:rPr>
                        <a:t>:</a:t>
                      </a:r>
                    </a:p>
                  </a:txBody>
                  <a:tcPr marT="45739" marB="45739" horzOverflow="overflow">
                    <a:lnL>
                      <a:noFill/>
                    </a:lnL>
                    <a:lnR w="19050" cap="flat" cmpd="sng" algn="ctr">
                      <a:solidFill>
                        <a:schemeClr val="tx1"/>
                      </a:solidFill>
                      <a:prstDash val="solid"/>
                      <a:round/>
                      <a:headEnd type="none" w="med" len="med"/>
                      <a:tailEnd type="none" w="med" len="med"/>
                    </a:lnR>
                    <a:lnT>
                      <a:noFill/>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cs typeface="Arial" charset="0"/>
                      </a:endParaRPr>
                    </a:p>
                  </a:txBody>
                  <a:tcPr marT="45739" marB="45739" horzOverflow="overflow">
                    <a:lnL w="19050" cap="flat" cmpd="sng" algn="ctr">
                      <a:solidFill>
                        <a:schemeClr val="tx1"/>
                      </a:solidFill>
                      <a:prstDash val="solid"/>
                      <a:round/>
                      <a:headEnd type="none" w="med" len="med"/>
                      <a:tailEnd type="none" w="med" len="med"/>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67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a</a:t>
                      </a:r>
                    </a:p>
                  </a:txBody>
                  <a:tcPr marT="45739" marB="45739"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0</a:t>
                      </a:r>
                    </a:p>
                  </a:txBody>
                  <a:tcPr marT="45739" marB="45739"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365849">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b</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3667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c</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365849">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d</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3667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e</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365849">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f</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2292" name="Rectangle 4"/>
          <p:cNvSpPr>
            <a:spLocks noChangeArrowheads="1"/>
          </p:cNvSpPr>
          <p:nvPr/>
        </p:nvSpPr>
        <p:spPr bwMode="auto">
          <a:xfrm>
            <a:off x="2648075" y="2937767"/>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dirty="0">
                <a:latin typeface="Arial" panose="020B0604020202020204" pitchFamily="34" charset="0"/>
                <a:cs typeface="Arial" panose="020B0604020202020204" pitchFamily="34" charset="0"/>
              </a:rPr>
              <a:t>(a,6)</a:t>
            </a:r>
          </a:p>
        </p:txBody>
      </p:sp>
      <p:sp>
        <p:nvSpPr>
          <p:cNvPr id="12293" name="Rectangle 5"/>
          <p:cNvSpPr>
            <a:spLocks noChangeArrowheads="1"/>
          </p:cNvSpPr>
          <p:nvPr/>
        </p:nvSpPr>
        <p:spPr bwMode="auto">
          <a:xfrm>
            <a:off x="4448298" y="1564641"/>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(a,2)</a:t>
            </a:r>
          </a:p>
        </p:txBody>
      </p:sp>
      <p:graphicFrame>
        <p:nvGraphicFramePr>
          <p:cNvPr id="12503" name="Group 215"/>
          <p:cNvGraphicFramePr>
            <a:graphicFrameLocks noGrp="1"/>
          </p:cNvGraphicFramePr>
          <p:nvPr>
            <p:extLst>
              <p:ext uri="{D42A27DB-BD31-4B8C-83A1-F6EECF244321}">
                <p14:modId xmlns:p14="http://schemas.microsoft.com/office/powerpoint/2010/main" val="2452530916"/>
              </p:ext>
            </p:extLst>
          </p:nvPr>
        </p:nvGraphicFramePr>
        <p:xfrm>
          <a:off x="4357063" y="4181494"/>
          <a:ext cx="404812" cy="2197102"/>
        </p:xfrm>
        <a:graphic>
          <a:graphicData uri="http://schemas.openxmlformats.org/drawingml/2006/table">
            <a:tbl>
              <a:tblPr/>
              <a:tblGrid>
                <a:gridCol w="404812">
                  <a:extLst>
                    <a:ext uri="{9D8B030D-6E8A-4147-A177-3AD203B41FA5}">
                      <a16:colId xmlns:a16="http://schemas.microsoft.com/office/drawing/2014/main" val="20000"/>
                    </a:ext>
                  </a:extLst>
                </a:gridCol>
              </a:tblGrid>
              <a:tr h="3658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cs typeface="Arial" charset="0"/>
                      </a:endParaRP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8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cs typeface="Arial" charset="0"/>
                        <a:sym typeface="Symbol" pitchFamily="18" charset="2"/>
                      </a:endParaRP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66787">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658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cs typeface="Arial" charset="0"/>
                        <a:sym typeface="Symbol" pitchFamily="18" charset="2"/>
                      </a:endParaRP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66787">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658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7680" name="Line 203"/>
          <p:cNvSpPr>
            <a:spLocks noChangeShapeType="1"/>
          </p:cNvSpPr>
          <p:nvPr/>
        </p:nvSpPr>
        <p:spPr bwMode="auto">
          <a:xfrm>
            <a:off x="2797298" y="1948815"/>
            <a:ext cx="1536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81" name="Line 204"/>
          <p:cNvSpPr>
            <a:spLocks noChangeShapeType="1"/>
          </p:cNvSpPr>
          <p:nvPr/>
        </p:nvSpPr>
        <p:spPr bwMode="auto">
          <a:xfrm>
            <a:off x="2765268" y="2075815"/>
            <a:ext cx="0" cy="6524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82" name="Rectangle 205"/>
          <p:cNvSpPr>
            <a:spLocks noChangeArrowheads="1"/>
          </p:cNvSpPr>
          <p:nvPr/>
        </p:nvSpPr>
        <p:spPr bwMode="auto">
          <a:xfrm>
            <a:off x="3295774" y="1640841"/>
            <a:ext cx="5762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2</a:t>
            </a:r>
          </a:p>
        </p:txBody>
      </p:sp>
      <p:sp>
        <p:nvSpPr>
          <p:cNvPr id="27683" name="Rectangle 206"/>
          <p:cNvSpPr>
            <a:spLocks noChangeArrowheads="1"/>
          </p:cNvSpPr>
          <p:nvPr/>
        </p:nvSpPr>
        <p:spPr bwMode="auto">
          <a:xfrm>
            <a:off x="2221036" y="2256791"/>
            <a:ext cx="5762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6</a:t>
            </a:r>
          </a:p>
        </p:txBody>
      </p:sp>
      <p:sp>
        <p:nvSpPr>
          <p:cNvPr id="12497" name="Line 209"/>
          <p:cNvSpPr>
            <a:spLocks noChangeShapeType="1"/>
          </p:cNvSpPr>
          <p:nvPr/>
        </p:nvSpPr>
        <p:spPr bwMode="auto">
          <a:xfrm flipV="1">
            <a:off x="4948362" y="1540827"/>
            <a:ext cx="384175" cy="192088"/>
          </a:xfrm>
          <a:prstGeom prst="line">
            <a:avLst/>
          </a:prstGeom>
          <a:noFill/>
          <a:ln w="1905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2498" name="Rectangle 210"/>
          <p:cNvSpPr>
            <a:spLocks noChangeArrowheads="1"/>
          </p:cNvSpPr>
          <p:nvPr/>
        </p:nvSpPr>
        <p:spPr bwMode="auto">
          <a:xfrm>
            <a:off x="5294437" y="1310641"/>
            <a:ext cx="191928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700" b="1">
                <a:latin typeface="Times New Roman" panose="02020603050405020304" pitchFamily="18" charset="0"/>
                <a:cs typeface="Arial" panose="020B0604020202020204" pitchFamily="34" charset="0"/>
              </a:rPr>
              <a:t>current distance</a:t>
            </a:r>
          </a:p>
        </p:txBody>
      </p:sp>
      <p:sp>
        <p:nvSpPr>
          <p:cNvPr id="12499" name="Rectangle 211"/>
          <p:cNvSpPr>
            <a:spLocks noChangeArrowheads="1"/>
          </p:cNvSpPr>
          <p:nvPr/>
        </p:nvSpPr>
        <p:spPr bwMode="auto">
          <a:xfrm>
            <a:off x="3065586" y="1310641"/>
            <a:ext cx="134461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700" b="1" dirty="0">
                <a:latin typeface="Times New Roman" panose="02020603050405020304" pitchFamily="18" charset="0"/>
                <a:cs typeface="Arial" panose="020B0604020202020204" pitchFamily="34" charset="0"/>
              </a:rPr>
              <a:t>predecessor</a:t>
            </a:r>
          </a:p>
        </p:txBody>
      </p:sp>
      <p:sp>
        <p:nvSpPr>
          <p:cNvPr id="12500" name="Line 212"/>
          <p:cNvSpPr>
            <a:spLocks noChangeShapeType="1"/>
          </p:cNvSpPr>
          <p:nvPr/>
        </p:nvSpPr>
        <p:spPr bwMode="auto">
          <a:xfrm flipH="1" flipV="1">
            <a:off x="4294312" y="1540827"/>
            <a:ext cx="307975" cy="192088"/>
          </a:xfrm>
          <a:prstGeom prst="line">
            <a:avLst/>
          </a:prstGeom>
          <a:noFill/>
          <a:ln w="1905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aphicFrame>
        <p:nvGraphicFramePr>
          <p:cNvPr id="12520" name="Group 232"/>
          <p:cNvGraphicFramePr>
            <a:graphicFrameLocks noGrp="1"/>
          </p:cNvGraphicFramePr>
          <p:nvPr>
            <p:extLst>
              <p:ext uri="{D42A27DB-BD31-4B8C-83A1-F6EECF244321}">
                <p14:modId xmlns:p14="http://schemas.microsoft.com/office/powerpoint/2010/main" val="437776393"/>
              </p:ext>
            </p:extLst>
          </p:nvPr>
        </p:nvGraphicFramePr>
        <p:xfrm>
          <a:off x="4357063"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1</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a</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521" name="Rectangle 233"/>
          <p:cNvSpPr>
            <a:spLocks noChangeArrowheads="1"/>
          </p:cNvSpPr>
          <p:nvPr/>
        </p:nvSpPr>
        <p:spPr bwMode="auto">
          <a:xfrm>
            <a:off x="4393576" y="4565670"/>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2</a:t>
            </a:r>
          </a:p>
        </p:txBody>
      </p:sp>
      <p:sp>
        <p:nvSpPr>
          <p:cNvPr id="12522" name="Rectangle 234"/>
          <p:cNvSpPr>
            <a:spLocks noChangeArrowheads="1"/>
          </p:cNvSpPr>
          <p:nvPr/>
        </p:nvSpPr>
        <p:spPr bwMode="auto">
          <a:xfrm>
            <a:off x="4393576" y="533243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6</a:t>
            </a:r>
          </a:p>
        </p:txBody>
      </p:sp>
      <p:graphicFrame>
        <p:nvGraphicFramePr>
          <p:cNvPr id="12523" name="Group 235"/>
          <p:cNvGraphicFramePr>
            <a:graphicFrameLocks noGrp="1"/>
          </p:cNvGraphicFramePr>
          <p:nvPr>
            <p:extLst>
              <p:ext uri="{D42A27DB-BD31-4B8C-83A1-F6EECF244321}">
                <p14:modId xmlns:p14="http://schemas.microsoft.com/office/powerpoint/2010/main" val="3808174503"/>
              </p:ext>
            </p:extLst>
          </p:nvPr>
        </p:nvGraphicFramePr>
        <p:xfrm>
          <a:off x="4779338"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2</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b</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698" name="Line 244"/>
          <p:cNvSpPr>
            <a:spLocks noChangeShapeType="1"/>
          </p:cNvSpPr>
          <p:nvPr/>
        </p:nvSpPr>
        <p:spPr bwMode="auto">
          <a:xfrm>
            <a:off x="4640386" y="1948815"/>
            <a:ext cx="1536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99" name="Rectangle 245"/>
          <p:cNvSpPr>
            <a:spLocks noChangeArrowheads="1"/>
          </p:cNvSpPr>
          <p:nvPr/>
        </p:nvSpPr>
        <p:spPr bwMode="auto">
          <a:xfrm>
            <a:off x="5138861" y="1640841"/>
            <a:ext cx="5762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3</a:t>
            </a:r>
          </a:p>
        </p:txBody>
      </p:sp>
      <p:sp>
        <p:nvSpPr>
          <p:cNvPr id="27700" name="Line 246"/>
          <p:cNvSpPr>
            <a:spLocks noChangeShapeType="1"/>
          </p:cNvSpPr>
          <p:nvPr/>
        </p:nvSpPr>
        <p:spPr bwMode="auto">
          <a:xfrm>
            <a:off x="4486398" y="2102803"/>
            <a:ext cx="0" cy="6905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01" name="Rectangle 247"/>
          <p:cNvSpPr>
            <a:spLocks noChangeArrowheads="1"/>
          </p:cNvSpPr>
          <p:nvPr/>
        </p:nvSpPr>
        <p:spPr bwMode="auto">
          <a:xfrm>
            <a:off x="4064124" y="2218691"/>
            <a:ext cx="5762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1</a:t>
            </a:r>
          </a:p>
        </p:txBody>
      </p:sp>
      <p:sp>
        <p:nvSpPr>
          <p:cNvPr id="27702" name="Line 248"/>
          <p:cNvSpPr>
            <a:spLocks noChangeShapeType="1"/>
          </p:cNvSpPr>
          <p:nvPr/>
        </p:nvSpPr>
        <p:spPr bwMode="auto">
          <a:xfrm flipH="1">
            <a:off x="2759198" y="2102802"/>
            <a:ext cx="1612900" cy="7302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03" name="Rectangle 249"/>
          <p:cNvSpPr>
            <a:spLocks noChangeArrowheads="1"/>
          </p:cNvSpPr>
          <p:nvPr/>
        </p:nvSpPr>
        <p:spPr bwMode="auto">
          <a:xfrm>
            <a:off x="3181474" y="2179003"/>
            <a:ext cx="5762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3</a:t>
            </a:r>
          </a:p>
        </p:txBody>
      </p:sp>
      <p:sp>
        <p:nvSpPr>
          <p:cNvPr id="12538" name="Rectangle 250"/>
          <p:cNvSpPr>
            <a:spLocks noChangeArrowheads="1"/>
          </p:cNvSpPr>
          <p:nvPr/>
        </p:nvSpPr>
        <p:spPr bwMode="auto">
          <a:xfrm>
            <a:off x="6291386" y="1564641"/>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(b,5)</a:t>
            </a:r>
          </a:p>
        </p:txBody>
      </p:sp>
      <p:sp>
        <p:nvSpPr>
          <p:cNvPr id="12539" name="Rectangle 251"/>
          <p:cNvSpPr>
            <a:spLocks noChangeArrowheads="1"/>
          </p:cNvSpPr>
          <p:nvPr/>
        </p:nvSpPr>
        <p:spPr bwMode="auto">
          <a:xfrm>
            <a:off x="1921722" y="2888614"/>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(b,5)</a:t>
            </a:r>
          </a:p>
        </p:txBody>
      </p:sp>
      <p:sp>
        <p:nvSpPr>
          <p:cNvPr id="12540" name="Rectangle 252"/>
          <p:cNvSpPr>
            <a:spLocks noChangeArrowheads="1"/>
          </p:cNvSpPr>
          <p:nvPr/>
        </p:nvSpPr>
        <p:spPr bwMode="auto">
          <a:xfrm>
            <a:off x="4379501" y="2990828"/>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(b,3)</a:t>
            </a:r>
          </a:p>
        </p:txBody>
      </p:sp>
      <p:sp>
        <p:nvSpPr>
          <p:cNvPr id="12541" name="Rectangle 253"/>
          <p:cNvSpPr>
            <a:spLocks noChangeArrowheads="1"/>
          </p:cNvSpPr>
          <p:nvPr/>
        </p:nvSpPr>
        <p:spPr bwMode="auto">
          <a:xfrm>
            <a:off x="4817439" y="5334020"/>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sp>
        <p:nvSpPr>
          <p:cNvPr id="12542" name="Rectangle 254"/>
          <p:cNvSpPr>
            <a:spLocks noChangeArrowheads="1"/>
          </p:cNvSpPr>
          <p:nvPr/>
        </p:nvSpPr>
        <p:spPr bwMode="auto">
          <a:xfrm>
            <a:off x="4817439" y="4949845"/>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sp>
        <p:nvSpPr>
          <p:cNvPr id="12543" name="Rectangle 255"/>
          <p:cNvSpPr>
            <a:spLocks noChangeArrowheads="1"/>
          </p:cNvSpPr>
          <p:nvPr/>
        </p:nvSpPr>
        <p:spPr bwMode="auto">
          <a:xfrm>
            <a:off x="4817439" y="5678508"/>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3</a:t>
            </a:r>
          </a:p>
        </p:txBody>
      </p:sp>
      <p:sp>
        <p:nvSpPr>
          <p:cNvPr id="12565" name="Rectangle 277"/>
          <p:cNvSpPr>
            <a:spLocks noChangeArrowheads="1"/>
          </p:cNvSpPr>
          <p:nvPr/>
        </p:nvSpPr>
        <p:spPr bwMode="auto">
          <a:xfrm>
            <a:off x="4779339" y="598648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2000">
                <a:latin typeface="Arial" panose="020B0604020202020204" pitchFamily="34" charset="0"/>
                <a:cs typeface="Arial" panose="020B0604020202020204" pitchFamily="34" charset="0"/>
                <a:sym typeface="Symbol" panose="05050102010706020507" pitchFamily="18" charset="2"/>
              </a:rPr>
              <a:t></a:t>
            </a:r>
          </a:p>
        </p:txBody>
      </p:sp>
      <p:graphicFrame>
        <p:nvGraphicFramePr>
          <p:cNvPr id="12566" name="Group 278"/>
          <p:cNvGraphicFramePr>
            <a:graphicFrameLocks noGrp="1"/>
          </p:cNvGraphicFramePr>
          <p:nvPr>
            <p:extLst>
              <p:ext uri="{D42A27DB-BD31-4B8C-83A1-F6EECF244321}">
                <p14:modId xmlns:p14="http://schemas.microsoft.com/office/powerpoint/2010/main" val="3304085542"/>
              </p:ext>
            </p:extLst>
          </p:nvPr>
        </p:nvGraphicFramePr>
        <p:xfrm>
          <a:off x="5201613"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3</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e</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715" name="Line 287"/>
          <p:cNvSpPr>
            <a:spLocks noChangeShapeType="1"/>
          </p:cNvSpPr>
          <p:nvPr/>
        </p:nvSpPr>
        <p:spPr bwMode="auto">
          <a:xfrm>
            <a:off x="2797298" y="2909252"/>
            <a:ext cx="1536700"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7716" name="Rectangle 288"/>
          <p:cNvSpPr>
            <a:spLocks noChangeArrowheads="1"/>
          </p:cNvSpPr>
          <p:nvPr/>
        </p:nvSpPr>
        <p:spPr bwMode="auto">
          <a:xfrm>
            <a:off x="3295774" y="2601278"/>
            <a:ext cx="5762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dirty="0">
                <a:latin typeface="Arial" panose="020B0604020202020204" pitchFamily="34" charset="0"/>
                <a:cs typeface="Arial" panose="020B0604020202020204" pitchFamily="34" charset="0"/>
              </a:rPr>
              <a:t>1</a:t>
            </a:r>
          </a:p>
        </p:txBody>
      </p:sp>
      <p:sp>
        <p:nvSpPr>
          <p:cNvPr id="27717" name="Line 289"/>
          <p:cNvSpPr>
            <a:spLocks noChangeShapeType="1"/>
          </p:cNvSpPr>
          <p:nvPr/>
        </p:nvSpPr>
        <p:spPr bwMode="auto">
          <a:xfrm>
            <a:off x="4640386" y="2909252"/>
            <a:ext cx="1536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18" name="Rectangle 290"/>
          <p:cNvSpPr>
            <a:spLocks noChangeArrowheads="1"/>
          </p:cNvSpPr>
          <p:nvPr/>
        </p:nvSpPr>
        <p:spPr bwMode="auto">
          <a:xfrm>
            <a:off x="5320888" y="2589354"/>
            <a:ext cx="5762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2</a:t>
            </a:r>
          </a:p>
        </p:txBody>
      </p:sp>
      <p:sp>
        <p:nvSpPr>
          <p:cNvPr id="12579" name="Rectangle 291"/>
          <p:cNvSpPr>
            <a:spLocks noChangeArrowheads="1"/>
          </p:cNvSpPr>
          <p:nvPr/>
        </p:nvSpPr>
        <p:spPr bwMode="auto">
          <a:xfrm>
            <a:off x="5239714" y="5334020"/>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dirty="0">
                <a:latin typeface="Arial" panose="020B0604020202020204" pitchFamily="34" charset="0"/>
                <a:cs typeface="Arial" panose="020B0604020202020204" pitchFamily="34" charset="0"/>
              </a:rPr>
              <a:t>4</a:t>
            </a:r>
          </a:p>
        </p:txBody>
      </p:sp>
      <p:sp>
        <p:nvSpPr>
          <p:cNvPr id="12580" name="Rectangle 292"/>
          <p:cNvSpPr>
            <a:spLocks noChangeArrowheads="1"/>
          </p:cNvSpPr>
          <p:nvPr/>
        </p:nvSpPr>
        <p:spPr bwMode="auto">
          <a:xfrm>
            <a:off x="1274023" y="2922746"/>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(e,4)</a:t>
            </a:r>
          </a:p>
        </p:txBody>
      </p:sp>
      <p:sp>
        <p:nvSpPr>
          <p:cNvPr id="12581" name="Rectangle 293"/>
          <p:cNvSpPr>
            <a:spLocks noChangeArrowheads="1"/>
          </p:cNvSpPr>
          <p:nvPr/>
        </p:nvSpPr>
        <p:spPr bwMode="auto">
          <a:xfrm>
            <a:off x="6421934" y="2871152"/>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dirty="0">
                <a:latin typeface="Arial" panose="020B0604020202020204" pitchFamily="34" charset="0"/>
                <a:cs typeface="Arial" panose="020B0604020202020204" pitchFamily="34" charset="0"/>
              </a:rPr>
              <a:t>(e,5)</a:t>
            </a:r>
          </a:p>
        </p:txBody>
      </p:sp>
      <p:sp>
        <p:nvSpPr>
          <p:cNvPr id="12582" name="Rectangle 294"/>
          <p:cNvSpPr>
            <a:spLocks noChangeArrowheads="1"/>
          </p:cNvSpPr>
          <p:nvPr/>
        </p:nvSpPr>
        <p:spPr bwMode="auto">
          <a:xfrm>
            <a:off x="5239714" y="602458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sp>
        <p:nvSpPr>
          <p:cNvPr id="12583" name="Rectangle 295"/>
          <p:cNvSpPr>
            <a:spLocks noChangeArrowheads="1"/>
          </p:cNvSpPr>
          <p:nvPr/>
        </p:nvSpPr>
        <p:spPr bwMode="auto">
          <a:xfrm>
            <a:off x="5239714" y="4949845"/>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graphicFrame>
        <p:nvGraphicFramePr>
          <p:cNvPr id="12584" name="Group 296"/>
          <p:cNvGraphicFramePr>
            <a:graphicFrameLocks noGrp="1"/>
          </p:cNvGraphicFramePr>
          <p:nvPr>
            <p:extLst>
              <p:ext uri="{D42A27DB-BD31-4B8C-83A1-F6EECF244321}">
                <p14:modId xmlns:p14="http://schemas.microsoft.com/office/powerpoint/2010/main" val="654733763"/>
              </p:ext>
            </p:extLst>
          </p:nvPr>
        </p:nvGraphicFramePr>
        <p:xfrm>
          <a:off x="5623888"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4</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d</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593" name="Rectangle 305"/>
          <p:cNvSpPr>
            <a:spLocks noChangeArrowheads="1"/>
          </p:cNvSpPr>
          <p:nvPr/>
        </p:nvSpPr>
        <p:spPr bwMode="auto">
          <a:xfrm>
            <a:off x="5661989" y="4949845"/>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sp>
        <p:nvSpPr>
          <p:cNvPr id="12594" name="Rectangle 306"/>
          <p:cNvSpPr>
            <a:spLocks noChangeArrowheads="1"/>
          </p:cNvSpPr>
          <p:nvPr/>
        </p:nvSpPr>
        <p:spPr bwMode="auto">
          <a:xfrm>
            <a:off x="5661989" y="602458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graphicFrame>
        <p:nvGraphicFramePr>
          <p:cNvPr id="12595" name="Group 307"/>
          <p:cNvGraphicFramePr>
            <a:graphicFrameLocks noGrp="1"/>
          </p:cNvGraphicFramePr>
          <p:nvPr>
            <p:extLst>
              <p:ext uri="{D42A27DB-BD31-4B8C-83A1-F6EECF244321}">
                <p14:modId xmlns:p14="http://schemas.microsoft.com/office/powerpoint/2010/main" val="3277506989"/>
              </p:ext>
            </p:extLst>
          </p:nvPr>
        </p:nvGraphicFramePr>
        <p:xfrm>
          <a:off x="6046163"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5</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c</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734" name="Line 316"/>
          <p:cNvSpPr>
            <a:spLocks noChangeShapeType="1"/>
          </p:cNvSpPr>
          <p:nvPr/>
        </p:nvSpPr>
        <p:spPr bwMode="auto">
          <a:xfrm>
            <a:off x="6291386" y="2102803"/>
            <a:ext cx="0" cy="6905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35" name="Rectangle 317"/>
          <p:cNvSpPr>
            <a:spLocks noChangeArrowheads="1"/>
          </p:cNvSpPr>
          <p:nvPr/>
        </p:nvSpPr>
        <p:spPr bwMode="auto">
          <a:xfrm>
            <a:off x="5869111" y="2218691"/>
            <a:ext cx="5762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1</a:t>
            </a:r>
          </a:p>
        </p:txBody>
      </p:sp>
      <p:sp>
        <p:nvSpPr>
          <p:cNvPr id="12606" name="Rectangle 318"/>
          <p:cNvSpPr>
            <a:spLocks noChangeArrowheads="1"/>
          </p:cNvSpPr>
          <p:nvPr/>
        </p:nvSpPr>
        <p:spPr bwMode="auto">
          <a:xfrm>
            <a:off x="6046164" y="602458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graphicFrame>
        <p:nvGraphicFramePr>
          <p:cNvPr id="12607" name="Group 319"/>
          <p:cNvGraphicFramePr>
            <a:graphicFrameLocks noGrp="1"/>
          </p:cNvGraphicFramePr>
          <p:nvPr>
            <p:extLst>
              <p:ext uri="{D42A27DB-BD31-4B8C-83A1-F6EECF244321}">
                <p14:modId xmlns:p14="http://schemas.microsoft.com/office/powerpoint/2010/main" val="863682698"/>
              </p:ext>
            </p:extLst>
          </p:nvPr>
        </p:nvGraphicFramePr>
        <p:xfrm>
          <a:off x="6468438"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6</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f</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3" name="Straight Connector 2"/>
          <p:cNvCxnSpPr/>
          <p:nvPr/>
        </p:nvCxnSpPr>
        <p:spPr>
          <a:xfrm flipV="1">
            <a:off x="2759199" y="2898141"/>
            <a:ext cx="422275" cy="31908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a:stCxn id="12539" idx="3"/>
          </p:cNvCxnSpPr>
          <p:nvPr/>
        </p:nvCxnSpPr>
        <p:spPr>
          <a:xfrm>
            <a:off x="2651973" y="3061651"/>
            <a:ext cx="384175" cy="1635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2213099" y="2855277"/>
            <a:ext cx="422275" cy="319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2251199" y="2971165"/>
            <a:ext cx="384175" cy="1635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890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6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25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4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4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5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9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52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229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52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250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252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25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499"/>
                                          </p:stCondLst>
                                        </p:cTn>
                                        <p:tgtEl>
                                          <p:spTgt spid="1254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25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499"/>
                                          </p:stCondLst>
                                        </p:cTn>
                                        <p:tgtEl>
                                          <p:spTgt spid="12541"/>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2292"/>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25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499"/>
                                          </p:stCondLst>
                                        </p:cTn>
                                        <p:tgtEl>
                                          <p:spTgt spid="1254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2565"/>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12566"/>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258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499"/>
                                          </p:stCondLst>
                                        </p:cTn>
                                        <p:tgtEl>
                                          <p:spTgt spid="12579"/>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2539"/>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258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499"/>
                                          </p:stCondLst>
                                        </p:cTn>
                                        <p:tgtEl>
                                          <p:spTgt spid="12582"/>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12583"/>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499"/>
                                          </p:stCondLst>
                                        </p:cTn>
                                        <p:tgtEl>
                                          <p:spTgt spid="12584"/>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1259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499"/>
                                          </p:stCondLst>
                                        </p:cTn>
                                        <p:tgtEl>
                                          <p:spTgt spid="12594"/>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499"/>
                                          </p:stCondLst>
                                        </p:cTn>
                                        <p:tgtEl>
                                          <p:spTgt spid="12595"/>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12606"/>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499"/>
                                          </p:stCondLst>
                                        </p:cTn>
                                        <p:tgtEl>
                                          <p:spTgt spid="126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utoUpdateAnimBg="0"/>
      <p:bldP spid="12292" grpId="1"/>
      <p:bldP spid="12293" grpId="0" autoUpdateAnimBg="0"/>
      <p:bldP spid="12497" grpId="0" animBg="1"/>
      <p:bldP spid="12498" grpId="0" autoUpdateAnimBg="0"/>
      <p:bldP spid="12499" grpId="0" autoUpdateAnimBg="0"/>
      <p:bldP spid="12500" grpId="0" animBg="1"/>
      <p:bldP spid="12521" grpId="0" autoUpdateAnimBg="0"/>
      <p:bldP spid="12522" grpId="0" autoUpdateAnimBg="0"/>
      <p:bldP spid="12538" grpId="0" autoUpdateAnimBg="0"/>
      <p:bldP spid="12539" grpId="0" autoUpdateAnimBg="0"/>
      <p:bldP spid="12539" grpId="1"/>
      <p:bldP spid="12540" grpId="0" autoUpdateAnimBg="0"/>
      <p:bldP spid="12541" grpId="0" autoUpdateAnimBg="0"/>
      <p:bldP spid="12542" grpId="0" autoUpdateAnimBg="0"/>
      <p:bldP spid="12543" grpId="0" autoUpdateAnimBg="0"/>
      <p:bldP spid="12565" grpId="0" autoUpdateAnimBg="0"/>
      <p:bldP spid="12579" grpId="0" autoUpdateAnimBg="0"/>
      <p:bldP spid="12580" grpId="0" autoUpdateAnimBg="0"/>
      <p:bldP spid="12581" grpId="0" autoUpdateAnimBg="0"/>
      <p:bldP spid="12582" grpId="0" autoUpdateAnimBg="0"/>
      <p:bldP spid="12583" grpId="0" autoUpdateAnimBg="0"/>
      <p:bldP spid="12593" grpId="0" autoUpdateAnimBg="0"/>
      <p:bldP spid="12594" grpId="0" autoUpdateAnimBg="0"/>
      <p:bldP spid="1260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319" y="0"/>
            <a:ext cx="7055380" cy="1152983"/>
          </a:xfrm>
        </p:spPr>
        <p:txBody>
          <a:bodyPr/>
          <a:lstStyle/>
          <a:p>
            <a:r>
              <a:rPr lang="en-US" altLang="en-US" sz="3600" dirty="0"/>
              <a:t>Dijkstra’s Algorithm</a:t>
            </a:r>
            <a:endParaRPr lang="en-US" sz="3600" dirty="0"/>
          </a:p>
        </p:txBody>
      </p:sp>
      <p:pic>
        <p:nvPicPr>
          <p:cNvPr id="7" name="Picture 6">
            <a:extLst>
              <a:ext uri="{FF2B5EF4-FFF2-40B4-BE49-F238E27FC236}">
                <a16:creationId xmlns:a16="http://schemas.microsoft.com/office/drawing/2014/main" id="{2D81E2EC-2111-C895-A895-50B0B9178FF1}"/>
              </a:ext>
            </a:extLst>
          </p:cNvPr>
          <p:cNvPicPr>
            <a:picLocks noChangeAspect="1"/>
          </p:cNvPicPr>
          <p:nvPr/>
        </p:nvPicPr>
        <p:blipFill>
          <a:blip r:embed="rId2"/>
          <a:stretch>
            <a:fillRect/>
          </a:stretch>
        </p:blipFill>
        <p:spPr>
          <a:xfrm>
            <a:off x="0" y="0"/>
            <a:ext cx="8769801" cy="6515435"/>
          </a:xfrm>
          <a:prstGeom prst="rect">
            <a:avLst/>
          </a:prstGeom>
        </p:spPr>
      </p:pic>
      <p:pic>
        <p:nvPicPr>
          <p:cNvPr id="9" name="Picture 8">
            <a:extLst>
              <a:ext uri="{FF2B5EF4-FFF2-40B4-BE49-F238E27FC236}">
                <a16:creationId xmlns:a16="http://schemas.microsoft.com/office/drawing/2014/main" id="{76AE40FF-E0DF-76E0-3582-B7B19B2E9911}"/>
              </a:ext>
            </a:extLst>
          </p:cNvPr>
          <p:cNvPicPr>
            <a:picLocks noChangeAspect="1"/>
          </p:cNvPicPr>
          <p:nvPr/>
        </p:nvPicPr>
        <p:blipFill>
          <a:blip r:embed="rId3"/>
          <a:stretch>
            <a:fillRect/>
          </a:stretch>
        </p:blipFill>
        <p:spPr>
          <a:xfrm>
            <a:off x="8680652" y="234743"/>
            <a:ext cx="3571929" cy="2683671"/>
          </a:xfrm>
          <a:prstGeom prst="rect">
            <a:avLst/>
          </a:prstGeom>
        </p:spPr>
      </p:pic>
      <p:pic>
        <p:nvPicPr>
          <p:cNvPr id="13" name="Picture 12">
            <a:extLst>
              <a:ext uri="{FF2B5EF4-FFF2-40B4-BE49-F238E27FC236}">
                <a16:creationId xmlns:a16="http://schemas.microsoft.com/office/drawing/2014/main" id="{CD18E76A-06A3-B6FC-93E0-A4B75E3C1A32}"/>
              </a:ext>
            </a:extLst>
          </p:cNvPr>
          <p:cNvPicPr>
            <a:picLocks noChangeAspect="1"/>
          </p:cNvPicPr>
          <p:nvPr/>
        </p:nvPicPr>
        <p:blipFill>
          <a:blip r:embed="rId4"/>
          <a:stretch>
            <a:fillRect/>
          </a:stretch>
        </p:blipFill>
        <p:spPr>
          <a:xfrm>
            <a:off x="8831898" y="3063354"/>
            <a:ext cx="2258867" cy="899504"/>
          </a:xfrm>
          <a:prstGeom prst="rect">
            <a:avLst/>
          </a:prstGeom>
        </p:spPr>
      </p:pic>
    </p:spTree>
    <p:extLst>
      <p:ext uri="{BB962C8B-B14F-4D97-AF65-F5344CB8AC3E}">
        <p14:creationId xmlns:p14="http://schemas.microsoft.com/office/powerpoint/2010/main" val="3126247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33A6E-F016-42F5-A3E3-457645D27381}"/>
              </a:ext>
            </a:extLst>
          </p:cNvPr>
          <p:cNvSpPr>
            <a:spLocks noGrp="1"/>
          </p:cNvSpPr>
          <p:nvPr>
            <p:ph type="title"/>
          </p:nvPr>
        </p:nvSpPr>
        <p:spPr>
          <a:xfrm>
            <a:off x="1046215" y="0"/>
            <a:ext cx="10515600" cy="1325563"/>
          </a:xfrm>
        </p:spPr>
        <p:txBody>
          <a:bodyPr/>
          <a:lstStyle/>
          <a:p>
            <a:r>
              <a:rPr lang="en-US" dirty="0"/>
              <a:t>Group Activity </a:t>
            </a:r>
            <a:r>
              <a:rPr lang="en-US" sz="1800" kern="50" dirty="0">
                <a:effectLst/>
                <a:latin typeface="Times New Roman" panose="02020603050405020304" pitchFamily="18" charset="0"/>
                <a:ea typeface="Batang" panose="02030600000101010101" pitchFamily="18" charset="-127"/>
              </a:rPr>
              <a:t>Find </a:t>
            </a:r>
            <a:r>
              <a:rPr lang="en-US" sz="1800" u="sng" kern="50" dirty="0">
                <a:effectLst/>
                <a:latin typeface="Times New Roman" panose="02020603050405020304" pitchFamily="18" charset="0"/>
                <a:ea typeface="Batang" panose="02030600000101010101" pitchFamily="18" charset="-127"/>
              </a:rPr>
              <a:t>the shortest distance and path for the distance</a:t>
            </a:r>
            <a:r>
              <a:rPr lang="en-US" sz="1800" kern="50" dirty="0">
                <a:effectLst/>
                <a:latin typeface="Times New Roman" panose="02020603050405020304" pitchFamily="18" charset="0"/>
                <a:ea typeface="Batang" panose="02030600000101010101" pitchFamily="18" charset="-127"/>
              </a:rPr>
              <a:t> from the node ‘A’ to nodes ‘B’, ‘C’, ‘D’, ‘E’, ‘F’, ‘G’, ‘H’, and ‘I’ using Dijkstra’s shortest path algorithm</a:t>
            </a:r>
            <a:endParaRPr lang="en-US" dirty="0"/>
          </a:p>
        </p:txBody>
      </p:sp>
      <p:sp>
        <p:nvSpPr>
          <p:cNvPr id="4" name="Date Placeholder 3">
            <a:extLst>
              <a:ext uri="{FF2B5EF4-FFF2-40B4-BE49-F238E27FC236}">
                <a16:creationId xmlns:a16="http://schemas.microsoft.com/office/drawing/2014/main" id="{6FD23468-4FA9-422D-BD69-83078D8E0E6B}"/>
              </a:ext>
            </a:extLst>
          </p:cNvPr>
          <p:cNvSpPr>
            <a:spLocks noGrp="1"/>
          </p:cNvSpPr>
          <p:nvPr>
            <p:ph type="dt" sz="half" idx="10"/>
          </p:nvPr>
        </p:nvSpPr>
        <p:spPr/>
        <p:txBody>
          <a:bodyPr/>
          <a:lstStyle/>
          <a:p>
            <a:r>
              <a:rPr lang="en-US"/>
              <a:t>TEXAS A&amp;M-SAN ANTONIO</a:t>
            </a:r>
            <a:endParaRPr lang="en-US" dirty="0"/>
          </a:p>
        </p:txBody>
      </p:sp>
      <p:pic>
        <p:nvPicPr>
          <p:cNvPr id="8" name="Picture 7">
            <a:extLst>
              <a:ext uri="{FF2B5EF4-FFF2-40B4-BE49-F238E27FC236}">
                <a16:creationId xmlns:a16="http://schemas.microsoft.com/office/drawing/2014/main" id="{44BFFF6A-F324-4C82-92B6-489248641ECB}"/>
              </a:ext>
            </a:extLst>
          </p:cNvPr>
          <p:cNvPicPr>
            <a:picLocks noChangeAspect="1"/>
          </p:cNvPicPr>
          <p:nvPr/>
        </p:nvPicPr>
        <p:blipFill>
          <a:blip r:embed="rId2"/>
          <a:stretch>
            <a:fillRect/>
          </a:stretch>
        </p:blipFill>
        <p:spPr>
          <a:xfrm>
            <a:off x="777863" y="1455570"/>
            <a:ext cx="7620056" cy="4848260"/>
          </a:xfrm>
          <a:prstGeom prst="rect">
            <a:avLst/>
          </a:prstGeom>
        </p:spPr>
      </p:pic>
    </p:spTree>
    <p:extLst>
      <p:ext uri="{BB962C8B-B14F-4D97-AF65-F5344CB8AC3E}">
        <p14:creationId xmlns:p14="http://schemas.microsoft.com/office/powerpoint/2010/main" val="3160882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619" y="1"/>
            <a:ext cx="10515600" cy="1139252"/>
          </a:xfrm>
        </p:spPr>
        <p:txBody>
          <a:bodyPr/>
          <a:lstStyle/>
          <a:p>
            <a:r>
              <a:rPr lang="en-US" altLang="en-US" sz="3600" dirty="0" err="1"/>
              <a:t>Dijkstra’s</a:t>
            </a:r>
            <a:r>
              <a:rPr lang="en-US" altLang="en-US" sz="3600" dirty="0"/>
              <a:t> Algorithm: Greedy Strategy</a:t>
            </a:r>
            <a:endParaRPr lang="en-US" sz="3600" dirty="0"/>
          </a:p>
        </p:txBody>
      </p:sp>
      <p:sp>
        <p:nvSpPr>
          <p:cNvPr id="6" name="Rectangle 3"/>
          <p:cNvSpPr>
            <a:spLocks noGrp="1" noChangeArrowheads="1"/>
          </p:cNvSpPr>
          <p:nvPr>
            <p:ph sz="quarter" idx="1"/>
          </p:nvPr>
        </p:nvSpPr>
        <p:spPr>
          <a:xfrm>
            <a:off x="5559428" y="1150616"/>
            <a:ext cx="5063105" cy="4750384"/>
          </a:xfrm>
        </p:spPr>
        <p:txBody>
          <a:bodyPr>
            <a:normAutofit/>
          </a:bodyPr>
          <a:lstStyle/>
          <a:p>
            <a:pPr>
              <a:lnSpc>
                <a:spcPct val="90000"/>
              </a:lnSpc>
              <a:buClr>
                <a:srgbClr val="002060"/>
              </a:buClr>
            </a:pPr>
            <a:r>
              <a:rPr lang="en-US" sz="2200" dirty="0"/>
              <a:t>Maintains a set S of vertices whose final shortest-path weights from the source s </a:t>
            </a:r>
          </a:p>
          <a:p>
            <a:pPr>
              <a:lnSpc>
                <a:spcPct val="90000"/>
              </a:lnSpc>
              <a:buClr>
                <a:srgbClr val="002060"/>
              </a:buClr>
            </a:pPr>
            <a:r>
              <a:rPr lang="en-US" sz="2200" dirty="0"/>
              <a:t>Repeatedly selects the vertex u ∈  V - S with the minimum shortest-path estimate, adds u to S, and relaxes all edges leaving u.</a:t>
            </a:r>
          </a:p>
          <a:p>
            <a:pPr>
              <a:lnSpc>
                <a:spcPct val="90000"/>
              </a:lnSpc>
              <a:buClr>
                <a:srgbClr val="002060"/>
              </a:buClr>
            </a:pPr>
            <a:r>
              <a:rPr lang="en-US" sz="2200" dirty="0"/>
              <a:t>Uses a greedy strategy: always chooses the “lightest” or “closest” vertex in V to add to set S.</a:t>
            </a:r>
          </a:p>
          <a:p>
            <a:pPr>
              <a:buClr>
                <a:srgbClr val="002060"/>
              </a:buClr>
            </a:pPr>
            <a:r>
              <a:rPr lang="en-US" sz="2200" dirty="0"/>
              <a:t> Greedy strategies do not always yield optimal results in general.</a:t>
            </a:r>
          </a:p>
          <a:p>
            <a:pPr>
              <a:lnSpc>
                <a:spcPct val="90000"/>
              </a:lnSpc>
              <a:buClr>
                <a:srgbClr val="002060"/>
              </a:buClr>
            </a:pPr>
            <a:r>
              <a:rPr lang="en-US" sz="2200" dirty="0"/>
              <a:t>Dijkstra’s algorithm does indeed compute shortest paths. </a:t>
            </a:r>
            <a:endParaRPr lang="en-US" altLang="en-US" sz="2200" dirty="0"/>
          </a:p>
          <a:p>
            <a:pPr lvl="1" eaLnBrk="1" hangingPunct="1">
              <a:lnSpc>
                <a:spcPct val="90000"/>
              </a:lnSpc>
            </a:pPr>
            <a:endParaRPr lang="en-US" altLang="en-US" dirty="0"/>
          </a:p>
        </p:txBody>
      </p:sp>
      <p:pic>
        <p:nvPicPr>
          <p:cNvPr id="3" name="Picture 2">
            <a:extLst>
              <a:ext uri="{FF2B5EF4-FFF2-40B4-BE49-F238E27FC236}">
                <a16:creationId xmlns:a16="http://schemas.microsoft.com/office/drawing/2014/main" id="{4D5237BD-8D18-8C27-8A97-B19A8B05AB5C}"/>
              </a:ext>
            </a:extLst>
          </p:cNvPr>
          <p:cNvPicPr>
            <a:picLocks noChangeAspect="1"/>
          </p:cNvPicPr>
          <p:nvPr/>
        </p:nvPicPr>
        <p:blipFill>
          <a:blip r:embed="rId2"/>
          <a:stretch>
            <a:fillRect/>
          </a:stretch>
        </p:blipFill>
        <p:spPr>
          <a:xfrm>
            <a:off x="523241" y="1139253"/>
            <a:ext cx="4369601" cy="3282980"/>
          </a:xfrm>
          <a:prstGeom prst="rect">
            <a:avLst/>
          </a:prstGeom>
        </p:spPr>
      </p:pic>
      <p:pic>
        <p:nvPicPr>
          <p:cNvPr id="7" name="Picture 6">
            <a:extLst>
              <a:ext uri="{FF2B5EF4-FFF2-40B4-BE49-F238E27FC236}">
                <a16:creationId xmlns:a16="http://schemas.microsoft.com/office/drawing/2014/main" id="{FA302429-FD12-1A88-7C02-3E4A0FD1A231}"/>
              </a:ext>
            </a:extLst>
          </p:cNvPr>
          <p:cNvPicPr>
            <a:picLocks noChangeAspect="1"/>
          </p:cNvPicPr>
          <p:nvPr/>
        </p:nvPicPr>
        <p:blipFill>
          <a:blip r:embed="rId3"/>
          <a:stretch>
            <a:fillRect/>
          </a:stretch>
        </p:blipFill>
        <p:spPr>
          <a:xfrm>
            <a:off x="602297" y="4553400"/>
            <a:ext cx="3068124" cy="1221758"/>
          </a:xfrm>
          <a:prstGeom prst="rect">
            <a:avLst/>
          </a:prstGeom>
        </p:spPr>
      </p:pic>
    </p:spTree>
    <p:extLst>
      <p:ext uri="{BB962C8B-B14F-4D97-AF65-F5344CB8AC3E}">
        <p14:creationId xmlns:p14="http://schemas.microsoft.com/office/powerpoint/2010/main" val="10661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B2AB2-5E08-4750-BA82-5E1812582FF9}"/>
              </a:ext>
            </a:extLst>
          </p:cNvPr>
          <p:cNvSpPr>
            <a:spLocks noGrp="1"/>
          </p:cNvSpPr>
          <p:nvPr>
            <p:ph type="title"/>
          </p:nvPr>
        </p:nvSpPr>
        <p:spPr>
          <a:xfrm>
            <a:off x="1029324" y="4815"/>
            <a:ext cx="10972800" cy="1143000"/>
          </a:xfrm>
        </p:spPr>
        <p:txBody>
          <a:bodyPr/>
          <a:lstStyle/>
          <a:p>
            <a:r>
              <a:rPr lang="en-US" sz="3600" dirty="0"/>
              <a:t>Complexity Analysis</a:t>
            </a:r>
          </a:p>
        </p:txBody>
      </p:sp>
      <p:sp>
        <p:nvSpPr>
          <p:cNvPr id="3" name="Text Placeholder 2">
            <a:extLst>
              <a:ext uri="{FF2B5EF4-FFF2-40B4-BE49-F238E27FC236}">
                <a16:creationId xmlns:a16="http://schemas.microsoft.com/office/drawing/2014/main" id="{A14224BC-DD07-4439-AE0E-B520B7AD8424}"/>
              </a:ext>
            </a:extLst>
          </p:cNvPr>
          <p:cNvSpPr>
            <a:spLocks noGrp="1"/>
          </p:cNvSpPr>
          <p:nvPr>
            <p:ph type="body" sz="half" idx="1"/>
          </p:nvPr>
        </p:nvSpPr>
        <p:spPr>
          <a:xfrm>
            <a:off x="5668190" y="1528232"/>
            <a:ext cx="6096900" cy="4189475"/>
          </a:xfrm>
        </p:spPr>
        <p:txBody>
          <a:bodyPr>
            <a:normAutofit/>
          </a:bodyPr>
          <a:lstStyle/>
          <a:p>
            <a:pPr>
              <a:buClr>
                <a:srgbClr val="002060"/>
              </a:buClr>
            </a:pPr>
            <a:r>
              <a:rPr lang="en-US" sz="2200" dirty="0"/>
              <a:t>For </a:t>
            </a:r>
            <a:r>
              <a:rPr lang="nl-NL" sz="2200" dirty="0"/>
              <a:t> each vertex u element of V, </a:t>
            </a:r>
            <a:r>
              <a:rPr lang="en-US" sz="2200" i="1" dirty="0"/>
              <a:t>O|V|</a:t>
            </a:r>
            <a:r>
              <a:rPr lang="nl-NL" sz="2200" dirty="0"/>
              <a:t> , </a:t>
            </a:r>
            <a:r>
              <a:rPr lang="en-US" sz="2200" dirty="0"/>
              <a:t>in line 3 </a:t>
            </a:r>
            <a:endParaRPr lang="nl-NL" sz="2200" dirty="0"/>
          </a:p>
          <a:p>
            <a:pPr>
              <a:buClr>
                <a:srgbClr val="002060"/>
              </a:buClr>
            </a:pPr>
            <a:r>
              <a:rPr lang="en-US" sz="2200" dirty="0"/>
              <a:t>while loop of lines 4–8 iterates exactly |V| times</a:t>
            </a:r>
          </a:p>
          <a:p>
            <a:pPr>
              <a:buClr>
                <a:srgbClr val="002060"/>
              </a:buClr>
            </a:pPr>
            <a:r>
              <a:rPr lang="en-US" sz="2200" dirty="0"/>
              <a:t>EXTRACT-MIN in line 5 operation takes O|V| time since we have to search through the entire array</a:t>
            </a:r>
          </a:p>
          <a:p>
            <a:pPr>
              <a:buClr>
                <a:srgbClr val="002060"/>
              </a:buClr>
            </a:pPr>
            <a:r>
              <a:rPr lang="en-US" sz="2200" dirty="0"/>
              <a:t>Each edge in the adjacency list Adj[u] is examined in the for loop of lines 7–8 exactly once - Since the total number of edges in all the adjacency lists is |E|, this for loop iterates a total of |E| times</a:t>
            </a:r>
          </a:p>
          <a:p>
            <a:pPr lvl="0">
              <a:buClr>
                <a:srgbClr val="002060"/>
              </a:buClr>
            </a:pPr>
            <a:r>
              <a:rPr lang="en-US" sz="2200" dirty="0"/>
              <a:t>A total time of </a:t>
            </a:r>
            <a:r>
              <a:rPr lang="en-US" sz="2200" i="1" dirty="0"/>
              <a:t>O(V</a:t>
            </a:r>
            <a:r>
              <a:rPr lang="en-US" sz="2200" i="1" baseline="30000" dirty="0"/>
              <a:t>2</a:t>
            </a:r>
            <a:r>
              <a:rPr lang="en-US" sz="2200" i="1" dirty="0"/>
              <a:t> + E) = O(V</a:t>
            </a:r>
            <a:r>
              <a:rPr lang="en-US" sz="2200" i="1" baseline="30000" dirty="0"/>
              <a:t>2</a:t>
            </a:r>
            <a:r>
              <a:rPr lang="en-US" sz="2200" i="1" dirty="0"/>
              <a:t>)</a:t>
            </a:r>
          </a:p>
          <a:p>
            <a:endParaRPr lang="en-US" dirty="0"/>
          </a:p>
        </p:txBody>
      </p:sp>
      <p:pic>
        <p:nvPicPr>
          <p:cNvPr id="6" name="Picture 5">
            <a:extLst>
              <a:ext uri="{FF2B5EF4-FFF2-40B4-BE49-F238E27FC236}">
                <a16:creationId xmlns:a16="http://schemas.microsoft.com/office/drawing/2014/main" id="{BFFBDE3D-B9D5-9026-CB00-F4ED1CF31D45}"/>
              </a:ext>
            </a:extLst>
          </p:cNvPr>
          <p:cNvPicPr>
            <a:picLocks noChangeAspect="1"/>
          </p:cNvPicPr>
          <p:nvPr/>
        </p:nvPicPr>
        <p:blipFill>
          <a:blip r:embed="rId2"/>
          <a:stretch>
            <a:fillRect/>
          </a:stretch>
        </p:blipFill>
        <p:spPr>
          <a:xfrm>
            <a:off x="611473" y="1279187"/>
            <a:ext cx="4538852" cy="3410142"/>
          </a:xfrm>
          <a:prstGeom prst="rect">
            <a:avLst/>
          </a:prstGeom>
        </p:spPr>
      </p:pic>
      <p:pic>
        <p:nvPicPr>
          <p:cNvPr id="7" name="Picture 6">
            <a:extLst>
              <a:ext uri="{FF2B5EF4-FFF2-40B4-BE49-F238E27FC236}">
                <a16:creationId xmlns:a16="http://schemas.microsoft.com/office/drawing/2014/main" id="{6D20851C-6312-A2FD-1EB6-C8F1BBA606B5}"/>
              </a:ext>
            </a:extLst>
          </p:cNvPr>
          <p:cNvPicPr>
            <a:picLocks noChangeAspect="1"/>
          </p:cNvPicPr>
          <p:nvPr/>
        </p:nvPicPr>
        <p:blipFill>
          <a:blip r:embed="rId3"/>
          <a:stretch>
            <a:fillRect/>
          </a:stretch>
        </p:blipFill>
        <p:spPr>
          <a:xfrm>
            <a:off x="611473" y="4885840"/>
            <a:ext cx="2870343" cy="1143000"/>
          </a:xfrm>
          <a:prstGeom prst="rect">
            <a:avLst/>
          </a:prstGeom>
        </p:spPr>
      </p:pic>
    </p:spTree>
    <p:extLst>
      <p:ext uri="{BB962C8B-B14F-4D97-AF65-F5344CB8AC3E}">
        <p14:creationId xmlns:p14="http://schemas.microsoft.com/office/powerpoint/2010/main" val="1854809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62752" y="48005"/>
            <a:ext cx="8153400" cy="990600"/>
          </a:xfrm>
        </p:spPr>
        <p:txBody>
          <a:bodyPr>
            <a:normAutofit/>
          </a:bodyPr>
          <a:lstStyle/>
          <a:p>
            <a:pPr eaLnBrk="1" hangingPunct="1"/>
            <a:r>
              <a:rPr lang="en-US" altLang="en-US" sz="3600" dirty="0"/>
              <a:t>Complexity Analysis</a:t>
            </a:r>
          </a:p>
        </p:txBody>
      </p:sp>
      <p:sp>
        <p:nvSpPr>
          <p:cNvPr id="6" name="Rectangle 3"/>
          <p:cNvSpPr>
            <a:spLocks noGrp="1" noChangeArrowheads="1"/>
          </p:cNvSpPr>
          <p:nvPr>
            <p:ph sz="quarter" idx="1"/>
          </p:nvPr>
        </p:nvSpPr>
        <p:spPr>
          <a:xfrm>
            <a:off x="5609824" y="1529135"/>
            <a:ext cx="6067513" cy="4362138"/>
          </a:xfrm>
        </p:spPr>
        <p:txBody>
          <a:bodyPr>
            <a:normAutofit fontScale="92500" lnSpcReduction="20000"/>
          </a:bodyPr>
          <a:lstStyle/>
          <a:p>
            <a:pPr>
              <a:buClr>
                <a:srgbClr val="002060"/>
              </a:buClr>
            </a:pPr>
            <a:r>
              <a:rPr lang="en-US" sz="2400" dirty="0"/>
              <a:t>The efficiency can be improved by using a min heap to store and order vertices.</a:t>
            </a:r>
          </a:p>
          <a:p>
            <a:pPr>
              <a:buClr>
                <a:srgbClr val="002060"/>
              </a:buClr>
            </a:pPr>
            <a:r>
              <a:rPr lang="en-US" sz="2400" dirty="0"/>
              <a:t> Line 3 initializes the min-priority queue Q to contain all the vertices in V</a:t>
            </a:r>
          </a:p>
          <a:p>
            <a:pPr>
              <a:buClr>
                <a:srgbClr val="002060"/>
              </a:buClr>
            </a:pPr>
            <a:r>
              <a:rPr lang="en-US" altLang="en-US" sz="2400" i="1" dirty="0"/>
              <a:t>Each EXTRACT-MIN operation then takes time O(</a:t>
            </a:r>
            <a:r>
              <a:rPr lang="en-US" altLang="en-US" sz="2400" i="1" dirty="0" err="1"/>
              <a:t>lg</a:t>
            </a:r>
            <a:r>
              <a:rPr lang="en-US" altLang="en-US" sz="2400" i="1" dirty="0"/>
              <a:t> |V|). </a:t>
            </a:r>
          </a:p>
          <a:p>
            <a:pPr>
              <a:buClr>
                <a:srgbClr val="002060"/>
              </a:buClr>
            </a:pPr>
            <a:r>
              <a:rPr lang="en-US" sz="2400" dirty="0"/>
              <a:t>Each time through the while loop for |V|, the cost of restoring the heap after removing a vertex is proportional to </a:t>
            </a:r>
            <a:r>
              <a:rPr lang="en-US" sz="2400" i="1" dirty="0"/>
              <a:t>O</a:t>
            </a:r>
            <a:r>
              <a:rPr lang="en-US" sz="2400" dirty="0"/>
              <a:t> (</a:t>
            </a:r>
            <a:r>
              <a:rPr lang="en-US" sz="2400" dirty="0" err="1"/>
              <a:t>lg|V</a:t>
            </a:r>
            <a:r>
              <a:rPr lang="en-US" sz="2400" dirty="0"/>
              <a:t>|)</a:t>
            </a:r>
          </a:p>
          <a:p>
            <a:pPr lvl="1">
              <a:buClr>
                <a:srgbClr val="002060"/>
              </a:buClr>
            </a:pPr>
            <a:r>
              <a:rPr lang="en-US" altLang="en-US" i="1" dirty="0"/>
              <a:t>Line 4-5: </a:t>
            </a:r>
            <a:r>
              <a:rPr lang="en-US" i="1" dirty="0"/>
              <a:t>O</a:t>
            </a:r>
            <a:r>
              <a:rPr lang="en-US" dirty="0"/>
              <a:t> (|</a:t>
            </a:r>
            <a:r>
              <a:rPr lang="en-US" dirty="0" err="1"/>
              <a:t>V|lg|V</a:t>
            </a:r>
            <a:r>
              <a:rPr lang="en-US" dirty="0"/>
              <a:t>|)</a:t>
            </a:r>
          </a:p>
          <a:p>
            <a:pPr>
              <a:buClr>
                <a:srgbClr val="002060"/>
              </a:buClr>
            </a:pPr>
            <a:r>
              <a:rPr lang="en-US" sz="2400" dirty="0"/>
              <a:t>loop of lines 7–8 exactly once - this for loop iterates a total of |E| times</a:t>
            </a:r>
            <a:endParaRPr lang="en-US" altLang="en-US" sz="2400" i="1" dirty="0"/>
          </a:p>
          <a:p>
            <a:pPr>
              <a:buClr>
                <a:srgbClr val="002060"/>
              </a:buClr>
            </a:pPr>
            <a:r>
              <a:rPr lang="en-US" sz="2400" dirty="0"/>
              <a:t>A total time of </a:t>
            </a:r>
            <a:r>
              <a:rPr lang="en-US" altLang="en-US" sz="2400" i="1" dirty="0"/>
              <a:t>O</a:t>
            </a:r>
            <a:r>
              <a:rPr lang="en-US" altLang="en-US" sz="2400" dirty="0"/>
              <a:t> </a:t>
            </a:r>
            <a:r>
              <a:rPr lang="en-US" sz="2400" dirty="0"/>
              <a:t>(|</a:t>
            </a:r>
            <a:r>
              <a:rPr lang="en-US" sz="2400" dirty="0" err="1"/>
              <a:t>v|lg|V</a:t>
            </a:r>
            <a:r>
              <a:rPr lang="en-US" sz="2400" dirty="0"/>
              <a:t>| + |E| ) =&gt; O (|V| lg |V|)</a:t>
            </a:r>
          </a:p>
          <a:p>
            <a:pPr lvl="1"/>
            <a:endParaRPr lang="en-US" dirty="0"/>
          </a:p>
          <a:p>
            <a:pPr lvl="1"/>
            <a:endParaRPr lang="en-US" dirty="0"/>
          </a:p>
          <a:p>
            <a:endParaRPr lang="en-US" dirty="0"/>
          </a:p>
          <a:p>
            <a:pPr lvl="1"/>
            <a:endParaRPr lang="en-US" altLang="en-US" dirty="0"/>
          </a:p>
          <a:p>
            <a:pPr eaLnBrk="1" hangingPunct="1"/>
            <a:endParaRPr lang="en-US" altLang="en-US" dirty="0"/>
          </a:p>
          <a:p>
            <a:pPr eaLnBrk="1" hangingPunct="1"/>
            <a:endParaRPr lang="en-US" altLang="en-US" dirty="0"/>
          </a:p>
        </p:txBody>
      </p:sp>
      <p:pic>
        <p:nvPicPr>
          <p:cNvPr id="2" name="Picture 1">
            <a:extLst>
              <a:ext uri="{FF2B5EF4-FFF2-40B4-BE49-F238E27FC236}">
                <a16:creationId xmlns:a16="http://schemas.microsoft.com/office/drawing/2014/main" id="{2D28A896-11E5-1DC1-1593-7F54782F9805}"/>
              </a:ext>
            </a:extLst>
          </p:cNvPr>
          <p:cNvPicPr>
            <a:picLocks noChangeAspect="1"/>
          </p:cNvPicPr>
          <p:nvPr/>
        </p:nvPicPr>
        <p:blipFill>
          <a:blip r:embed="rId2"/>
          <a:stretch>
            <a:fillRect/>
          </a:stretch>
        </p:blipFill>
        <p:spPr>
          <a:xfrm>
            <a:off x="667620" y="1279187"/>
            <a:ext cx="4709989" cy="3538721"/>
          </a:xfrm>
          <a:prstGeom prst="rect">
            <a:avLst/>
          </a:prstGeom>
        </p:spPr>
      </p:pic>
      <p:pic>
        <p:nvPicPr>
          <p:cNvPr id="3" name="Picture 2">
            <a:extLst>
              <a:ext uri="{FF2B5EF4-FFF2-40B4-BE49-F238E27FC236}">
                <a16:creationId xmlns:a16="http://schemas.microsoft.com/office/drawing/2014/main" id="{05700692-6C5C-0A9B-05A1-12C44B04B860}"/>
              </a:ext>
            </a:extLst>
          </p:cNvPr>
          <p:cNvPicPr>
            <a:picLocks noChangeAspect="1"/>
          </p:cNvPicPr>
          <p:nvPr/>
        </p:nvPicPr>
        <p:blipFill>
          <a:blip r:embed="rId3"/>
          <a:stretch>
            <a:fillRect/>
          </a:stretch>
        </p:blipFill>
        <p:spPr>
          <a:xfrm>
            <a:off x="667620" y="4985764"/>
            <a:ext cx="2978570" cy="1186097"/>
          </a:xfrm>
          <a:prstGeom prst="rect">
            <a:avLst/>
          </a:prstGeom>
        </p:spPr>
      </p:pic>
    </p:spTree>
    <p:extLst>
      <p:ext uri="{BB962C8B-B14F-4D97-AF65-F5344CB8AC3E}">
        <p14:creationId xmlns:p14="http://schemas.microsoft.com/office/powerpoint/2010/main" val="3528225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013" y="442223"/>
            <a:ext cx="10515600" cy="909013"/>
          </a:xfrm>
        </p:spPr>
        <p:txBody>
          <a:bodyPr>
            <a:normAutofit fontScale="90000"/>
          </a:bodyPr>
          <a:lstStyle/>
          <a:p>
            <a:r>
              <a:rPr lang="en-US" altLang="en-US" sz="4200" dirty="0"/>
              <a:t>Single Source Shortest Path Problem</a:t>
            </a:r>
            <a:br>
              <a:rPr lang="en-US" altLang="en-US" dirty="0"/>
            </a:br>
            <a:endParaRPr lang="en-US" dirty="0"/>
          </a:p>
        </p:txBody>
      </p:sp>
      <p:sp>
        <p:nvSpPr>
          <p:cNvPr id="4" name="Date Placeholder 3"/>
          <p:cNvSpPr>
            <a:spLocks noGrp="1"/>
          </p:cNvSpPr>
          <p:nvPr>
            <p:ph type="dt" sz="half" idx="10"/>
          </p:nvPr>
        </p:nvSpPr>
        <p:spPr/>
        <p:txBody>
          <a:bodyPr/>
          <a:lstStyle/>
          <a:p>
            <a:r>
              <a:rPr lang="en-US"/>
              <a:t>TEXAS A&amp;M-SAN ANTONIO</a:t>
            </a:r>
            <a:endParaRPr lang="en-US" dirty="0"/>
          </a:p>
        </p:txBody>
      </p:sp>
      <p:sp>
        <p:nvSpPr>
          <p:cNvPr id="5" name="Rectangle 3"/>
          <p:cNvSpPr>
            <a:spLocks noGrp="1" noChangeArrowheads="1"/>
          </p:cNvSpPr>
          <p:nvPr>
            <p:ph idx="1"/>
          </p:nvPr>
        </p:nvSpPr>
        <p:spPr>
          <a:xfrm>
            <a:off x="838200" y="1828799"/>
            <a:ext cx="10515600" cy="4167507"/>
          </a:xfrm>
        </p:spPr>
        <p:txBody>
          <a:bodyPr>
            <a:normAutofit/>
          </a:bodyPr>
          <a:lstStyle/>
          <a:p>
            <a:pPr>
              <a:buClr>
                <a:srgbClr val="002060"/>
              </a:buClr>
            </a:pPr>
            <a:r>
              <a:rPr lang="en-US" altLang="en-US" sz="2600" dirty="0" err="1"/>
              <a:t>Dijkstra’s</a:t>
            </a:r>
            <a:r>
              <a:rPr lang="en-US" altLang="en-US" sz="2600" dirty="0"/>
              <a:t> Algorithm with Greedy Strategy</a:t>
            </a:r>
          </a:p>
          <a:p>
            <a:pPr>
              <a:buClr>
                <a:srgbClr val="002060"/>
              </a:buClr>
            </a:pPr>
            <a:r>
              <a:rPr lang="en-US" altLang="en-US" sz="2600" dirty="0"/>
              <a:t>Bellman-Ford Algorithm with Dynamic Programming</a:t>
            </a:r>
          </a:p>
          <a:p>
            <a:pPr lvl="1">
              <a:buClr>
                <a:srgbClr val="002060"/>
              </a:buClr>
            </a:pPr>
            <a:endParaRPr lang="en-US" dirty="0"/>
          </a:p>
          <a:p>
            <a:pPr lvl="1">
              <a:buClr>
                <a:srgbClr val="002060"/>
              </a:buClr>
            </a:pPr>
            <a:endParaRPr lang="en-US" sz="2000" dirty="0"/>
          </a:p>
          <a:p>
            <a:pPr lvl="1">
              <a:buClr>
                <a:srgbClr val="002060"/>
              </a:buClr>
            </a:pPr>
            <a:endParaRPr lang="en-US" altLang="en-US" sz="2000" dirty="0"/>
          </a:p>
          <a:p>
            <a:pPr lvl="1"/>
            <a:endParaRPr lang="en-US" altLang="en-US" dirty="0"/>
          </a:p>
          <a:p>
            <a:pPr eaLnBrk="1" hangingPunct="1"/>
            <a:endParaRPr lang="en-US" altLang="en-US" dirty="0"/>
          </a:p>
        </p:txBody>
      </p:sp>
    </p:spTree>
    <p:extLst>
      <p:ext uri="{BB962C8B-B14F-4D97-AF65-F5344CB8AC3E}">
        <p14:creationId xmlns:p14="http://schemas.microsoft.com/office/powerpoint/2010/main" val="4031539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013" y="442223"/>
            <a:ext cx="10515600" cy="909013"/>
          </a:xfrm>
        </p:spPr>
        <p:txBody>
          <a:bodyPr>
            <a:normAutofit fontScale="90000"/>
          </a:bodyPr>
          <a:lstStyle/>
          <a:p>
            <a:r>
              <a:rPr lang="en-US" altLang="en-US" sz="4200" dirty="0"/>
              <a:t>Single Source Shortest Path Problem</a:t>
            </a:r>
            <a:br>
              <a:rPr lang="en-US" altLang="en-US" dirty="0"/>
            </a:br>
            <a:endParaRPr lang="en-US" dirty="0"/>
          </a:p>
        </p:txBody>
      </p:sp>
      <p:sp>
        <p:nvSpPr>
          <p:cNvPr id="4" name="Date Placeholder 3"/>
          <p:cNvSpPr>
            <a:spLocks noGrp="1"/>
          </p:cNvSpPr>
          <p:nvPr>
            <p:ph type="dt" sz="half" idx="10"/>
          </p:nvPr>
        </p:nvSpPr>
        <p:spPr/>
        <p:txBody>
          <a:bodyPr/>
          <a:lstStyle/>
          <a:p>
            <a:r>
              <a:rPr lang="en-US"/>
              <a:t>TEXAS A&amp;M-SAN ANTONIO</a:t>
            </a:r>
            <a:endParaRPr lang="en-US" dirty="0"/>
          </a:p>
        </p:txBody>
      </p:sp>
      <p:sp>
        <p:nvSpPr>
          <p:cNvPr id="5" name="Rectangle 3"/>
          <p:cNvSpPr>
            <a:spLocks noGrp="1" noChangeArrowheads="1"/>
          </p:cNvSpPr>
          <p:nvPr>
            <p:ph idx="1"/>
          </p:nvPr>
        </p:nvSpPr>
        <p:spPr>
          <a:xfrm>
            <a:off x="838200" y="1644969"/>
            <a:ext cx="10515600" cy="4351338"/>
          </a:xfrm>
        </p:spPr>
        <p:txBody>
          <a:bodyPr>
            <a:normAutofit/>
          </a:bodyPr>
          <a:lstStyle/>
          <a:p>
            <a:pPr>
              <a:buClr>
                <a:srgbClr val="002060"/>
              </a:buClr>
            </a:pPr>
            <a:r>
              <a:rPr lang="en-US" altLang="en-US" sz="2600" b="1" dirty="0" err="1"/>
              <a:t>Dijkstra’s</a:t>
            </a:r>
            <a:r>
              <a:rPr lang="en-US" altLang="en-US" sz="2600" b="1" dirty="0"/>
              <a:t> Algorithm with Greedy Strategy</a:t>
            </a:r>
          </a:p>
          <a:p>
            <a:pPr lvl="1">
              <a:buClr>
                <a:srgbClr val="002060"/>
              </a:buClr>
            </a:pPr>
            <a:r>
              <a:rPr lang="en-US" sz="2600" dirty="0"/>
              <a:t>Always chooses the “lightest” or “closest” vertex in V to add to set S</a:t>
            </a:r>
          </a:p>
          <a:p>
            <a:pPr lvl="1">
              <a:buClr>
                <a:srgbClr val="002060"/>
              </a:buClr>
            </a:pPr>
            <a:r>
              <a:rPr lang="en-US" sz="2600" dirty="0"/>
              <a:t>Greedy strategies do not always yield optimal results in general.</a:t>
            </a:r>
          </a:p>
          <a:p>
            <a:pPr lvl="1">
              <a:buClr>
                <a:srgbClr val="002060"/>
              </a:buClr>
            </a:pPr>
            <a:r>
              <a:rPr lang="en-US" sz="2600" dirty="0" err="1"/>
              <a:t>Dijkstra’s</a:t>
            </a:r>
            <a:r>
              <a:rPr lang="en-US" sz="2600" dirty="0"/>
              <a:t> algorithm does indeed compute shortest paths</a:t>
            </a:r>
          </a:p>
          <a:p>
            <a:pPr lvl="1">
              <a:buClr>
                <a:srgbClr val="002060"/>
              </a:buClr>
            </a:pPr>
            <a:r>
              <a:rPr lang="en-US" sz="2600" dirty="0"/>
              <a:t>Assume that </a:t>
            </a:r>
            <a:r>
              <a:rPr lang="en-US" sz="2600" b="1" dirty="0"/>
              <a:t>all edge weights in the input graph are nonnegative</a:t>
            </a:r>
            <a:endParaRPr lang="en-US" sz="2600" dirty="0"/>
          </a:p>
          <a:p>
            <a:pPr lvl="1">
              <a:buClr>
                <a:srgbClr val="002060"/>
              </a:buClr>
            </a:pPr>
            <a:endParaRPr lang="en-US" dirty="0"/>
          </a:p>
          <a:p>
            <a:pPr lvl="1">
              <a:buClr>
                <a:srgbClr val="002060"/>
              </a:buClr>
            </a:pPr>
            <a:endParaRPr lang="en-US" sz="2000" dirty="0"/>
          </a:p>
          <a:p>
            <a:pPr lvl="1">
              <a:buClr>
                <a:srgbClr val="002060"/>
              </a:buClr>
            </a:pPr>
            <a:endParaRPr lang="en-US" altLang="en-US" sz="2000" dirty="0"/>
          </a:p>
          <a:p>
            <a:pPr lvl="1"/>
            <a:endParaRPr lang="en-US" altLang="en-US" dirty="0"/>
          </a:p>
          <a:p>
            <a:pPr eaLnBrk="1" hangingPunct="1"/>
            <a:endParaRPr lang="en-US" altLang="en-US" dirty="0"/>
          </a:p>
        </p:txBody>
      </p:sp>
    </p:spTree>
    <p:extLst>
      <p:ext uri="{BB962C8B-B14F-4D97-AF65-F5344CB8AC3E}">
        <p14:creationId xmlns:p14="http://schemas.microsoft.com/office/powerpoint/2010/main" val="1994215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325563"/>
          </a:xfrm>
        </p:spPr>
        <p:txBody>
          <a:bodyPr>
            <a:normAutofit/>
          </a:bodyPr>
          <a:lstStyle/>
          <a:p>
            <a:r>
              <a:rPr lang="en-US" sz="3600" dirty="0"/>
              <a:t> Bellman-Ford Algorithm</a:t>
            </a:r>
          </a:p>
        </p:txBody>
      </p:sp>
      <p:sp>
        <p:nvSpPr>
          <p:cNvPr id="3" name="Content Placeholder 2"/>
          <p:cNvSpPr>
            <a:spLocks noGrp="1"/>
          </p:cNvSpPr>
          <p:nvPr>
            <p:ph idx="1"/>
          </p:nvPr>
        </p:nvSpPr>
        <p:spPr>
          <a:xfrm>
            <a:off x="1093032" y="1708879"/>
            <a:ext cx="10515600" cy="4168280"/>
          </a:xfrm>
        </p:spPr>
        <p:txBody>
          <a:bodyPr/>
          <a:lstStyle/>
          <a:p>
            <a:r>
              <a:rPr lang="en-US" dirty="0"/>
              <a:t>Solves the single-source shortest-paths problem in general</a:t>
            </a:r>
          </a:p>
          <a:p>
            <a:r>
              <a:rPr lang="en-US" dirty="0"/>
              <a:t>Case in which edge weights may be negative</a:t>
            </a:r>
          </a:p>
          <a:p>
            <a:endParaRPr lang="en-US" dirty="0"/>
          </a:p>
        </p:txBody>
      </p:sp>
      <p:sp>
        <p:nvSpPr>
          <p:cNvPr id="4" name="Date Placeholder 3"/>
          <p:cNvSpPr>
            <a:spLocks noGrp="1"/>
          </p:cNvSpPr>
          <p:nvPr>
            <p:ph type="dt" sz="half" idx="10"/>
          </p:nvPr>
        </p:nvSpPr>
        <p:spPr/>
        <p:txBody>
          <a:bodyPr/>
          <a:lstStyle/>
          <a:p>
            <a:r>
              <a:rPr lang="en-US"/>
              <a:t>TEXAS A&amp;M-SAN ANTONIO</a:t>
            </a:r>
            <a:endParaRPr lang="en-US" dirty="0"/>
          </a:p>
        </p:txBody>
      </p:sp>
    </p:spTree>
    <p:extLst>
      <p:ext uri="{BB962C8B-B14F-4D97-AF65-F5344CB8AC3E}">
        <p14:creationId xmlns:p14="http://schemas.microsoft.com/office/powerpoint/2010/main" val="1046933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013" y="442223"/>
            <a:ext cx="10515600" cy="909013"/>
          </a:xfrm>
        </p:spPr>
        <p:txBody>
          <a:bodyPr>
            <a:normAutofit fontScale="90000"/>
          </a:bodyPr>
          <a:lstStyle/>
          <a:p>
            <a:r>
              <a:rPr lang="en-US" altLang="en-US" sz="4200" dirty="0"/>
              <a:t>Single Source Shortest Path Problem</a:t>
            </a:r>
            <a:br>
              <a:rPr lang="en-US" altLang="en-US" dirty="0"/>
            </a:br>
            <a:endParaRPr lang="en-US" dirty="0"/>
          </a:p>
        </p:txBody>
      </p:sp>
      <p:sp>
        <p:nvSpPr>
          <p:cNvPr id="4" name="Date Placeholder 3"/>
          <p:cNvSpPr>
            <a:spLocks noGrp="1"/>
          </p:cNvSpPr>
          <p:nvPr>
            <p:ph type="dt" sz="half" idx="10"/>
          </p:nvPr>
        </p:nvSpPr>
        <p:spPr/>
        <p:txBody>
          <a:bodyPr/>
          <a:lstStyle/>
          <a:p>
            <a:r>
              <a:rPr lang="en-US"/>
              <a:t>TEXAS A&amp;M-SAN ANTONIO</a:t>
            </a:r>
            <a:endParaRPr lang="en-US" dirty="0"/>
          </a:p>
        </p:txBody>
      </p:sp>
      <p:sp>
        <p:nvSpPr>
          <p:cNvPr id="5" name="Rectangle 3"/>
          <p:cNvSpPr>
            <a:spLocks noGrp="1" noChangeArrowheads="1"/>
          </p:cNvSpPr>
          <p:nvPr>
            <p:ph idx="1"/>
          </p:nvPr>
        </p:nvSpPr>
        <p:spPr>
          <a:xfrm>
            <a:off x="838200" y="1644969"/>
            <a:ext cx="10515600" cy="4351338"/>
          </a:xfrm>
        </p:spPr>
        <p:txBody>
          <a:bodyPr>
            <a:normAutofit/>
          </a:bodyPr>
          <a:lstStyle/>
          <a:p>
            <a:pPr>
              <a:buClr>
                <a:srgbClr val="002060"/>
              </a:buClr>
            </a:pPr>
            <a:r>
              <a:rPr lang="en-US" altLang="en-US" sz="2600" b="1" dirty="0"/>
              <a:t>Bellman-Ford Algorithm with Dynamic Programming</a:t>
            </a:r>
          </a:p>
          <a:p>
            <a:pPr lvl="1">
              <a:buClr>
                <a:srgbClr val="002060"/>
              </a:buClr>
            </a:pPr>
            <a:r>
              <a:rPr lang="en-US" sz="2200" dirty="0"/>
              <a:t>Allows negative-weight edges in the input graph </a:t>
            </a:r>
          </a:p>
          <a:p>
            <a:pPr lvl="1">
              <a:buClr>
                <a:srgbClr val="002060"/>
              </a:buClr>
            </a:pPr>
            <a:r>
              <a:rPr lang="en-US" sz="2200" dirty="0"/>
              <a:t>Produces a correct answer as long as no negative-weight cycles are reachable from the source. </a:t>
            </a:r>
          </a:p>
          <a:p>
            <a:pPr lvl="1">
              <a:buClr>
                <a:srgbClr val="002060"/>
              </a:buClr>
            </a:pPr>
            <a:r>
              <a:rPr lang="en-US" sz="2200" dirty="0"/>
              <a:t>If there is such a negative-weight cycle, the algorithm can detect and report its existence – no solution.</a:t>
            </a:r>
          </a:p>
          <a:p>
            <a:pPr lvl="1">
              <a:buClr>
                <a:srgbClr val="002060"/>
              </a:buClr>
            </a:pPr>
            <a:r>
              <a:rPr lang="en-US" sz="2200" dirty="0"/>
              <a:t>Calculates shortest paths in bottom-up manner: Dynamic Programming </a:t>
            </a:r>
          </a:p>
          <a:p>
            <a:pPr lvl="2">
              <a:buClr>
                <a:srgbClr val="002060"/>
              </a:buClr>
            </a:pPr>
            <a:r>
              <a:rPr lang="en-US" sz="2200" dirty="0"/>
              <a:t>First calculates the shortest distances with all the edges</a:t>
            </a:r>
          </a:p>
          <a:p>
            <a:pPr lvl="2">
              <a:buClr>
                <a:srgbClr val="002060"/>
              </a:buClr>
            </a:pPr>
            <a:r>
              <a:rPr lang="en-US" sz="2200" dirty="0"/>
              <a:t>Recalculates the shortest distances by using the distances calculated from the previous step</a:t>
            </a:r>
          </a:p>
          <a:p>
            <a:pPr lvl="2">
              <a:buClr>
                <a:srgbClr val="002060"/>
              </a:buClr>
            </a:pPr>
            <a:r>
              <a:rPr lang="en-US" sz="2200" dirty="0"/>
              <a:t>Repeats this maximum |V| – 1 times with all the edges</a:t>
            </a:r>
          </a:p>
          <a:p>
            <a:pPr lvl="1">
              <a:buClr>
                <a:srgbClr val="002060"/>
              </a:buClr>
            </a:pPr>
            <a:endParaRPr lang="en-US" dirty="0"/>
          </a:p>
          <a:p>
            <a:pPr lvl="1">
              <a:buClr>
                <a:srgbClr val="002060"/>
              </a:buClr>
            </a:pPr>
            <a:endParaRPr lang="en-US" sz="2000" dirty="0"/>
          </a:p>
          <a:p>
            <a:pPr lvl="1">
              <a:buClr>
                <a:srgbClr val="002060"/>
              </a:buClr>
            </a:pPr>
            <a:endParaRPr lang="en-US" altLang="en-US" sz="2000" dirty="0"/>
          </a:p>
          <a:p>
            <a:pPr lvl="1"/>
            <a:endParaRPr lang="en-US" altLang="en-US" dirty="0"/>
          </a:p>
          <a:p>
            <a:pPr eaLnBrk="1" hangingPunct="1"/>
            <a:endParaRPr lang="en-US" altLang="en-US" dirty="0"/>
          </a:p>
        </p:txBody>
      </p:sp>
    </p:spTree>
    <p:extLst>
      <p:ext uri="{BB962C8B-B14F-4D97-AF65-F5344CB8AC3E}">
        <p14:creationId xmlns:p14="http://schemas.microsoft.com/office/powerpoint/2010/main" val="3580263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325563"/>
          </a:xfrm>
        </p:spPr>
        <p:txBody>
          <a:bodyPr>
            <a:normAutofit/>
          </a:bodyPr>
          <a:lstStyle/>
          <a:p>
            <a:r>
              <a:rPr lang="en-US" sz="3600" dirty="0"/>
              <a:t> Bellman-Ford Algorithm</a:t>
            </a:r>
          </a:p>
        </p:txBody>
      </p:sp>
      <p:sp>
        <p:nvSpPr>
          <p:cNvPr id="3" name="Content Placeholder 2"/>
          <p:cNvSpPr>
            <a:spLocks noGrp="1"/>
          </p:cNvSpPr>
          <p:nvPr>
            <p:ph idx="1"/>
          </p:nvPr>
        </p:nvSpPr>
        <p:spPr>
          <a:xfrm>
            <a:off x="911902" y="1525821"/>
            <a:ext cx="10515600" cy="4351338"/>
          </a:xfrm>
        </p:spPr>
        <p:txBody>
          <a:bodyPr/>
          <a:lstStyle/>
          <a:p>
            <a:r>
              <a:rPr lang="en-US" sz="2600" dirty="0"/>
              <a:t>Given a weighted, directed graph G = (V, E) with source s and weight function w</a:t>
            </a:r>
          </a:p>
          <a:p>
            <a:r>
              <a:rPr lang="en-US" sz="2600" dirty="0"/>
              <a:t>Algorithm returns a </a:t>
            </a:r>
            <a:r>
              <a:rPr lang="en-US" sz="2600" dirty="0" err="1"/>
              <a:t>boolean</a:t>
            </a:r>
            <a:r>
              <a:rPr lang="en-US" sz="2600" dirty="0"/>
              <a:t> value indicating whether or not there is a negative-weight cycle that is reachable from the source</a:t>
            </a:r>
          </a:p>
          <a:p>
            <a:r>
              <a:rPr lang="en-US" sz="2600" dirty="0"/>
              <a:t>If there is such a cycle, the algorithm indicates that no solution exists. </a:t>
            </a:r>
          </a:p>
          <a:p>
            <a:r>
              <a:rPr lang="en-US" sz="2600" dirty="0"/>
              <a:t>If there is no such cycle, the algorithm produces the shortest paths and their weights.</a:t>
            </a:r>
          </a:p>
        </p:txBody>
      </p:sp>
      <p:sp>
        <p:nvSpPr>
          <p:cNvPr id="4" name="Date Placeholder 3"/>
          <p:cNvSpPr>
            <a:spLocks noGrp="1"/>
          </p:cNvSpPr>
          <p:nvPr>
            <p:ph type="dt" sz="half" idx="10"/>
          </p:nvPr>
        </p:nvSpPr>
        <p:spPr/>
        <p:txBody>
          <a:bodyPr/>
          <a:lstStyle/>
          <a:p>
            <a:r>
              <a:rPr lang="en-US"/>
              <a:t>TEXAS A&amp;M-SAN ANTONIO</a:t>
            </a:r>
            <a:endParaRPr lang="en-US" dirty="0"/>
          </a:p>
        </p:txBody>
      </p:sp>
    </p:spTree>
    <p:extLst>
      <p:ext uri="{BB962C8B-B14F-4D97-AF65-F5344CB8AC3E}">
        <p14:creationId xmlns:p14="http://schemas.microsoft.com/office/powerpoint/2010/main" val="3289833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325563"/>
          </a:xfrm>
        </p:spPr>
        <p:txBody>
          <a:bodyPr>
            <a:normAutofit/>
          </a:bodyPr>
          <a:lstStyle/>
          <a:p>
            <a:r>
              <a:rPr lang="en-US" sz="3600" dirty="0"/>
              <a:t> Bellman-Ford Algorithm</a:t>
            </a:r>
          </a:p>
        </p:txBody>
      </p:sp>
      <p:sp>
        <p:nvSpPr>
          <p:cNvPr id="3" name="Content Placeholder 2"/>
          <p:cNvSpPr>
            <a:spLocks noGrp="1"/>
          </p:cNvSpPr>
          <p:nvPr>
            <p:ph idx="1"/>
          </p:nvPr>
        </p:nvSpPr>
        <p:spPr>
          <a:xfrm>
            <a:off x="5749872" y="1937287"/>
            <a:ext cx="5858760" cy="4172345"/>
          </a:xfrm>
        </p:spPr>
        <p:txBody>
          <a:bodyPr>
            <a:normAutofit/>
          </a:bodyPr>
          <a:lstStyle/>
          <a:p>
            <a:r>
              <a:rPr lang="en-US" sz="2400" dirty="0"/>
              <a:t> The algorithm relaxes edges, progressively decreasing an estimate </a:t>
            </a:r>
            <a:r>
              <a:rPr lang="en-US" sz="2400" i="1" dirty="0" err="1"/>
              <a:t>v.d</a:t>
            </a:r>
            <a:r>
              <a:rPr lang="en-US" sz="2400" dirty="0"/>
              <a:t>  on the weight of a shortest path from the source s to each vertex </a:t>
            </a:r>
            <a:r>
              <a:rPr lang="en-US" sz="2400" i="1" dirty="0"/>
              <a:t>v  </a:t>
            </a:r>
            <a:r>
              <a:rPr lang="en-US" sz="2400" dirty="0"/>
              <a:t>until it achieves the actual shortest-path weight  (s, v). </a:t>
            </a:r>
          </a:p>
          <a:p>
            <a:r>
              <a:rPr lang="en-US" sz="2400" dirty="0"/>
              <a:t>The algorithm returns TRUE if and only if the graph contains no negative-weight cycles that are reachable from the source.</a:t>
            </a:r>
          </a:p>
        </p:txBody>
      </p:sp>
      <p:sp>
        <p:nvSpPr>
          <p:cNvPr id="4" name="Date Placeholder 3"/>
          <p:cNvSpPr>
            <a:spLocks noGrp="1"/>
          </p:cNvSpPr>
          <p:nvPr>
            <p:ph type="dt" sz="half" idx="10"/>
          </p:nvPr>
        </p:nvSpPr>
        <p:spPr/>
        <p:txBody>
          <a:bodyPr/>
          <a:lstStyle/>
          <a:p>
            <a:r>
              <a:rPr lang="en-US"/>
              <a:t>TEXAS A&amp;M-SAN ANTONIO</a:t>
            </a:r>
            <a:endParaRPr lang="en-US" dirty="0"/>
          </a:p>
        </p:txBody>
      </p:sp>
      <p:pic>
        <p:nvPicPr>
          <p:cNvPr id="7" name="Picture 6">
            <a:extLst>
              <a:ext uri="{FF2B5EF4-FFF2-40B4-BE49-F238E27FC236}">
                <a16:creationId xmlns:a16="http://schemas.microsoft.com/office/drawing/2014/main" id="{4650A025-1EB5-B920-2B8C-B632B1CD767B}"/>
              </a:ext>
            </a:extLst>
          </p:cNvPr>
          <p:cNvPicPr>
            <a:picLocks noChangeAspect="1"/>
          </p:cNvPicPr>
          <p:nvPr/>
        </p:nvPicPr>
        <p:blipFill>
          <a:blip r:embed="rId2"/>
          <a:stretch>
            <a:fillRect/>
          </a:stretch>
        </p:blipFill>
        <p:spPr>
          <a:xfrm>
            <a:off x="583368" y="1751828"/>
            <a:ext cx="4670421" cy="3196823"/>
          </a:xfrm>
          <a:prstGeom prst="rect">
            <a:avLst/>
          </a:prstGeom>
        </p:spPr>
      </p:pic>
    </p:spTree>
    <p:extLst>
      <p:ext uri="{BB962C8B-B14F-4D97-AF65-F5344CB8AC3E}">
        <p14:creationId xmlns:p14="http://schemas.microsoft.com/office/powerpoint/2010/main" val="3519668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TEXAS A&amp;M-SAN ANTONIO</a:t>
            </a:r>
            <a:endParaRPr lang="en-US" dirty="0"/>
          </a:p>
        </p:txBody>
      </p:sp>
      <p:sp>
        <p:nvSpPr>
          <p:cNvPr id="7" name="Content Placeholder 6"/>
          <p:cNvSpPr>
            <a:spLocks noGrp="1"/>
          </p:cNvSpPr>
          <p:nvPr>
            <p:ph idx="1"/>
          </p:nvPr>
        </p:nvSpPr>
        <p:spPr>
          <a:xfrm>
            <a:off x="1415548" y="1466618"/>
            <a:ext cx="4151259" cy="604866"/>
          </a:xfrm>
        </p:spPr>
        <p:txBody>
          <a:bodyPr>
            <a:normAutofit/>
          </a:bodyPr>
          <a:lstStyle/>
          <a:p>
            <a:pPr marL="0" indent="0">
              <a:buNone/>
            </a:pPr>
            <a:r>
              <a:rPr lang="en-US" dirty="0"/>
              <a:t>5 Vertices and 10 edges</a:t>
            </a:r>
          </a:p>
          <a:p>
            <a:pPr marL="0" indent="0">
              <a:buNone/>
            </a:pPr>
            <a:endParaRPr lang="en-US" dirty="0"/>
          </a:p>
          <a:p>
            <a:pPr marL="0" indent="0">
              <a:buNone/>
            </a:pPr>
            <a:endParaRPr lang="en-US" dirty="0"/>
          </a:p>
        </p:txBody>
      </p:sp>
      <p:sp>
        <p:nvSpPr>
          <p:cNvPr id="9" name="Title 1"/>
          <p:cNvSpPr>
            <a:spLocks noGrp="1"/>
          </p:cNvSpPr>
          <p:nvPr>
            <p:ph type="title"/>
          </p:nvPr>
        </p:nvSpPr>
        <p:spPr>
          <a:xfrm>
            <a:off x="1093032" y="0"/>
            <a:ext cx="10515600" cy="1325563"/>
          </a:xfrm>
        </p:spPr>
        <p:txBody>
          <a:bodyPr>
            <a:normAutofit/>
          </a:bodyPr>
          <a:lstStyle/>
          <a:p>
            <a:r>
              <a:rPr lang="en-US" sz="3600" dirty="0"/>
              <a:t> Bellman-Ford Algorithm: Example</a:t>
            </a:r>
          </a:p>
        </p:txBody>
      </p:sp>
      <mc:AlternateContent xmlns:mc="http://schemas.openxmlformats.org/markup-compatibility/2006" xmlns:p14="http://schemas.microsoft.com/office/powerpoint/2010/main">
        <mc:Choice Requires="p14">
          <p:contentPart p14:bwMode="auto" r:id="rId2">
            <p14:nvContentPartPr>
              <p14:cNvPr id="50" name="Ink 49">
                <a:extLst>
                  <a:ext uri="{FF2B5EF4-FFF2-40B4-BE49-F238E27FC236}">
                    <a16:creationId xmlns:a16="http://schemas.microsoft.com/office/drawing/2014/main" id="{204CF68B-0167-4F80-9744-98B2623877BD}"/>
                  </a:ext>
                </a:extLst>
              </p14:cNvPr>
              <p14:cNvContentPartPr/>
              <p14:nvPr/>
            </p14:nvContentPartPr>
            <p14:xfrm>
              <a:off x="8335605" y="2862502"/>
              <a:ext cx="4320" cy="2880"/>
            </p14:xfrm>
          </p:contentPart>
        </mc:Choice>
        <mc:Fallback xmlns="">
          <p:pic>
            <p:nvPicPr>
              <p:cNvPr id="50" name="Ink 49">
                <a:extLst>
                  <a:ext uri="{FF2B5EF4-FFF2-40B4-BE49-F238E27FC236}">
                    <a16:creationId xmlns:a16="http://schemas.microsoft.com/office/drawing/2014/main" id="{204CF68B-0167-4F80-9744-98B2623877BD}"/>
                  </a:ext>
                </a:extLst>
              </p:cNvPr>
              <p:cNvPicPr/>
              <p:nvPr/>
            </p:nvPicPr>
            <p:blipFill>
              <a:blip r:embed="rId4"/>
              <a:stretch>
                <a:fillRect/>
              </a:stretch>
            </p:blipFill>
            <p:spPr>
              <a:xfrm>
                <a:off x="8326965" y="2853862"/>
                <a:ext cx="219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5" name="Ink 94">
                <a:extLst>
                  <a:ext uri="{FF2B5EF4-FFF2-40B4-BE49-F238E27FC236}">
                    <a16:creationId xmlns:a16="http://schemas.microsoft.com/office/drawing/2014/main" id="{EA0A79FE-1C48-4738-B37C-C549353C2019}"/>
                  </a:ext>
                </a:extLst>
              </p14:cNvPr>
              <p14:cNvContentPartPr/>
              <p14:nvPr/>
            </p14:nvContentPartPr>
            <p14:xfrm>
              <a:off x="9694245" y="645622"/>
              <a:ext cx="360" cy="360"/>
            </p14:xfrm>
          </p:contentPart>
        </mc:Choice>
        <mc:Fallback xmlns="">
          <p:pic>
            <p:nvPicPr>
              <p:cNvPr id="95" name="Ink 94">
                <a:extLst>
                  <a:ext uri="{FF2B5EF4-FFF2-40B4-BE49-F238E27FC236}">
                    <a16:creationId xmlns:a16="http://schemas.microsoft.com/office/drawing/2014/main" id="{EA0A79FE-1C48-4738-B37C-C549353C2019}"/>
                  </a:ext>
                </a:extLst>
              </p:cNvPr>
              <p:cNvPicPr/>
              <p:nvPr/>
            </p:nvPicPr>
            <p:blipFill>
              <a:blip r:embed="rId6"/>
              <a:stretch>
                <a:fillRect/>
              </a:stretch>
            </p:blipFill>
            <p:spPr>
              <a:xfrm>
                <a:off x="9685245" y="63662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6" name="Ink 95">
                <a:extLst>
                  <a:ext uri="{FF2B5EF4-FFF2-40B4-BE49-F238E27FC236}">
                    <a16:creationId xmlns:a16="http://schemas.microsoft.com/office/drawing/2014/main" id="{14E46FB6-1322-4B39-A29F-B6248A438081}"/>
                  </a:ext>
                </a:extLst>
              </p14:cNvPr>
              <p14:cNvContentPartPr/>
              <p14:nvPr/>
            </p14:nvContentPartPr>
            <p14:xfrm>
              <a:off x="1681365" y="2508982"/>
              <a:ext cx="360" cy="360"/>
            </p14:xfrm>
          </p:contentPart>
        </mc:Choice>
        <mc:Fallback xmlns="">
          <p:pic>
            <p:nvPicPr>
              <p:cNvPr id="96" name="Ink 95">
                <a:extLst>
                  <a:ext uri="{FF2B5EF4-FFF2-40B4-BE49-F238E27FC236}">
                    <a16:creationId xmlns:a16="http://schemas.microsoft.com/office/drawing/2014/main" id="{14E46FB6-1322-4B39-A29F-B6248A438081}"/>
                  </a:ext>
                </a:extLst>
              </p:cNvPr>
              <p:cNvPicPr/>
              <p:nvPr/>
            </p:nvPicPr>
            <p:blipFill>
              <a:blip r:embed="rId6"/>
              <a:stretch>
                <a:fillRect/>
              </a:stretch>
            </p:blipFill>
            <p:spPr>
              <a:xfrm>
                <a:off x="1672725" y="250034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8" name="Ink 97">
                <a:extLst>
                  <a:ext uri="{FF2B5EF4-FFF2-40B4-BE49-F238E27FC236}">
                    <a16:creationId xmlns:a16="http://schemas.microsoft.com/office/drawing/2014/main" id="{CB65D625-C6FE-4E90-9EAE-E963400A2125}"/>
                  </a:ext>
                </a:extLst>
              </p14:cNvPr>
              <p14:cNvContentPartPr/>
              <p14:nvPr/>
            </p14:nvContentPartPr>
            <p14:xfrm>
              <a:off x="1490565" y="2127742"/>
              <a:ext cx="3600" cy="360"/>
            </p14:xfrm>
          </p:contentPart>
        </mc:Choice>
        <mc:Fallback xmlns="">
          <p:pic>
            <p:nvPicPr>
              <p:cNvPr id="98" name="Ink 97">
                <a:extLst>
                  <a:ext uri="{FF2B5EF4-FFF2-40B4-BE49-F238E27FC236}">
                    <a16:creationId xmlns:a16="http://schemas.microsoft.com/office/drawing/2014/main" id="{CB65D625-C6FE-4E90-9EAE-E963400A2125}"/>
                  </a:ext>
                </a:extLst>
              </p:cNvPr>
              <p:cNvPicPr/>
              <p:nvPr/>
            </p:nvPicPr>
            <p:blipFill>
              <a:blip r:embed="rId9"/>
              <a:stretch>
                <a:fillRect/>
              </a:stretch>
            </p:blipFill>
            <p:spPr>
              <a:xfrm>
                <a:off x="1481565" y="2119102"/>
                <a:ext cx="21240" cy="18000"/>
              </a:xfrm>
              <a:prstGeom prst="rect">
                <a:avLst/>
              </a:prstGeom>
            </p:spPr>
          </p:pic>
        </mc:Fallback>
      </mc:AlternateContent>
      <p:pic>
        <p:nvPicPr>
          <p:cNvPr id="11" name="Picture 10">
            <a:extLst>
              <a:ext uri="{FF2B5EF4-FFF2-40B4-BE49-F238E27FC236}">
                <a16:creationId xmlns:a16="http://schemas.microsoft.com/office/drawing/2014/main" id="{C96B1974-3013-4FEC-BE9D-02DCE950010E}"/>
              </a:ext>
            </a:extLst>
          </p:cNvPr>
          <p:cNvPicPr>
            <a:picLocks noChangeAspect="1"/>
          </p:cNvPicPr>
          <p:nvPr/>
        </p:nvPicPr>
        <p:blipFill>
          <a:blip r:embed="rId10"/>
          <a:stretch>
            <a:fillRect/>
          </a:stretch>
        </p:blipFill>
        <p:spPr>
          <a:xfrm>
            <a:off x="1415547" y="2184359"/>
            <a:ext cx="4452213" cy="3732151"/>
          </a:xfrm>
          <a:prstGeom prst="rect">
            <a:avLst/>
          </a:prstGeom>
        </p:spPr>
      </p:pic>
      <p:pic>
        <p:nvPicPr>
          <p:cNvPr id="3" name="Picture 2">
            <a:extLst>
              <a:ext uri="{FF2B5EF4-FFF2-40B4-BE49-F238E27FC236}">
                <a16:creationId xmlns:a16="http://schemas.microsoft.com/office/drawing/2014/main" id="{B8E6F92E-1D8A-E364-1AEB-CAC0DC7AC14B}"/>
              </a:ext>
            </a:extLst>
          </p:cNvPr>
          <p:cNvPicPr>
            <a:picLocks noChangeAspect="1"/>
          </p:cNvPicPr>
          <p:nvPr/>
        </p:nvPicPr>
        <p:blipFill>
          <a:blip r:embed="rId11"/>
          <a:stretch>
            <a:fillRect/>
          </a:stretch>
        </p:blipFill>
        <p:spPr>
          <a:xfrm>
            <a:off x="6727642" y="2039036"/>
            <a:ext cx="4176150" cy="3068838"/>
          </a:xfrm>
          <a:prstGeom prst="rect">
            <a:avLst/>
          </a:prstGeom>
        </p:spPr>
      </p:pic>
    </p:spTree>
    <p:extLst>
      <p:ext uri="{BB962C8B-B14F-4D97-AF65-F5344CB8AC3E}">
        <p14:creationId xmlns:p14="http://schemas.microsoft.com/office/powerpoint/2010/main" val="3102151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TEXAS A&amp;M-SAN ANTONIO</a:t>
            </a:r>
            <a:endParaRPr lang="en-US" dirty="0"/>
          </a:p>
        </p:txBody>
      </p:sp>
      <p:pic>
        <p:nvPicPr>
          <p:cNvPr id="3" name="Picture 2">
            <a:extLst>
              <a:ext uri="{FF2B5EF4-FFF2-40B4-BE49-F238E27FC236}">
                <a16:creationId xmlns:a16="http://schemas.microsoft.com/office/drawing/2014/main" id="{DA55038F-50B3-9C8B-47BB-0D0427C02469}"/>
              </a:ext>
            </a:extLst>
          </p:cNvPr>
          <p:cNvPicPr>
            <a:picLocks noChangeAspect="1"/>
          </p:cNvPicPr>
          <p:nvPr/>
        </p:nvPicPr>
        <p:blipFill>
          <a:blip r:embed="rId2"/>
          <a:stretch>
            <a:fillRect/>
          </a:stretch>
        </p:blipFill>
        <p:spPr>
          <a:xfrm>
            <a:off x="1676625" y="16271"/>
            <a:ext cx="8992062" cy="4711942"/>
          </a:xfrm>
          <a:prstGeom prst="rect">
            <a:avLst/>
          </a:prstGeom>
        </p:spPr>
      </p:pic>
      <p:pic>
        <p:nvPicPr>
          <p:cNvPr id="7" name="Picture 6">
            <a:extLst>
              <a:ext uri="{FF2B5EF4-FFF2-40B4-BE49-F238E27FC236}">
                <a16:creationId xmlns:a16="http://schemas.microsoft.com/office/drawing/2014/main" id="{A25B8709-B8C4-8EBF-E6E6-48FC712E946C}"/>
              </a:ext>
            </a:extLst>
          </p:cNvPr>
          <p:cNvPicPr>
            <a:picLocks noChangeAspect="1"/>
          </p:cNvPicPr>
          <p:nvPr/>
        </p:nvPicPr>
        <p:blipFill>
          <a:blip r:embed="rId3"/>
          <a:stretch>
            <a:fillRect/>
          </a:stretch>
        </p:blipFill>
        <p:spPr>
          <a:xfrm>
            <a:off x="2450371" y="4799725"/>
            <a:ext cx="7588640" cy="1866996"/>
          </a:xfrm>
          <a:prstGeom prst="rect">
            <a:avLst/>
          </a:prstGeom>
        </p:spPr>
      </p:pic>
    </p:spTree>
    <p:extLst>
      <p:ext uri="{BB962C8B-B14F-4D97-AF65-F5344CB8AC3E}">
        <p14:creationId xmlns:p14="http://schemas.microsoft.com/office/powerpoint/2010/main" val="249758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8166" y="8664"/>
            <a:ext cx="10515600" cy="1060719"/>
          </a:xfrm>
        </p:spPr>
        <p:txBody>
          <a:bodyPr>
            <a:normAutofit/>
          </a:bodyPr>
          <a:lstStyle/>
          <a:p>
            <a:r>
              <a:rPr lang="en-US" sz="3600" dirty="0"/>
              <a:t>Exercise</a:t>
            </a:r>
          </a:p>
        </p:txBody>
      </p:sp>
      <p:sp>
        <p:nvSpPr>
          <p:cNvPr id="3" name="Content Placeholder 2"/>
          <p:cNvSpPr>
            <a:spLocks noGrp="1"/>
          </p:cNvSpPr>
          <p:nvPr>
            <p:ph idx="1"/>
          </p:nvPr>
        </p:nvSpPr>
        <p:spPr>
          <a:xfrm>
            <a:off x="718278" y="1074464"/>
            <a:ext cx="10515600" cy="699456"/>
          </a:xfrm>
        </p:spPr>
        <p:txBody>
          <a:bodyPr>
            <a:normAutofit/>
          </a:bodyPr>
          <a:lstStyle/>
          <a:p>
            <a:r>
              <a:rPr lang="en-US" sz="2200" dirty="0"/>
              <a:t>Change the weight of edge (z, x) to 4 on the directed graph of Figure 24.4 and run the Bellman-Ford algorithm, using s as the source, and show the </a:t>
            </a:r>
            <a:r>
              <a:rPr lang="en-US" sz="2200" b="1" i="1" dirty="0"/>
              <a:t>d</a:t>
            </a:r>
            <a:r>
              <a:rPr lang="en-US" sz="2200" dirty="0"/>
              <a:t>  after each pass. </a:t>
            </a:r>
            <a:endParaRPr lang="en-US" sz="2200" dirty="0">
              <a:effectLst/>
            </a:endParaRPr>
          </a:p>
        </p:txBody>
      </p:sp>
      <p:sp>
        <p:nvSpPr>
          <p:cNvPr id="4" name="Date Placeholder 3"/>
          <p:cNvSpPr>
            <a:spLocks noGrp="1"/>
          </p:cNvSpPr>
          <p:nvPr>
            <p:ph type="dt" sz="half" idx="10"/>
          </p:nvPr>
        </p:nvSpPr>
        <p:spPr/>
        <p:txBody>
          <a:bodyPr/>
          <a:lstStyle/>
          <a:p>
            <a:r>
              <a:rPr lang="en-US"/>
              <a:t>TEXAS A&amp;M-SAN ANTONIO</a:t>
            </a:r>
            <a:endParaRPr lang="en-US" dirty="0"/>
          </a:p>
        </p:txBody>
      </p:sp>
      <p:pic>
        <p:nvPicPr>
          <p:cNvPr id="6" name="Picture 5"/>
          <p:cNvPicPr>
            <a:picLocks noChangeAspect="1"/>
          </p:cNvPicPr>
          <p:nvPr/>
        </p:nvPicPr>
        <p:blipFill>
          <a:blip r:embed="rId2"/>
          <a:stretch>
            <a:fillRect/>
          </a:stretch>
        </p:blipFill>
        <p:spPr>
          <a:xfrm>
            <a:off x="6405966" y="2400849"/>
            <a:ext cx="4111160" cy="2975181"/>
          </a:xfrm>
          <a:prstGeom prst="rect">
            <a:avLst/>
          </a:prstGeom>
        </p:spPr>
      </p:pic>
      <p:sp>
        <p:nvSpPr>
          <p:cNvPr id="7" name="Content Placeholder 6"/>
          <p:cNvSpPr txBox="1">
            <a:spLocks/>
          </p:cNvSpPr>
          <p:nvPr/>
        </p:nvSpPr>
        <p:spPr>
          <a:xfrm>
            <a:off x="1467994" y="1901074"/>
            <a:ext cx="2966803" cy="4119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ollkorn" panose="0200050307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ollkorn" panose="0200050307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ollkorn" panose="0200050307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ollkorn" panose="0200050307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ollkorn" panose="0200050307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10 edges</a:t>
            </a:r>
            <a:br>
              <a:rPr lang="en-US" dirty="0"/>
            </a:br>
            <a:endParaRPr lang="en-US" dirty="0"/>
          </a:p>
          <a:p>
            <a:pPr marL="0" indent="0">
              <a:buFont typeface="Arial" panose="020B0604020202020204" pitchFamily="34" charset="0"/>
              <a:buNone/>
            </a:pPr>
            <a:endParaRPr lang="en-US" dirty="0"/>
          </a:p>
        </p:txBody>
      </p:sp>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664D09DD-A3B5-4E60-AA35-4A9D10FA239F}"/>
                  </a:ext>
                </a:extLst>
              </p14:cNvPr>
              <p14:cNvContentPartPr/>
              <p14:nvPr/>
            </p14:nvContentPartPr>
            <p14:xfrm>
              <a:off x="8149125" y="2491702"/>
              <a:ext cx="29520" cy="7920"/>
            </p14:xfrm>
          </p:contentPart>
        </mc:Choice>
        <mc:Fallback xmlns="">
          <p:pic>
            <p:nvPicPr>
              <p:cNvPr id="17" name="Ink 16">
                <a:extLst>
                  <a:ext uri="{FF2B5EF4-FFF2-40B4-BE49-F238E27FC236}">
                    <a16:creationId xmlns:a16="http://schemas.microsoft.com/office/drawing/2014/main" id="{664D09DD-A3B5-4E60-AA35-4A9D10FA239F}"/>
                  </a:ext>
                </a:extLst>
              </p:cNvPr>
              <p:cNvPicPr/>
              <p:nvPr/>
            </p:nvPicPr>
            <p:blipFill>
              <a:blip r:embed="rId4"/>
              <a:stretch>
                <a:fillRect/>
              </a:stretch>
            </p:blipFill>
            <p:spPr>
              <a:xfrm>
                <a:off x="8140485" y="2482702"/>
                <a:ext cx="471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6" name="Ink 65">
                <a:extLst>
                  <a:ext uri="{FF2B5EF4-FFF2-40B4-BE49-F238E27FC236}">
                    <a16:creationId xmlns:a16="http://schemas.microsoft.com/office/drawing/2014/main" id="{EED64C29-2A56-4D6B-B2FA-24B44E780906}"/>
                  </a:ext>
                </a:extLst>
              </p14:cNvPr>
              <p14:cNvContentPartPr/>
              <p14:nvPr/>
            </p14:nvContentPartPr>
            <p14:xfrm>
              <a:off x="10070085" y="4960942"/>
              <a:ext cx="6840" cy="1800"/>
            </p14:xfrm>
          </p:contentPart>
        </mc:Choice>
        <mc:Fallback xmlns="">
          <p:pic>
            <p:nvPicPr>
              <p:cNvPr id="66" name="Ink 65">
                <a:extLst>
                  <a:ext uri="{FF2B5EF4-FFF2-40B4-BE49-F238E27FC236}">
                    <a16:creationId xmlns:a16="http://schemas.microsoft.com/office/drawing/2014/main" id="{EED64C29-2A56-4D6B-B2FA-24B44E780906}"/>
                  </a:ext>
                </a:extLst>
              </p:cNvPr>
              <p:cNvPicPr/>
              <p:nvPr/>
            </p:nvPicPr>
            <p:blipFill>
              <a:blip r:embed="rId6"/>
              <a:stretch>
                <a:fillRect/>
              </a:stretch>
            </p:blipFill>
            <p:spPr>
              <a:xfrm>
                <a:off x="10061085" y="4952302"/>
                <a:ext cx="244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9" name="Ink 88">
                <a:extLst>
                  <a:ext uri="{FF2B5EF4-FFF2-40B4-BE49-F238E27FC236}">
                    <a16:creationId xmlns:a16="http://schemas.microsoft.com/office/drawing/2014/main" id="{47EDC80D-76D7-42E6-8F66-3A81F481CF6C}"/>
                  </a:ext>
                </a:extLst>
              </p14:cNvPr>
              <p14:cNvContentPartPr/>
              <p14:nvPr/>
            </p14:nvContentPartPr>
            <p14:xfrm>
              <a:off x="9779925" y="4153102"/>
              <a:ext cx="360" cy="360"/>
            </p14:xfrm>
          </p:contentPart>
        </mc:Choice>
        <mc:Fallback xmlns="">
          <p:pic>
            <p:nvPicPr>
              <p:cNvPr id="89" name="Ink 88">
                <a:extLst>
                  <a:ext uri="{FF2B5EF4-FFF2-40B4-BE49-F238E27FC236}">
                    <a16:creationId xmlns:a16="http://schemas.microsoft.com/office/drawing/2014/main" id="{47EDC80D-76D7-42E6-8F66-3A81F481CF6C}"/>
                  </a:ext>
                </a:extLst>
              </p:cNvPr>
              <p:cNvPicPr/>
              <p:nvPr/>
            </p:nvPicPr>
            <p:blipFill>
              <a:blip r:embed="rId8"/>
              <a:stretch>
                <a:fillRect/>
              </a:stretch>
            </p:blipFill>
            <p:spPr>
              <a:xfrm>
                <a:off x="9771285" y="41441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8" name="Ink 177">
                <a:extLst>
                  <a:ext uri="{FF2B5EF4-FFF2-40B4-BE49-F238E27FC236}">
                    <a16:creationId xmlns:a16="http://schemas.microsoft.com/office/drawing/2014/main" id="{0208FF2F-3A6C-4AB3-9E70-7C1054926667}"/>
                  </a:ext>
                </a:extLst>
              </p14:cNvPr>
              <p14:cNvContentPartPr/>
              <p14:nvPr/>
            </p14:nvContentPartPr>
            <p14:xfrm>
              <a:off x="9426045" y="5414182"/>
              <a:ext cx="11880" cy="21600"/>
            </p14:xfrm>
          </p:contentPart>
        </mc:Choice>
        <mc:Fallback xmlns="">
          <p:pic>
            <p:nvPicPr>
              <p:cNvPr id="178" name="Ink 177">
                <a:extLst>
                  <a:ext uri="{FF2B5EF4-FFF2-40B4-BE49-F238E27FC236}">
                    <a16:creationId xmlns:a16="http://schemas.microsoft.com/office/drawing/2014/main" id="{0208FF2F-3A6C-4AB3-9E70-7C1054926667}"/>
                  </a:ext>
                </a:extLst>
              </p:cNvPr>
              <p:cNvPicPr/>
              <p:nvPr/>
            </p:nvPicPr>
            <p:blipFill>
              <a:blip r:embed="rId10"/>
              <a:stretch>
                <a:fillRect/>
              </a:stretch>
            </p:blipFill>
            <p:spPr>
              <a:xfrm>
                <a:off x="9417405" y="5405182"/>
                <a:ext cx="295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8" name="Ink 167">
                <a:extLst>
                  <a:ext uri="{FF2B5EF4-FFF2-40B4-BE49-F238E27FC236}">
                    <a16:creationId xmlns:a16="http://schemas.microsoft.com/office/drawing/2014/main" id="{AFF87146-1838-4D6B-A000-6CAE1DA3811B}"/>
                  </a:ext>
                </a:extLst>
              </p14:cNvPr>
              <p14:cNvContentPartPr/>
              <p14:nvPr/>
            </p14:nvContentPartPr>
            <p14:xfrm>
              <a:off x="10153605" y="5154622"/>
              <a:ext cx="53640" cy="12600"/>
            </p14:xfrm>
          </p:contentPart>
        </mc:Choice>
        <mc:Fallback xmlns="">
          <p:pic>
            <p:nvPicPr>
              <p:cNvPr id="168" name="Ink 167">
                <a:extLst>
                  <a:ext uri="{FF2B5EF4-FFF2-40B4-BE49-F238E27FC236}">
                    <a16:creationId xmlns:a16="http://schemas.microsoft.com/office/drawing/2014/main" id="{AFF87146-1838-4D6B-A000-6CAE1DA3811B}"/>
                  </a:ext>
                </a:extLst>
              </p:cNvPr>
              <p:cNvPicPr/>
              <p:nvPr/>
            </p:nvPicPr>
            <p:blipFill>
              <a:blip r:embed="rId12"/>
              <a:stretch>
                <a:fillRect/>
              </a:stretch>
            </p:blipFill>
            <p:spPr>
              <a:xfrm>
                <a:off x="10144965" y="5145622"/>
                <a:ext cx="712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4" name="Ink 183">
                <a:extLst>
                  <a:ext uri="{FF2B5EF4-FFF2-40B4-BE49-F238E27FC236}">
                    <a16:creationId xmlns:a16="http://schemas.microsoft.com/office/drawing/2014/main" id="{2F4807A4-A80A-45F9-A476-1010A0EB3BED}"/>
                  </a:ext>
                </a:extLst>
              </p14:cNvPr>
              <p14:cNvContentPartPr/>
              <p14:nvPr/>
            </p14:nvContentPartPr>
            <p14:xfrm>
              <a:off x="11043165" y="5544142"/>
              <a:ext cx="11880" cy="11520"/>
            </p14:xfrm>
          </p:contentPart>
        </mc:Choice>
        <mc:Fallback xmlns="">
          <p:pic>
            <p:nvPicPr>
              <p:cNvPr id="184" name="Ink 183">
                <a:extLst>
                  <a:ext uri="{FF2B5EF4-FFF2-40B4-BE49-F238E27FC236}">
                    <a16:creationId xmlns:a16="http://schemas.microsoft.com/office/drawing/2014/main" id="{2F4807A4-A80A-45F9-A476-1010A0EB3BED}"/>
                  </a:ext>
                </a:extLst>
              </p:cNvPr>
              <p:cNvPicPr/>
              <p:nvPr/>
            </p:nvPicPr>
            <p:blipFill>
              <a:blip r:embed="rId14"/>
              <a:stretch>
                <a:fillRect/>
              </a:stretch>
            </p:blipFill>
            <p:spPr>
              <a:xfrm>
                <a:off x="11034525" y="5535502"/>
                <a:ext cx="29520" cy="29160"/>
              </a:xfrm>
              <a:prstGeom prst="rect">
                <a:avLst/>
              </a:prstGeom>
            </p:spPr>
          </p:pic>
        </mc:Fallback>
      </mc:AlternateContent>
      <p:pic>
        <p:nvPicPr>
          <p:cNvPr id="186" name="Picture 185">
            <a:extLst>
              <a:ext uri="{FF2B5EF4-FFF2-40B4-BE49-F238E27FC236}">
                <a16:creationId xmlns:a16="http://schemas.microsoft.com/office/drawing/2014/main" id="{9C1F8143-E3A6-46A7-A9D5-7C4103F5C425}"/>
              </a:ext>
            </a:extLst>
          </p:cNvPr>
          <p:cNvPicPr>
            <a:picLocks noChangeAspect="1"/>
          </p:cNvPicPr>
          <p:nvPr/>
        </p:nvPicPr>
        <p:blipFill>
          <a:blip r:embed="rId15"/>
          <a:stretch>
            <a:fillRect/>
          </a:stretch>
        </p:blipFill>
        <p:spPr>
          <a:xfrm>
            <a:off x="1433318" y="2400849"/>
            <a:ext cx="4331556" cy="3631008"/>
          </a:xfrm>
          <a:prstGeom prst="rect">
            <a:avLst/>
          </a:prstGeom>
        </p:spPr>
      </p:pic>
    </p:spTree>
    <p:extLst>
      <p:ext uri="{BB962C8B-B14F-4D97-AF65-F5344CB8AC3E}">
        <p14:creationId xmlns:p14="http://schemas.microsoft.com/office/powerpoint/2010/main" val="131071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325563"/>
          </a:xfrm>
        </p:spPr>
        <p:txBody>
          <a:bodyPr>
            <a:normAutofit/>
          </a:bodyPr>
          <a:lstStyle/>
          <a:p>
            <a:r>
              <a:rPr lang="en-US" sz="3600" dirty="0"/>
              <a:t>Bellman-Ford Algorithm: Analysis</a:t>
            </a:r>
          </a:p>
        </p:txBody>
      </p:sp>
      <p:sp>
        <p:nvSpPr>
          <p:cNvPr id="3" name="Content Placeholder 2"/>
          <p:cNvSpPr>
            <a:spLocks noGrp="1"/>
          </p:cNvSpPr>
          <p:nvPr>
            <p:ph idx="1"/>
          </p:nvPr>
        </p:nvSpPr>
        <p:spPr>
          <a:xfrm>
            <a:off x="5636302" y="1704814"/>
            <a:ext cx="5972329" cy="4531093"/>
          </a:xfrm>
        </p:spPr>
        <p:txBody>
          <a:bodyPr>
            <a:normAutofit lnSpcReduction="10000"/>
          </a:bodyPr>
          <a:lstStyle/>
          <a:p>
            <a:r>
              <a:rPr lang="en-US" sz="2200" dirty="0"/>
              <a:t> After initializing the d and values of all vertices in line 1, the algorithm makes |V| - 1 passes over the edges of the graph</a:t>
            </a:r>
          </a:p>
          <a:p>
            <a:r>
              <a:rPr lang="en-US" sz="2200" dirty="0"/>
              <a:t>Each pass is one iteration of the for loop of lines 2–4 and consists of relaxing each edge of the graph once</a:t>
            </a:r>
          </a:p>
          <a:p>
            <a:r>
              <a:rPr lang="en-US" sz="2200" dirty="0"/>
              <a:t>Lines 5–8 check for a negative-weight cycle and return the appropriate </a:t>
            </a:r>
            <a:r>
              <a:rPr lang="en-US" sz="2200" dirty="0" err="1"/>
              <a:t>boolean</a:t>
            </a:r>
            <a:r>
              <a:rPr lang="en-US" sz="2200" dirty="0"/>
              <a:t> value</a:t>
            </a:r>
          </a:p>
          <a:p>
            <a:r>
              <a:rPr lang="en-US" sz="2200" b="1" dirty="0"/>
              <a:t>The algorithm runs in time O(VE)</a:t>
            </a:r>
          </a:p>
          <a:p>
            <a:pPr lvl="1"/>
            <a:r>
              <a:rPr lang="en-US" sz="2200" dirty="0"/>
              <a:t>initialization in line 1 takes O(V) time</a:t>
            </a:r>
          </a:p>
          <a:p>
            <a:pPr lvl="1"/>
            <a:r>
              <a:rPr lang="en-US" sz="2200" dirty="0"/>
              <a:t>each of the |V| - 1 passes over the edges in lines 2–4 takes O(E) time </a:t>
            </a:r>
          </a:p>
          <a:p>
            <a:pPr lvl="1"/>
            <a:r>
              <a:rPr lang="en-US" sz="2200" dirty="0"/>
              <a:t>for loop of lines 5–7 takes O(E) time</a:t>
            </a:r>
          </a:p>
        </p:txBody>
      </p:sp>
      <p:sp>
        <p:nvSpPr>
          <p:cNvPr id="4" name="Date Placeholder 3"/>
          <p:cNvSpPr>
            <a:spLocks noGrp="1"/>
          </p:cNvSpPr>
          <p:nvPr>
            <p:ph type="dt" sz="half" idx="10"/>
          </p:nvPr>
        </p:nvSpPr>
        <p:spPr/>
        <p:txBody>
          <a:bodyPr/>
          <a:lstStyle/>
          <a:p>
            <a:r>
              <a:rPr lang="en-US"/>
              <a:t>TEXAS A&amp;M-SAN ANTONIO</a:t>
            </a:r>
            <a:endParaRPr lang="en-US" dirty="0"/>
          </a:p>
        </p:txBody>
      </p:sp>
      <p:pic>
        <p:nvPicPr>
          <p:cNvPr id="6" name="Picture 5">
            <a:extLst>
              <a:ext uri="{FF2B5EF4-FFF2-40B4-BE49-F238E27FC236}">
                <a16:creationId xmlns:a16="http://schemas.microsoft.com/office/drawing/2014/main" id="{E324E3CB-A415-CD06-6D5E-57501CA43963}"/>
              </a:ext>
            </a:extLst>
          </p:cNvPr>
          <p:cNvPicPr>
            <a:picLocks noChangeAspect="1"/>
          </p:cNvPicPr>
          <p:nvPr/>
        </p:nvPicPr>
        <p:blipFill>
          <a:blip r:embed="rId2"/>
          <a:stretch>
            <a:fillRect/>
          </a:stretch>
        </p:blipFill>
        <p:spPr>
          <a:xfrm>
            <a:off x="304120" y="1704814"/>
            <a:ext cx="4900552" cy="3354344"/>
          </a:xfrm>
          <a:prstGeom prst="rect">
            <a:avLst/>
          </a:prstGeom>
        </p:spPr>
      </p:pic>
    </p:spTree>
    <p:extLst>
      <p:ext uri="{BB962C8B-B14F-4D97-AF65-F5344CB8AC3E}">
        <p14:creationId xmlns:p14="http://schemas.microsoft.com/office/powerpoint/2010/main" val="280669294"/>
      </p:ext>
    </p:extLst>
  </p:cSld>
  <p:clrMapOvr>
    <a:masterClrMapping/>
  </p:clrMapOvr>
</p:sld>
</file>

<file path=ppt/theme/theme1.xml><?xml version="1.0" encoding="utf-8"?>
<a:theme xmlns:a="http://schemas.openxmlformats.org/drawingml/2006/main" name="Office Theme">
  <a:themeElements>
    <a:clrScheme name="TAMUSA PPT Color">
      <a:dk1>
        <a:srgbClr val="000000"/>
      </a:dk1>
      <a:lt1>
        <a:srgbClr val="FFFFFF"/>
      </a:lt1>
      <a:dk2>
        <a:srgbClr val="83888B"/>
      </a:dk2>
      <a:lt2>
        <a:srgbClr val="FFFFFF"/>
      </a:lt2>
      <a:accent1>
        <a:srgbClr val="332E70"/>
      </a:accent1>
      <a:accent2>
        <a:srgbClr val="668586"/>
      </a:accent2>
      <a:accent3>
        <a:srgbClr val="E6B729"/>
      </a:accent3>
      <a:accent4>
        <a:srgbClr val="B9CFD3"/>
      </a:accent4>
      <a:accent5>
        <a:srgbClr val="54849A"/>
      </a:accent5>
      <a:accent6>
        <a:srgbClr val="020000"/>
      </a:accent6>
      <a:hlink>
        <a:srgbClr val="702E3C"/>
      </a:hlink>
      <a:folHlink>
        <a:srgbClr val="460000"/>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AMUSA Template" id="{81250B71-C222-0A43-91FF-929A8BF7632C}" vid="{6EC503B3-3B3A-3D45-9BD1-3527F0E16E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TAMUSA Template-updated</Template>
  <TotalTime>3562</TotalTime>
  <Words>2117</Words>
  <Application>Microsoft Office PowerPoint</Application>
  <PresentationFormat>Widescreen</PresentationFormat>
  <Paragraphs>243</Paragraphs>
  <Slides>33</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4" baseType="lpstr">
      <vt:lpstr>Vollkorn</vt:lpstr>
      <vt:lpstr>Arial</vt:lpstr>
      <vt:lpstr>Book Antiqua</vt:lpstr>
      <vt:lpstr>Calibri</vt:lpstr>
      <vt:lpstr>Corbel</vt:lpstr>
      <vt:lpstr>Courier New</vt:lpstr>
      <vt:lpstr>Oswald</vt:lpstr>
      <vt:lpstr>Rage Italic</vt:lpstr>
      <vt:lpstr>Times New Roman</vt:lpstr>
      <vt:lpstr>Office Theme</vt:lpstr>
      <vt:lpstr>Bitmap Image</vt:lpstr>
      <vt:lpstr>CSCI 5343 Algorithms Spring 2025 </vt:lpstr>
      <vt:lpstr>Objectives</vt:lpstr>
      <vt:lpstr>Shortest Possible Route</vt:lpstr>
      <vt:lpstr>Shortest Paths Problem</vt:lpstr>
      <vt:lpstr>Shortest Path Problem</vt:lpstr>
      <vt:lpstr>Phoenix-to-Indianapolis Example</vt:lpstr>
      <vt:lpstr>Negative-Weight Edges</vt:lpstr>
      <vt:lpstr>Negative-Weight Edges</vt:lpstr>
      <vt:lpstr>Cycles</vt:lpstr>
      <vt:lpstr>Cycles</vt:lpstr>
      <vt:lpstr>Shortest Path</vt:lpstr>
      <vt:lpstr>Shortest Path Example</vt:lpstr>
      <vt:lpstr>Shortest Path Problem</vt:lpstr>
      <vt:lpstr>Dijkstra’s Algorithm To Find a Shortest Path</vt:lpstr>
      <vt:lpstr>Shortest Paths Example with Dijkstra’s Algorithm </vt:lpstr>
      <vt:lpstr>Shortest Paths Example with Dijkstra’s Algorithm </vt:lpstr>
      <vt:lpstr>Shortest Paths with Dijkstra’s Algorithm</vt:lpstr>
      <vt:lpstr>Another Example with Dijkstra’s Algorithm </vt:lpstr>
      <vt:lpstr>Dijkstra’s Algorithm</vt:lpstr>
      <vt:lpstr>Group Activity Find the shortest distance and path for the distance from the node ‘A’ to nodes ‘B’, ‘C’, ‘D’, ‘E’, ‘F’, ‘G’, ‘H’, and ‘I’ using Dijkstra’s shortest path algorithm</vt:lpstr>
      <vt:lpstr>Dijkstra’s Algorithm: Greedy Strategy</vt:lpstr>
      <vt:lpstr>Complexity Analysis</vt:lpstr>
      <vt:lpstr>Complexity Analysis</vt:lpstr>
      <vt:lpstr>Single Source Shortest Path Problem </vt:lpstr>
      <vt:lpstr>Single Source Shortest Path Problem </vt:lpstr>
      <vt:lpstr> Bellman-Ford Algorithm</vt:lpstr>
      <vt:lpstr>Single Source Shortest Path Problem </vt:lpstr>
      <vt:lpstr> Bellman-Ford Algorithm</vt:lpstr>
      <vt:lpstr> Bellman-Ford Algorithm</vt:lpstr>
      <vt:lpstr> Bellman-Ford Algorithm: Example</vt:lpstr>
      <vt:lpstr>PowerPoint Presentation</vt:lpstr>
      <vt:lpstr>Exercise</vt:lpstr>
      <vt:lpstr>Bellman-Ford Algorithm: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Fernando Estrada</dc:creator>
  <cp:lastModifiedBy>Jeong Yang</cp:lastModifiedBy>
  <cp:revision>190</cp:revision>
  <cp:lastPrinted>2020-01-21T18:08:03Z</cp:lastPrinted>
  <dcterms:created xsi:type="dcterms:W3CDTF">2018-03-09T22:17:24Z</dcterms:created>
  <dcterms:modified xsi:type="dcterms:W3CDTF">2025-04-07T13:28:42Z</dcterms:modified>
</cp:coreProperties>
</file>