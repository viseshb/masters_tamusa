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7" r:id="rId4"/>
    <p:sldId id="272" r:id="rId5"/>
    <p:sldId id="258" r:id="rId6"/>
    <p:sldId id="259" r:id="rId7"/>
    <p:sldId id="269" r:id="rId8"/>
    <p:sldId id="260" r:id="rId9"/>
    <p:sldId id="261" r:id="rId10"/>
    <p:sldId id="271" r:id="rId11"/>
    <p:sldId id="262" r:id="rId12"/>
    <p:sldId id="273" r:id="rId13"/>
    <p:sldId id="263" r:id="rId14"/>
    <p:sldId id="264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21" autoAdjust="0"/>
    <p:restoredTop sz="96370" autoAdjust="0"/>
  </p:normalViewPr>
  <p:slideViewPr>
    <p:cSldViewPr snapToGrid="0" snapToObjects="1">
      <p:cViewPr>
        <p:scale>
          <a:sx n="119" d="100"/>
          <a:sy n="119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06D75-A25A-431A-B980-B40051AEF5CB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AF2B0-1901-48D7-994E-75095AAE1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9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0T00:07:16.9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gnorePressure" value="1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0T00:07:26.28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20T03:11:42.78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1027 752 13199 0 0,'4'-3'0'0'0,"0"-1"11"0"0,-2 2 32 0 0,2 0-33 0 0,0-1-20 0 0,-3 3-45 0 0,3-2-1602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4063" indent="-2889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8875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401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756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47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19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91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163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D77EE-CC85-42F9-805C-BEA481CCEB13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9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2.xml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&amp; Mathematical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r>
              <a:rPr lang="en-US" dirty="0">
                <a:latin typeface="Vollkorn"/>
                <a:cs typeface="Times New Roman" panose="02020603050405020304" pitchFamily="18" charset="0"/>
              </a:rPr>
              <a:t>Chapters 34 and 35 TSP and Approximation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89" y="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Objectives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10235" y="1798822"/>
            <a:ext cx="9327850" cy="3192903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600" dirty="0"/>
              <a:t>Discuss the following topics: 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600" dirty="0"/>
              <a:t>Approximation Algorithm</a:t>
            </a:r>
          </a:p>
          <a:p>
            <a:pPr lvl="1">
              <a:buClr>
                <a:srgbClr val="002060"/>
              </a:buClr>
            </a:pPr>
            <a:r>
              <a:rPr lang="en-US" altLang="en-US" sz="2600" b="1" dirty="0"/>
              <a:t>T</a:t>
            </a:r>
            <a:r>
              <a:rPr lang="en-US" altLang="en-US" sz="2600" dirty="0"/>
              <a:t>raveling </a:t>
            </a:r>
            <a:r>
              <a:rPr lang="en-US" altLang="en-US" sz="2600" b="1" dirty="0"/>
              <a:t>S</a:t>
            </a:r>
            <a:r>
              <a:rPr lang="en-US" altLang="en-US" sz="2600" dirty="0"/>
              <a:t>alesman</a:t>
            </a:r>
            <a:r>
              <a:rPr lang="en-US" altLang="en-US" sz="2600" b="1" dirty="0"/>
              <a:t> Problem </a:t>
            </a:r>
            <a:r>
              <a:rPr lang="en-US" altLang="en-US" sz="2600" dirty="0"/>
              <a:t>(TSP)</a:t>
            </a:r>
          </a:p>
          <a:p>
            <a:pPr lvl="1">
              <a:buClr>
                <a:srgbClr val="002060"/>
              </a:buClr>
            </a:pPr>
            <a:r>
              <a:rPr lang="en-US" altLang="en-US" sz="2600" dirty="0"/>
              <a:t>Triangle Inequality</a:t>
            </a:r>
          </a:p>
          <a:p>
            <a:pPr lvl="1">
              <a:buClr>
                <a:srgbClr val="002060"/>
              </a:buClr>
            </a:pPr>
            <a:endParaRPr lang="en-US" altLang="en-US" sz="2600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829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062" y="20351"/>
            <a:ext cx="10515600" cy="1175557"/>
          </a:xfrm>
        </p:spPr>
        <p:txBody>
          <a:bodyPr>
            <a:normAutofit/>
          </a:bodyPr>
          <a:lstStyle/>
          <a:p>
            <a:r>
              <a:rPr lang="en-US" sz="3600" dirty="0"/>
              <a:t>Graph Functions of Running Time of Algorithms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504" y="1013346"/>
            <a:ext cx="5708129" cy="5708129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93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003" y="0"/>
            <a:ext cx="10515600" cy="1169233"/>
          </a:xfrm>
        </p:spPr>
        <p:txBody>
          <a:bodyPr/>
          <a:lstStyle/>
          <a:p>
            <a:r>
              <a:rPr lang="en-US" sz="3600" dirty="0"/>
              <a:t>NP-Complete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591" y="1422516"/>
            <a:ext cx="10404423" cy="4839748"/>
          </a:xfrm>
        </p:spPr>
        <p:txBody>
          <a:bodyPr>
            <a:normAutofit/>
          </a:bodyPr>
          <a:lstStyle/>
          <a:p>
            <a:r>
              <a:rPr lang="en-US" sz="2400" dirty="0"/>
              <a:t>An algorithm is said to be of </a:t>
            </a:r>
            <a:r>
              <a:rPr lang="en-US" sz="2400" b="1" dirty="0"/>
              <a:t>polynomial time</a:t>
            </a:r>
            <a:r>
              <a:rPr lang="en-US" sz="2400" dirty="0"/>
              <a:t> if its running time is  O(</a:t>
            </a:r>
            <a:r>
              <a:rPr lang="en-US" sz="2400" i="1" dirty="0" err="1"/>
              <a:t>n</a:t>
            </a:r>
            <a:r>
              <a:rPr lang="en-US" sz="2400" i="1" baseline="30000" dirty="0" err="1"/>
              <a:t>k</a:t>
            </a:r>
            <a:r>
              <a:rPr lang="en-US" sz="2400" dirty="0"/>
              <a:t>) for some positive constant </a:t>
            </a:r>
            <a:r>
              <a:rPr lang="en-US" sz="2400" i="1" dirty="0"/>
              <a:t>k</a:t>
            </a:r>
            <a:r>
              <a:rPr lang="en-US" sz="2400" dirty="0"/>
              <a:t> in the size of the input, n</a:t>
            </a:r>
          </a:p>
          <a:p>
            <a:r>
              <a:rPr lang="en-US" sz="2400" dirty="0"/>
              <a:t>NP-complete problems (</a:t>
            </a:r>
            <a:r>
              <a:rPr lang="en-US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ondeterministic </a:t>
            </a:r>
            <a:r>
              <a:rPr lang="en-US" sz="20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olynomial-time)</a:t>
            </a:r>
            <a:endParaRPr lang="en-US" sz="2400" dirty="0"/>
          </a:p>
          <a:p>
            <a:pPr lvl="1"/>
            <a:r>
              <a:rPr lang="en-US" sz="2200" dirty="0"/>
              <a:t>Don’t know how to find an optimal solution in polynomial time, but important to abandon</a:t>
            </a:r>
          </a:p>
          <a:p>
            <a:pPr lvl="1"/>
            <a:r>
              <a:rPr lang="en-US" sz="2200" dirty="0"/>
              <a:t>Ways to get around NP-complete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/>
              <a:t>If the actual inputs are small, an algorithm with exponential running time may be satisfactory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200" dirty="0"/>
              <a:t>Come up with approaches to find near-optimal solutions in polynomial time (either in the worst case or the expected case)</a:t>
            </a:r>
          </a:p>
          <a:p>
            <a:pPr lvl="1"/>
            <a:endParaRPr lang="en-US" sz="2000" dirty="0"/>
          </a:p>
          <a:p>
            <a:pPr lvl="1"/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82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003" y="0"/>
            <a:ext cx="10515600" cy="1169233"/>
          </a:xfrm>
        </p:spPr>
        <p:txBody>
          <a:bodyPr/>
          <a:lstStyle/>
          <a:p>
            <a:r>
              <a:rPr lang="en-US" sz="3600" dirty="0"/>
              <a:t>Approximation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8003" y="1663908"/>
            <a:ext cx="10237528" cy="4706912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Algorithm that returns near-optimal solutions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With approaches to find near-optimal solutions in polynomial time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In practice, near optimality is often good enough 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This chapter presents polynomial-time approximation algorithm for a NP-complete problem : Traveling Salesman Problem (TSP)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01063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023" y="52177"/>
            <a:ext cx="10515600" cy="1100808"/>
          </a:xfrm>
        </p:spPr>
        <p:txBody>
          <a:bodyPr/>
          <a:lstStyle/>
          <a:p>
            <a:r>
              <a:rPr lang="en-US" sz="3600" dirty="0"/>
              <a:t>Traveling Salesman Problem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361" y="1543986"/>
            <a:ext cx="10433154" cy="473689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A salesman must </a:t>
            </a:r>
            <a:r>
              <a:rPr lang="en-US" sz="2400" b="1" dirty="0"/>
              <a:t>visit n cities and return </a:t>
            </a:r>
            <a:r>
              <a:rPr lang="en-US" sz="2400" dirty="0"/>
              <a:t>to the city he/she starts.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Modeling the problem as a complete graph with n vertices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salesman wishes to make a tour visiting each city exactly once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finishes at the city he/she starts from.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salesman incurs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a nonnegative integer cost c(</a:t>
            </a:r>
            <a:r>
              <a:rPr lang="en-US" dirty="0" err="1"/>
              <a:t>i</a:t>
            </a:r>
            <a:r>
              <a:rPr lang="en-US" dirty="0"/>
              <a:t>, j) to travel from city </a:t>
            </a:r>
            <a:r>
              <a:rPr lang="en-US" dirty="0" err="1"/>
              <a:t>i</a:t>
            </a:r>
            <a:r>
              <a:rPr lang="en-US" dirty="0"/>
              <a:t> to city j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wishes to make the tour whose total cost is minimum, where the total cost is the sum of the individual costs along the edges of the tour. </a:t>
            </a:r>
          </a:p>
        </p:txBody>
      </p:sp>
    </p:spTree>
    <p:extLst>
      <p:ext uri="{BB962C8B-B14F-4D97-AF65-F5344CB8AC3E}">
        <p14:creationId xmlns:p14="http://schemas.microsoft.com/office/powerpoint/2010/main" val="48123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023" y="52177"/>
            <a:ext cx="10515600" cy="1100808"/>
          </a:xfrm>
        </p:spPr>
        <p:txBody>
          <a:bodyPr/>
          <a:lstStyle/>
          <a:p>
            <a:r>
              <a:rPr lang="en-US" sz="3600" dirty="0"/>
              <a:t>Traveling Salesman Problem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4361" y="1618938"/>
            <a:ext cx="10433154" cy="4661940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For example, in Figure, a minimum-cost tour is (u, w, v, x, u), with cost 7.</a:t>
            </a:r>
            <a:r>
              <a:rPr lang="en-US" sz="2600" b="1" dirty="0"/>
              <a:t> </a:t>
            </a:r>
            <a:endParaRPr lang="en-US" sz="2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FC67D-AF78-E70A-68F4-43E43CF45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94" y="2529589"/>
            <a:ext cx="8922209" cy="30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2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052" y="0"/>
            <a:ext cx="10515600" cy="1214203"/>
          </a:xfrm>
        </p:spPr>
        <p:txBody>
          <a:bodyPr/>
          <a:lstStyle/>
          <a:p>
            <a:r>
              <a:rPr lang="en-US" sz="3600" dirty="0"/>
              <a:t>Traveling Salesman Problem (TSP)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051" y="1589992"/>
            <a:ext cx="10134601" cy="4549582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Given a complete undirected graph G = (V, E) that has a nonnegative integer cost c(u, v) associated with each edge (u, v) ∈ E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Find a cycle (a tour) of G with minimum cost.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 As an extension of the notation, let c(A) denote the total cost of the edges in the subset  A ⊆ 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397" y="3864783"/>
            <a:ext cx="3267806" cy="1044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B6370-94D6-82CD-758A-745C72DF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321" y="3819853"/>
            <a:ext cx="2152761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70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013" y="1"/>
            <a:ext cx="10515600" cy="1124262"/>
          </a:xfrm>
        </p:spPr>
        <p:txBody>
          <a:bodyPr/>
          <a:lstStyle/>
          <a:p>
            <a:r>
              <a:rPr lang="en-US" sz="3600" dirty="0"/>
              <a:t>Triangle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190" y="1484027"/>
            <a:ext cx="10374443" cy="404832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In many practical situations, the least costly way to go from a </a:t>
            </a:r>
            <a:r>
              <a:rPr lang="en-US" sz="2600" b="1" dirty="0"/>
              <a:t>place u</a:t>
            </a:r>
            <a:r>
              <a:rPr lang="en-US" sz="2600" dirty="0"/>
              <a:t> to a </a:t>
            </a:r>
            <a:r>
              <a:rPr lang="en-US" sz="2600" b="1" dirty="0"/>
              <a:t>place w </a:t>
            </a:r>
            <a:r>
              <a:rPr lang="en-US" sz="2600" dirty="0"/>
              <a:t>is to go directly, with no intermediate steps.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Formalizing this notion by saying that the cost function c satisfies the </a:t>
            </a:r>
            <a:r>
              <a:rPr lang="en-US" sz="2600" b="1" i="1" dirty="0"/>
              <a:t>triangle inequality </a:t>
            </a:r>
            <a:r>
              <a:rPr lang="en-US" sz="2600" dirty="0"/>
              <a:t>if, for all vertices u, v, w ∈ V</a:t>
            </a:r>
          </a:p>
          <a:p>
            <a:pPr lvl="1">
              <a:buClr>
                <a:srgbClr val="002060"/>
              </a:buClr>
            </a:pP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Concatenating two shortest paths from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u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to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v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and from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v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to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w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yields </a:t>
            </a:r>
            <a:r>
              <a:rPr lang="en-US" altLang="en-US" b="1" dirty="0">
                <a:latin typeface="Times New Roman" panose="02020603050405020304" pitchFamily="18" charset="0"/>
                <a:ea typeface="Arial Unicode MS" pitchFamily="34" charset="-128"/>
              </a:rPr>
              <a:t>one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specific path from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u</a:t>
            </a:r>
            <a:r>
              <a:rPr lang="en-US" altLang="en-US" dirty="0">
                <a:latin typeface="Times New Roman" panose="02020603050405020304" pitchFamily="18" charset="0"/>
                <a:ea typeface="Arial Unicode MS" pitchFamily="34" charset="-128"/>
              </a:rPr>
              <a:t> to </a:t>
            </a:r>
            <a:r>
              <a:rPr lang="en-US" altLang="en-US" i="1" dirty="0">
                <a:solidFill>
                  <a:srgbClr val="008A87"/>
                </a:solidFill>
                <a:latin typeface="Times New Roman" panose="02020603050405020304" pitchFamily="18" charset="0"/>
                <a:ea typeface="Arial Unicode MS" pitchFamily="34" charset="-128"/>
              </a:rPr>
              <a:t>w</a:t>
            </a:r>
          </a:p>
          <a:p>
            <a:pPr>
              <a:buClr>
                <a:srgbClr val="002060"/>
              </a:buClr>
            </a:pP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98" y="3892272"/>
            <a:ext cx="4785055" cy="677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079" y="3885929"/>
            <a:ext cx="3988635" cy="20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27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0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Traveling-salesman problem is NP-complete even if we require that the cost function satisfy the triangle inequality. </a:t>
            </a:r>
          </a:p>
          <a:p>
            <a:r>
              <a:rPr lang="en-US" dirty="0"/>
              <a:t>We should not expect to find a polynomial-time algorithm for solving this problem exactly.</a:t>
            </a:r>
          </a:p>
          <a:p>
            <a:r>
              <a:rPr lang="en-US" dirty="0"/>
              <a:t>Instead, we look for good approximation algorithms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02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052" y="0"/>
            <a:ext cx="10515600" cy="1154243"/>
          </a:xfrm>
        </p:spPr>
        <p:txBody>
          <a:bodyPr/>
          <a:lstStyle/>
          <a:p>
            <a:r>
              <a:rPr lang="en-US" sz="3600" dirty="0"/>
              <a:t>TSP Tour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139" y="1768839"/>
            <a:ext cx="10265817" cy="407103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First compute a structure—a minimum spanning tree—whose weight gives a lower bound on the length of an optimal traveling-salesman tour.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Then use the minimum spanning tree to create a tour whose cost is no more than twice that of the minimum spanning tree’s weight, as long as the cost function satisfies the triangle inequality.</a:t>
            </a:r>
          </a:p>
        </p:txBody>
      </p:sp>
    </p:spTree>
    <p:extLst>
      <p:ext uri="{BB962C8B-B14F-4D97-AF65-F5344CB8AC3E}">
        <p14:creationId xmlns:p14="http://schemas.microsoft.com/office/powerpoint/2010/main" val="232546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63052" y="0"/>
            <a:ext cx="10515600" cy="1154243"/>
          </a:xfrm>
        </p:spPr>
        <p:txBody>
          <a:bodyPr/>
          <a:lstStyle/>
          <a:p>
            <a:r>
              <a:rPr lang="en-US" sz="3600" dirty="0"/>
              <a:t>TSP Tour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9430" y="4081455"/>
            <a:ext cx="64532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Calls the minimum-spanning-tree algorithm MST-PRIM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G is a complete undirected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Cost function c satisfies the triangle inequality</a:t>
            </a:r>
            <a:endParaRPr lang="en-US" sz="2000" dirty="0">
              <a:effectLst/>
              <a:latin typeface="Vollkor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B14A2-4314-688D-C85B-48238518C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29" y="1419109"/>
            <a:ext cx="9016119" cy="24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7EEFDE-6CD5-4B74-BFAC-79B54EC5AC2E}"/>
              </a:ext>
            </a:extLst>
          </p:cNvPr>
          <p:cNvSpPr/>
          <p:nvPr/>
        </p:nvSpPr>
        <p:spPr>
          <a:xfrm>
            <a:off x="553667" y="2558873"/>
            <a:ext cx="36747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Calls the minimum-spanning-tree algorithm MST-PRIM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G is a complete undirected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ollkorn"/>
              </a:rPr>
              <a:t>Cost function c satisfies the triangle inequality</a:t>
            </a:r>
            <a:endParaRPr lang="en-US" sz="2000" dirty="0">
              <a:effectLst/>
              <a:latin typeface="Vollkor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58A3B2-661D-D6D6-9B04-929247259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60" y="1911927"/>
            <a:ext cx="7609939" cy="49940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D7EBD7-80C6-5832-C511-102C96A3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03" y="-6988"/>
            <a:ext cx="7223283" cy="200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053" y="0"/>
            <a:ext cx="10515600" cy="1184223"/>
          </a:xfrm>
        </p:spPr>
        <p:txBody>
          <a:bodyPr/>
          <a:lstStyle/>
          <a:p>
            <a:r>
              <a:rPr lang="en-US" sz="3600" dirty="0"/>
              <a:t>Operation of APPROX-TSP-TOUR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7976" y="1184223"/>
            <a:ext cx="7036633" cy="4951236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002060"/>
              </a:buClr>
            </a:pPr>
            <a:r>
              <a:rPr lang="en-US" dirty="0"/>
              <a:t>(a) A complete undirected graph. Vertices lie on intersections of integer grid lines. For example, f is one unit to the right and two units up from h. The cost function between two points is the ordinary distance.</a:t>
            </a:r>
          </a:p>
          <a:p>
            <a:pPr>
              <a:buClr>
                <a:srgbClr val="002060"/>
              </a:buClr>
            </a:pPr>
            <a:r>
              <a:rPr lang="en-US" dirty="0"/>
              <a:t>(b) A minimum spanning tree T of the complete graph, as computed by MST-PRIM. Vertex a is the root vertex. Only edges in the minimum spanning tree are shown.</a:t>
            </a:r>
          </a:p>
          <a:p>
            <a:pPr>
              <a:buClr>
                <a:srgbClr val="002060"/>
              </a:buClr>
            </a:pPr>
            <a:r>
              <a:rPr lang="en-US" dirty="0"/>
              <a:t>(c) A walk of T , starting at a. A full walk of the tree visits the vertices in the order a, b, c, b, h, b, a, d, e, f, e, g, e, d, a. </a:t>
            </a:r>
            <a:r>
              <a:rPr lang="en-US" b="1" dirty="0"/>
              <a:t>A preorder walk of T lists a vertex just when it is first encountered, as indicated by the dot next to each vertex, yielding the ordering a, b, c, h, d, e, f, g.</a:t>
            </a:r>
          </a:p>
          <a:p>
            <a:pPr>
              <a:buClr>
                <a:srgbClr val="002060"/>
              </a:buClr>
            </a:pPr>
            <a:r>
              <a:rPr lang="en-US" dirty="0"/>
              <a:t>(d) A tour obtained by visiting the vertices in the order given by the preorder walk, which is the tour H returned by APPROX-TSP-TOUR. Its total cost is approximately 19.074.</a:t>
            </a:r>
          </a:p>
          <a:p>
            <a:pPr>
              <a:buClr>
                <a:srgbClr val="002060"/>
              </a:buClr>
            </a:pPr>
            <a:r>
              <a:rPr lang="en-US" dirty="0"/>
              <a:t>(e) An optimal tour H for the original complete graph. Its total cost is approximately 14.715.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D800BA-6C23-49DC-B1E5-CF9D76472F18}"/>
                  </a:ext>
                </a:extLst>
              </p14:cNvPr>
              <p14:cNvContentPartPr/>
              <p14:nvPr/>
            </p14:nvContentPartPr>
            <p14:xfrm>
              <a:off x="4188834" y="241107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D800BA-6C23-49DC-B1E5-CF9D76472F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0194" y="24024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57E4C7A-700A-413D-B20A-3BD1C4286EF9}"/>
                  </a:ext>
                </a:extLst>
              </p14:cNvPr>
              <p14:cNvContentPartPr/>
              <p14:nvPr/>
            </p14:nvContentPartPr>
            <p14:xfrm>
              <a:off x="6723954" y="3210631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57E4C7A-700A-413D-B20A-3BD1C4286E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5954" y="3102991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8311B98-A7EE-4FDA-A8EF-F26EE45E8941}"/>
                  </a:ext>
                </a:extLst>
              </p14:cNvPr>
              <p14:cNvContentPartPr/>
              <p14:nvPr/>
            </p14:nvContentPartPr>
            <p14:xfrm>
              <a:off x="4189194" y="2721751"/>
              <a:ext cx="8640" cy="6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8311B98-A7EE-4FDA-A8EF-F26EE45E89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71194" y="2686111"/>
                <a:ext cx="44280" cy="7776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CE36810-5657-67ED-0778-83230E2EF9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91" y="1434289"/>
            <a:ext cx="5077976" cy="354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63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6090</TotalTime>
  <Words>872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Vollkorn</vt:lpstr>
      <vt:lpstr>Arial</vt:lpstr>
      <vt:lpstr>Calibri</vt:lpstr>
      <vt:lpstr>Corbel</vt:lpstr>
      <vt:lpstr>Oswald</vt:lpstr>
      <vt:lpstr>Rage Italic</vt:lpstr>
      <vt:lpstr>Times New Roman</vt:lpstr>
      <vt:lpstr>Office Theme</vt:lpstr>
      <vt:lpstr>CSCI 5343 Algorithms Spring 2025 </vt:lpstr>
      <vt:lpstr>Objectives</vt:lpstr>
      <vt:lpstr>Graph Functions of Running Time of Algorithms</vt:lpstr>
      <vt:lpstr>NP-Complete Problems</vt:lpstr>
      <vt:lpstr>Approximation Algorithm</vt:lpstr>
      <vt:lpstr>Traveling Salesman Problem (TSP)</vt:lpstr>
      <vt:lpstr>Traveling Salesman Problem (TSP)</vt:lpstr>
      <vt:lpstr>Traveling Salesman Problem (TSP)</vt:lpstr>
      <vt:lpstr>Triangle Inequality</vt:lpstr>
      <vt:lpstr>TSP</vt:lpstr>
      <vt:lpstr>TSP Tour</vt:lpstr>
      <vt:lpstr>TSP Tour Algorithm</vt:lpstr>
      <vt:lpstr>PowerPoint Presentation</vt:lpstr>
      <vt:lpstr>Operation of APPROX-TSP-TOUR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126</cp:revision>
  <cp:lastPrinted>2020-01-16T16:48:26Z</cp:lastPrinted>
  <dcterms:created xsi:type="dcterms:W3CDTF">2018-03-09T22:17:24Z</dcterms:created>
  <dcterms:modified xsi:type="dcterms:W3CDTF">2025-04-08T12:58:02Z</dcterms:modified>
</cp:coreProperties>
</file>