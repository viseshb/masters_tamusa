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302" r:id="rId3"/>
    <p:sldId id="323" r:id="rId4"/>
    <p:sldId id="304" r:id="rId5"/>
    <p:sldId id="330" r:id="rId6"/>
    <p:sldId id="305" r:id="rId7"/>
    <p:sldId id="306" r:id="rId8"/>
    <p:sldId id="335" r:id="rId9"/>
    <p:sldId id="313" r:id="rId10"/>
    <p:sldId id="331" r:id="rId11"/>
    <p:sldId id="332" r:id="rId12"/>
    <p:sldId id="311" r:id="rId13"/>
    <p:sldId id="312" r:id="rId14"/>
    <p:sldId id="310" r:id="rId15"/>
    <p:sldId id="324" r:id="rId16"/>
    <p:sldId id="321" r:id="rId17"/>
    <p:sldId id="298" r:id="rId18"/>
    <p:sldId id="337" r:id="rId19"/>
    <p:sldId id="338" r:id="rId20"/>
    <p:sldId id="314" r:id="rId21"/>
    <p:sldId id="322" r:id="rId22"/>
    <p:sldId id="325" r:id="rId23"/>
    <p:sldId id="320" r:id="rId24"/>
    <p:sldId id="315" r:id="rId25"/>
    <p:sldId id="339" r:id="rId26"/>
    <p:sldId id="340" r:id="rId27"/>
    <p:sldId id="334" r:id="rId2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571" autoAdjust="0"/>
    <p:restoredTop sz="94658"/>
  </p:normalViewPr>
  <p:slideViewPr>
    <p:cSldViewPr snapToGrid="0" snapToObjects="1">
      <p:cViewPr varScale="1">
        <p:scale>
          <a:sx n="79" d="100"/>
          <a:sy n="79" d="100"/>
        </p:scale>
        <p:origin x="12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esh Bentula" userId="5243385d4042bccd" providerId="LiveId" clId="{246E7AC6-C0EF-45F7-80F4-B7F472CB2FFD}"/>
    <pc:docChg chg="modSld">
      <pc:chgData name="Visesh Bentula" userId="5243385d4042bccd" providerId="LiveId" clId="{246E7AC6-C0EF-45F7-80F4-B7F472CB2FFD}" dt="2025-04-26T04:18:46.072" v="0" actId="1038"/>
      <pc:docMkLst>
        <pc:docMk/>
      </pc:docMkLst>
      <pc:sldChg chg="modSp mod">
        <pc:chgData name="Visesh Bentula" userId="5243385d4042bccd" providerId="LiveId" clId="{246E7AC6-C0EF-45F7-80F4-B7F472CB2FFD}" dt="2025-04-26T04:18:46.072" v="0" actId="1038"/>
        <pc:sldMkLst>
          <pc:docMk/>
          <pc:sldMk cId="598163404" sldId="312"/>
        </pc:sldMkLst>
        <pc:picChg chg="mod">
          <ac:chgData name="Visesh Bentula" userId="5243385d4042bccd" providerId="LiveId" clId="{246E7AC6-C0EF-45F7-80F4-B7F472CB2FFD}" dt="2025-04-26T04:18:46.072" v="0" actId="1038"/>
          <ac:picMkLst>
            <pc:docMk/>
            <pc:sldMk cId="598163404" sldId="312"/>
            <ac:picMk id="7" creationId="{8CF52117-0E9D-6EC2-26DE-E30EA3B5FB5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E9484-A1AE-4848-978F-DB84137331BF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51DBA-7D26-427F-A8DB-8EB0BE3564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278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2:49.040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0 5639 0 0,'-13'1'248'0'0,"5"-1"56"0"0,0-1-240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3:00.52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0 455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5:54.5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77 0 1839 0 0,'0'0'160'0'0,"-7"1"856"0"0,-2-1 80 0 0,0 1-872 0 0,0 1-72 0 0,0 0-16 0 0,1 0 0 0 0,0 2-136 0 0,0-1-88 0 0,-1 2 16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3:07.23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6 0 2879 0 0,'0'0'280'0'0,"-6"5"-200"0"0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3:20.99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8 2759 0 0,'8'1'352'0'0,"18"1"760"0"0,0 0 0 0 0,36-3 0 0 0,-16-10-2724 0 0,-37 11-456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3:36.3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75 30 1375 0 0,'0'0'66'0'0,"-1"-1"-8"0"0,-6-3-46 0 0,-2-3-12 0 0,-2-3 0 0 0,0 6 0 0 0,-13 1 0 0 0,12 2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6:06.07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183 0 6911 0 0,'-13'8'487'0'0,"5"-3"-435"0"0,-1 0-1 0 0,1 1 0 0 0,1 0 1 0 0,-11 10-1 0 0,9-8-51 0 0,0-4 0 0 0,-4-3 0 0 0,0 0 0 0 0,-26-1 0 0 0,15 0 0 0 0,12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7:38.10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1 11575 0 0,'0'0'1264'0'0,"10"8"-1744"0"0,0-1-104 0 0,-2-3-24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7:38.52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30 0 6911 0 0,'-29'2'623'0'0,"105"5"984"0"0,-59-5-797 0 0,-5-1-306 0 0,26 1 0 0 0,-24-3-504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7:38.9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51 164 14655 0 0,'-28'2'648'0'0,"14"-3"136"0"0,6-1-624 0 0,26 15-160 0 0,-2-7 0 0 0,9 3 0 0 0,30 9-2864 0 0,7-2-600 0 0,-15-10-120 0 0</inkml:trace>
  <inkml:trace contextRef="#ctx0" brushRef="#br0" timeOffset="1">1556 41 12895 0 0,'-13'-2'1152'0'0,"-1"-1"-928"0"0,1 0-224 0 0,-6-1 0 0 0,1 2 0 0 0,5-1 0 0 0,-4-1 0 0 0,-13-5 0 0 0,-1-2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7:39.41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38 33 16127 0 0,'-15'-18'1432'0'0,"5"10"-1144"0"0,2 1-288 0 0,3 17-656 0 0,5 1 656 0 0,2 0 0 0 0,3 5 0 0 0,1 6-6816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7:54.73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14 7 10135 0 0,'0'0'448'0'0,"-8"-3"96"0"0,3-1-440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1:57:55.14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1184 1 6911 0 0,'0'0'608'0'0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22:10:40.80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0 919 0 0,'0'0'11464'0'0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12:35.77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88 3 12439 0 0,'-9'-1'1104'0'0,"-3"1"-880"0"0,0 0-224 0 0,0 0 0 0 0,1 0 768 0 0,1 0 120 0 0,2-1 928 0 0,1 3-872 0 0,0 0-1072 0 0,12 1-472 0 0,1 3-808 0 0,2 0-232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09:14.1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 1 9359 0 0,'0'0'2368'0'0,"-3"12"-2261"0"0,4-11-153 0 0,0 1 0 0 0,-1-1 0 0 0,1 1 0 0 0,0-1 0 0 0,0 0 1 0 0,0 1-1 0 0,0-1 0 0 0,0 0 0 0 0,0 0 0 0 0,0 0 0 0 0,0 0 0 0 0,1 0 0 0 0,1 1 0 0 0,7 5-210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09:07.89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180 15 10567 0 0,'-24'1'305'0'0,"1"-1"-1"0"0,-1-2 1 0 0,-32-5-1 0 0,7 1 1012 0 0,46 5-1206 0 0,41 10-1478 0 0,-14-3 588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08:54.04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318 76 7831 0 0,'-1'-5'144'0'0,"1"0"-1"0"0,-1 0 0 0 0,1 0 0 0 0,1-1 1 0 0,0-5-1 0 0,0 9-144 0 0,-1-1 0 0 0,1 1 0 0 0,0-1 0 0 0,0 1 0 0 0,1-1 0 0 0,-1 1 0 0 0,1 0 0 0 0,-1 0 0 0 0,1-1 0 0 0,-1 1 0 0 0,4-3 0 0 0,-4 4 1 0 0,0 1 0 0 0,-1-1 0 0 0,1 1 0 0 0,0-1 0 0 0,0 0 0 0 0,-1 1 0 0 0,1-1 0 0 0,0 1 0 0 0,0 0 0 0 0,0-1 0 0 0,0 1 0 0 0,-1 0 0 0 0,1-1 0 0 0,0 1 0 0 0,0 0 0 0 0,0 0 0 0 0,0 0 0 0 0,0 0 0 0 0,0 0 0 0 0,0 0 0 0 0,0 0 0 0 0,0 0 0 0 0,0 0 0 0 0,1 0 0 0 0,2 1 0 0 0,7 0 0 0 0,0 0 0 0 0,0 1 0 0 0,-1 0 0 0 0,1 1 0 0 0,0 0 0 0 0,-1 1 0 0 0,0 0 0 0 0,15 8 0 0 0,-17-8 13 0 0,0 0 0 0 0,1-1-1 0 0,10 3 1 0 0,15 6 1306 0 0,35 26 3187 0 0,-4 7-3292 0 0,-59-40-1601 0 0,9 6 1758 0 0,24 24 1 0 0,-36-32-1315 0 0,0 0 0 0 0,0 1 1 0 0,-1-1-1 0 0,1 1 0 0 0,-1-1 0 0 0,1 1 0 0 0,-1 0 1 0 0,0 0-1 0 0,-1 0 0 0 0,1 0 0 0 0,-1 0 0 0 0,0 0 1 0 0,2 8-1 0 0,-3-8-190 0 0,0 0 0 0 0,0 0 0 0 0,-1 0 0 0 0,1 1 0 0 0,-1-1 0 0 0,0 0 0 0 0,0 0 0 0 0,0 0 0 0 0,-1 0-1 0 0,1 0 1 0 0,-1-1 0 0 0,-4 8 0 0 0,2-6 87 0 0,0 0-1 0 0,0 0 0 0 0,0 0 0 0 0,-1-1 1 0 0,0 1-1 0 0,0-1 0 0 0,-9 5 0 0 0,-6 2 217 0 0,0-1 0 0 0,-1-1 0 0 0,-38 12 0 0 0,39-15-161 0 0,-11 6 193 0 0,0 0-1 0 0,0 2 0 0 0,1 2 1 0 0,1 1-1 0 0,-46 34 0 0 0,53-34 251 0 0,-1-1 0 0 0,-38 18 0 0 0,46-27-349 0 0,0 0 0 0 0,0-2-1 0 0,-1 0 1 0 0,1 0 0 0 0,-28 3-1 0 0,-52 4 1505 0 0,83-9-1565 0 0,-3 3-4334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09:08.712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24 141 15983 0 0,'-4'-9'237'0'0,"0"-1"0"0"0,1 1-1 0 0,0-1 1 0 0,0 0 0 0 0,1 0-1 0 0,1 0 1 0 0,-1-14 0 0 0,0 11 61 0 0,2-8 57 0 0,0 21-368 0 0,0-1 0 0 0,0 0-1 0 0,0 1 1 0 0,0-1 0 0 0,0 1-1 0 0,0-1 1 0 0,1 0 0 0 0,-1 1-1 0 0,0-1 1 0 0,0 1-1 0 0,0-1 1 0 0,1 1 0 0 0,-1-1-1 0 0,0 1 1 0 0,0-1 0 0 0,1 1-1 0 0,-1-1 1 0 0,1 1 0 0 0,-1-1-1 0 0,0 1 1 0 0,1-1 0 0 0,-1 1-1 0 0,1 0 1 0 0,-1-1 0 0 0,1 1-1 0 0,-1 0 1 0 0,1-1 0 0 0,-1 1-1 0 0,1 0 1 0 0,-1 0 0 0 0,2-1-1 0 0,-1 1-17 0 0,-1 0 0 0 0,1 0 0 0 0,-1 0 1 0 0,1 1-1 0 0,-1-1 0 0 0,0 0 0 0 0,1 0 0 0 0,-1 0 0 0 0,1 0 0 0 0,-1 1 0 0 0,1-1 0 0 0,-1 0 0 0 0,0 0 0 0 0,1 1 1 0 0,-1-1-1 0 0,1 0 0 0 0,-1 1 0 0 0,0-1 0 0 0,1 0 0 0 0,-1 1 0 0 0,0-1 0 0 0,0 1 0 0 0,1-1 0 0 0,-1 1 0 0 0,0-1 1 0 0,1 1-1 0 0,2 14-5083 0 0,-2-2 734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26:46.18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26 29 11287 0 0,'0'0'515'0'0,"-1"-1"-7"0"0,-1 1-88 0 0,1-1-1 0 0,0 1 1 0 0,-1-1-1 0 0,1 0 1 0 0,0 1-1 0 0,0-1 1 0 0,0 0-1 0 0,-1 0 1 0 0,1 0-1 0 0,0 0 1 0 0,0 0 0 0 0,0 0-1 0 0,1 0 1 0 0,-1 0-1 0 0,0 0 1 0 0,-1-2-1 0 0,-1-6-487 0 0,2 6-1528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22:52.23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 0 9215 0 0,'0'0'976'0'0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22:52.907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4 1 4055 0 0,'0'0'192'0'0,"-1"10"-80"0"0,0 2 8 0 0,0 5-120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4:26.532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14 9 10135 0 0,'0'0'1080'0'0,"-7"-9"-1080"0"0,4 17-256 0 0,0 3 96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4:27.011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8 12 15199 0 0,'0'0'672'0'0,"-4"-5"144"0"0,1-2-656 0 0,14 13-160 0 0,4 1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4:20.359"/>
    </inkml:context>
    <inkml:brush xml:id="br0">
      <inkml:brushProperty name="width" value="0.05" units="cm"/>
      <inkml:brushProperty name="height" value="0.05" units="cm"/>
      <inkml:brushProperty name="color" value="#CC0066"/>
    </inkml:brush>
  </inkml:definitions>
  <inkml:trace contextRef="#ctx0" brushRef="#br0">108 97 2759 0 0,'-13'-10'248'0'0,"-2"-2"-248"0"0,1 0 0 0 0,0-1 0 0 0,2-1 240 0 0,-2 1 0 0 0,1 2 0 0 0,0 0-1712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7:26.711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16 4607 0 0,'0'0'408'0'0,"-8"-4"-328"0"0,-4-1 168 0 0,4-2 32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8:11.88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 56 4143 0 0,'0'0'191'0'0,"1"-2"-11"0"0,7-3-143 0 0,-1-1-37 0 0,1-1 0 0 0,-2 1 0 0 0,-1 0 0 0 0,-2-3 0 0 0,-8 0 0 0 0,-2 4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8:15.395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29 4 10823 0 0,'-8'-3'1156'0'0,"-5"3"1036"0"0,7 0 1696 0 0,5 0-4010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8:24.69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15 4607 0 0,'0'0'354'0'0,"-8"-4"-220"0"0,1 0 4473 0 0,8 3-4526 0 0,39-2 1007 0 0,-35 2-985 0 0,-3-1-103 0 0,13 3 191 0 0,12 5 2531 0 0,-25-6-2662 0 0,6 1 1720 0 0,-6-1-1656 0 0,6 0 2980 0 0,-9 0-3104 0 0,1 0-1 0 0,-1 0 1 0 0,1 0 0 0 0,-1 0-1 0 0,1 0 1 0 0,-1 0 0 0 0,1 0-1 0 0,-1 0 1 0 0,1 0 0 0 0,-1 1-1 0 0,1-1 1 0 0,-1 0 0 0 0,1 0-1 0 0,0 1 1 0 0,-1-1-1 0 0,1 0 1 0 0,-1 1 0 0 0,1-1-1 0 0,0 0 1 0 0,-1 1 0 0 0,1-1-1 0 0,0 0 1 0 0,-1 1 0 0 0,1-1-1 0 0,0 1 1 0 0,-1-1 0 0 0,1 1-1 0 0,0 0 1 0 0,-2 15-76 0 0,1-12 70 0 0,1 6 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8:25.236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18 25 9671 0 0,'0'0'440'0'0,"-17"-4"8716"0"0,34-11-10592 0 0,-8 9 1436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8:33.693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47 93 1375 0 0,'0'0'128'0'0,"-6"-5"-128"0"0,-1-6 0 0 0,-2-1 0 0 0,5 5 0 0 0,-1-1 0 0 0,1 1 0 0 0,1-1 1560 0 0,-1 1 288 0 0,1 0 56 0 0,2 2 496 0 0,1-2-2208 0 0,1 2-64 0 0,6 1-5712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8:34.174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16 39 10911 0 0,'-3'-3'167'0'0,"-6"-14"884"0"0,6-1 225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3-28T19:38:34.778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51 1887 7367 0 0,'-15'-9'320'0'0,"4"2"80"0"0,-1-1-320 0 0,5-1-80 0 0,1 4 0 0 0,25 2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3T14:59:00.388"/>
    </inkml:context>
    <inkml:brush xml:id="br0">
      <inkml:brushProperty name="width" value="0.025" units="cm"/>
      <inkml:brushProperty name="height" value="0.025" units="cm"/>
      <inkml:brushProperty name="color" value="#E71224"/>
      <inkml:brushProperty name="ignorePressure" value="1"/>
    </inkml:brush>
  </inkml:definitions>
  <inkml:trace contextRef="#ctx0" brushRef="#br0">0 5,'0'-2,"0"-1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23T15:00:37.6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0 5295 0 0,'0'0'520'0'0,"-7"4"-520"0"0,-2 3 0 0 0,2 0 0 0 0,0 1 352 0 0,1-1 8 0 0,1 0 8 0 0,0 1 0 0 0,-1 0-368 0 0,1 1-240 0 0,1-1-328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23T15:00:47.7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 7 12839 0 0,'-10'-6'1392'0'0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23T15:00:58.8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2768 0 5063 0 0,'0'0'496'0'0,"-13"0"-496"0"0,4 3 0 0 0,-1 1 6136 0 0,0 3-2712 0 0,2 1 16 0 0,-1 2-4184 0 0,-3 4-840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3-23T15:03:56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64 43 4255 0 0,'-14'-9'96'0'0,"1"1"16"0"0,-1-1 8 0 0,2 1 0 0 0,2 0-120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843F6B6-C643-EB48-8E20-B61919A653AE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6E6A39C-9C1F-2A4A-AF30-046BACDB3F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7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4063" indent="-28892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8875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2401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87563" indent="-23177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447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019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591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16363" indent="-2317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EE3D77EE-CC85-42F9-805C-BEA481CCEB13}" type="slidenum">
              <a:rPr lang="en-US" altLang="en-US"/>
              <a:pPr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453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C9B5DC-A32D-4565-A4E4-E6104FFDFD2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14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4371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F11FD1-E122-4F7F-B8DE-69EA4C10F238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624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2451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06F780E-9DEC-114C-B59D-A82F5B1305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DB4BCB-6267-7C4C-B43A-E90C40649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D4E9D-E0FF-4A40-92D3-F584F728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A4489E-2E74-F340-B15A-B2A6F494503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91286" y="118872"/>
            <a:ext cx="9209427" cy="8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08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76A11-4AC1-8748-B27A-412000BFD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39F17-8DC0-704B-9AE7-F0ACCDF4C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4A4D8-C6D2-0E40-92C4-2BCFF05A1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TEXAS A&amp;M-SAN ANTONIO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86E18-20E2-9044-890C-17969EAC4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063ED-17C5-384F-8A20-6B5F1E692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72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5D519-9498-A74B-A50E-3FE856C93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A1DE4-D61E-B948-97DB-95EA3642C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EC6AA-5BA9-6C4B-9C05-A4DF3EB3C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70A15-8FCB-1145-B769-EBE016DEC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6DD52-61E1-7644-A884-1919EF7D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17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ADC3-8E98-4046-9AAD-79B345A9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E0A05-7784-8E43-A36D-9DF6EB0DA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BC6E6-C854-644C-8127-782D34662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892C8-648C-E648-909E-43B6AB5C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5A266-0D34-A848-B798-09F9F6C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E07C42-7FD9-8A46-9771-76E49801F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07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9DF53-106B-564F-A34E-66D6D552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E6C4E-D1C9-7E43-8BE6-6FF6C029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84BC5-819E-184D-B400-C628FC4E7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D4D157-B42E-B04A-9802-E4687A2B0F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BE22DF-E739-C941-8F53-FEB1143BE8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D40280-C860-6543-8954-037C3B8DD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C3B322-30C5-7A48-80C9-34D80F20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0A570F-CCB9-8A4D-A1DF-182EDBD9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403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A4AD-56A7-D544-8CC4-C59732383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9BB6-238C-9849-8A11-ED306825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3E8EC-9A7F-CE49-8A55-A5D7CD716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C0A83-16F0-D946-B562-A591524C4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64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29F64-1BDD-504B-A6CA-0E20C98E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8C1686-9F4A-094D-AD83-7AAFEDFD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004E1-8548-F84D-B00A-A977C4D04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454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73EF2-341F-F844-AFCF-6433054D0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D4C50-3B10-0B41-9B37-D7C15E26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F77F2-1CF2-E444-9FAD-9E8F54149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D50E1-5F20-BB45-A98E-EBF4F1C1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F63F-A284-684A-A9AD-5E8434D7B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865B0-3686-3341-AD20-5617C52E1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4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A22E-AA44-194A-BF2A-701D2B5FF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78C7F6-4BD5-E641-B632-A1B5A1DC03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7162C-C948-1943-97BA-5AB7865AF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FC85A-702E-DD4C-B6D4-ABFDB8A87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86D28-396E-8E48-AC2E-0FFF126D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52750-349A-6946-B6A4-04B5FB366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75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AD500-C0C2-5D47-8D80-53BD44C53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353C2-7F77-A84A-A20F-985C4D4E0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B0480-39D0-9D45-907F-0B6A521E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CE67D-E526-5843-B848-1C14DB188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4ADD1-3DAE-C94D-B565-D611793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27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162169-3F65-BD4A-838C-F27F6199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6FB8A1-5D3F-2A4E-B1C3-99D1601C1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78F54-DF87-5D42-BA44-CB6C6B654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80EB4-1594-5244-AFD3-740F69F71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BEE49-3691-D549-AC56-DB7355B65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7D5D8-8021-D54A-A92F-C392C50DF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10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E62574-E313-A548-8CD1-53BB254DD3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67030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9B084-1E51-FA44-B2F1-C4E821A1B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4DE31-0525-CD4C-A8B3-E43493227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2773D-3906-1A4B-8CD5-0D836E29BA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Oswald" panose="02000503000000000000" pitchFamily="2" charset="0"/>
              </a:defRPr>
            </a:lvl1pPr>
          </a:lstStyle>
          <a:p>
            <a:r>
              <a:rPr lang="en-US"/>
              <a:t>TEXAS A&amp;M-SAN ANTONIO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2DC35-01F7-F14D-A158-C7100804C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CDA7F-9F75-B94E-AEE1-3C966732A7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7D5D8-8021-D54A-A92F-C392C50DF18D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F6714-108A-9744-8E65-70ABDC5635ED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" y="0"/>
            <a:ext cx="826999" cy="82699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7F07C08-5274-364D-889D-20BEAFD80E1E}"/>
              </a:ext>
            </a:extLst>
          </p:cNvPr>
          <p:cNvCxnSpPr>
            <a:cxnSpLocks/>
          </p:cNvCxnSpPr>
          <p:nvPr userDrawn="1"/>
        </p:nvCxnSpPr>
        <p:spPr>
          <a:xfrm>
            <a:off x="2450592" y="6598227"/>
            <a:ext cx="974140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229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Oswald" panose="02000503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ollkorn" panose="0200050307000002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47" Type="http://schemas.openxmlformats.org/officeDocument/2006/relationships/image" Target="../media/image2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2.xml"/><Relationship Id="rId49" Type="http://schemas.openxmlformats.org/officeDocument/2006/relationships/image" Target="../media/image27.png"/><Relationship Id="rId31" Type="http://schemas.openxmlformats.org/officeDocument/2006/relationships/image" Target="../media/image18.png"/><Relationship Id="rId48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37" Type="http://schemas.openxmlformats.org/officeDocument/2006/relationships/image" Target="../media/image45.png"/><Relationship Id="rId5" Type="http://schemas.openxmlformats.org/officeDocument/2006/relationships/image" Target="../media/image30.png"/><Relationship Id="rId14" Type="http://schemas.openxmlformats.org/officeDocument/2006/relationships/customXml" Target="../ink/ink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09" Type="http://schemas.openxmlformats.org/officeDocument/2006/relationships/customXml" Target="../ink/ink11.xml"/><Relationship Id="rId3" Type="http://schemas.openxmlformats.org/officeDocument/2006/relationships/customXml" Target="../ink/ink7.xml"/><Relationship Id="rId104" Type="http://schemas.openxmlformats.org/officeDocument/2006/relationships/image" Target="../media/image137.png"/><Relationship Id="rId108" Type="http://schemas.openxmlformats.org/officeDocument/2006/relationships/image" Target="../media/image139.png"/><Relationship Id="rId124" Type="http://schemas.openxmlformats.org/officeDocument/2006/relationships/image" Target="../media/image147.png"/><Relationship Id="rId2" Type="http://schemas.openxmlformats.org/officeDocument/2006/relationships/image" Target="../media/image4.png"/><Relationship Id="rId107" Type="http://schemas.openxmlformats.org/officeDocument/2006/relationships/customXml" Target="../ink/ink10.xml"/><Relationship Id="rId111" Type="http://schemas.openxmlformats.org/officeDocument/2006/relationships/customXml" Target="../ink/ink12.xml"/><Relationship Id="rId1" Type="http://schemas.openxmlformats.org/officeDocument/2006/relationships/slideLayout" Target="../slideLayouts/slideLayout2.xml"/><Relationship Id="rId110" Type="http://schemas.openxmlformats.org/officeDocument/2006/relationships/image" Target="../media/image140.png"/><Relationship Id="rId123" Type="http://schemas.openxmlformats.org/officeDocument/2006/relationships/customXml" Target="../ink/ink13.xml"/><Relationship Id="rId5" Type="http://schemas.openxmlformats.org/officeDocument/2006/relationships/customXml" Target="../ink/ink8.xml"/><Relationship Id="rId106" Type="http://schemas.openxmlformats.org/officeDocument/2006/relationships/image" Target="../media/image138.png"/><Relationship Id="rId122" Type="http://schemas.openxmlformats.org/officeDocument/2006/relationships/image" Target="../media/image146.png"/><Relationship Id="rId4" Type="http://schemas.openxmlformats.org/officeDocument/2006/relationships/image" Target="../media/image87.png"/><Relationship Id="rId105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.xml"/><Relationship Id="rId3" Type="http://schemas.openxmlformats.org/officeDocument/2006/relationships/image" Target="../media/image10.png"/><Relationship Id="rId25" Type="http://schemas.openxmlformats.org/officeDocument/2006/relationships/image" Target="../media/image16.png"/><Relationship Id="rId59" Type="http://schemas.openxmlformats.org/officeDocument/2006/relationships/image" Target="../media/image1090.png"/><Relationship Id="rId2" Type="http://schemas.openxmlformats.org/officeDocument/2006/relationships/image" Target="../media/image9.png"/><Relationship Id="rId54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16.xml"/><Relationship Id="rId53" Type="http://schemas.openxmlformats.org/officeDocument/2006/relationships/image" Target="../media/image1060.png"/><Relationship Id="rId58" Type="http://schemas.openxmlformats.org/officeDocument/2006/relationships/customXml" Target="../ink/ink19.xml"/><Relationship Id="rId23" Type="http://schemas.openxmlformats.org/officeDocument/2006/relationships/image" Target="../media/image911.png"/><Relationship Id="rId57" Type="http://schemas.openxmlformats.org/officeDocument/2006/relationships/image" Target="../media/image1080.png"/><Relationship Id="rId4" Type="http://schemas.openxmlformats.org/officeDocument/2006/relationships/customXml" Target="../ink/ink15.xml"/></Relationships>
</file>

<file path=ppt/slides/_rels/slide15.xml.rels><?xml version="1.0" encoding="UTF-8" standalone="yes"?>
<Relationships xmlns="http://schemas.openxmlformats.org/package/2006/relationships"><Relationship Id="rId231" Type="http://schemas.openxmlformats.org/officeDocument/2006/relationships/image" Target="../media/image3740.png"/><Relationship Id="rId230" Type="http://schemas.openxmlformats.org/officeDocument/2006/relationships/customXml" Target="../ink/ink22.xml"/><Relationship Id="rId12" Type="http://schemas.openxmlformats.org/officeDocument/2006/relationships/customXml" Target="../ink/ink21.xml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376.png"/><Relationship Id="rId229" Type="http://schemas.openxmlformats.org/officeDocument/2006/relationships/image" Target="../media/image373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.xml"/><Relationship Id="rId117" Type="http://schemas.openxmlformats.org/officeDocument/2006/relationships/image" Target="../media/image489.png"/><Relationship Id="rId3" Type="http://schemas.openxmlformats.org/officeDocument/2006/relationships/customXml" Target="../ink/ink23.xml"/><Relationship Id="rId120" Type="http://schemas.openxmlformats.org/officeDocument/2006/relationships/customXml" Target="../ink/ink31.xml"/><Relationship Id="rId133" Type="http://schemas.openxmlformats.org/officeDocument/2006/relationships/image" Target="../media/image497.png"/><Relationship Id="rId25" Type="http://schemas.openxmlformats.org/officeDocument/2006/relationships/image" Target="../media/image443.png"/><Relationship Id="rId92" Type="http://schemas.openxmlformats.org/officeDocument/2006/relationships/customXml" Target="../ink/ink27.xml"/><Relationship Id="rId108" Type="http://schemas.openxmlformats.org/officeDocument/2006/relationships/customXml" Target="../ink/ink29.xml"/><Relationship Id="rId129" Type="http://schemas.openxmlformats.org/officeDocument/2006/relationships/image" Target="../media/image495.png"/><Relationship Id="rId2" Type="http://schemas.openxmlformats.org/officeDocument/2006/relationships/image" Target="../media/image19.png"/><Relationship Id="rId91" Type="http://schemas.openxmlformats.org/officeDocument/2006/relationships/image" Target="../media/image476.png"/><Relationship Id="rId107" Type="http://schemas.openxmlformats.org/officeDocument/2006/relationships/image" Target="../media/image484.png"/><Relationship Id="rId132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26.xml"/><Relationship Id="rId102" Type="http://schemas.openxmlformats.org/officeDocument/2006/relationships/customXml" Target="../ink/ink28.xml"/><Relationship Id="rId131" Type="http://schemas.openxmlformats.org/officeDocument/2006/relationships/image" Target="../media/image496.png"/><Relationship Id="rId28" Type="http://schemas.openxmlformats.org/officeDocument/2006/relationships/customXml" Target="../ink/ink25.xml"/><Relationship Id="rId119" Type="http://schemas.openxmlformats.org/officeDocument/2006/relationships/image" Target="../media/image490.png"/><Relationship Id="rId31" Type="http://schemas.openxmlformats.org/officeDocument/2006/relationships/image" Target="../media/image446.png"/><Relationship Id="rId101" Type="http://schemas.openxmlformats.org/officeDocument/2006/relationships/image" Target="../media/image481.png"/><Relationship Id="rId130" Type="http://schemas.openxmlformats.org/officeDocument/2006/relationships/customXml" Target="../ink/ink32.xml"/><Relationship Id="rId27" Type="http://schemas.openxmlformats.org/officeDocument/2006/relationships/image" Target="../media/image444.png"/><Relationship Id="rId118" Type="http://schemas.openxmlformats.org/officeDocument/2006/relationships/customXml" Target="../ink/ink30.xml"/><Relationship Id="rId13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3" Type="http://schemas.openxmlformats.org/officeDocument/2006/relationships/customXml" Target="../ink/ink34.xml"/><Relationship Id="rId7" Type="http://schemas.openxmlformats.org/officeDocument/2006/relationships/image" Target="../media/image28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3010.png"/><Relationship Id="rId5" Type="http://schemas.openxmlformats.org/officeDocument/2006/relationships/image" Target="../media/image2710.png"/><Relationship Id="rId10" Type="http://schemas.openxmlformats.org/officeDocument/2006/relationships/customXml" Target="../ink/ink37.xml"/><Relationship Id="rId9" Type="http://schemas.openxmlformats.org/officeDocument/2006/relationships/image" Target="../media/image29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34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E6319-A62A-B444-ADAD-8972AE1B0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8118"/>
            <a:ext cx="9144000" cy="192292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CSCI 5343 Algorithms</a:t>
            </a:r>
            <a:br>
              <a:rPr lang="en-US" sz="3600" dirty="0"/>
            </a:br>
            <a:r>
              <a:rPr lang="en-US" sz="3600" dirty="0"/>
              <a:t>Spring 2025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B2D859-22D5-E943-B0B7-72D5D0A6F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09963"/>
            <a:ext cx="9144000" cy="189575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  <a:buSzPct val="70000"/>
            </a:pPr>
            <a:r>
              <a:rPr lang="en-US" dirty="0"/>
              <a:t>Dept. of Computational, Engineering, and Mathematical Sciences</a:t>
            </a:r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  <a:p>
            <a:pPr>
              <a:buClr>
                <a:srgbClr val="002060"/>
              </a:buClr>
              <a:buSzPct val="70000"/>
            </a:pPr>
            <a:r>
              <a:rPr lang="en-US" dirty="0"/>
              <a:t>Chapter 20 Elementary Graph Algorithms</a:t>
            </a:r>
            <a:endParaRPr lang="en-US" altLang="en-US" dirty="0"/>
          </a:p>
          <a:p>
            <a:pPr>
              <a:buClr>
                <a:srgbClr val="002060"/>
              </a:buClr>
              <a:buSzPct val="70000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71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30288" y="26194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Objectives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211580" y="1680210"/>
            <a:ext cx="6897688" cy="3894138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sz="2600" dirty="0"/>
              <a:t>Discuss the following topics: 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2600" dirty="0"/>
              <a:t>Graph Definition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2600" dirty="0"/>
              <a:t>Graph Representation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2600" dirty="0"/>
              <a:t>Graph Traversal (Search)</a:t>
            </a:r>
          </a:p>
          <a:p>
            <a:pPr lvl="1">
              <a:buClr>
                <a:srgbClr val="002060"/>
              </a:buClr>
            </a:pPr>
            <a:r>
              <a:rPr lang="en-US" altLang="en-US" dirty="0"/>
              <a:t>Breadth First Traversal (Search)</a:t>
            </a:r>
          </a:p>
          <a:p>
            <a:pPr lvl="1">
              <a:buClr>
                <a:srgbClr val="002060"/>
              </a:buClr>
            </a:pPr>
            <a:r>
              <a:rPr lang="en-US" altLang="en-US" dirty="0"/>
              <a:t>Depth First Traversal (Search)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96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5081"/>
            <a:ext cx="10515600" cy="1234344"/>
          </a:xfrm>
        </p:spPr>
        <p:txBody>
          <a:bodyPr/>
          <a:lstStyle/>
          <a:p>
            <a:r>
              <a:rPr lang="en-US" sz="3600" dirty="0"/>
              <a:t>Trees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23322" y="1531075"/>
            <a:ext cx="9283717" cy="4195481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600" dirty="0"/>
              <a:t>Has the flexibility and many different tree applications</a:t>
            </a:r>
          </a:p>
          <a:p>
            <a:pPr>
              <a:buClr>
                <a:srgbClr val="002060"/>
              </a:buClr>
            </a:pPr>
            <a:r>
              <a:rPr lang="en-US" sz="2600" dirty="0"/>
              <a:t>Limitation</a:t>
            </a:r>
          </a:p>
          <a:p>
            <a:pPr lvl="1">
              <a:buClr>
                <a:srgbClr val="002060"/>
              </a:buClr>
            </a:pPr>
            <a:r>
              <a:rPr lang="en-US" sz="2600" dirty="0"/>
              <a:t>Only can representations of a hierarchical type such as relations between parent and child</a:t>
            </a:r>
          </a:p>
          <a:p>
            <a:pPr lvl="1">
              <a:buClr>
                <a:srgbClr val="002060"/>
              </a:buClr>
            </a:pPr>
            <a:r>
              <a:rPr lang="en-US" sz="2600" dirty="0"/>
              <a:t>Other relations are indirectly represented such as siblings</a:t>
            </a:r>
          </a:p>
          <a:p>
            <a:pPr>
              <a:buClr>
                <a:srgbClr val="002060"/>
              </a:buClr>
            </a:pPr>
            <a:r>
              <a:rPr lang="en-US" sz="2600" dirty="0"/>
              <a:t>Graph</a:t>
            </a:r>
          </a:p>
          <a:p>
            <a:pPr lvl="1">
              <a:buClr>
                <a:srgbClr val="002060"/>
              </a:buClr>
            </a:pPr>
            <a:r>
              <a:rPr lang="en-US" sz="2600" dirty="0"/>
              <a:t>Data structure in which this limitation is lifted</a:t>
            </a:r>
          </a:p>
          <a:p>
            <a:pPr lvl="1">
              <a:buClr>
                <a:srgbClr val="002060"/>
              </a:buClr>
            </a:pPr>
            <a:r>
              <a:rPr lang="en-US" sz="2600" dirty="0"/>
              <a:t>Computational problems can be defined in graph</a:t>
            </a:r>
          </a:p>
        </p:txBody>
      </p:sp>
    </p:spTree>
    <p:extLst>
      <p:ext uri="{BB962C8B-B14F-4D97-AF65-F5344CB8AC3E}">
        <p14:creationId xmlns:p14="http://schemas.microsoft.com/office/powerpoint/2010/main" val="3230134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353" y="32665"/>
            <a:ext cx="6964363" cy="1011238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Graphs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55635" y="1475365"/>
            <a:ext cx="9330372" cy="4168625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rgbClr val="002060"/>
              </a:buClr>
              <a:defRPr/>
            </a:pPr>
            <a:r>
              <a:rPr lang="en-US" altLang="en-US" sz="2600" dirty="0"/>
              <a:t>A </a:t>
            </a:r>
            <a:r>
              <a:rPr lang="en-US" altLang="en-US" sz="2600" b="1" dirty="0"/>
              <a:t>graph</a:t>
            </a:r>
            <a:r>
              <a:rPr lang="en-US" altLang="en-US" sz="2600" dirty="0"/>
              <a:t> is a collection of vertices (or nodes) and the connections between them</a:t>
            </a:r>
          </a:p>
          <a:p>
            <a:pPr>
              <a:lnSpc>
                <a:spcPct val="90000"/>
              </a:lnSpc>
              <a:buClr>
                <a:srgbClr val="002060"/>
              </a:buClr>
              <a:defRPr/>
            </a:pPr>
            <a:r>
              <a:rPr lang="en-US" altLang="en-US" sz="2600" dirty="0"/>
              <a:t>A </a:t>
            </a:r>
            <a:r>
              <a:rPr lang="en-US" altLang="en-US" sz="2600" b="1" dirty="0"/>
              <a:t>simple graph </a:t>
            </a:r>
            <a:r>
              <a:rPr lang="en-US" altLang="en-US" sz="2600" i="1" dirty="0"/>
              <a:t>G = (V, E)</a:t>
            </a:r>
            <a:r>
              <a:rPr lang="en-US" altLang="en-US" sz="2600" dirty="0"/>
              <a:t> consists of a nonempty set </a:t>
            </a:r>
            <a:r>
              <a:rPr lang="en-US" altLang="en-US" sz="2600" i="1" dirty="0"/>
              <a:t>V </a:t>
            </a:r>
            <a:r>
              <a:rPr lang="en-US" altLang="en-US" sz="2600" dirty="0"/>
              <a:t>of </a:t>
            </a:r>
            <a:r>
              <a:rPr lang="en-US" altLang="en-US" sz="2600" b="1" dirty="0"/>
              <a:t>vertices</a:t>
            </a:r>
            <a:r>
              <a:rPr lang="en-US" altLang="en-US" sz="2600" i="1" dirty="0"/>
              <a:t> </a:t>
            </a:r>
            <a:r>
              <a:rPr lang="en-US" altLang="en-US" sz="2600" dirty="0"/>
              <a:t>and a possibly empty set </a:t>
            </a:r>
            <a:r>
              <a:rPr lang="en-US" altLang="en-US" sz="2600" i="1" dirty="0"/>
              <a:t>E</a:t>
            </a:r>
            <a:r>
              <a:rPr lang="en-US" altLang="en-US" sz="2600" b="1" dirty="0"/>
              <a:t> </a:t>
            </a:r>
            <a:r>
              <a:rPr lang="en-US" altLang="en-US" sz="2600" dirty="0"/>
              <a:t>of </a:t>
            </a:r>
            <a:r>
              <a:rPr lang="en-US" altLang="en-US" sz="2600" b="1" dirty="0"/>
              <a:t>edges</a:t>
            </a:r>
            <a:r>
              <a:rPr lang="en-US" altLang="en-US" sz="2600" i="1" dirty="0"/>
              <a:t>, </a:t>
            </a:r>
            <a:r>
              <a:rPr lang="en-US" altLang="en-US" sz="2600" dirty="0"/>
              <a:t>each edge being a set of two vertices from </a:t>
            </a:r>
            <a:r>
              <a:rPr lang="en-US" altLang="en-US" sz="2600" i="1" dirty="0"/>
              <a:t>V</a:t>
            </a:r>
          </a:p>
          <a:p>
            <a:r>
              <a:rPr lang="en-US" altLang="en-US" dirty="0"/>
              <a:t>A graph G = (V, E)</a:t>
            </a:r>
          </a:p>
          <a:p>
            <a:pPr lvl="1"/>
            <a:r>
              <a:rPr lang="en-US" altLang="en-US" dirty="0"/>
              <a:t>V = set of vertices</a:t>
            </a:r>
          </a:p>
          <a:p>
            <a:pPr lvl="1"/>
            <a:r>
              <a:rPr lang="en-US" altLang="en-US" dirty="0"/>
              <a:t>E = set of edges = subset of V </a:t>
            </a:r>
            <a:r>
              <a:rPr lang="en-US" altLang="en-US" dirty="0">
                <a:sym typeface="Symbol" panose="05050102010706020507" pitchFamily="18" charset="2"/>
              </a:rPr>
              <a:t></a:t>
            </a:r>
            <a:r>
              <a:rPr lang="en-US" altLang="en-US" dirty="0"/>
              <a:t> V</a:t>
            </a:r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7701916" y="3639493"/>
            <a:ext cx="380565" cy="36515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6558916" y="4706293"/>
            <a:ext cx="380565" cy="36515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 dirty="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8844916" y="4706293"/>
            <a:ext cx="380565" cy="36515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7701916" y="5773093"/>
            <a:ext cx="380565" cy="365157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9" name="AutoShape 8"/>
          <p:cNvCxnSpPr>
            <a:cxnSpLocks noChangeShapeType="1"/>
            <a:stCxn id="5" idx="3"/>
            <a:endCxn id="6" idx="7"/>
          </p:cNvCxnSpPr>
          <p:nvPr/>
        </p:nvCxnSpPr>
        <p:spPr bwMode="auto">
          <a:xfrm flipH="1">
            <a:off x="6883749" y="3951174"/>
            <a:ext cx="873899" cy="80859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9"/>
          <p:cNvCxnSpPr>
            <a:cxnSpLocks noChangeShapeType="1"/>
            <a:stCxn id="6" idx="5"/>
            <a:endCxn id="8" idx="1"/>
          </p:cNvCxnSpPr>
          <p:nvPr/>
        </p:nvCxnSpPr>
        <p:spPr bwMode="auto">
          <a:xfrm>
            <a:off x="6883749" y="5017974"/>
            <a:ext cx="873899" cy="80859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0"/>
          <p:cNvCxnSpPr>
            <a:cxnSpLocks noChangeShapeType="1"/>
            <a:stCxn id="7" idx="3"/>
            <a:endCxn id="8" idx="7"/>
          </p:cNvCxnSpPr>
          <p:nvPr/>
        </p:nvCxnSpPr>
        <p:spPr bwMode="auto">
          <a:xfrm flipH="1">
            <a:off x="8026749" y="5017974"/>
            <a:ext cx="873899" cy="80859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11"/>
          <p:cNvCxnSpPr>
            <a:cxnSpLocks noChangeShapeType="1"/>
            <a:stCxn id="5" idx="4"/>
            <a:endCxn id="8" idx="0"/>
          </p:cNvCxnSpPr>
          <p:nvPr/>
        </p:nvCxnSpPr>
        <p:spPr bwMode="auto">
          <a:xfrm>
            <a:off x="7892199" y="4004650"/>
            <a:ext cx="0" cy="1768443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8363337" y="3639493"/>
            <a:ext cx="3481736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dirty="0"/>
              <a:t>Vertices: {1, 2, 3, 4}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Edges: {(1, 2), (2, 3), (1, 3), (4, 3)}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30BDEF6-0826-A59F-FB40-73B4A3F1BBA6}"/>
                  </a:ext>
                </a:extLst>
              </p14:cNvPr>
              <p14:cNvContentPartPr/>
              <p14:nvPr/>
            </p14:nvContentPartPr>
            <p14:xfrm>
              <a:off x="6992360" y="5673027"/>
              <a:ext cx="10800" cy="7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30BDEF6-0826-A59F-FB40-73B4A3F1BBA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983360" y="5664027"/>
                <a:ext cx="28440" cy="1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671C055-C1D0-57CF-01E5-19A36B031B00}"/>
                  </a:ext>
                </a:extLst>
              </p14:cNvPr>
              <p14:cNvContentPartPr/>
              <p14:nvPr/>
            </p14:nvContentPartPr>
            <p14:xfrm>
              <a:off x="10212200" y="5453427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671C055-C1D0-57CF-01E5-19A36B031B00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203560" y="544442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E4C92C6-0E18-BDC4-9507-9A5970C8067D}"/>
                  </a:ext>
                </a:extLst>
              </p14:cNvPr>
              <p14:cNvContentPartPr/>
              <p14:nvPr/>
            </p14:nvContentPartPr>
            <p14:xfrm>
              <a:off x="6395361" y="2656407"/>
              <a:ext cx="27720" cy="7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E4C92C6-0E18-BDC4-9507-9A5970C8067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386721" y="2647407"/>
                <a:ext cx="45360" cy="2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4935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353" y="32665"/>
            <a:ext cx="6964363" cy="1011238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Graphs</a:t>
            </a: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97717" y="1225961"/>
            <a:ext cx="9330372" cy="443682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Clr>
                <a:srgbClr val="002060"/>
              </a:buClr>
              <a:defRPr/>
            </a:pPr>
            <a:r>
              <a:rPr lang="en-US" altLang="en-US" sz="2600" dirty="0"/>
              <a:t>A </a:t>
            </a:r>
            <a:r>
              <a:rPr lang="en-US" altLang="en-US" sz="2600" b="1" dirty="0"/>
              <a:t>directed graph</a:t>
            </a:r>
            <a:r>
              <a:rPr lang="en-US" altLang="en-US" sz="2600" i="1" dirty="0"/>
              <a:t>, </a:t>
            </a:r>
            <a:r>
              <a:rPr lang="en-US" altLang="en-US" sz="2600" dirty="0"/>
              <a:t>or a </a:t>
            </a:r>
            <a:r>
              <a:rPr lang="en-US" altLang="en-US" sz="2600" b="1" dirty="0"/>
              <a:t>digraph</a:t>
            </a:r>
            <a:r>
              <a:rPr lang="en-US" altLang="en-US" sz="2600" i="1" dirty="0"/>
              <a:t>, G </a:t>
            </a:r>
            <a:r>
              <a:rPr lang="en-US" altLang="en-US" sz="2600" dirty="0"/>
              <a:t>= (</a:t>
            </a:r>
            <a:r>
              <a:rPr lang="en-US" altLang="en-US" sz="2600" i="1" dirty="0"/>
              <a:t>V, E</a:t>
            </a:r>
            <a:r>
              <a:rPr lang="en-US" altLang="en-US" sz="2600" dirty="0"/>
              <a:t>) consists of a nonempty set </a:t>
            </a:r>
            <a:r>
              <a:rPr lang="en-US" altLang="en-US" sz="2600" i="1" dirty="0"/>
              <a:t>V </a:t>
            </a:r>
            <a:r>
              <a:rPr lang="en-US" altLang="en-US" sz="2600" dirty="0"/>
              <a:t>of vertices and a set </a:t>
            </a:r>
            <a:r>
              <a:rPr lang="en-US" altLang="en-US" sz="2600" i="1" dirty="0"/>
              <a:t>E </a:t>
            </a:r>
            <a:r>
              <a:rPr lang="en-US" altLang="en-US" sz="2600" dirty="0"/>
              <a:t>of edges (also called </a:t>
            </a:r>
            <a:r>
              <a:rPr lang="en-US" altLang="en-US" sz="2600" b="1" dirty="0"/>
              <a:t>arcs</a:t>
            </a:r>
            <a:r>
              <a:rPr lang="en-US" altLang="en-US" sz="2600" dirty="0"/>
              <a:t>), where each edge is a pair of vertices from </a:t>
            </a:r>
            <a:r>
              <a:rPr lang="en-US" altLang="en-US" sz="2600" i="1" dirty="0"/>
              <a:t>V</a:t>
            </a:r>
          </a:p>
          <a:p>
            <a:pPr>
              <a:lnSpc>
                <a:spcPct val="90000"/>
              </a:lnSpc>
              <a:buClr>
                <a:srgbClr val="002060"/>
              </a:buClr>
              <a:defRPr/>
            </a:pPr>
            <a:r>
              <a:rPr lang="en-US" sz="2400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Edges have a direction</a:t>
            </a:r>
            <a:endParaRPr lang="en-US" altLang="en-US" sz="2400" dirty="0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3098800" y="2909385"/>
            <a:ext cx="432426" cy="43276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1955800" y="3976185"/>
            <a:ext cx="432426" cy="43276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4241800" y="3976185"/>
            <a:ext cx="432426" cy="43276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3098800" y="5042985"/>
            <a:ext cx="432426" cy="43276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9" name="AutoShape 8"/>
          <p:cNvCxnSpPr>
            <a:cxnSpLocks noChangeShapeType="1"/>
            <a:stCxn id="5" idx="3"/>
            <a:endCxn id="6" idx="7"/>
          </p:cNvCxnSpPr>
          <p:nvPr/>
        </p:nvCxnSpPr>
        <p:spPr bwMode="auto">
          <a:xfrm flipH="1">
            <a:off x="2476500" y="3444373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AutoShape 9"/>
          <p:cNvCxnSpPr>
            <a:cxnSpLocks noChangeShapeType="1"/>
            <a:stCxn id="6" idx="5"/>
            <a:endCxn id="8" idx="1"/>
          </p:cNvCxnSpPr>
          <p:nvPr/>
        </p:nvCxnSpPr>
        <p:spPr bwMode="auto">
          <a:xfrm>
            <a:off x="2476500" y="4511173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AutoShape 10"/>
          <p:cNvCxnSpPr>
            <a:cxnSpLocks noChangeShapeType="1"/>
            <a:stCxn id="7" idx="3"/>
            <a:endCxn id="8" idx="7"/>
          </p:cNvCxnSpPr>
          <p:nvPr/>
        </p:nvCxnSpPr>
        <p:spPr bwMode="auto">
          <a:xfrm flipH="1">
            <a:off x="3619500" y="4511173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AutoShape 11"/>
          <p:cNvCxnSpPr>
            <a:cxnSpLocks noChangeShapeType="1"/>
            <a:stCxn id="5" idx="4"/>
            <a:endCxn id="8" idx="0"/>
          </p:cNvCxnSpPr>
          <p:nvPr/>
        </p:nvCxnSpPr>
        <p:spPr bwMode="auto">
          <a:xfrm>
            <a:off x="3403600" y="3533273"/>
            <a:ext cx="0" cy="1495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2916767" y="5948079"/>
            <a:ext cx="13081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Directed</a:t>
            </a:r>
          </a:p>
        </p:txBody>
      </p:sp>
      <p:sp>
        <p:nvSpPr>
          <p:cNvPr id="14" name="Oval 17"/>
          <p:cNvSpPr>
            <a:spLocks noChangeArrowheads="1"/>
          </p:cNvSpPr>
          <p:nvPr/>
        </p:nvSpPr>
        <p:spPr bwMode="auto">
          <a:xfrm>
            <a:off x="7213600" y="2909385"/>
            <a:ext cx="432426" cy="43276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5" name="Oval 18"/>
          <p:cNvSpPr>
            <a:spLocks noChangeArrowheads="1"/>
          </p:cNvSpPr>
          <p:nvPr/>
        </p:nvSpPr>
        <p:spPr bwMode="auto">
          <a:xfrm>
            <a:off x="6070600" y="3976185"/>
            <a:ext cx="432426" cy="43276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8356600" y="3976185"/>
            <a:ext cx="432426" cy="43276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17" name="Oval 20"/>
          <p:cNvSpPr>
            <a:spLocks noChangeArrowheads="1"/>
          </p:cNvSpPr>
          <p:nvPr/>
        </p:nvSpPr>
        <p:spPr bwMode="auto">
          <a:xfrm>
            <a:off x="7213600" y="5042985"/>
            <a:ext cx="432426" cy="432764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18" name="AutoShape 21"/>
          <p:cNvCxnSpPr>
            <a:cxnSpLocks noChangeShapeType="1"/>
            <a:stCxn id="14" idx="3"/>
            <a:endCxn id="15" idx="7"/>
          </p:cNvCxnSpPr>
          <p:nvPr/>
        </p:nvCxnSpPr>
        <p:spPr bwMode="auto">
          <a:xfrm flipH="1">
            <a:off x="6591300" y="3444373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AutoShape 22"/>
          <p:cNvCxnSpPr>
            <a:cxnSpLocks noChangeShapeType="1"/>
            <a:stCxn id="15" idx="5"/>
            <a:endCxn id="17" idx="1"/>
          </p:cNvCxnSpPr>
          <p:nvPr/>
        </p:nvCxnSpPr>
        <p:spPr bwMode="auto">
          <a:xfrm>
            <a:off x="6591300" y="4511173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AutoShape 23"/>
          <p:cNvCxnSpPr>
            <a:cxnSpLocks noChangeShapeType="1"/>
            <a:stCxn id="16" idx="3"/>
            <a:endCxn id="17" idx="7"/>
          </p:cNvCxnSpPr>
          <p:nvPr/>
        </p:nvCxnSpPr>
        <p:spPr bwMode="auto">
          <a:xfrm flipH="1">
            <a:off x="7734300" y="4511173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AutoShape 24"/>
          <p:cNvCxnSpPr>
            <a:cxnSpLocks noChangeShapeType="1"/>
            <a:stCxn id="14" idx="4"/>
            <a:endCxn id="17" idx="0"/>
          </p:cNvCxnSpPr>
          <p:nvPr/>
        </p:nvCxnSpPr>
        <p:spPr bwMode="auto">
          <a:xfrm>
            <a:off x="7518400" y="3533273"/>
            <a:ext cx="0" cy="1495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 Box 29"/>
          <p:cNvSpPr txBox="1">
            <a:spLocks noChangeArrowheads="1"/>
          </p:cNvSpPr>
          <p:nvPr/>
        </p:nvSpPr>
        <p:spPr bwMode="auto">
          <a:xfrm>
            <a:off x="6908800" y="5982834"/>
            <a:ext cx="131275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Undirected</a:t>
            </a:r>
          </a:p>
        </p:txBody>
      </p:sp>
      <p:sp>
        <p:nvSpPr>
          <p:cNvPr id="23" name="Text Box 30"/>
          <p:cNvSpPr txBox="1">
            <a:spLocks noChangeArrowheads="1"/>
          </p:cNvSpPr>
          <p:nvPr/>
        </p:nvSpPr>
        <p:spPr bwMode="auto">
          <a:xfrm>
            <a:off x="7883524" y="5308097"/>
            <a:ext cx="14886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Degree = 3</a:t>
            </a:r>
          </a:p>
        </p:txBody>
      </p:sp>
      <p:sp>
        <p:nvSpPr>
          <p:cNvPr id="24" name="Text Box 31"/>
          <p:cNvSpPr txBox="1">
            <a:spLocks noChangeArrowheads="1"/>
          </p:cNvSpPr>
          <p:nvPr/>
        </p:nvSpPr>
        <p:spPr bwMode="auto">
          <a:xfrm>
            <a:off x="3835400" y="5209673"/>
            <a:ext cx="165200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In-degree = 3</a:t>
            </a:r>
          </a:p>
          <a:p>
            <a:r>
              <a:rPr lang="en-US" altLang="en-US" dirty="0"/>
              <a:t>Out-degree = 0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7CCADF8-CCEA-C072-CD3D-195047A7DE78}"/>
              </a:ext>
            </a:extLst>
          </p:cNvPr>
          <p:cNvGrpSpPr/>
          <p:nvPr/>
        </p:nvGrpSpPr>
        <p:grpSpPr>
          <a:xfrm>
            <a:off x="3618440" y="5554947"/>
            <a:ext cx="1358280" cy="811800"/>
            <a:chOff x="3618440" y="5554947"/>
            <a:chExt cx="1358280" cy="81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C856E3E-54EE-D2EE-B68E-F6C6829C4800}"/>
                    </a:ext>
                  </a:extLst>
                </p14:cNvPr>
                <p14:cNvContentPartPr/>
                <p14:nvPr/>
              </p14:nvContentPartPr>
              <p14:xfrm>
                <a:off x="3618440" y="6364587"/>
                <a:ext cx="2520" cy="2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C856E3E-54EE-D2EE-B68E-F6C6829C480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609440" y="6355587"/>
                  <a:ext cx="2016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1DE7A6-8348-6BAA-4327-E1F61C07319A}"/>
                    </a:ext>
                  </a:extLst>
                </p14:cNvPr>
                <p14:cNvContentPartPr/>
                <p14:nvPr/>
              </p14:nvContentPartPr>
              <p14:xfrm>
                <a:off x="4912640" y="5554947"/>
                <a:ext cx="64080" cy="4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1DE7A6-8348-6BAA-4327-E1F61C07319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04000" y="5546307"/>
                  <a:ext cx="8172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7A1BDCD-7E73-2067-CFE2-311521DFD790}"/>
                  </a:ext>
                </a:extLst>
              </p14:cNvPr>
              <p14:cNvContentPartPr/>
              <p14:nvPr/>
            </p14:nvContentPartPr>
            <p14:xfrm>
              <a:off x="8024120" y="4920987"/>
              <a:ext cx="27360" cy="111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7A1BDCD-7E73-2067-CFE2-311521DFD79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015120" y="4911987"/>
                <a:ext cx="45000" cy="2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6010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604" y="145504"/>
            <a:ext cx="6964363" cy="6302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Graphs (continued)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60604" y="1244600"/>
            <a:ext cx="9261863" cy="4648200"/>
          </a:xfrm>
        </p:spPr>
        <p:txBody>
          <a:bodyPr/>
          <a:lstStyle/>
          <a:p>
            <a:pPr eaLnBrk="1" hangingPunct="1">
              <a:buClr>
                <a:srgbClr val="002060"/>
              </a:buClr>
            </a:pPr>
            <a:r>
              <a:rPr lang="en-US" altLang="en-US" sz="2400" dirty="0"/>
              <a:t>A </a:t>
            </a:r>
            <a:r>
              <a:rPr lang="en-US" altLang="en-US" sz="2400" b="1" dirty="0"/>
              <a:t>path</a:t>
            </a:r>
            <a:r>
              <a:rPr lang="en-US" altLang="en-US" sz="2400" dirty="0"/>
              <a:t> from v</a:t>
            </a:r>
            <a:r>
              <a:rPr lang="en-US" altLang="en-US" sz="1200" dirty="0"/>
              <a:t>1</a:t>
            </a:r>
            <a:r>
              <a:rPr lang="en-US" altLang="en-US" sz="2400" dirty="0"/>
              <a:t> to </a:t>
            </a:r>
            <a:r>
              <a:rPr lang="en-US" altLang="en-US" sz="2400" dirty="0" err="1"/>
              <a:t>v</a:t>
            </a:r>
            <a:r>
              <a:rPr lang="en-US" altLang="en-US" sz="1200" dirty="0" err="1"/>
              <a:t>n</a:t>
            </a:r>
            <a:r>
              <a:rPr lang="en-US" altLang="en-US" sz="2400" dirty="0"/>
              <a:t> is a sequence of edges edge(v</a:t>
            </a:r>
            <a:r>
              <a:rPr lang="en-US" altLang="en-US" sz="1200" dirty="0"/>
              <a:t>1</a:t>
            </a:r>
            <a:r>
              <a:rPr lang="en-US" altLang="en-US" sz="2400" dirty="0"/>
              <a:t>, v</a:t>
            </a:r>
            <a:r>
              <a:rPr lang="en-US" altLang="en-US" sz="1200" dirty="0"/>
              <a:t>2</a:t>
            </a:r>
            <a:r>
              <a:rPr lang="en-US" altLang="en-US" sz="2400" dirty="0"/>
              <a:t>), edge (v</a:t>
            </a:r>
            <a:r>
              <a:rPr lang="en-US" altLang="en-US" sz="1200" dirty="0"/>
              <a:t>2</a:t>
            </a:r>
            <a:r>
              <a:rPr lang="en-US" altLang="en-US" sz="2400" dirty="0"/>
              <a:t>, v</a:t>
            </a:r>
            <a:r>
              <a:rPr lang="en-US" altLang="en-US" sz="1200" dirty="0"/>
              <a:t>3</a:t>
            </a:r>
            <a:r>
              <a:rPr lang="en-US" altLang="en-US" sz="2400" dirty="0"/>
              <a:t>), … , edge (v</a:t>
            </a:r>
            <a:r>
              <a:rPr lang="en-US" altLang="en-US" sz="1200" dirty="0"/>
              <a:t>n-1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v</a:t>
            </a:r>
            <a:r>
              <a:rPr lang="en-US" altLang="en-US" sz="1200" dirty="0" err="1"/>
              <a:t>n</a:t>
            </a:r>
            <a:r>
              <a:rPr lang="en-US" altLang="en-US" sz="2400" dirty="0"/>
              <a:t>) and is denoted as path v</a:t>
            </a:r>
            <a:r>
              <a:rPr lang="en-US" altLang="en-US" sz="1200" dirty="0"/>
              <a:t>1</a:t>
            </a:r>
            <a:r>
              <a:rPr lang="en-US" altLang="en-US" sz="2400" dirty="0"/>
              <a:t>, v</a:t>
            </a:r>
            <a:r>
              <a:rPr lang="en-US" altLang="en-US" sz="1200" dirty="0"/>
              <a:t>2</a:t>
            </a:r>
            <a:r>
              <a:rPr lang="en-US" altLang="en-US" sz="2400" dirty="0"/>
              <a:t>, v</a:t>
            </a:r>
            <a:r>
              <a:rPr lang="en-US" altLang="en-US" sz="1200" dirty="0"/>
              <a:t>3</a:t>
            </a:r>
            <a:r>
              <a:rPr lang="en-US" altLang="en-US" sz="2400" dirty="0"/>
              <a:t>, … , v</a:t>
            </a:r>
            <a:r>
              <a:rPr lang="en-US" altLang="en-US" sz="1200" dirty="0"/>
              <a:t>n-1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v</a:t>
            </a:r>
            <a:r>
              <a:rPr lang="en-US" altLang="en-US" sz="1200" dirty="0" err="1"/>
              <a:t>n</a:t>
            </a:r>
            <a:r>
              <a:rPr lang="en-US" altLang="en-US" sz="2400" dirty="0" err="1"/>
              <a:t>.</a:t>
            </a:r>
            <a:r>
              <a:rPr lang="en-US" altLang="en-US" sz="2400" dirty="0"/>
              <a:t> If v</a:t>
            </a:r>
            <a:r>
              <a:rPr lang="en-US" altLang="en-US" sz="1200" dirty="0"/>
              <a:t>1</a:t>
            </a:r>
            <a:r>
              <a:rPr lang="en-US" altLang="en-US" sz="2400" dirty="0"/>
              <a:t> =  </a:t>
            </a:r>
            <a:r>
              <a:rPr lang="en-US" altLang="en-US" sz="2400" dirty="0" err="1"/>
              <a:t>v</a:t>
            </a:r>
            <a:r>
              <a:rPr lang="en-US" altLang="en-US" sz="1200" dirty="0" err="1"/>
              <a:t>n</a:t>
            </a:r>
            <a:r>
              <a:rPr lang="en-US" altLang="en-US" sz="2400" dirty="0"/>
              <a:t>  and no edge is repeated, then the path is called a </a:t>
            </a:r>
            <a:r>
              <a:rPr lang="en-US" altLang="en-US" sz="2400" b="1" dirty="0"/>
              <a:t>circuit</a:t>
            </a:r>
          </a:p>
          <a:p>
            <a:pPr eaLnBrk="1" hangingPunct="1">
              <a:buClr>
                <a:srgbClr val="002060"/>
              </a:buClr>
            </a:pPr>
            <a:r>
              <a:rPr lang="en-US" altLang="en-US" sz="2400" dirty="0"/>
              <a:t>If all vertices in a circuit are different, then it is called a </a:t>
            </a:r>
            <a:r>
              <a:rPr lang="en-US" altLang="en-US" sz="2400" b="1" dirty="0"/>
              <a:t>cycle. (</a:t>
            </a:r>
            <a:r>
              <a:rPr lang="en-US" altLang="en-US" sz="2400" dirty="0"/>
              <a:t>a path that begins and ends on the same vertex)</a:t>
            </a:r>
          </a:p>
        </p:txBody>
      </p:sp>
    </p:spTree>
    <p:extLst>
      <p:ext uri="{BB962C8B-B14F-4D97-AF65-F5344CB8AC3E}">
        <p14:creationId xmlns:p14="http://schemas.microsoft.com/office/powerpoint/2010/main" val="4016318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115" y="106319"/>
            <a:ext cx="6964363" cy="7064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Graphs (continued)</a:t>
            </a:r>
          </a:p>
        </p:txBody>
      </p:sp>
      <p:sp>
        <p:nvSpPr>
          <p:cNvPr id="10243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1876816" y="5411668"/>
            <a:ext cx="6477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Examples of graphs: (a-d) simple graphs, (c) complete graph, (g) a circuit in a digraph, (h) a cycle in the digraph</a:t>
            </a:r>
          </a:p>
        </p:txBody>
      </p:sp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2215" y="1291350"/>
            <a:ext cx="7529385" cy="3847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3B78EFA-5514-8C6B-43A5-8CDB7CF5BB40}"/>
                  </a:ext>
                </a:extLst>
              </p14:cNvPr>
              <p14:cNvContentPartPr/>
              <p14:nvPr/>
            </p14:nvContentPartPr>
            <p14:xfrm>
              <a:off x="1794561" y="2963127"/>
              <a:ext cx="65880" cy="2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3B78EFA-5514-8C6B-43A5-8CDB7CF5BB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5921" y="2954127"/>
                <a:ext cx="835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72" name="Group 10271">
            <a:extLst>
              <a:ext uri="{FF2B5EF4-FFF2-40B4-BE49-F238E27FC236}">
                <a16:creationId xmlns:a16="http://schemas.microsoft.com/office/drawing/2014/main" id="{B12CBABE-55FD-9E5F-C336-7BCD38CADBFC}"/>
              </a:ext>
            </a:extLst>
          </p:cNvPr>
          <p:cNvGrpSpPr/>
          <p:nvPr/>
        </p:nvGrpSpPr>
        <p:grpSpPr>
          <a:xfrm>
            <a:off x="2755041" y="1724007"/>
            <a:ext cx="2820960" cy="829440"/>
            <a:chOff x="2755041" y="1724007"/>
            <a:chExt cx="2820960" cy="82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E66D06F-B09F-6639-8AE4-04C1F0148D4D}"/>
                    </a:ext>
                  </a:extLst>
                </p14:cNvPr>
                <p14:cNvContentPartPr/>
                <p14:nvPr/>
              </p14:nvContentPartPr>
              <p14:xfrm>
                <a:off x="2932881" y="1861887"/>
                <a:ext cx="10440" cy="7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E66D06F-B09F-6639-8AE4-04C1F0148D4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2923881" y="1853247"/>
                  <a:ext cx="280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4293FC5-8B42-B00B-D000-D9A51313C7DB}"/>
                    </a:ext>
                  </a:extLst>
                </p14:cNvPr>
                <p14:cNvContentPartPr/>
                <p14:nvPr/>
              </p14:nvContentPartPr>
              <p14:xfrm>
                <a:off x="2755041" y="2479647"/>
                <a:ext cx="57240" cy="5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4293FC5-8B42-B00B-D000-D9A51313C7D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746401" y="2470647"/>
                  <a:ext cx="74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817323-79EA-9359-3CBC-C484701EACDF}"/>
                    </a:ext>
                  </a:extLst>
                </p14:cNvPr>
                <p14:cNvContentPartPr/>
                <p14:nvPr/>
              </p14:nvContentPartPr>
              <p14:xfrm>
                <a:off x="3555681" y="2470287"/>
                <a:ext cx="560160" cy="8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817323-79EA-9359-3CBC-C484701EACD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547041" y="2461287"/>
                  <a:ext cx="577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4E3A428-F829-6092-5F87-EFF7F9B3C1B7}"/>
                    </a:ext>
                  </a:extLst>
                </p14:cNvPr>
                <p14:cNvContentPartPr/>
                <p14:nvPr/>
              </p14:nvContentPartPr>
              <p14:xfrm>
                <a:off x="3648561" y="1724007"/>
                <a:ext cx="14040" cy="25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4E3A428-F829-6092-5F87-EFF7F9B3C1B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639561" y="1715007"/>
                  <a:ext cx="316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247E753-A912-17E3-3778-B2DDAFA1C780}"/>
                    </a:ext>
                  </a:extLst>
                </p14:cNvPr>
                <p14:cNvContentPartPr/>
                <p14:nvPr/>
              </p14:nvContentPartPr>
              <p14:xfrm>
                <a:off x="4922241" y="2495487"/>
                <a:ext cx="5040" cy="2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247E753-A912-17E3-3778-B2DDAFA1C780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913601" y="2486487"/>
                  <a:ext cx="226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A03C527-A2E2-682D-2013-99E755F26CAE}"/>
                    </a:ext>
                  </a:extLst>
                </p14:cNvPr>
                <p14:cNvContentPartPr/>
                <p14:nvPr/>
              </p14:nvContentPartPr>
              <p14:xfrm>
                <a:off x="5575641" y="1846407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A03C527-A2E2-682D-2013-99E755F26CAE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141121" y="1837767"/>
                  <a:ext cx="443880" cy="95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04847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60604" y="145504"/>
            <a:ext cx="6964363" cy="6302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Graphs (continued)</a:t>
            </a: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008561" y="1579032"/>
            <a:ext cx="9421346" cy="4334933"/>
          </a:xfrm>
        </p:spPr>
        <p:txBody>
          <a:bodyPr/>
          <a:lstStyle/>
          <a:p>
            <a:pPr eaLnBrk="1" hangingPunct="1">
              <a:buClr>
                <a:srgbClr val="002060"/>
              </a:buClr>
            </a:pPr>
            <a:r>
              <a:rPr lang="en-US" altLang="en-US" sz="2400" dirty="0"/>
              <a:t>A graph is called a </a:t>
            </a:r>
            <a:r>
              <a:rPr lang="en-US" altLang="en-US" sz="2400" b="1" dirty="0"/>
              <a:t>weighted graph</a:t>
            </a:r>
            <a:r>
              <a:rPr lang="en-US" altLang="en-US" sz="2400" i="1" dirty="0"/>
              <a:t> </a:t>
            </a:r>
            <a:r>
              <a:rPr lang="en-US" altLang="en-US" sz="2400" dirty="0"/>
              <a:t>if each edge has an assigned number</a:t>
            </a:r>
            <a:endParaRPr lang="en-US" altLang="en-US" sz="2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275" y="2505450"/>
            <a:ext cx="5223020" cy="248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522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102A-5F1D-4267-A896-336CF2942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5375" y="0"/>
            <a:ext cx="10515600" cy="908685"/>
          </a:xfrm>
        </p:spPr>
        <p:txBody>
          <a:bodyPr/>
          <a:lstStyle/>
          <a:p>
            <a:r>
              <a:rPr lang="en-US" sz="3600" dirty="0"/>
              <a:t>Graph Representation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19284C-66B1-4EF3-98CD-129ADB372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933" y="1662607"/>
            <a:ext cx="7270596" cy="268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518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4537" y="1"/>
            <a:ext cx="10515600" cy="1176950"/>
          </a:xfrm>
        </p:spPr>
        <p:txBody>
          <a:bodyPr>
            <a:normAutofit/>
          </a:bodyPr>
          <a:lstStyle/>
          <a:p>
            <a:r>
              <a:rPr lang="en-US" sz="3600" dirty="0"/>
              <a:t>Graph Representation: Adjacency Matrix</a:t>
            </a:r>
            <a:endParaRPr lang="en-US" altLang="en-US" sz="3600" dirty="0"/>
          </a:p>
        </p:txBody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72128"/>
            <a:ext cx="10515600" cy="4351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</a:t>
            </a:r>
            <a:r>
              <a:rPr lang="en-US" altLang="en-US" b="1" dirty="0"/>
              <a:t>adjacency matrix </a:t>
            </a:r>
            <a:r>
              <a:rPr lang="en-US" altLang="en-US" dirty="0"/>
              <a:t>represents the graph as a </a:t>
            </a:r>
            <a:r>
              <a:rPr lang="en-US" altLang="en-US" i="1" dirty="0"/>
              <a:t>n </a:t>
            </a:r>
            <a:r>
              <a:rPr lang="en-US" altLang="en-US" dirty="0"/>
              <a:t>x </a:t>
            </a:r>
            <a:r>
              <a:rPr lang="en-US" altLang="en-US" i="1" dirty="0"/>
              <a:t>n</a:t>
            </a:r>
            <a:r>
              <a:rPr lang="en-US" altLang="en-US" dirty="0"/>
              <a:t> matrix A: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, j</a:t>
            </a:r>
            <a:r>
              <a:rPr lang="en-US" altLang="en-US" dirty="0">
                <a:latin typeface="Times New Roman" panose="02020603050405020304" pitchFamily="18" charset="0"/>
              </a:rPr>
              <a:t>]</a:t>
            </a:r>
            <a:r>
              <a:rPr lang="en-US" altLang="en-US" dirty="0"/>
              <a:t> 	= </a:t>
            </a:r>
            <a:r>
              <a:rPr lang="en-US" altLang="en-US" dirty="0">
                <a:latin typeface="Times New Roman" panose="02020603050405020304" pitchFamily="18" charset="0"/>
              </a:rPr>
              <a:t>1</a:t>
            </a:r>
            <a:r>
              <a:rPr lang="en-US" altLang="en-US" dirty="0"/>
              <a:t> if edge (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, j</a:t>
            </a:r>
            <a:r>
              <a:rPr lang="en-US" altLang="en-US" dirty="0"/>
              <a:t>)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		= </a:t>
            </a:r>
            <a:r>
              <a:rPr lang="en-US" altLang="en-US" dirty="0">
                <a:latin typeface="Times New Roman" panose="02020603050405020304" pitchFamily="18" charset="0"/>
              </a:rPr>
              <a:t>0</a:t>
            </a:r>
            <a:r>
              <a:rPr lang="en-US" altLang="en-US" dirty="0"/>
              <a:t> if edge 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)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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For weighted graph</a:t>
            </a:r>
          </a:p>
          <a:p>
            <a:pPr lvl="1">
              <a:lnSpc>
                <a:spcPct val="90000"/>
              </a:lnSpc>
            </a:pP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, j</a:t>
            </a:r>
            <a:r>
              <a:rPr lang="en-US" altLang="en-US" dirty="0">
                <a:latin typeface="Times New Roman" panose="02020603050405020304" pitchFamily="18" charset="0"/>
              </a:rPr>
              <a:t>]</a:t>
            </a:r>
            <a:r>
              <a:rPr lang="en-US" altLang="en-US" dirty="0"/>
              <a:t> 	= </a:t>
            </a:r>
            <a:r>
              <a:rPr lang="en-US" altLang="en-US" i="1" dirty="0" err="1">
                <a:latin typeface="Times New Roman" panose="02020603050405020304" pitchFamily="18" charset="0"/>
              </a:rPr>
              <a:t>w</a:t>
            </a:r>
            <a:r>
              <a:rPr lang="en-US" altLang="en-US" i="1" baseline="-25000" dirty="0" err="1">
                <a:latin typeface="Times New Roman" panose="02020603050405020304" pitchFamily="18" charset="0"/>
              </a:rPr>
              <a:t>ij</a:t>
            </a:r>
            <a:r>
              <a:rPr lang="en-US" altLang="en-US" dirty="0"/>
              <a:t> if edge (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, j</a:t>
            </a:r>
            <a:r>
              <a:rPr lang="en-US" altLang="en-US" dirty="0"/>
              <a:t>) </a:t>
            </a:r>
            <a:r>
              <a:rPr lang="en-US" altLang="en-US" dirty="0">
                <a:sym typeface="Symbol" panose="05050102010706020507" pitchFamily="18" charset="2"/>
              </a:rPr>
              <a:t> </a:t>
            </a:r>
            <a:r>
              <a:rPr lang="en-US" altLang="en-US" i="1" dirty="0">
                <a:latin typeface="Times New Roman" panose="02020603050405020304" pitchFamily="18" charset="0"/>
              </a:rPr>
              <a:t>E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dirty="0"/>
              <a:t>			= </a:t>
            </a:r>
            <a:r>
              <a:rPr lang="en-US" altLang="en-US" dirty="0">
                <a:latin typeface="Times New Roman" panose="02020603050405020304" pitchFamily="18" charset="0"/>
              </a:rPr>
              <a:t>0</a:t>
            </a:r>
            <a:r>
              <a:rPr lang="en-US" altLang="en-US" dirty="0"/>
              <a:t> if edge </a:t>
            </a:r>
            <a:r>
              <a:rPr lang="en-US" altLang="en-US" dirty="0">
                <a:latin typeface="Times New Roman" panose="02020603050405020304" pitchFamily="18" charset="0"/>
              </a:rPr>
              <a:t>(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, </a:t>
            </a:r>
            <a:r>
              <a:rPr lang="en-US" altLang="en-US" i="1" dirty="0">
                <a:latin typeface="Times New Roman" panose="02020603050405020304" pitchFamily="18" charset="0"/>
              </a:rPr>
              <a:t>j</a:t>
            </a:r>
            <a:r>
              <a:rPr lang="en-US" altLang="en-US" dirty="0">
                <a:latin typeface="Times New Roman" panose="02020603050405020304" pitchFamily="18" charset="0"/>
              </a:rPr>
              <a:t>) </a:t>
            </a:r>
            <a:r>
              <a:rPr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 </a:t>
            </a:r>
            <a:r>
              <a:rPr lang="en-US" altLang="en-US" i="1" dirty="0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For undirected graph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Matrix is symmetric: 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i="1" dirty="0">
                <a:latin typeface="Times New Roman" panose="02020603050405020304" pitchFamily="18" charset="0"/>
              </a:rPr>
              <a:t>, j</a:t>
            </a:r>
            <a:r>
              <a:rPr lang="en-US" altLang="en-US" dirty="0">
                <a:latin typeface="Times New Roman" panose="02020603050405020304" pitchFamily="18" charset="0"/>
              </a:rPr>
              <a:t>]</a:t>
            </a:r>
            <a:r>
              <a:rPr lang="en-US" altLang="en-US" dirty="0"/>
              <a:t> = </a:t>
            </a:r>
            <a:r>
              <a:rPr lang="en-US" altLang="en-US" i="1" dirty="0">
                <a:latin typeface="Times New Roman" panose="02020603050405020304" pitchFamily="18" charset="0"/>
              </a:rPr>
              <a:t>A</a:t>
            </a:r>
            <a:r>
              <a:rPr lang="en-US" altLang="en-US" dirty="0">
                <a:latin typeface="Times New Roman" panose="02020603050405020304" pitchFamily="18" charset="0"/>
              </a:rPr>
              <a:t>[</a:t>
            </a:r>
            <a:r>
              <a:rPr lang="en-US" altLang="en-US" i="1" dirty="0">
                <a:latin typeface="Times New Roman" panose="02020603050405020304" pitchFamily="18" charset="0"/>
              </a:rPr>
              <a:t>j, </a:t>
            </a:r>
            <a:r>
              <a:rPr lang="en-US" altLang="en-US" i="1" dirty="0" err="1">
                <a:latin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74654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00751" y="-4776"/>
            <a:ext cx="10515600" cy="1143014"/>
          </a:xfrm>
        </p:spPr>
        <p:txBody>
          <a:bodyPr>
            <a:normAutofit/>
          </a:bodyPr>
          <a:lstStyle/>
          <a:p>
            <a:r>
              <a:rPr lang="en-US" sz="3600" dirty="0"/>
              <a:t>Graph Representation: Adjacency List</a:t>
            </a:r>
            <a:endParaRPr lang="en-US" altLang="en-US" sz="3600" dirty="0"/>
          </a:p>
        </p:txBody>
      </p:sp>
      <p:sp>
        <p:nvSpPr>
          <p:cNvPr id="623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002" y="1608342"/>
            <a:ext cx="10515600" cy="4351338"/>
          </a:xfrm>
        </p:spPr>
        <p:txBody>
          <a:bodyPr/>
          <a:lstStyle/>
          <a:p>
            <a:r>
              <a:rPr lang="en-US" altLang="en-US" dirty="0"/>
              <a:t>Adjacency list: for each vertex </a:t>
            </a:r>
            <a:r>
              <a:rPr lang="en-US" altLang="en-US" i="1" dirty="0"/>
              <a:t>v </a:t>
            </a:r>
            <a:r>
              <a:rPr lang="en-US" altLang="en-US" dirty="0">
                <a:sym typeface="Symbol" panose="05050102010706020507" pitchFamily="18" charset="2"/>
              </a:rPr>
              <a:t> V, store a list of vertices adjacent to </a:t>
            </a:r>
            <a:r>
              <a:rPr lang="en-US" altLang="en-US" i="1" dirty="0">
                <a:sym typeface="Symbol" panose="05050102010706020507" pitchFamily="18" charset="2"/>
              </a:rPr>
              <a:t>v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Example:</a:t>
            </a:r>
          </a:p>
          <a:p>
            <a:pPr lvl="1"/>
            <a:r>
              <a:rPr lang="en-US" altLang="en-US" dirty="0" err="1">
                <a:sym typeface="Symbol" panose="05050102010706020507" pitchFamily="18" charset="2"/>
              </a:rPr>
              <a:t>Adj</a:t>
            </a:r>
            <a:r>
              <a:rPr lang="en-US" altLang="en-US" dirty="0">
                <a:sym typeface="Symbol" panose="05050102010706020507" pitchFamily="18" charset="2"/>
              </a:rPr>
              <a:t>[1] = {2,3}</a:t>
            </a:r>
          </a:p>
          <a:p>
            <a:pPr lvl="1"/>
            <a:r>
              <a:rPr lang="en-US" altLang="en-US" dirty="0" err="1">
                <a:sym typeface="Symbol" panose="05050102010706020507" pitchFamily="18" charset="2"/>
              </a:rPr>
              <a:t>Adj</a:t>
            </a:r>
            <a:r>
              <a:rPr lang="en-US" altLang="en-US" dirty="0">
                <a:sym typeface="Symbol" panose="05050102010706020507" pitchFamily="18" charset="2"/>
              </a:rPr>
              <a:t>[2] = {3}</a:t>
            </a:r>
          </a:p>
          <a:p>
            <a:pPr lvl="1"/>
            <a:r>
              <a:rPr lang="en-US" altLang="en-US" dirty="0" err="1">
                <a:sym typeface="Symbol" panose="05050102010706020507" pitchFamily="18" charset="2"/>
              </a:rPr>
              <a:t>Adj</a:t>
            </a:r>
            <a:r>
              <a:rPr lang="en-US" altLang="en-US" dirty="0">
                <a:sym typeface="Symbol" panose="05050102010706020507" pitchFamily="18" charset="2"/>
              </a:rPr>
              <a:t>[3] = {}</a:t>
            </a:r>
          </a:p>
          <a:p>
            <a:pPr lvl="1"/>
            <a:r>
              <a:rPr lang="en-US" altLang="en-US" dirty="0" err="1">
                <a:sym typeface="Symbol" panose="05050102010706020507" pitchFamily="18" charset="2"/>
              </a:rPr>
              <a:t>Adj</a:t>
            </a:r>
            <a:r>
              <a:rPr lang="en-US" altLang="en-US" dirty="0">
                <a:sym typeface="Symbol" panose="05050102010706020507" pitchFamily="18" charset="2"/>
              </a:rPr>
              <a:t>[4] = {3}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Variation: can also keep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a list of edges coming </a:t>
            </a:r>
            <a:r>
              <a:rPr lang="en-US" altLang="en-US" i="1" dirty="0">
                <a:sym typeface="Symbol" panose="05050102010706020507" pitchFamily="18" charset="2"/>
              </a:rPr>
              <a:t>into </a:t>
            </a:r>
            <a:r>
              <a:rPr lang="en-US" altLang="en-US" dirty="0">
                <a:sym typeface="Symbol" panose="05050102010706020507" pitchFamily="18" charset="2"/>
              </a:rPr>
              <a:t>vertex</a:t>
            </a:r>
          </a:p>
          <a:p>
            <a:endParaRPr lang="en-US" altLang="en-US" dirty="0"/>
          </a:p>
        </p:txBody>
      </p:sp>
      <p:sp>
        <p:nvSpPr>
          <p:cNvPr id="623620" name="Oval 4"/>
          <p:cNvSpPr>
            <a:spLocks noChangeArrowheads="1"/>
          </p:cNvSpPr>
          <p:nvPr/>
        </p:nvSpPr>
        <p:spPr bwMode="auto">
          <a:xfrm>
            <a:off x="8077200" y="28194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623621" name="Oval 5"/>
          <p:cNvSpPr>
            <a:spLocks noChangeArrowheads="1"/>
          </p:cNvSpPr>
          <p:nvPr/>
        </p:nvSpPr>
        <p:spPr bwMode="auto">
          <a:xfrm>
            <a:off x="6934200" y="3886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623622" name="Oval 6"/>
          <p:cNvSpPr>
            <a:spLocks noChangeArrowheads="1"/>
          </p:cNvSpPr>
          <p:nvPr/>
        </p:nvSpPr>
        <p:spPr bwMode="auto">
          <a:xfrm>
            <a:off x="9220200" y="38862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23623" name="Oval 7"/>
          <p:cNvSpPr>
            <a:spLocks noChangeArrowheads="1"/>
          </p:cNvSpPr>
          <p:nvPr/>
        </p:nvSpPr>
        <p:spPr bwMode="auto">
          <a:xfrm>
            <a:off x="8077200" y="4953000"/>
            <a:ext cx="609600" cy="6096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0" hangingPunct="0"/>
            <a:r>
              <a:rPr lang="en-US" altLang="en-US" sz="3200" b="1">
                <a:latin typeface="Times New Roman" panose="02020603050405020304" pitchFamily="18" charset="0"/>
              </a:rPr>
              <a:t>3</a:t>
            </a:r>
          </a:p>
        </p:txBody>
      </p:sp>
      <p:cxnSp>
        <p:nvCxnSpPr>
          <p:cNvPr id="623624" name="AutoShape 8"/>
          <p:cNvCxnSpPr>
            <a:cxnSpLocks noChangeShapeType="1"/>
            <a:stCxn id="623620" idx="3"/>
            <a:endCxn id="623621" idx="7"/>
          </p:cNvCxnSpPr>
          <p:nvPr/>
        </p:nvCxnSpPr>
        <p:spPr bwMode="auto">
          <a:xfrm flipH="1">
            <a:off x="7454900" y="3354389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3625" name="AutoShape 9"/>
          <p:cNvCxnSpPr>
            <a:cxnSpLocks noChangeShapeType="1"/>
            <a:stCxn id="623621" idx="5"/>
            <a:endCxn id="623623" idx="1"/>
          </p:cNvCxnSpPr>
          <p:nvPr/>
        </p:nvCxnSpPr>
        <p:spPr bwMode="auto">
          <a:xfrm>
            <a:off x="7454900" y="4421189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3626" name="AutoShape 10"/>
          <p:cNvCxnSpPr>
            <a:cxnSpLocks noChangeShapeType="1"/>
            <a:stCxn id="623622" idx="3"/>
            <a:endCxn id="623623" idx="7"/>
          </p:cNvCxnSpPr>
          <p:nvPr/>
        </p:nvCxnSpPr>
        <p:spPr bwMode="auto">
          <a:xfrm flipH="1">
            <a:off x="8597900" y="4421189"/>
            <a:ext cx="711200" cy="606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3627" name="AutoShape 11"/>
          <p:cNvCxnSpPr>
            <a:cxnSpLocks noChangeShapeType="1"/>
            <a:stCxn id="623620" idx="4"/>
            <a:endCxn id="623623" idx="0"/>
          </p:cNvCxnSpPr>
          <p:nvPr/>
        </p:nvCxnSpPr>
        <p:spPr bwMode="auto">
          <a:xfrm>
            <a:off x="8382000" y="3443289"/>
            <a:ext cx="0" cy="14954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938311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22B66-242F-4DFA-9B9B-3EAFCC04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0"/>
            <a:ext cx="10515600" cy="942975"/>
          </a:xfrm>
        </p:spPr>
        <p:txBody>
          <a:bodyPr/>
          <a:lstStyle/>
          <a:p>
            <a:r>
              <a:rPr lang="en-US" sz="3600" dirty="0"/>
              <a:t>Graph Representation: Undirected Graph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C14557-AF33-FBDE-E8AD-130EF57E4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908" y="1330911"/>
            <a:ext cx="11086892" cy="419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82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C359F-334D-40E7-AAED-61EE14829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"/>
            <a:ext cx="10515600" cy="1131570"/>
          </a:xfrm>
        </p:spPr>
        <p:txBody>
          <a:bodyPr/>
          <a:lstStyle/>
          <a:p>
            <a:r>
              <a:rPr lang="en-US" sz="3600" dirty="0"/>
              <a:t>Graph Representation: Directed Graph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34B4D0B-0BCB-4C78-3F5C-3F6C97ADCA35}"/>
                  </a:ext>
                </a:extLst>
              </p14:cNvPr>
              <p14:cNvContentPartPr/>
              <p14:nvPr/>
            </p14:nvContentPartPr>
            <p14:xfrm>
              <a:off x="2711841" y="2682327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34B4D0B-0BCB-4C78-3F5C-3F6C97ADCA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02841" y="2673327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8CF52117-0E9D-6EC2-26DE-E30EA3B5FB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117" y="1444519"/>
            <a:ext cx="11133221" cy="435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63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105" y="39783"/>
            <a:ext cx="81534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Weighted Graph</a:t>
            </a:r>
          </a:p>
        </p:txBody>
      </p:sp>
      <p:sp>
        <p:nvSpPr>
          <p:cNvPr id="12291" name="Slide Number Placeholder 3"/>
          <p:cNvSpPr>
            <a:spLocks noGrp="1"/>
          </p:cNvSpPr>
          <p:nvPr>
            <p:ph type="sldNum" sz="quarter" idx="12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2"/>
                </a:solidFill>
                <a:latin typeface="Rage Italic" panose="03070502040507070304" pitchFamily="66" charset="0"/>
              </a:rPr>
              <a:t> </a:t>
            </a:r>
          </a:p>
        </p:txBody>
      </p:sp>
      <p:sp>
        <p:nvSpPr>
          <p:cNvPr id="16388" name="Text Box 3"/>
          <p:cNvSpPr txBox="1">
            <a:spLocks noChangeArrowheads="1"/>
          </p:cNvSpPr>
          <p:nvPr/>
        </p:nvSpPr>
        <p:spPr bwMode="auto">
          <a:xfrm>
            <a:off x="2961282" y="5020118"/>
            <a:ext cx="439934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"/>
              <a:defRPr sz="29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anose="05020102010507070707" pitchFamily="18" charset="2"/>
              <a:buChar char=""/>
              <a:defRPr sz="2600"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Char char=""/>
              <a:defRPr sz="23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anose="05000000000000000000" pitchFamily="2" charset="2"/>
              <a:buChar char="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Arial" panose="020B0604020202020204" pitchFamily="34" charset="0"/>
              </a:rPr>
              <a:t>A weighted graph and its adjacency matrix.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6" y="2668620"/>
            <a:ext cx="3606085" cy="2000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163955" y="1654348"/>
            <a:ext cx="82038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990033"/>
                </a:solidFill>
                <a:latin typeface="Vollkorn"/>
              </a:rPr>
              <a:t>A weighted graph</a:t>
            </a:r>
            <a:r>
              <a:rPr lang="en-US" altLang="en-US" sz="2400" i="1" dirty="0">
                <a:solidFill>
                  <a:srgbClr val="990033"/>
                </a:solidFill>
                <a:latin typeface="Vollkorn"/>
              </a:rPr>
              <a:t> </a:t>
            </a:r>
            <a:r>
              <a:rPr lang="en-US" altLang="en-US" sz="2400" dirty="0">
                <a:solidFill>
                  <a:srgbClr val="990033"/>
                </a:solidFill>
                <a:latin typeface="Vollkorn"/>
              </a:rPr>
              <a:t>if each edge has an assigned number.</a:t>
            </a:r>
            <a:endParaRPr lang="en-US" altLang="en-US" sz="2400" b="1" dirty="0">
              <a:solidFill>
                <a:srgbClr val="990033"/>
              </a:solidFill>
              <a:latin typeface="Vollkor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151" y="2684076"/>
            <a:ext cx="3644894" cy="19951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389" name="Ink 16388">
                <a:extLst>
                  <a:ext uri="{FF2B5EF4-FFF2-40B4-BE49-F238E27FC236}">
                    <a16:creationId xmlns:a16="http://schemas.microsoft.com/office/drawing/2014/main" id="{5CC8897F-B188-E31C-D4DA-BBD65CA1621F}"/>
                  </a:ext>
                </a:extLst>
              </p14:cNvPr>
              <p14:cNvContentPartPr/>
              <p14:nvPr/>
            </p14:nvContentPartPr>
            <p14:xfrm>
              <a:off x="2423478" y="4444285"/>
              <a:ext cx="32040" cy="7560"/>
            </p14:xfrm>
          </p:contentPart>
        </mc:Choice>
        <mc:Fallback xmlns="">
          <p:pic>
            <p:nvPicPr>
              <p:cNvPr id="16389" name="Ink 16388">
                <a:extLst>
                  <a:ext uri="{FF2B5EF4-FFF2-40B4-BE49-F238E27FC236}">
                    <a16:creationId xmlns:a16="http://schemas.microsoft.com/office/drawing/2014/main" id="{5CC8897F-B188-E31C-D4DA-BBD65CA1621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414478" y="4435645"/>
                <a:ext cx="49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2B59117B-2C1B-91A5-B2CE-E5D943D169D2}"/>
                  </a:ext>
                </a:extLst>
              </p14:cNvPr>
              <p14:cNvContentPartPr/>
              <p14:nvPr/>
            </p14:nvContentPartPr>
            <p14:xfrm>
              <a:off x="3532111" y="3105626"/>
              <a:ext cx="9720" cy="13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2B59117B-2C1B-91A5-B2CE-E5D943D169D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523111" y="3096626"/>
                <a:ext cx="273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328A287-76DF-3075-8EC8-2F1A2695172B}"/>
                  </a:ext>
                </a:extLst>
              </p14:cNvPr>
              <p14:cNvContentPartPr/>
              <p14:nvPr/>
            </p14:nvContentPartPr>
            <p14:xfrm>
              <a:off x="5349751" y="3933986"/>
              <a:ext cx="64800" cy="57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328A287-76DF-3075-8EC8-2F1A2695172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41111" y="3924986"/>
                <a:ext cx="82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B69AD4F-22BB-C2F1-FA83-47260C60A78F}"/>
                  </a:ext>
                </a:extLst>
              </p14:cNvPr>
              <p14:cNvContentPartPr/>
              <p14:nvPr/>
            </p14:nvContentPartPr>
            <p14:xfrm>
              <a:off x="10440151" y="212877"/>
              <a:ext cx="279360" cy="2383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B69AD4F-22BB-C2F1-FA83-47260C60A78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431511" y="204237"/>
                <a:ext cx="297000" cy="25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847F7D4-A10F-8C97-279C-FDE493250A1F}"/>
                  </a:ext>
                </a:extLst>
              </p14:cNvPr>
              <p14:cNvContentPartPr/>
              <p14:nvPr/>
            </p14:nvContentPartPr>
            <p14:xfrm>
              <a:off x="10461031" y="471357"/>
              <a:ext cx="9720" cy="51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847F7D4-A10F-8C97-279C-FDE493250A1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52031" y="462357"/>
                <a:ext cx="27360" cy="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7608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1455" y="0"/>
            <a:ext cx="7055380" cy="1062990"/>
          </a:xfrm>
        </p:spPr>
        <p:txBody>
          <a:bodyPr/>
          <a:lstStyle/>
          <a:p>
            <a:r>
              <a:rPr lang="en-US" altLang="en-US" sz="3600" dirty="0"/>
              <a:t>Graph Traversal: </a:t>
            </a:r>
            <a:r>
              <a:rPr lang="en-US" sz="3600" dirty="0"/>
              <a:t>Breadth-First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3308" y="1725066"/>
            <a:ext cx="8946532" cy="3824200"/>
          </a:xfrm>
        </p:spPr>
        <p:txBody>
          <a:bodyPr>
            <a:normAutofit/>
          </a:bodyPr>
          <a:lstStyle/>
          <a:p>
            <a:pPr>
              <a:buClr>
                <a:srgbClr val="332E70"/>
              </a:buClr>
            </a:pPr>
            <a:r>
              <a:rPr lang="en-US" sz="2200" dirty="0"/>
              <a:t>One of the simplest algorithm for searching a graph</a:t>
            </a:r>
          </a:p>
          <a:p>
            <a:pPr>
              <a:buClr>
                <a:srgbClr val="332E70"/>
              </a:buClr>
            </a:pPr>
            <a:r>
              <a:rPr lang="en-US" sz="2200" dirty="0"/>
              <a:t>Prim’s minimum-spanning tree algorithm and Dijkstra’s single-source shortest-paths algorithm use ideas similar to those in breadth-first search.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B41AF3D6-DC80-D42C-78A6-C355ABE94000}"/>
                  </a:ext>
                </a:extLst>
              </p14:cNvPr>
              <p14:cNvContentPartPr/>
              <p14:nvPr/>
            </p14:nvContentPartPr>
            <p14:xfrm>
              <a:off x="5376101" y="4613255"/>
              <a:ext cx="9360" cy="1044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B41AF3D6-DC80-D42C-78A6-C355ABE9400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367101" y="4604555"/>
                <a:ext cx="27000" cy="27492"/>
              </a:xfrm>
              <a:prstGeom prst="rect">
                <a:avLst/>
              </a:prstGeom>
            </p:spPr>
          </p:pic>
        </mc:Fallback>
      </mc:AlternateContent>
      <p:grpSp>
        <p:nvGrpSpPr>
          <p:cNvPr id="178" name="Group 177">
            <a:extLst>
              <a:ext uri="{FF2B5EF4-FFF2-40B4-BE49-F238E27FC236}">
                <a16:creationId xmlns:a16="http://schemas.microsoft.com/office/drawing/2014/main" id="{AAAAC3F8-7107-1B5F-4D20-6D237CE8A691}"/>
              </a:ext>
            </a:extLst>
          </p:cNvPr>
          <p:cNvGrpSpPr/>
          <p:nvPr/>
        </p:nvGrpSpPr>
        <p:grpSpPr>
          <a:xfrm>
            <a:off x="3142758" y="3155485"/>
            <a:ext cx="3960" cy="14400"/>
            <a:chOff x="3142758" y="3155485"/>
            <a:chExt cx="3960" cy="1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3B76C86-F6A0-7456-54D3-80D955E231C9}"/>
                    </a:ext>
                  </a:extLst>
                </p14:cNvPr>
                <p14:cNvContentPartPr/>
                <p14:nvPr/>
              </p14:nvContentPartPr>
              <p14:xfrm>
                <a:off x="3146358" y="3163045"/>
                <a:ext cx="360" cy="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3B76C86-F6A0-7456-54D3-80D955E231C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137718" y="315404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E64854D-B50A-9B32-E62A-01DB196F0891}"/>
                    </a:ext>
                  </a:extLst>
                </p14:cNvPr>
                <p14:cNvContentPartPr/>
                <p14:nvPr/>
              </p14:nvContentPartPr>
              <p14:xfrm>
                <a:off x="3142758" y="3155485"/>
                <a:ext cx="1440" cy="144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E64854D-B50A-9B32-E62A-01DB196F089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34118" y="3146845"/>
                  <a:ext cx="19080" cy="32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9446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7069-0B2B-4B3D-8F2E-831D359B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1080" y="1"/>
            <a:ext cx="10515600" cy="1074420"/>
          </a:xfrm>
        </p:spPr>
        <p:txBody>
          <a:bodyPr/>
          <a:lstStyle/>
          <a:p>
            <a:r>
              <a:rPr lang="en-US" altLang="en-US" sz="3600" dirty="0"/>
              <a:t>Graph Traversal: </a:t>
            </a:r>
            <a:r>
              <a:rPr lang="en-US" sz="3600" dirty="0"/>
              <a:t>Breadth-First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E9818-5C63-49C1-AFA7-A2B7B0979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074" y="1484601"/>
            <a:ext cx="9580415" cy="4481225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200" dirty="0"/>
              <a:t>Given a graph G = (V , E) and a distinguished </a:t>
            </a:r>
            <a:r>
              <a:rPr lang="en-US" sz="2200" b="1" i="1" dirty="0"/>
              <a:t>source </a:t>
            </a:r>
            <a:r>
              <a:rPr lang="en-US" sz="2200" dirty="0"/>
              <a:t>vertex s, </a:t>
            </a:r>
            <a:br>
              <a:rPr lang="en-US" sz="2200" dirty="0"/>
            </a:br>
            <a:r>
              <a:rPr lang="en-US" sz="2200" dirty="0"/>
              <a:t>breadth-first search systematically explores the edges of G to “discover” every vertex that is reachable from s. 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It computes the distance (smallest number of edges) from s to each reachable vertex.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It also produces a “breadth-first tree” with root s that contains all reachable vertices. 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For any vertex  reachable from s, the simple path in the breadth-first tree from s to  corresponds to a “shortest path” from s to in G, that is, a path containing the smallest number of edges. </a:t>
            </a:r>
          </a:p>
          <a:p>
            <a:pPr>
              <a:buClr>
                <a:srgbClr val="002060"/>
              </a:buClr>
            </a:pPr>
            <a:r>
              <a:rPr lang="en-US" sz="2200" dirty="0"/>
              <a:t>The algorithm works on both directed and undirected graphs.</a:t>
            </a:r>
          </a:p>
        </p:txBody>
      </p:sp>
    </p:spTree>
    <p:extLst>
      <p:ext uri="{BB962C8B-B14F-4D97-AF65-F5344CB8AC3E}">
        <p14:creationId xmlns:p14="http://schemas.microsoft.com/office/powerpoint/2010/main" val="850765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102A-5F1D-4267-A896-336CF2942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0795"/>
            <a:ext cx="10515600" cy="972185"/>
          </a:xfrm>
        </p:spPr>
        <p:txBody>
          <a:bodyPr/>
          <a:lstStyle/>
          <a:p>
            <a:r>
              <a:rPr lang="en-US" altLang="en-US" sz="3600" dirty="0"/>
              <a:t>Graph Traversal: </a:t>
            </a:r>
            <a:r>
              <a:rPr lang="en-US" sz="3600" dirty="0"/>
              <a:t>Breadth-First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447EAF-D172-4E6C-9CAA-32F7341B3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84" y="1323935"/>
            <a:ext cx="8539516" cy="7191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5D763D-8EEB-4667-9326-44844DC9A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107" y="2271797"/>
            <a:ext cx="7240711" cy="2617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12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9F497-065B-E980-E41B-B4AE158D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440D6-A89D-A4EF-4FFB-21F34CAA9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17096"/>
            <a:ext cx="7119280" cy="5638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2DE019-2065-6854-ACA3-867E738D2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783" y="494707"/>
            <a:ext cx="4239217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600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72DCE-9338-C49B-3BCF-61217577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7A1CD-4AE2-5542-CF58-CD338D233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064" y="0"/>
            <a:ext cx="8287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22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FC877-54E5-47E6-B13F-37FAF9DB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8235" y="1"/>
            <a:ext cx="10515600" cy="1062990"/>
          </a:xfrm>
        </p:spPr>
        <p:txBody>
          <a:bodyPr/>
          <a:lstStyle/>
          <a:p>
            <a:r>
              <a:rPr lang="en-US" sz="3600" dirty="0"/>
              <a:t>Breadth-First Search Algorithm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2E789FF-D2D7-4830-8442-3C24AC1204B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98" y="1245918"/>
            <a:ext cx="5401002" cy="4366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F9F0A01-2921-1DA7-2CFC-1E8D693661CA}"/>
              </a:ext>
            </a:extLst>
          </p:cNvPr>
          <p:cNvGrpSpPr/>
          <p:nvPr/>
        </p:nvGrpSpPr>
        <p:grpSpPr>
          <a:xfrm>
            <a:off x="6840620" y="1998166"/>
            <a:ext cx="1204920" cy="1486800"/>
            <a:chOff x="6840620" y="1998166"/>
            <a:chExt cx="1204920" cy="148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294B353-17EA-73BF-1E10-FD3E2737D94B}"/>
                    </a:ext>
                  </a:extLst>
                </p14:cNvPr>
                <p14:cNvContentPartPr/>
                <p14:nvPr/>
              </p14:nvContentPartPr>
              <p14:xfrm>
                <a:off x="7491860" y="2503246"/>
                <a:ext cx="5040" cy="7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294B353-17EA-73BF-1E10-FD3E2737D94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83220" y="2494246"/>
                  <a:ext cx="226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965CFB6-978F-0EE9-E173-264D04455DEA}"/>
                    </a:ext>
                  </a:extLst>
                </p14:cNvPr>
                <p14:cNvContentPartPr/>
                <p14:nvPr/>
              </p14:nvContentPartPr>
              <p14:xfrm>
                <a:off x="6840620" y="3479926"/>
                <a:ext cx="9720" cy="5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965CFB6-978F-0EE9-E173-264D04455DE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31980" y="3470926"/>
                  <a:ext cx="27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DD21CFC-1CD3-070F-DD34-08DD96562CCD}"/>
                    </a:ext>
                  </a:extLst>
                </p14:cNvPr>
                <p14:cNvContentPartPr/>
                <p14:nvPr/>
              </p14:nvContentPartPr>
              <p14:xfrm>
                <a:off x="8006300" y="1998166"/>
                <a:ext cx="39240" cy="34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DD21CFC-1CD3-070F-DD34-08DD96562CC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997300" y="1989526"/>
                  <a:ext cx="5688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F88E517-C2D4-9400-76C6-D3CBC30A0186}"/>
                  </a:ext>
                </a:extLst>
              </p14:cNvPr>
              <p14:cNvContentPartPr/>
              <p14:nvPr/>
            </p14:nvContentPartPr>
            <p14:xfrm>
              <a:off x="6827660" y="3522406"/>
              <a:ext cx="10440" cy="6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F88E517-C2D4-9400-76C6-D3CBC30A018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819020" y="3513406"/>
                <a:ext cx="280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E7AD98D-3747-9C1E-A5D3-E787646A7AA5}"/>
                  </a:ext>
                </a:extLst>
              </p14:cNvPr>
              <p14:cNvContentPartPr/>
              <p14:nvPr/>
            </p14:nvContentPartPr>
            <p14:xfrm>
              <a:off x="9747980" y="3191926"/>
              <a:ext cx="14040" cy="201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E7AD98D-3747-9C1E-A5D3-E787646A7AA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739340" y="3183286"/>
                <a:ext cx="3168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5EF954F-7895-E834-DA3D-3CA1DD24DB27}"/>
                  </a:ext>
                </a:extLst>
              </p14:cNvPr>
              <p14:cNvContentPartPr/>
              <p14:nvPr/>
            </p14:nvContentPartPr>
            <p14:xfrm>
              <a:off x="9801260" y="3655246"/>
              <a:ext cx="10440" cy="144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5EF954F-7895-E834-DA3D-3CA1DD24DB2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792620" y="3646606"/>
                <a:ext cx="2808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092899D2-66FB-965B-7920-CC417724EE8D}"/>
                  </a:ext>
                </a:extLst>
              </p14:cNvPr>
              <p14:cNvContentPartPr/>
              <p14:nvPr/>
            </p14:nvContentPartPr>
            <p14:xfrm>
              <a:off x="9639620" y="3470206"/>
              <a:ext cx="39960" cy="165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092899D2-66FB-965B-7920-CC417724EE8D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630980" y="3461206"/>
                <a:ext cx="5760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7E94EB65-AA2A-D9C2-F1F4-856AEF5397C5}"/>
                  </a:ext>
                </a:extLst>
              </p14:cNvPr>
              <p14:cNvContentPartPr/>
              <p14:nvPr/>
            </p14:nvContentPartPr>
            <p14:xfrm>
              <a:off x="8946260" y="4629406"/>
              <a:ext cx="9720" cy="936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7E94EB65-AA2A-D9C2-F1F4-856AEF5397C5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937620" y="4620406"/>
                <a:ext cx="27360" cy="2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706A3FA8-E93A-84EE-ADC3-577D77410581}"/>
              </a:ext>
            </a:extLst>
          </p:cNvPr>
          <p:cNvGrpSpPr/>
          <p:nvPr/>
        </p:nvGrpSpPr>
        <p:grpSpPr>
          <a:xfrm>
            <a:off x="9945980" y="815206"/>
            <a:ext cx="919080" cy="766080"/>
            <a:chOff x="9945980" y="815206"/>
            <a:chExt cx="919080" cy="76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8577BC8-16FC-8814-18A6-5EB73CE500D3}"/>
                    </a:ext>
                  </a:extLst>
                </p14:cNvPr>
                <p14:cNvContentPartPr/>
                <p14:nvPr/>
              </p14:nvContentPartPr>
              <p14:xfrm>
                <a:off x="10087820" y="815206"/>
                <a:ext cx="16920" cy="33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8577BC8-16FC-8814-18A6-5EB73CE500D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79180" y="806206"/>
                  <a:ext cx="345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55175D3-4EB9-E38E-36E5-1AF461DA8DFF}"/>
                    </a:ext>
                  </a:extLst>
                </p14:cNvPr>
                <p14:cNvContentPartPr/>
                <p14:nvPr/>
              </p14:nvContentPartPr>
              <p14:xfrm>
                <a:off x="10859300" y="852286"/>
                <a:ext cx="5760" cy="14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55175D3-4EB9-E38E-36E5-1AF461DA8D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850660" y="843646"/>
                  <a:ext cx="23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43843BD-B805-384D-82B7-3E0DAB1B8662}"/>
                    </a:ext>
                  </a:extLst>
                </p14:cNvPr>
                <p14:cNvContentPartPr/>
                <p14:nvPr/>
              </p14:nvContentPartPr>
              <p14:xfrm>
                <a:off x="9945980" y="1566166"/>
                <a:ext cx="18720" cy="151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43843BD-B805-384D-82B7-3E0DAB1B866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36980" y="892606"/>
                  <a:ext cx="1468800" cy="6969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D37C280-4684-A927-F3A2-FE0341BED5CA}"/>
              </a:ext>
            </a:extLst>
          </p:cNvPr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6620083" y="975970"/>
            <a:ext cx="4239217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F11A6-243C-4534-8E6F-63A4D6D12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935" y="0"/>
            <a:ext cx="10515600" cy="828675"/>
          </a:xfrm>
        </p:spPr>
        <p:txBody>
          <a:bodyPr>
            <a:normAutofit/>
          </a:bodyPr>
          <a:lstStyle/>
          <a:p>
            <a:r>
              <a:rPr lang="en-US" sz="3600" dirty="0"/>
              <a:t>Running Time of Graph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B0458-5EA4-413A-A77D-0B3BD0584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14475"/>
            <a:ext cx="9086010" cy="4733932"/>
          </a:xfrm>
        </p:spPr>
        <p:txBody>
          <a:bodyPr>
            <a:norm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On a given graph G = (V,E)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Describe the size of the input with two parameters, not just one. </a:t>
            </a:r>
          </a:p>
          <a:p>
            <a:pPr lvl="1">
              <a:buClr>
                <a:srgbClr val="002060"/>
              </a:buClr>
            </a:pPr>
            <a:r>
              <a:rPr lang="en-US" sz="2000" dirty="0"/>
              <a:t>The number of vertices |V| and the number of edges |E| of the graph.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Inside asymptotic notation, the symbol V denotes |V | and the symbol E denotes |E|. </a:t>
            </a:r>
          </a:p>
          <a:p>
            <a:pPr lvl="1">
              <a:buClr>
                <a:srgbClr val="002060"/>
              </a:buClr>
            </a:pPr>
            <a:r>
              <a:rPr lang="en-US" sz="2000" dirty="0"/>
              <a:t>For example, “the algorithm runs in time O (VE)”  meaning that the algorithm runs in time O (|V| |E|)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This convention makes the running-time formulas easier to read, without the risk of ambiguity.</a:t>
            </a:r>
          </a:p>
        </p:txBody>
      </p:sp>
    </p:spTree>
    <p:extLst>
      <p:ext uri="{BB962C8B-B14F-4D97-AF65-F5344CB8AC3E}">
        <p14:creationId xmlns:p14="http://schemas.microsoft.com/office/powerpoint/2010/main" val="4017884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365" y="50800"/>
            <a:ext cx="10515600" cy="926465"/>
          </a:xfrm>
        </p:spPr>
        <p:txBody>
          <a:bodyPr/>
          <a:lstStyle/>
          <a:p>
            <a:r>
              <a:rPr lang="en-US" sz="3600" dirty="0"/>
              <a:t>Analysis of Breadth-First Search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309" y="1150778"/>
            <a:ext cx="6322368" cy="3965282"/>
          </a:xfrm>
        </p:spPr>
        <p:txBody>
          <a:bodyPr>
            <a:normAutofit/>
          </a:bodyPr>
          <a:lstStyle/>
          <a:p>
            <a:r>
              <a:rPr lang="en-US" sz="2200" dirty="0"/>
              <a:t>The overhead for initialization is O(V)</a:t>
            </a:r>
          </a:p>
          <a:p>
            <a:r>
              <a:rPr lang="en-US" sz="2200" dirty="0"/>
              <a:t>Total time devoted to queue operations is O(V)</a:t>
            </a:r>
          </a:p>
          <a:p>
            <a:pPr lvl="1"/>
            <a:r>
              <a:rPr lang="en-US" sz="2200" dirty="0"/>
              <a:t>It scans each adjacency list at most once</a:t>
            </a:r>
          </a:p>
          <a:p>
            <a:r>
              <a:rPr lang="en-US" sz="2200" dirty="0"/>
              <a:t>Total time spent in scanning adjacency lists is O(E)</a:t>
            </a:r>
          </a:p>
          <a:p>
            <a:r>
              <a:rPr lang="en-US" sz="2200" dirty="0"/>
              <a:t>Total running time of the BFS procedure is O(V + E)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2E789FF-D2D7-4830-8442-3C24AC120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318" y="877336"/>
            <a:ext cx="5213682" cy="4304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5995AFB-145E-4006-B9EC-BA02E370A36F}"/>
                  </a:ext>
                </a:extLst>
              </p14:cNvPr>
              <p14:cNvContentPartPr/>
              <p14:nvPr/>
            </p14:nvContentPartPr>
            <p14:xfrm>
              <a:off x="6353201" y="3822940"/>
              <a:ext cx="360" cy="21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5995AFB-145E-4006-B9EC-BA02E370A3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48881" y="3818620"/>
                <a:ext cx="9000" cy="1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A23BBE6-74B0-4196-856C-DEE683A5AE12}"/>
              </a:ext>
            </a:extLst>
          </p:cNvPr>
          <p:cNvGrpSpPr/>
          <p:nvPr/>
        </p:nvGrpSpPr>
        <p:grpSpPr>
          <a:xfrm>
            <a:off x="6227921" y="4176820"/>
            <a:ext cx="68760" cy="1395360"/>
            <a:chOff x="6227921" y="4176820"/>
            <a:chExt cx="68760" cy="139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49EAFD1-3CA3-450B-AFAE-F22ED314F3D9}"/>
                    </a:ext>
                  </a:extLst>
                </p14:cNvPr>
                <p14:cNvContentPartPr/>
                <p14:nvPr/>
              </p14:nvContentPartPr>
              <p14:xfrm>
                <a:off x="6274361" y="5347540"/>
                <a:ext cx="22320" cy="26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49EAFD1-3CA3-450B-AFAE-F22ED314F3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270041" y="5343220"/>
                  <a:ext cx="309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17ECB4A1-BC89-4477-BC78-2E31CBBBA982}"/>
                    </a:ext>
                  </a:extLst>
                </p14:cNvPr>
                <p14:cNvContentPartPr/>
                <p14:nvPr/>
              </p14:nvContentPartPr>
              <p14:xfrm>
                <a:off x="6227921" y="5569660"/>
                <a:ext cx="3960" cy="2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17ECB4A1-BC89-4477-BC78-2E31CBBBA98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23601" y="5565340"/>
                  <a:ext cx="1260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D00F8EB-05B3-4856-8BA5-56F3C6988001}"/>
                    </a:ext>
                  </a:extLst>
                </p14:cNvPr>
                <p14:cNvContentPartPr/>
                <p14:nvPr/>
              </p14:nvContentPartPr>
              <p14:xfrm>
                <a:off x="6229361" y="4176820"/>
                <a:ext cx="25920" cy="169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D00F8EB-05B3-4856-8BA5-56F3C698800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225041" y="4172500"/>
                  <a:ext cx="34560" cy="2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19049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910F-8C50-42FC-83C2-399D4A1BE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740" y="29808"/>
            <a:ext cx="7055380" cy="925232"/>
          </a:xfrm>
        </p:spPr>
        <p:txBody>
          <a:bodyPr/>
          <a:lstStyle/>
          <a:p>
            <a:r>
              <a:rPr lang="en-US" sz="3600" dirty="0"/>
              <a:t>Graph Traversal: 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2322C-07C0-44AD-AB6F-278E8BF95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4379" y="1410335"/>
            <a:ext cx="9355455" cy="3822065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r>
              <a:rPr lang="en-US" sz="2400" dirty="0"/>
              <a:t>To search “deeper” in the graph whenever possible.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Explores edges out of the most recently discovered vertex  that still has unexplored edges leaving it.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Once all of  the edges have been explored, the search “backtracks” to explore edges leaving the vertex from which was discovered.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This process continues until we have discovered all the vertices that are reachable from the original source vertex.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If any undiscovered vertices remain, then depth-first search selects one of them as a new source, and it repeats the search from that source. </a:t>
            </a:r>
          </a:p>
          <a:p>
            <a:pPr>
              <a:buClr>
                <a:srgbClr val="002060"/>
              </a:buClr>
            </a:pPr>
            <a:r>
              <a:rPr lang="en-US" sz="2400" dirty="0"/>
              <a:t>The algorithm repeats this entire process until it has discovered every vertex</a:t>
            </a:r>
          </a:p>
        </p:txBody>
      </p:sp>
    </p:spTree>
    <p:extLst>
      <p:ext uri="{BB962C8B-B14F-4D97-AF65-F5344CB8AC3E}">
        <p14:creationId xmlns:p14="http://schemas.microsoft.com/office/powerpoint/2010/main" val="2997151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38089-71BF-4230-8C53-C6383A0A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310" y="0"/>
            <a:ext cx="7605190" cy="982980"/>
          </a:xfrm>
        </p:spPr>
        <p:txBody>
          <a:bodyPr/>
          <a:lstStyle/>
          <a:p>
            <a:r>
              <a:rPr lang="en-US" sz="3600" dirty="0"/>
              <a:t>Depth-First Search Algorithm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7419C88-2FAD-461F-B64F-93295F01952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7216" y="1304129"/>
            <a:ext cx="5306489" cy="4522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FA57FD2-1D32-4A4C-8EBB-5A4563F39FF5}"/>
                  </a:ext>
                </a:extLst>
              </p14:cNvPr>
              <p14:cNvContentPartPr/>
              <p14:nvPr/>
            </p14:nvContentPartPr>
            <p14:xfrm>
              <a:off x="9095327" y="2119513"/>
              <a:ext cx="23400" cy="154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FA57FD2-1D32-4A4C-8EBB-5A4563F39FF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91007" y="2115193"/>
                <a:ext cx="32040" cy="241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3102962-FFE9-CC7E-9A34-5B261615B1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5162" y="815549"/>
            <a:ext cx="4239217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727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7CCEB-EED7-70CB-5BD0-E4A3DC705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ACB211-5FDC-510B-3B02-A8BFD697D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25" y="136525"/>
            <a:ext cx="7288785" cy="61200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26266DA-3A5F-1C04-2E76-9E4DDA405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2783" y="494707"/>
            <a:ext cx="4239217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68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89D15-BA02-5B89-923F-5F02B2A77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TEXAS A&amp;M-SAN ANTONIO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2E8E4-1C35-1174-B3DE-3846069CE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921" y="0"/>
            <a:ext cx="9526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44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365" y="50800"/>
            <a:ext cx="10515600" cy="926465"/>
          </a:xfrm>
        </p:spPr>
        <p:txBody>
          <a:bodyPr/>
          <a:lstStyle/>
          <a:p>
            <a:r>
              <a:rPr lang="en-US" sz="3600" dirty="0"/>
              <a:t>Analysis of Depth-First Search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966" y="1143315"/>
            <a:ext cx="7187767" cy="3965282"/>
          </a:xfrm>
        </p:spPr>
        <p:txBody>
          <a:bodyPr>
            <a:normAutofit/>
          </a:bodyPr>
          <a:lstStyle/>
          <a:p>
            <a:r>
              <a:rPr lang="en-US" sz="2200" dirty="0"/>
              <a:t>The loops ‚ O(V)</a:t>
            </a:r>
          </a:p>
          <a:p>
            <a:r>
              <a:rPr lang="en-US" sz="2200" dirty="0"/>
              <a:t>DFS is called exactly once for each vertex </a:t>
            </a:r>
            <a:r>
              <a:rPr lang="en-US" sz="2200" i="1" dirty="0"/>
              <a:t>v </a:t>
            </a:r>
            <a:r>
              <a:rPr lang="en-US" sz="2200" dirty="0"/>
              <a:t>, since the vertex</a:t>
            </a:r>
            <a:r>
              <a:rPr lang="en-US" sz="2200" i="1" dirty="0"/>
              <a:t> u </a:t>
            </a:r>
            <a:r>
              <a:rPr lang="en-US" sz="2200" dirty="0"/>
              <a:t>on which DFS is invoked must be white and the first thing DFS-VISIT does is paint vertex u gray</a:t>
            </a:r>
          </a:p>
          <a:p>
            <a:r>
              <a:rPr lang="en-US" sz="2200" dirty="0"/>
              <a:t>During an execution of DFS, the loop executes Adj[v], with the sum of all Adj vertices, the total cost of is O(E)</a:t>
            </a:r>
          </a:p>
          <a:p>
            <a:r>
              <a:rPr lang="en-US" sz="2200" dirty="0"/>
              <a:t>Total running time of the DFS procedure is O(V + E)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7F54787-F152-753B-1119-98B4910AF0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75" y="977265"/>
            <a:ext cx="4162425" cy="3788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0247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AMUSA PPT Color">
      <a:dk1>
        <a:srgbClr val="000000"/>
      </a:dk1>
      <a:lt1>
        <a:srgbClr val="FFFFFF"/>
      </a:lt1>
      <a:dk2>
        <a:srgbClr val="83888B"/>
      </a:dk2>
      <a:lt2>
        <a:srgbClr val="FFFFFF"/>
      </a:lt2>
      <a:accent1>
        <a:srgbClr val="332E70"/>
      </a:accent1>
      <a:accent2>
        <a:srgbClr val="668586"/>
      </a:accent2>
      <a:accent3>
        <a:srgbClr val="E6B729"/>
      </a:accent3>
      <a:accent4>
        <a:srgbClr val="B9CFD3"/>
      </a:accent4>
      <a:accent5>
        <a:srgbClr val="54849A"/>
      </a:accent5>
      <a:accent6>
        <a:srgbClr val="020000"/>
      </a:accent6>
      <a:hlink>
        <a:srgbClr val="702E3C"/>
      </a:hlink>
      <a:folHlink>
        <a:srgbClr val="4600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AMUSA Template" id="{81250B71-C222-0A43-91FF-929A8BF7632C}" vid="{6EC503B3-3B3A-3D45-9BD1-3527F0E16E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TAMUSA Template-updated</Template>
  <TotalTime>2987</TotalTime>
  <Words>1219</Words>
  <Application>Microsoft Office PowerPoint</Application>
  <PresentationFormat>Widescreen</PresentationFormat>
  <Paragraphs>131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arial</vt:lpstr>
      <vt:lpstr>Calibri</vt:lpstr>
      <vt:lpstr>Corbel</vt:lpstr>
      <vt:lpstr>Oswald</vt:lpstr>
      <vt:lpstr>Rage Italic</vt:lpstr>
      <vt:lpstr>Symbol</vt:lpstr>
      <vt:lpstr>Times New Roman</vt:lpstr>
      <vt:lpstr>Vollkorn</vt:lpstr>
      <vt:lpstr>Office Theme</vt:lpstr>
      <vt:lpstr>CSCI 5343 Algorithms Spring 2025 </vt:lpstr>
      <vt:lpstr>Objectives</vt:lpstr>
      <vt:lpstr>Trees</vt:lpstr>
      <vt:lpstr>Graphs</vt:lpstr>
      <vt:lpstr>Graphs</vt:lpstr>
      <vt:lpstr>Graphs (continued)</vt:lpstr>
      <vt:lpstr>Graphs (continued)</vt:lpstr>
      <vt:lpstr>Graphs (continued)</vt:lpstr>
      <vt:lpstr>Graph Representation</vt:lpstr>
      <vt:lpstr>Graph Representation: Adjacency Matrix</vt:lpstr>
      <vt:lpstr>Graph Representation: Adjacency List</vt:lpstr>
      <vt:lpstr>Graph Representation: Undirected Graph</vt:lpstr>
      <vt:lpstr>Graph Representation: Directed Graph</vt:lpstr>
      <vt:lpstr>Weighted Graph</vt:lpstr>
      <vt:lpstr>Graph Traversal: Breadth-First Search</vt:lpstr>
      <vt:lpstr>Graph Traversal: Breadth-First Search</vt:lpstr>
      <vt:lpstr>Graph Traversal: Breadth-First Search</vt:lpstr>
      <vt:lpstr>PowerPoint Presentation</vt:lpstr>
      <vt:lpstr>PowerPoint Presentation</vt:lpstr>
      <vt:lpstr>Breadth-First Search Algorithm</vt:lpstr>
      <vt:lpstr>Running Time of Graph Algorithm</vt:lpstr>
      <vt:lpstr>Analysis of Breadth-First Search </vt:lpstr>
      <vt:lpstr>Graph Traversal: Depth-First Search</vt:lpstr>
      <vt:lpstr>Depth-First Search Algorithm</vt:lpstr>
      <vt:lpstr>PowerPoint Presentation</vt:lpstr>
      <vt:lpstr>PowerPoint Presentation</vt:lpstr>
      <vt:lpstr>Analysis of Depth-First Search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Fernando Estrada</dc:creator>
  <cp:lastModifiedBy>Visesh Bentula</cp:lastModifiedBy>
  <cp:revision>145</cp:revision>
  <cp:lastPrinted>2020-03-24T15:44:24Z</cp:lastPrinted>
  <dcterms:created xsi:type="dcterms:W3CDTF">2018-03-09T22:17:24Z</dcterms:created>
  <dcterms:modified xsi:type="dcterms:W3CDTF">2025-04-26T04:18:56Z</dcterms:modified>
</cp:coreProperties>
</file>