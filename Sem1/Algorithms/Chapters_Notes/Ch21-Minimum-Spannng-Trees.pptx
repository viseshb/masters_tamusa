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302" r:id="rId3"/>
    <p:sldId id="303" r:id="rId4"/>
    <p:sldId id="327" r:id="rId5"/>
    <p:sldId id="304" r:id="rId6"/>
    <p:sldId id="322" r:id="rId7"/>
    <p:sldId id="305" r:id="rId8"/>
    <p:sldId id="306" r:id="rId9"/>
    <p:sldId id="307" r:id="rId10"/>
    <p:sldId id="319" r:id="rId11"/>
    <p:sldId id="316" r:id="rId12"/>
    <p:sldId id="330" r:id="rId13"/>
    <p:sldId id="317" r:id="rId14"/>
    <p:sldId id="318" r:id="rId15"/>
    <p:sldId id="321" r:id="rId16"/>
    <p:sldId id="328" r:id="rId17"/>
    <p:sldId id="308" r:id="rId18"/>
    <p:sldId id="329" r:id="rId19"/>
    <p:sldId id="324" r:id="rId20"/>
    <p:sldId id="325" r:id="rId21"/>
    <p:sldId id="326" r:id="rId22"/>
    <p:sldId id="331" r:id="rId23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93" autoAdjust="0"/>
    <p:restoredTop sz="94658"/>
  </p:normalViewPr>
  <p:slideViewPr>
    <p:cSldViewPr snapToGrid="0" snapToObjects="1">
      <p:cViewPr>
        <p:scale>
          <a:sx n="119" d="100"/>
          <a:sy n="119" d="100"/>
        </p:scale>
        <p:origin x="50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3E9484-A1AE-4848-978F-DB84137331BF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51DBA-7D26-427F-A8DB-8EB0BE3564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1278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3-30T16:14:14.9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8751 0 0,'0'0'7168'0'0,"4"7"-6672"0"0,0-2-600 0 0,1-2-72 0 0,1 0-16 0 0,0-2-6208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3-30T16:15:05.9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1375 0 0,'0'0'7656'0'0,"4"11"-4978"0"0,1-3-2668 0 0,-5-6-22 0 0,0-2 0 0 0,0 1-116 0 0,-1 0-56 0 0,0 4-8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3-30T16:15:48.0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9 2759 0 0,'0'0'248'0'0,"-5"-9"1968"0"0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3-30T16:15:52.8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1462 0 1839 0 0,'0'0'80'0'0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3-30T16:15:21.8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1839 0 0,'2'2'55'0'0,"11"5"8462"0"0,0 10-1686 0 0,-4 2-6279 0 0,-9-18-852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3-30T16:16:50.3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2303 0 0,'0'0'15792'0'0,"5"7"-15888"0"0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4-12T00:16:35.310"/>
    </inkml:context>
    <inkml:brush xml:id="br0">
      <inkml:brushProperty name="width" value="0.025" units="cm"/>
      <inkml:brushProperty name="height" value="0.025" units="cm"/>
      <inkml:brushProperty name="color" value="#CC0066"/>
    </inkml:brush>
  </inkml:definitions>
  <inkml:trace contextRef="#ctx0" brushRef="#br0">21 2 3999 0 0,'0'0'947'0'0,"-16"-1"2961"0"0,12 0-6257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B843F6B6-C643-EB48-8E20-B61919A653AE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6E6A39C-9C1F-2A4A-AF30-046BACDB3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277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4063" indent="-2889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58875" indent="-2317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24013" indent="-2317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87563" indent="-2317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44763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1963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59163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16363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E3D77EE-CC85-42F9-805C-BEA481CCEB13}" type="slidenum">
              <a:rPr lang="en-US" altLang="en-US"/>
              <a:pPr eaLnBrk="1" hangingPunct="1"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453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06F780E-9DEC-114C-B59D-A82F5B1305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703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DB4BCB-6267-7C4C-B43A-E90C40649B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8D4E9D-E0FF-4A40-92D3-F584F728C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AA4489E-2E74-F340-B15A-B2A6F49450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91286" y="118872"/>
            <a:ext cx="9209427" cy="87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08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76A11-4AC1-8748-B27A-412000BFD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39F17-8DC0-704B-9AE7-F0ACCDF4C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4A4D8-C6D2-0E40-92C4-2BCFF05A1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TEXAS A&amp;M-SAN ANTONIO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86E18-20E2-9044-890C-17969EAC4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063ED-17C5-384F-8A20-6B5F1E692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572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5D519-9498-A74B-A50E-3FE856C93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A1DE4-D61E-B948-97DB-95EA3642C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EC6AA-5BA9-6C4B-9C05-A4DF3EB3C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70A15-8FCB-1145-B769-EBE016DEC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6DD52-61E1-7644-A884-1919EF7DF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175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0ADC3-8E98-4046-9AAD-79B345A96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E0A05-7784-8E43-A36D-9DF6EB0DA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BC6E6-C854-644C-8127-782D34662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2892C8-648C-E648-909E-43B6AB5CE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65A266-0D34-A848-B798-09F9F6C30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E07C42-7FD9-8A46-9771-76E49801F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907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9DF53-106B-564F-A34E-66D6D5527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E6C4E-D1C9-7E43-8BE6-6FF6C0297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884BC5-819E-184D-B400-C628FC4E7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D4D157-B42E-B04A-9802-E4687A2B0F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BE22DF-E739-C941-8F53-FEB1143BE8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D40280-C860-6543-8954-037C3B8DD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C3B322-30C5-7A48-80C9-34D80F20B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0A570F-CCB9-8A4D-A1DF-182EDBD9E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403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7A4AD-56A7-D544-8CC4-C59732383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5C9BB6-238C-9849-8A11-ED3068252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23E8EC-9A7F-CE49-8A55-A5D7CD716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3C0A83-16F0-D946-B562-A591524C4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864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F29F64-1BDD-504B-A6CA-0E20C98EF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8C1686-9F4A-094D-AD83-7AAFEDFD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004E1-8548-F84D-B00A-A977C4D04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454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73EF2-341F-F844-AFCF-6433054D0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D4C50-3B10-0B41-9B37-D7C15E263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DF77F2-1CF2-E444-9FAD-9E8F54149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BD50E1-5F20-BB45-A98E-EBF4F1C1D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6EF63F-A284-684A-A9AD-5E8434D7B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8865B0-3686-3341-AD20-5617C52E1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449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FA22E-AA44-194A-BF2A-701D2B5FF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78C7F6-4BD5-E641-B632-A1B5A1DC03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77162C-C948-1943-97BA-5AB7865AF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0FC85A-702E-DD4C-B6D4-ABFDB8A87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86D28-396E-8E48-AC2E-0FFF126DF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C52750-349A-6946-B6A4-04B5FB366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757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AD500-C0C2-5D47-8D80-53BD44C53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4353C2-7F77-A84A-A20F-985C4D4E0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B0480-39D0-9D45-907F-0B6A521E7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CE67D-E526-5843-B848-1C14DB188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4ADD1-3DAE-C94D-B565-D611793BA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827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162169-3F65-BD4A-838C-F27F6199AC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6FB8A1-5D3F-2A4E-B1C3-99D1601C14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78F54-DF87-5D42-BA44-CB6C6B654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80EB4-1594-5244-AFD3-740F69F71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BEE49-3691-D549-AC56-DB7355B65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610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8E62574-E313-A548-8CD1-53BB254DD36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7030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9B084-1E51-FA44-B2F1-C4E821A1B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4DE31-0525-CD4C-A8B3-E43493227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2773D-3906-1A4B-8CD5-0D836E29BA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Oswald" panose="02000503000000000000" pitchFamily="2" charset="0"/>
              </a:defRPr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2DC35-01F7-F14D-A158-C7100804C4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CDA7F-9F75-B94E-AEE1-3C966732A7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7D5D8-8021-D54A-A92F-C392C50DF18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AF6714-108A-9744-8E65-70ABDC5635E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" y="0"/>
            <a:ext cx="826999" cy="82699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F07C08-5274-364D-889D-20BEAFD80E1E}"/>
              </a:ext>
            </a:extLst>
          </p:cNvPr>
          <p:cNvCxnSpPr>
            <a:cxnSpLocks/>
          </p:cNvCxnSpPr>
          <p:nvPr userDrawn="1"/>
        </p:nvCxnSpPr>
        <p:spPr>
          <a:xfrm>
            <a:off x="2450592" y="6598227"/>
            <a:ext cx="97414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2290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tx1"/>
          </a:solidFill>
          <a:latin typeface="Oswald" panose="02000503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9.png"/><Relationship Id="rId7" Type="http://schemas.openxmlformats.org/officeDocument/2006/relationships/image" Target="../media/image16.png"/><Relationship Id="rId12" Type="http://schemas.openxmlformats.org/officeDocument/2006/relationships/customXml" Target="../ink/ink5.xml"/><Relationship Id="rId17" Type="http://schemas.openxmlformats.org/officeDocument/2006/relationships/image" Target="../media/image13.png"/><Relationship Id="rId2" Type="http://schemas.openxmlformats.org/officeDocument/2006/relationships/customXml" Target="../ink/ink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18.png"/><Relationship Id="rId5" Type="http://schemas.openxmlformats.org/officeDocument/2006/relationships/image" Target="../media/image15.png"/><Relationship Id="rId15" Type="http://schemas.openxmlformats.org/officeDocument/2006/relationships/image" Target="../media/image20.png"/><Relationship Id="rId10" Type="http://schemas.openxmlformats.org/officeDocument/2006/relationships/customXml" Target="../ink/ink4.xml"/><Relationship Id="rId9" Type="http://schemas.openxmlformats.org/officeDocument/2006/relationships/image" Target="../media/image17.png"/><Relationship Id="rId14" Type="http://schemas.openxmlformats.org/officeDocument/2006/relationships/customXml" Target="../ink/ink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image" Target="../media/image2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E6319-A62A-B444-ADAD-8972AE1B0A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48118"/>
            <a:ext cx="9144000" cy="1922929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3600" dirty="0"/>
              <a:t>CSCI 5343 Algorithms</a:t>
            </a:r>
            <a:br>
              <a:rPr lang="en-US" sz="3600" dirty="0"/>
            </a:br>
            <a:r>
              <a:rPr lang="en-US" sz="3600" dirty="0"/>
              <a:t>Spring 2025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B2D859-22D5-E943-B0B7-72D5D0A6F6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9963"/>
            <a:ext cx="9144000" cy="1895755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  <a:buSzPct val="70000"/>
            </a:pPr>
            <a:r>
              <a:rPr lang="en-US" dirty="0"/>
              <a:t>Dept. of Computational, Engineering, &amp; Mathematical Sciences</a:t>
            </a:r>
          </a:p>
          <a:p>
            <a:pPr>
              <a:buClr>
                <a:srgbClr val="002060"/>
              </a:buClr>
              <a:buSzPct val="70000"/>
            </a:pPr>
            <a:endParaRPr lang="en-US" dirty="0"/>
          </a:p>
          <a:p>
            <a:pPr>
              <a:buClr>
                <a:srgbClr val="002060"/>
              </a:buClr>
              <a:buSzPct val="70000"/>
            </a:pPr>
            <a:r>
              <a:rPr lang="en-US" dirty="0"/>
              <a:t>Chapter 21 Minimum Spanning Trees</a:t>
            </a:r>
            <a:endParaRPr lang="en-US" altLang="en-US" dirty="0"/>
          </a:p>
          <a:p>
            <a:pPr>
              <a:buClr>
                <a:srgbClr val="002060"/>
              </a:buClr>
              <a:buSzPct val="70000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716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085126" y="16397"/>
            <a:ext cx="8153400" cy="9906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/>
              <a:t>Objectives</a:t>
            </a:r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2"/>
                </a:solidFill>
                <a:latin typeface="Rage Italic" panose="03070502040507070304" pitchFamily="66" charset="0"/>
              </a:rPr>
              <a:t> 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394750" y="1637819"/>
            <a:ext cx="6897688" cy="2528047"/>
          </a:xfrm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en-US" altLang="en-US" sz="2400" dirty="0"/>
              <a:t>Discuss the following topics: </a:t>
            </a:r>
          </a:p>
          <a:p>
            <a:pPr eaLnBrk="1" hangingPunct="1">
              <a:buClr>
                <a:srgbClr val="002060"/>
              </a:buClr>
            </a:pPr>
            <a:r>
              <a:rPr lang="en-US" altLang="en-US" sz="2400" dirty="0"/>
              <a:t>Minimum Spanning Tree</a:t>
            </a:r>
          </a:p>
          <a:p>
            <a:pPr eaLnBrk="1" hangingPunct="1">
              <a:buClr>
                <a:srgbClr val="002060"/>
              </a:buClr>
            </a:pPr>
            <a:r>
              <a:rPr lang="en-US" altLang="en-US" sz="2400" dirty="0"/>
              <a:t>Two Algorithms</a:t>
            </a:r>
          </a:p>
          <a:p>
            <a:pPr lvl="1">
              <a:buClr>
                <a:srgbClr val="002060"/>
              </a:buClr>
            </a:pPr>
            <a:r>
              <a:rPr lang="en-US" altLang="en-US" sz="2200" dirty="0" err="1"/>
              <a:t>Kruskal’s</a:t>
            </a:r>
            <a:r>
              <a:rPr lang="en-US" altLang="en-US" sz="2200" dirty="0"/>
              <a:t> Algorithm</a:t>
            </a:r>
          </a:p>
          <a:p>
            <a:pPr lvl="1">
              <a:buClr>
                <a:srgbClr val="002060"/>
              </a:buClr>
            </a:pPr>
            <a:r>
              <a:rPr lang="en-US" altLang="en-US" sz="2200" dirty="0"/>
              <a:t>Prim’s Algorithm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3960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418" y="6311"/>
            <a:ext cx="10515600" cy="1174308"/>
          </a:xfrm>
        </p:spPr>
        <p:txBody>
          <a:bodyPr/>
          <a:lstStyle/>
          <a:p>
            <a:r>
              <a:rPr lang="en-US" sz="3600" dirty="0"/>
              <a:t>Modeling a Wiring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5567" y="1541041"/>
            <a:ext cx="9629634" cy="4195481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</a:pPr>
            <a:r>
              <a:rPr lang="en-US" sz="2200" dirty="0"/>
              <a:t>Electronic circuit designs often need to make the pins of several components electrically equivalent by wiring them together.</a:t>
            </a:r>
          </a:p>
          <a:p>
            <a:pPr>
              <a:buClr>
                <a:srgbClr val="002060"/>
              </a:buClr>
            </a:pPr>
            <a:r>
              <a:rPr lang="en-US" sz="2200" dirty="0"/>
              <a:t>To interconnect a set of n pins, we can use an arrangement of n - 1 wires, each connecting two pins. </a:t>
            </a:r>
          </a:p>
          <a:p>
            <a:pPr>
              <a:buClr>
                <a:srgbClr val="002060"/>
              </a:buClr>
            </a:pPr>
            <a:r>
              <a:rPr lang="en-US" sz="2200" dirty="0"/>
              <a:t>Of all such arrangements, the one that uses the least amount of wire is usually the most desirable.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D06567-9398-4603-B6F8-9E095D13C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0087" y="3638781"/>
            <a:ext cx="4730433" cy="231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9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3906" y="0"/>
            <a:ext cx="10515600" cy="1186405"/>
          </a:xfrm>
        </p:spPr>
        <p:txBody>
          <a:bodyPr/>
          <a:lstStyle/>
          <a:p>
            <a:r>
              <a:rPr lang="en-US" sz="3600" dirty="0"/>
              <a:t>Another Problem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933" y="2345771"/>
            <a:ext cx="9956042" cy="28423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D727F6-AA28-49E0-A1F5-4D3D45567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8379" y="156105"/>
            <a:ext cx="5132388" cy="309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146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417" y="1"/>
            <a:ext cx="10515600" cy="1221698"/>
          </a:xfrm>
        </p:spPr>
        <p:txBody>
          <a:bodyPr/>
          <a:lstStyle/>
          <a:p>
            <a:r>
              <a:rPr lang="en-US" sz="3600" dirty="0"/>
              <a:t>Modeling a Wiring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4115" y="1477428"/>
            <a:ext cx="9428834" cy="4326739"/>
          </a:xfrm>
        </p:spPr>
        <p:txBody>
          <a:bodyPr>
            <a:normAutofit lnSpcReduction="10000"/>
          </a:bodyPr>
          <a:lstStyle/>
          <a:p>
            <a:pPr>
              <a:buClr>
                <a:srgbClr val="002060"/>
              </a:buClr>
            </a:pPr>
            <a:r>
              <a:rPr lang="en-US" sz="2400" dirty="0"/>
              <a:t>Model this problem with a connected, undirected graph G = (V, E), where V is the set of pins, E is the set of possible interconnections between pairs of pins, and for each edge (</a:t>
            </a:r>
            <a:r>
              <a:rPr lang="en-US" sz="2400" i="1" dirty="0"/>
              <a:t>u, v</a:t>
            </a:r>
            <a:r>
              <a:rPr lang="en-US" sz="2400" dirty="0"/>
              <a:t>) ∈ E, we have a weight </a:t>
            </a:r>
            <a:r>
              <a:rPr lang="en-US" sz="2400" i="1" dirty="0"/>
              <a:t>w(</a:t>
            </a:r>
            <a:r>
              <a:rPr lang="en-US" sz="2400" i="1" dirty="0" err="1"/>
              <a:t>u,v</a:t>
            </a:r>
            <a:r>
              <a:rPr lang="en-US" sz="2400" dirty="0"/>
              <a:t>)  specifying the cost (amount of wire needed) to connect u and v.</a:t>
            </a:r>
          </a:p>
          <a:p>
            <a:pPr>
              <a:buClr>
                <a:srgbClr val="002060"/>
              </a:buClr>
            </a:pPr>
            <a:r>
              <a:rPr lang="en-US" sz="2400" dirty="0"/>
              <a:t>Find an acyclic subset T ⊆ E that connects all of the vertices and whose total weight is minimum.</a:t>
            </a:r>
          </a:p>
          <a:p>
            <a:pPr>
              <a:buClr>
                <a:srgbClr val="002060"/>
              </a:buClr>
            </a:pPr>
            <a:endParaRPr lang="en-US" sz="2400" dirty="0"/>
          </a:p>
          <a:p>
            <a:pPr>
              <a:buClr>
                <a:srgbClr val="002060"/>
              </a:buClr>
            </a:pPr>
            <a:endParaRPr lang="en-US" sz="2400" dirty="0"/>
          </a:p>
          <a:p>
            <a:pPr>
              <a:buClr>
                <a:srgbClr val="002060"/>
              </a:buClr>
            </a:pPr>
            <a:r>
              <a:rPr lang="en-US" sz="2400" dirty="0"/>
              <a:t>This must form a tree, called a spanning tree.</a:t>
            </a:r>
          </a:p>
          <a:p>
            <a:pPr>
              <a:buClr>
                <a:srgbClr val="002060"/>
              </a:buClr>
            </a:pPr>
            <a:r>
              <a:rPr lang="en-US" sz="2400" dirty="0"/>
              <a:t>Problem of determining the tree T is  </a:t>
            </a:r>
            <a:br>
              <a:rPr lang="en-US" sz="2400" dirty="0"/>
            </a:br>
            <a:r>
              <a:rPr lang="en-US" sz="2400" dirty="0"/>
              <a:t>the minimum-spanning-tree problem.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652" y="3490669"/>
            <a:ext cx="2443652" cy="7878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9DCDFE-96A2-4F2E-A3F8-B2FAECA53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8987" y="3429000"/>
            <a:ext cx="3922713" cy="1916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550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3906" y="0"/>
            <a:ext cx="10515600" cy="1186405"/>
          </a:xfrm>
        </p:spPr>
        <p:txBody>
          <a:bodyPr/>
          <a:lstStyle/>
          <a:p>
            <a:r>
              <a:rPr lang="en-US" sz="3600" dirty="0"/>
              <a:t>Another Problem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205" y="1309364"/>
            <a:ext cx="6712728" cy="28830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C69ED0F-3680-44CE-BA7F-A1FD98072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032" y="593202"/>
            <a:ext cx="5291668" cy="26313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DE88DE-1689-41FB-9853-BF695671EC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9578" y="4575975"/>
            <a:ext cx="7183966" cy="1383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414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6544" y="23672"/>
            <a:ext cx="10515600" cy="1325563"/>
          </a:xfrm>
        </p:spPr>
        <p:txBody>
          <a:bodyPr/>
          <a:lstStyle/>
          <a:p>
            <a:r>
              <a:rPr lang="en-US" sz="3600" dirty="0"/>
              <a:t>Minimum Spanning Tree Example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08BCBA-303B-165B-EE8B-B0511DBA9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53552"/>
            <a:ext cx="9220674" cy="36260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EA080A-0C04-4132-8617-A42728B59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344" y="1035234"/>
            <a:ext cx="5291668" cy="2631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468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694" y="1"/>
            <a:ext cx="10515600" cy="1163256"/>
          </a:xfrm>
        </p:spPr>
        <p:txBody>
          <a:bodyPr/>
          <a:lstStyle/>
          <a:p>
            <a:r>
              <a:rPr lang="en-US" sz="3600" dirty="0"/>
              <a:t>Two Algorithms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4090" y="1392863"/>
            <a:ext cx="9595090" cy="4417628"/>
          </a:xfrm>
        </p:spPr>
        <p:txBody>
          <a:bodyPr>
            <a:noAutofit/>
          </a:bodyPr>
          <a:lstStyle/>
          <a:p>
            <a:pPr>
              <a:buClr>
                <a:srgbClr val="002060"/>
              </a:buClr>
            </a:pPr>
            <a:r>
              <a:rPr lang="en-US" sz="2400" dirty="0"/>
              <a:t>For solving the minimum spanning-</a:t>
            </a:r>
            <a:r>
              <a:rPr lang="sv-SE" sz="2400" dirty="0"/>
              <a:t>tree problem</a:t>
            </a:r>
          </a:p>
          <a:p>
            <a:pPr lvl="1">
              <a:buClr>
                <a:srgbClr val="002060"/>
              </a:buClr>
            </a:pPr>
            <a:r>
              <a:rPr lang="sv-SE" dirty="0"/>
              <a:t>Kruskal’s algorithm</a:t>
            </a:r>
          </a:p>
          <a:p>
            <a:pPr lvl="1">
              <a:buClr>
                <a:srgbClr val="002060"/>
              </a:buClr>
            </a:pPr>
            <a:r>
              <a:rPr lang="sv-SE" dirty="0"/>
              <a:t>Prim’s algorithm</a:t>
            </a:r>
          </a:p>
          <a:p>
            <a:pPr>
              <a:buClr>
                <a:srgbClr val="002060"/>
              </a:buClr>
            </a:pPr>
            <a:r>
              <a:rPr lang="sv-SE" sz="2400" dirty="0"/>
              <a:t>These are greedy algorithms</a:t>
            </a:r>
          </a:p>
          <a:p>
            <a:pPr lvl="1">
              <a:buClr>
                <a:srgbClr val="002060"/>
              </a:buClr>
            </a:pPr>
            <a:r>
              <a:rPr lang="en-US" sz="2200" dirty="0"/>
              <a:t>The greedy strategy advocates making the choice that is the best at the moment</a:t>
            </a:r>
          </a:p>
          <a:p>
            <a:pPr lvl="1">
              <a:buClr>
                <a:srgbClr val="002060"/>
              </a:buClr>
            </a:pPr>
            <a:r>
              <a:rPr lang="en-US" sz="2200" dirty="0"/>
              <a:t>Such a strategy does not generally guarantee that it will always find globally optimal solutions</a:t>
            </a:r>
          </a:p>
          <a:p>
            <a:pPr lvl="1">
              <a:buClr>
                <a:srgbClr val="002060"/>
              </a:buClr>
            </a:pPr>
            <a:r>
              <a:rPr lang="en-US" sz="2200" dirty="0"/>
              <a:t>Certain greedy strategies do yield a spanning tree with minimum weight</a:t>
            </a:r>
          </a:p>
        </p:txBody>
      </p:sp>
    </p:spTree>
    <p:extLst>
      <p:ext uri="{BB962C8B-B14F-4D97-AF65-F5344CB8AC3E}">
        <p14:creationId xmlns:p14="http://schemas.microsoft.com/office/powerpoint/2010/main" val="1777101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7056" y="0"/>
            <a:ext cx="10515600" cy="1203767"/>
          </a:xfrm>
        </p:spPr>
        <p:txBody>
          <a:bodyPr/>
          <a:lstStyle/>
          <a:p>
            <a:r>
              <a:rPr lang="en-US" sz="3600" dirty="0"/>
              <a:t>Kruskal’s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649" y="1587031"/>
            <a:ext cx="8935154" cy="4195481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</a:pPr>
            <a:r>
              <a:rPr lang="en-US" sz="2400" dirty="0"/>
              <a:t>The set A is a forest whose vertices are all those of the given graph. </a:t>
            </a:r>
          </a:p>
          <a:p>
            <a:pPr>
              <a:buClr>
                <a:srgbClr val="002060"/>
              </a:buClr>
            </a:pPr>
            <a:r>
              <a:rPr lang="en-US" sz="2400" dirty="0"/>
              <a:t>The safe edge added to A is always a least-weight edge in the graph that connects two distinct components.</a:t>
            </a:r>
          </a:p>
        </p:txBody>
      </p:sp>
    </p:spTree>
    <p:extLst>
      <p:ext uri="{BB962C8B-B14F-4D97-AF65-F5344CB8AC3E}">
        <p14:creationId xmlns:p14="http://schemas.microsoft.com/office/powerpoint/2010/main" val="3816187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1268" y="522"/>
            <a:ext cx="10515600" cy="1261119"/>
          </a:xfrm>
        </p:spPr>
        <p:txBody>
          <a:bodyPr/>
          <a:lstStyle/>
          <a:p>
            <a:r>
              <a:rPr lang="en-US" sz="3600" dirty="0"/>
              <a:t>Kruskal’s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2394" y="1585638"/>
            <a:ext cx="8830963" cy="4304483"/>
          </a:xfrm>
        </p:spPr>
        <p:txBody>
          <a:bodyPr/>
          <a:lstStyle/>
          <a:p>
            <a:pPr>
              <a:buClr>
                <a:srgbClr val="002060"/>
              </a:buClr>
            </a:pPr>
            <a:r>
              <a:rPr lang="en-US" sz="2400" dirty="0"/>
              <a:t>Find a safe edge to add to the growing forest by finding, of all the edges that connect any two trees in the forest, an edge (u, v) of least weight.</a:t>
            </a:r>
          </a:p>
          <a:p>
            <a:pPr>
              <a:buClr>
                <a:srgbClr val="002060"/>
              </a:buClr>
            </a:pPr>
            <a:r>
              <a:rPr lang="en-US" sz="2400" dirty="0"/>
              <a:t>Qualifies as a greedy algorithm because at each step it adds to the forest an edge of least possible weight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63317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481" y="-20874"/>
            <a:ext cx="10515600" cy="1248180"/>
          </a:xfrm>
        </p:spPr>
        <p:txBody>
          <a:bodyPr/>
          <a:lstStyle/>
          <a:p>
            <a:r>
              <a:rPr lang="en-US" sz="3600" dirty="0"/>
              <a:t>Kruskal’s Algorithm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DF0AE5-D7DC-4F52-9F78-D16623AEF9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441" y="1227306"/>
            <a:ext cx="6665408" cy="1804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EC9351-557D-28FF-D3E4-68663335E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39" y="3227247"/>
            <a:ext cx="4464279" cy="221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19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481" y="-20874"/>
            <a:ext cx="10515600" cy="1248180"/>
          </a:xfrm>
        </p:spPr>
        <p:txBody>
          <a:bodyPr/>
          <a:lstStyle/>
          <a:p>
            <a:r>
              <a:rPr lang="en-US" sz="3600" dirty="0"/>
              <a:t>Kruskal’s Algorithm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ECA83D-1F7D-42F8-AAA9-DC304875F267}"/>
              </a:ext>
            </a:extLst>
          </p:cNvPr>
          <p:cNvSpPr/>
          <p:nvPr/>
        </p:nvSpPr>
        <p:spPr>
          <a:xfrm>
            <a:off x="6617753" y="1176673"/>
            <a:ext cx="5096167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C3C3C"/>
                </a:solidFill>
                <a:latin typeface="Roboto"/>
              </a:rPr>
              <a:t>Determine whether two vertices u and v belong to the same tree by testing whether FIND-SET(u) equals FIND-SET(v).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Roboto"/>
              </a:rPr>
              <a:t>To combine trees, </a:t>
            </a:r>
            <a:r>
              <a:rPr lang="en-US" sz="1600" dirty="0" err="1">
                <a:latin typeface="Roboto"/>
              </a:rPr>
              <a:t>Kruskal’s</a:t>
            </a:r>
            <a:r>
              <a:rPr lang="en-US" sz="1600" dirty="0">
                <a:latin typeface="Roboto"/>
              </a:rPr>
              <a:t> algorithm calls the UNION procedure.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4FC3CDBF-A8D1-48D0-91D5-D6528435C5E0}"/>
                  </a:ext>
                </a:extLst>
              </p14:cNvPr>
              <p14:cNvContentPartPr/>
              <p14:nvPr/>
            </p14:nvContentPartPr>
            <p14:xfrm>
              <a:off x="9750113" y="331753"/>
              <a:ext cx="9360" cy="72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4FC3CDBF-A8D1-48D0-91D5-D6528435C5E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45793" y="327433"/>
                <a:ext cx="18000" cy="1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91947911-A662-4510-AA3D-B8321E8C0ACE}"/>
                  </a:ext>
                </a:extLst>
              </p14:cNvPr>
              <p14:cNvContentPartPr/>
              <p14:nvPr/>
            </p14:nvContentPartPr>
            <p14:xfrm>
              <a:off x="6617753" y="1653313"/>
              <a:ext cx="3600" cy="1044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91947911-A662-4510-AA3D-B8321E8C0AC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13433" y="1648993"/>
                <a:ext cx="1224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7E44B213-3C49-4014-B53E-F11F93D72E20}"/>
                  </a:ext>
                </a:extLst>
              </p14:cNvPr>
              <p14:cNvContentPartPr/>
              <p14:nvPr/>
            </p14:nvContentPartPr>
            <p14:xfrm>
              <a:off x="9069353" y="455593"/>
              <a:ext cx="2160" cy="324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7E44B213-3C49-4014-B53E-F11F93D72E2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065033" y="451273"/>
                <a:ext cx="10800" cy="1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E5D85654-E9DB-4BF3-98C6-D310B864875E}"/>
                  </a:ext>
                </a:extLst>
              </p14:cNvPr>
              <p14:cNvContentPartPr/>
              <p14:nvPr/>
            </p14:nvContentPartPr>
            <p14:xfrm>
              <a:off x="6214553" y="3777673"/>
              <a:ext cx="360" cy="36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E5D85654-E9DB-4BF3-98C6-D310B864875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210233" y="3773353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14254B2C-49EF-4BAB-A6BC-9F196DAB4BAA}"/>
                  </a:ext>
                </a:extLst>
              </p14:cNvPr>
              <p14:cNvContentPartPr/>
              <p14:nvPr/>
            </p14:nvContentPartPr>
            <p14:xfrm>
              <a:off x="8966753" y="1159753"/>
              <a:ext cx="13680" cy="1692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14254B2C-49EF-4BAB-A6BC-9F196DAB4BA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962433" y="1155433"/>
                <a:ext cx="2232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018696D2-4503-4D77-B53B-B1D25FCACB5C}"/>
                  </a:ext>
                </a:extLst>
              </p14:cNvPr>
              <p14:cNvContentPartPr/>
              <p14:nvPr/>
            </p14:nvContentPartPr>
            <p14:xfrm>
              <a:off x="11579993" y="3555553"/>
              <a:ext cx="2160" cy="288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018696D2-4503-4D77-B53B-B1D25FCACB5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575673" y="3551233"/>
                <a:ext cx="10800" cy="1152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31FBD704-42FD-DC53-1CB7-C45A7668A9D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9400" y="1064067"/>
            <a:ext cx="6041628" cy="26547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494C68-106C-EC0D-362C-24231B2A34D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5124" y="4005289"/>
            <a:ext cx="4464279" cy="221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298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7EE466-CA4C-0A84-F403-2672E0B92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682" y="0"/>
            <a:ext cx="84166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992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983AC1-D442-5691-F197-EA2F9C722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318" y="1"/>
            <a:ext cx="9220261" cy="657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108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7B94D-E9EF-4AD1-8565-A304C6271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693" y="1"/>
            <a:ext cx="10515600" cy="1178856"/>
          </a:xfrm>
        </p:spPr>
        <p:txBody>
          <a:bodyPr/>
          <a:lstStyle/>
          <a:p>
            <a:r>
              <a:rPr lang="en-US" sz="3600" dirty="0" err="1"/>
              <a:t>Kruskal’s</a:t>
            </a:r>
            <a:r>
              <a:rPr lang="en-US" sz="3600" dirty="0"/>
              <a:t> Algorithm Analysis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57FAFF-F64C-4E2F-A50C-4BC03E132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610" y="4590311"/>
            <a:ext cx="5137954" cy="13056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1B59F77-BE30-BFDC-CFD2-2320B9274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3610" y="1178857"/>
            <a:ext cx="7323000" cy="321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147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7B94D-E9EF-4AD1-8565-A304C6271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693" y="1"/>
            <a:ext cx="10515600" cy="1178856"/>
          </a:xfrm>
        </p:spPr>
        <p:txBody>
          <a:bodyPr/>
          <a:lstStyle/>
          <a:p>
            <a:r>
              <a:rPr lang="en-US" sz="3600" dirty="0" err="1"/>
              <a:t>Kruskal’s</a:t>
            </a:r>
            <a:r>
              <a:rPr lang="en-US" sz="3600" dirty="0"/>
              <a:t> Algorithm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B8E4D-1C3F-4B06-90D1-93B068F15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200" y="1564104"/>
            <a:ext cx="10086835" cy="4310295"/>
          </a:xfrm>
        </p:spPr>
        <p:txBody>
          <a:bodyPr>
            <a:normAutofit fontScale="85000" lnSpcReduction="20000"/>
          </a:bodyPr>
          <a:lstStyle/>
          <a:p>
            <a:pPr>
              <a:buClr>
                <a:srgbClr val="002060"/>
              </a:buClr>
            </a:pPr>
            <a:r>
              <a:rPr lang="en-US" sz="2400" dirty="0"/>
              <a:t>Lines 2–3 initialize the set A to the empty set and create |V| trees, one containing each vertex. </a:t>
            </a:r>
            <a:r>
              <a:rPr lang="en-US" sz="2400" b="1" i="1" dirty="0"/>
              <a:t>O(V)</a:t>
            </a:r>
            <a:endParaRPr lang="en-US" sz="2400" dirty="0"/>
          </a:p>
          <a:p>
            <a:pPr>
              <a:buClr>
                <a:srgbClr val="002060"/>
              </a:buClr>
            </a:pPr>
            <a:r>
              <a:rPr lang="en-US" sz="2400" dirty="0"/>
              <a:t>The time to sort the edges in line 5 is </a:t>
            </a:r>
            <a:r>
              <a:rPr lang="en-US" sz="2400" b="1" i="1" dirty="0"/>
              <a:t>O(E lg E) </a:t>
            </a:r>
          </a:p>
          <a:p>
            <a:pPr>
              <a:buClr>
                <a:srgbClr val="002060"/>
              </a:buClr>
            </a:pPr>
            <a:r>
              <a:rPr lang="en-US" sz="2400" dirty="0"/>
              <a:t>The </a:t>
            </a:r>
            <a:r>
              <a:rPr lang="en-US" sz="2400" b="1" dirty="0"/>
              <a:t>for </a:t>
            </a:r>
            <a:r>
              <a:rPr lang="en-US" sz="2400" dirty="0"/>
              <a:t>loop in lines 6–8 examines edges in order of weight, from lowest to highest. </a:t>
            </a:r>
            <a:r>
              <a:rPr lang="en-US" sz="2400" b="1" i="1" dirty="0"/>
              <a:t>O(E )</a:t>
            </a:r>
            <a:endParaRPr lang="en-US" sz="2400" dirty="0"/>
          </a:p>
          <a:p>
            <a:pPr lvl="1">
              <a:buClr>
                <a:srgbClr val="002060"/>
              </a:buClr>
            </a:pPr>
            <a:r>
              <a:rPr lang="en-US" sz="2200" dirty="0"/>
              <a:t>The loop checks, for each edge (u, v), whether the endpoints u and v belong to the same tree. </a:t>
            </a:r>
          </a:p>
          <a:p>
            <a:pPr lvl="1">
              <a:buClr>
                <a:srgbClr val="002060"/>
              </a:buClr>
            </a:pPr>
            <a:r>
              <a:rPr lang="en-US" sz="2200" dirty="0"/>
              <a:t>If they do, then the edge (u, v) cannot be added to the forest without creating a cycle, and the edge is discarded. </a:t>
            </a:r>
          </a:p>
          <a:p>
            <a:pPr lvl="1">
              <a:buClr>
                <a:srgbClr val="002060"/>
              </a:buClr>
            </a:pPr>
            <a:r>
              <a:rPr lang="en-US" sz="2200" dirty="0"/>
              <a:t>Otherwise, the two vertices belong to different trees. In this case, line 8 adds the edge (u, v) to A, and line 9 merges the vertices in the two trees.</a:t>
            </a:r>
          </a:p>
          <a:p>
            <a:pPr>
              <a:buClr>
                <a:srgbClr val="002060"/>
              </a:buClr>
            </a:pPr>
            <a:r>
              <a:rPr lang="en-US" sz="2400" dirty="0"/>
              <a:t>The </a:t>
            </a:r>
            <a:r>
              <a:rPr lang="en-US" sz="2400" dirty="0">
                <a:latin typeface="Vollkorn" panose="02000503070000020003"/>
              </a:rPr>
              <a:t>running time of the </a:t>
            </a:r>
            <a:r>
              <a:rPr lang="en-US" sz="2400" dirty="0" err="1">
                <a:latin typeface="Vollkorn" panose="02000503070000020003"/>
              </a:rPr>
              <a:t>Kruskal’s</a:t>
            </a:r>
            <a:r>
              <a:rPr lang="en-US" sz="2400" dirty="0">
                <a:latin typeface="Vollkorn" panose="02000503070000020003"/>
              </a:rPr>
              <a:t> algorithm</a:t>
            </a:r>
          </a:p>
          <a:p>
            <a:pPr lvl="1">
              <a:buClr>
                <a:srgbClr val="002060"/>
              </a:buClr>
            </a:pPr>
            <a:r>
              <a:rPr lang="en-US" b="1" i="1" dirty="0">
                <a:latin typeface="Vollkorn" panose="02000503070000020003"/>
              </a:rPr>
              <a:t>O(V)  +  O(E lg E)  +  O(E )   = O(E lg E) </a:t>
            </a:r>
          </a:p>
          <a:p>
            <a:pPr>
              <a:buClr>
                <a:srgbClr val="002060"/>
              </a:buClr>
            </a:pPr>
            <a:r>
              <a:rPr lang="en-US" sz="2400" i="1" dirty="0">
                <a:latin typeface="Vollkorn" panose="02000503070000020003"/>
              </a:rPr>
              <a:t>With a complete graph, |E| &lt; |</a:t>
            </a:r>
            <a:r>
              <a:rPr lang="en-US" sz="2400" i="1" kern="100" dirty="0">
                <a:effectLst/>
                <a:latin typeface="Vollkorn" panose="02000503070000020003"/>
                <a:ea typeface="Malgun Gothic" panose="020B0503020000020004" pitchFamily="34" charset="-127"/>
                <a:cs typeface="Times New Roman" panose="02020603050405020304" pitchFamily="18" charset="0"/>
              </a:rPr>
              <a:t> V</a:t>
            </a:r>
            <a:r>
              <a:rPr lang="en-US" sz="2400" i="1" kern="100" baseline="30000" dirty="0">
                <a:effectLst/>
                <a:latin typeface="Vollkorn" panose="02000503070000020003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  <a:r>
              <a:rPr lang="en-US" sz="2400" i="1" dirty="0">
                <a:latin typeface="Vollkorn" panose="02000503070000020003"/>
              </a:rPr>
              <a:t>|</a:t>
            </a: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i="1" kern="100" dirty="0">
                <a:effectLst/>
                <a:latin typeface="Vollkorn" panose="02000503070000020003"/>
                <a:ea typeface="Malgun Gothic" panose="020B0503020000020004" pitchFamily="34" charset="-127"/>
                <a:cs typeface="Times New Roman" panose="02020603050405020304" pitchFamily="18" charset="0"/>
              </a:rPr>
              <a:t>|E| &lt; |V</a:t>
            </a:r>
            <a:r>
              <a:rPr lang="en-US" i="1" kern="100" baseline="30000" dirty="0">
                <a:effectLst/>
                <a:latin typeface="Vollkorn" panose="02000503070000020003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  <a:r>
              <a:rPr lang="en-US" i="1" kern="100" dirty="0">
                <a:effectLst/>
                <a:latin typeface="Vollkorn" panose="02000503070000020003"/>
                <a:ea typeface="Malgun Gothic" panose="020B0503020000020004" pitchFamily="34" charset="-127"/>
                <a:cs typeface="Times New Roman" panose="02020603050405020304" pitchFamily="18" charset="0"/>
              </a:rPr>
              <a:t>|, </a:t>
            </a:r>
            <a:r>
              <a:rPr lang="en-US" i="1" kern="100" dirty="0" err="1">
                <a:effectLst/>
                <a:latin typeface="Vollkorn" panose="02000503070000020003"/>
                <a:ea typeface="Malgun Gothic" panose="020B0503020000020004" pitchFamily="34" charset="-127"/>
                <a:cs typeface="Times New Roman" panose="02020603050405020304" pitchFamily="18" charset="0"/>
              </a:rPr>
              <a:t>log|E</a:t>
            </a:r>
            <a:r>
              <a:rPr lang="en-US" i="1" kern="100" dirty="0">
                <a:effectLst/>
                <a:latin typeface="Vollkorn" panose="02000503070000020003"/>
                <a:ea typeface="Malgun Gothic" panose="020B0503020000020004" pitchFamily="34" charset="-127"/>
                <a:cs typeface="Times New Roman" panose="02020603050405020304" pitchFamily="18" charset="0"/>
              </a:rPr>
              <a:t>| &lt; log|V</a:t>
            </a:r>
            <a:r>
              <a:rPr lang="en-US" i="1" kern="100" baseline="30000" dirty="0">
                <a:effectLst/>
                <a:latin typeface="Vollkorn" panose="02000503070000020003"/>
                <a:ea typeface="Malgun Gothic" panose="020B0503020000020004" pitchFamily="34" charset="-127"/>
                <a:cs typeface="Times New Roman" panose="02020603050405020304" pitchFamily="18" charset="0"/>
              </a:rPr>
              <a:t>2</a:t>
            </a:r>
            <a:r>
              <a:rPr lang="en-US" i="1" kern="100" dirty="0">
                <a:effectLst/>
                <a:latin typeface="Vollkorn" panose="02000503070000020003"/>
                <a:ea typeface="Malgun Gothic" panose="020B0503020000020004" pitchFamily="34" charset="-127"/>
                <a:cs typeface="Times New Roman" panose="02020603050405020304" pitchFamily="18" charset="0"/>
              </a:rPr>
              <a:t>|, </a:t>
            </a:r>
            <a:r>
              <a:rPr lang="en-US" kern="100" dirty="0">
                <a:effectLst/>
                <a:latin typeface="Vollkorn" panose="02000503070000020003"/>
                <a:ea typeface="Malgun Gothic" panose="020B0503020000020004" pitchFamily="34" charset="-127"/>
                <a:cs typeface="Times New Roman" panose="02020603050405020304" pitchFamily="18" charset="0"/>
              </a:rPr>
              <a:t>O(</a:t>
            </a:r>
            <a:r>
              <a:rPr lang="en-US" kern="100" dirty="0" err="1">
                <a:effectLst/>
                <a:latin typeface="Vollkorn" panose="02000503070000020003"/>
                <a:ea typeface="Malgun Gothic" panose="020B0503020000020004" pitchFamily="34" charset="-127"/>
                <a:cs typeface="Times New Roman" panose="02020603050405020304" pitchFamily="18" charset="0"/>
              </a:rPr>
              <a:t>logE</a:t>
            </a:r>
            <a:r>
              <a:rPr lang="en-US" kern="100" dirty="0">
                <a:effectLst/>
                <a:latin typeface="Vollkorn" panose="02000503070000020003"/>
                <a:ea typeface="Malgun Gothic" panose="020B0503020000020004" pitchFamily="34" charset="-127"/>
                <a:cs typeface="Times New Roman" panose="02020603050405020304" pitchFamily="18" charset="0"/>
              </a:rPr>
              <a:t>) &lt; O(2logV), O(</a:t>
            </a:r>
            <a:r>
              <a:rPr lang="en-US" kern="100" dirty="0" err="1">
                <a:effectLst/>
                <a:latin typeface="Vollkorn" panose="02000503070000020003"/>
                <a:ea typeface="Malgun Gothic" panose="020B0503020000020004" pitchFamily="34" charset="-127"/>
                <a:cs typeface="Times New Roman" panose="02020603050405020304" pitchFamily="18" charset="0"/>
              </a:rPr>
              <a:t>logE</a:t>
            </a:r>
            <a:r>
              <a:rPr lang="en-US" kern="100" dirty="0">
                <a:effectLst/>
                <a:latin typeface="Vollkorn" panose="02000503070000020003"/>
                <a:ea typeface="Malgun Gothic" panose="020B0503020000020004" pitchFamily="34" charset="-127"/>
                <a:cs typeface="Times New Roman" panose="02020603050405020304" pitchFamily="18" charset="0"/>
              </a:rPr>
              <a:t>) ≈ O(</a:t>
            </a:r>
            <a:r>
              <a:rPr lang="en-US" kern="100" dirty="0" err="1">
                <a:effectLst/>
                <a:latin typeface="Vollkorn" panose="02000503070000020003"/>
                <a:ea typeface="Malgun Gothic" panose="020B0503020000020004" pitchFamily="34" charset="-127"/>
                <a:cs typeface="Times New Roman" panose="02020603050405020304" pitchFamily="18" charset="0"/>
              </a:rPr>
              <a:t>logV</a:t>
            </a:r>
            <a:r>
              <a:rPr lang="en-US" kern="100" dirty="0">
                <a:effectLst/>
                <a:latin typeface="Vollkorn" panose="02000503070000020003"/>
                <a:ea typeface="Malgun Gothic" panose="020B0503020000020004" pitchFamily="34" charset="-127"/>
                <a:cs typeface="Times New Roman" panose="02020603050405020304" pitchFamily="18" charset="0"/>
              </a:rPr>
              <a:t>)</a:t>
            </a: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b="1" i="1" dirty="0">
                <a:latin typeface="Vollkorn" panose="02000503070000020003"/>
              </a:rPr>
              <a:t>O(E lg V)</a:t>
            </a:r>
            <a:endParaRPr lang="en-US" kern="100" dirty="0">
              <a:effectLst/>
              <a:latin typeface="Vollkorn" panose="02000503070000020003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lvl="1">
              <a:buClr>
                <a:srgbClr val="002060"/>
              </a:buClr>
            </a:pPr>
            <a:endParaRPr lang="en-US" i="1" dirty="0"/>
          </a:p>
          <a:p>
            <a:pPr lvl="1">
              <a:buClr>
                <a:srgbClr val="002060"/>
              </a:buClr>
            </a:pPr>
            <a:endParaRPr lang="en-US" i="1" dirty="0"/>
          </a:p>
          <a:p>
            <a:pPr lvl="1">
              <a:buClr>
                <a:srgbClr val="002060"/>
              </a:buClr>
            </a:pPr>
            <a:endParaRPr lang="en-US" b="1" i="1" dirty="0"/>
          </a:p>
          <a:p>
            <a:pPr lvl="1">
              <a:buClr>
                <a:srgbClr val="002060"/>
              </a:buClr>
            </a:pPr>
            <a:endParaRPr lang="en-US" dirty="0"/>
          </a:p>
          <a:p>
            <a:pPr lvl="1">
              <a:buClr>
                <a:srgbClr val="002060"/>
              </a:buClr>
            </a:pPr>
            <a:endParaRPr lang="en-US" sz="2000" b="1" i="1" dirty="0"/>
          </a:p>
          <a:p>
            <a:pPr lvl="1">
              <a:buClr>
                <a:srgbClr val="002060"/>
              </a:buClr>
            </a:pPr>
            <a:endParaRPr lang="en-US" sz="2000" dirty="0"/>
          </a:p>
          <a:p>
            <a:pPr lvl="1">
              <a:buClr>
                <a:srgbClr val="002060"/>
              </a:buClr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833600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993" y="1"/>
            <a:ext cx="10515600" cy="1122744"/>
          </a:xfrm>
        </p:spPr>
        <p:txBody>
          <a:bodyPr/>
          <a:lstStyle/>
          <a:p>
            <a:r>
              <a:rPr lang="en-US" sz="3600" dirty="0"/>
              <a:t>Prim’s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8993" y="1462617"/>
            <a:ext cx="8773107" cy="4405748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</a:pPr>
            <a:r>
              <a:rPr lang="en-US" sz="2400" dirty="0"/>
              <a:t>The set A forms a single tree. </a:t>
            </a:r>
          </a:p>
          <a:p>
            <a:pPr>
              <a:buClr>
                <a:srgbClr val="002060"/>
              </a:buClr>
            </a:pPr>
            <a:r>
              <a:rPr lang="en-US" sz="2400" dirty="0"/>
              <a:t>The safe edge added to A is always a least-weight edge connecting the tree to a vertex not in the tree.</a:t>
            </a:r>
          </a:p>
        </p:txBody>
      </p:sp>
    </p:spTree>
    <p:extLst>
      <p:ext uri="{BB962C8B-B14F-4D97-AF65-F5344CB8AC3E}">
        <p14:creationId xmlns:p14="http://schemas.microsoft.com/office/powerpoint/2010/main" val="3296057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993" y="1"/>
            <a:ext cx="10515600" cy="1122744"/>
          </a:xfrm>
        </p:spPr>
        <p:txBody>
          <a:bodyPr/>
          <a:lstStyle/>
          <a:p>
            <a:r>
              <a:rPr lang="en-US" sz="3600" dirty="0"/>
              <a:t>Prim’s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921429" y="38102"/>
                <a:ext cx="7270571" cy="1739899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rgbClr val="002060"/>
                  </a:buClr>
                </a:pPr>
                <a:r>
                  <a:rPr lang="en-US" sz="1800" dirty="0"/>
                  <a:t>All vertices in a min-priority queue Q based on a key attribute (Min Heap Tree).</a:t>
                </a:r>
              </a:p>
              <a:p>
                <a:pPr>
                  <a:buClr>
                    <a:srgbClr val="002060"/>
                  </a:buClr>
                </a:pPr>
                <a:r>
                  <a:rPr lang="en-US" sz="1800" dirty="0"/>
                  <a:t>For each vertex, the attribute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𝑘𝑒𝑦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is the minimum weight of an edge connecting to a vertex in the tree</a:t>
                </a:r>
              </a:p>
              <a:p>
                <a:pPr>
                  <a:buClr>
                    <a:srgbClr val="002060"/>
                  </a:buClr>
                </a:pPr>
                <a:r>
                  <a:rPr lang="en-US" sz="1800" dirty="0"/>
                  <a:t> The attribute </a:t>
                </a:r>
                <a:r>
                  <a:rPr lang="en-US" sz="1800" i="1" dirty="0"/>
                  <a:t>v.</a:t>
                </a:r>
                <a:r>
                  <a:rPr lang="el-GR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π</a:t>
                </a:r>
                <a:r>
                  <a:rPr lang="en-US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/>
                  <a:t>names the parent.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21429" y="38102"/>
                <a:ext cx="7270571" cy="1739899"/>
              </a:xfrm>
              <a:blipFill>
                <a:blip r:embed="rId2"/>
                <a:stretch>
                  <a:fillRect l="-503" t="-31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4147AEDB-F961-21A2-0368-4A4C0064E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166" y="1355355"/>
            <a:ext cx="8445934" cy="48834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3161481-1B20-B8DD-C11B-75F55E2857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0292" y="2181523"/>
            <a:ext cx="4369025" cy="188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5244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481" y="0"/>
            <a:ext cx="10515600" cy="1255853"/>
          </a:xfrm>
        </p:spPr>
        <p:txBody>
          <a:bodyPr/>
          <a:lstStyle/>
          <a:p>
            <a:r>
              <a:rPr lang="en-US" sz="3600" dirty="0"/>
              <a:t>Prim’s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788" y="1468310"/>
            <a:ext cx="9434622" cy="4475290"/>
          </a:xfrm>
        </p:spPr>
        <p:txBody>
          <a:bodyPr>
            <a:normAutofit fontScale="92500" lnSpcReduction="10000"/>
          </a:bodyPr>
          <a:lstStyle/>
          <a:p>
            <a:pPr>
              <a:buClr>
                <a:srgbClr val="002060"/>
              </a:buClr>
            </a:pPr>
            <a:r>
              <a:rPr lang="en-US" dirty="0"/>
              <a:t>Operates much like Dijkstra’s algorithm for finding the shortest paths in a graph.</a:t>
            </a:r>
          </a:p>
          <a:p>
            <a:pPr>
              <a:buClr>
                <a:srgbClr val="002060"/>
              </a:buClr>
            </a:pPr>
            <a:r>
              <a:rPr lang="en-US" dirty="0"/>
              <a:t>The tree starts from a root vertex r and grows until the tree spans all the vertices in V.</a:t>
            </a:r>
          </a:p>
          <a:p>
            <a:pPr>
              <a:buClr>
                <a:srgbClr val="002060"/>
              </a:buClr>
            </a:pPr>
            <a:r>
              <a:rPr lang="en-US" dirty="0"/>
              <a:t>Each step adds to the tree A </a:t>
            </a:r>
            <a:r>
              <a:rPr lang="en-US" dirty="0" err="1"/>
              <a:t>a</a:t>
            </a:r>
            <a:r>
              <a:rPr lang="en-US" dirty="0"/>
              <a:t> light edge that connects A to an isolated vertex</a:t>
            </a:r>
          </a:p>
          <a:p>
            <a:pPr>
              <a:buClr>
                <a:srgbClr val="002060"/>
              </a:buClr>
            </a:pPr>
            <a:r>
              <a:rPr lang="en-US" dirty="0"/>
              <a:t>This rule adds only edges that are safe for A; therefore, when the algorithm terminates, the edges in A form a minimum spanning tree. </a:t>
            </a:r>
          </a:p>
          <a:p>
            <a:pPr>
              <a:buClr>
                <a:srgbClr val="002060"/>
              </a:buClr>
            </a:pPr>
            <a:r>
              <a:rPr lang="en-US" dirty="0"/>
              <a:t>This strategy qualifies as greedy since at each step it adds to the tree an edge that contributes the minimum amount possible to the tree’s weight.</a:t>
            </a:r>
          </a:p>
        </p:txBody>
      </p:sp>
    </p:spTree>
    <p:extLst>
      <p:ext uri="{BB962C8B-B14F-4D97-AF65-F5344CB8AC3E}">
        <p14:creationId xmlns:p14="http://schemas.microsoft.com/office/powerpoint/2010/main" val="17068398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1268" y="1"/>
            <a:ext cx="10515600" cy="1192192"/>
          </a:xfrm>
        </p:spPr>
        <p:txBody>
          <a:bodyPr/>
          <a:lstStyle/>
          <a:p>
            <a:r>
              <a:rPr lang="en-US" sz="3600" dirty="0"/>
              <a:t>Prim’s Algorithm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D2F1CB2-0512-3116-9031-6DF859BCCB6F}"/>
                  </a:ext>
                </a:extLst>
              </p14:cNvPr>
              <p14:cNvContentPartPr/>
              <p14:nvPr/>
            </p14:nvContentPartPr>
            <p14:xfrm>
              <a:off x="1890010" y="2058931"/>
              <a:ext cx="7920" cy="7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2D2F1CB2-0512-3116-9031-6DF859BCCB6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85690" y="2054611"/>
                <a:ext cx="16560" cy="936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F5C72E25-A51D-DD62-1D9B-CFECFD47EC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3098" y="972587"/>
            <a:ext cx="9785803" cy="588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0443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8119" y="1"/>
            <a:ext cx="10515600" cy="1197980"/>
          </a:xfrm>
        </p:spPr>
        <p:txBody>
          <a:bodyPr/>
          <a:lstStyle/>
          <a:p>
            <a:r>
              <a:rPr lang="en-US" sz="3600" dirty="0"/>
              <a:t>Prim’s Algorithm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074EF4-30CB-55EC-8F49-D3B725241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04" y="1322929"/>
            <a:ext cx="8796859" cy="5249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6222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993" y="1"/>
            <a:ext cx="10515600" cy="1122744"/>
          </a:xfrm>
        </p:spPr>
        <p:txBody>
          <a:bodyPr/>
          <a:lstStyle/>
          <a:p>
            <a:r>
              <a:rPr lang="en-US" sz="3600" dirty="0"/>
              <a:t>Prim’s Algorithm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2988" y="1250117"/>
            <a:ext cx="5071475" cy="4782468"/>
          </a:xfrm>
        </p:spPr>
        <p:txBody>
          <a:bodyPr>
            <a:normAutofit/>
          </a:bodyPr>
          <a:lstStyle/>
          <a:p>
            <a:r>
              <a:rPr lang="en-US" sz="2000" dirty="0"/>
              <a:t>The running time of Prim’s algorithm depends on how we implement the min-priority queue Q</a:t>
            </a:r>
          </a:p>
          <a:p>
            <a:r>
              <a:rPr lang="en-US" sz="2000" dirty="0"/>
              <a:t>If we implement Q as a binary min-heap, the total time to create the Q in line 9 and for all calls to EXTRACT-MIN  is </a:t>
            </a:r>
            <a:r>
              <a:rPr lang="en-US" sz="2000" b="1" i="1" dirty="0"/>
              <a:t>O(V lg V)</a:t>
            </a:r>
          </a:p>
          <a:p>
            <a:r>
              <a:rPr lang="en-US" sz="2000" dirty="0"/>
              <a:t>The for loop in lines 10–14 executes </a:t>
            </a:r>
            <a:r>
              <a:rPr lang="en-US" sz="2000" b="1" i="1" dirty="0"/>
              <a:t>O(E)</a:t>
            </a:r>
          </a:p>
          <a:p>
            <a:pPr lvl="1"/>
            <a:r>
              <a:rPr lang="en-US" sz="2000" dirty="0"/>
              <a:t>The assignment in line 14 involves an implicit DECREASE-KEY operation on the min-heap, which a binary min-heap supports in </a:t>
            </a:r>
            <a:r>
              <a:rPr lang="en-US" sz="2000" b="1" i="1" dirty="0"/>
              <a:t>O(lg V) </a:t>
            </a:r>
            <a:r>
              <a:rPr lang="en-US" sz="2000" dirty="0"/>
              <a:t>time. </a:t>
            </a:r>
          </a:p>
          <a:p>
            <a:r>
              <a:rPr lang="en-US" sz="2000" dirty="0"/>
              <a:t>The total time for Prim’s algorithm is </a:t>
            </a:r>
            <a:br>
              <a:rPr lang="en-US" sz="2000" dirty="0"/>
            </a:br>
            <a:r>
              <a:rPr lang="en-US" sz="2000" b="1" i="1" dirty="0"/>
              <a:t>O(V </a:t>
            </a:r>
            <a:r>
              <a:rPr lang="en-US" sz="2000" b="1" i="1" dirty="0" err="1"/>
              <a:t>lg</a:t>
            </a:r>
            <a:r>
              <a:rPr lang="en-US" sz="2000" b="1" i="1" dirty="0"/>
              <a:t> V + E </a:t>
            </a:r>
            <a:r>
              <a:rPr lang="en-US" sz="2000" b="1" i="1" dirty="0" err="1"/>
              <a:t>lg</a:t>
            </a:r>
            <a:r>
              <a:rPr lang="en-US" sz="2000" b="1" i="1" dirty="0"/>
              <a:t> V) </a:t>
            </a:r>
            <a:r>
              <a:rPr lang="en-US" sz="2000" dirty="0"/>
              <a:t>= </a:t>
            </a:r>
            <a:r>
              <a:rPr lang="en-US" sz="2000" b="1" i="1" dirty="0"/>
              <a:t>O(E </a:t>
            </a:r>
            <a:r>
              <a:rPr lang="en-US" sz="2000" b="1" i="1" dirty="0" err="1"/>
              <a:t>lg</a:t>
            </a:r>
            <a:r>
              <a:rPr lang="en-US" sz="2000" b="1" i="1" dirty="0"/>
              <a:t> V)</a:t>
            </a:r>
            <a:r>
              <a:rPr lang="en-US" sz="2000" dirty="0"/>
              <a:t>.</a:t>
            </a:r>
            <a:endParaRPr lang="en-US" sz="2000" dirty="0"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1720A6-2ACC-8DF7-F0A7-A8EB83955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37" y="1122744"/>
            <a:ext cx="5528674" cy="468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17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AMUSA PPT Color">
      <a:dk1>
        <a:srgbClr val="000000"/>
      </a:dk1>
      <a:lt1>
        <a:srgbClr val="FFFFFF"/>
      </a:lt1>
      <a:dk2>
        <a:srgbClr val="83888B"/>
      </a:dk2>
      <a:lt2>
        <a:srgbClr val="FFFFFF"/>
      </a:lt2>
      <a:accent1>
        <a:srgbClr val="332E70"/>
      </a:accent1>
      <a:accent2>
        <a:srgbClr val="668586"/>
      </a:accent2>
      <a:accent3>
        <a:srgbClr val="E6B729"/>
      </a:accent3>
      <a:accent4>
        <a:srgbClr val="B9CFD3"/>
      </a:accent4>
      <a:accent5>
        <a:srgbClr val="54849A"/>
      </a:accent5>
      <a:accent6>
        <a:srgbClr val="020000"/>
      </a:accent6>
      <a:hlink>
        <a:srgbClr val="702E3C"/>
      </a:hlink>
      <a:folHlink>
        <a:srgbClr val="46000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8 TAMUSA Template" id="{81250B71-C222-0A43-91FF-929A8BF7632C}" vid="{6EC503B3-3B3A-3D45-9BD1-3527F0E16E3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2018 TAMUSA Template-updated</Template>
  <TotalTime>2326</TotalTime>
  <Words>980</Words>
  <Application>Microsoft Office PowerPoint</Application>
  <PresentationFormat>Widescreen</PresentationFormat>
  <Paragraphs>83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Vollkorn</vt:lpstr>
      <vt:lpstr>Arial</vt:lpstr>
      <vt:lpstr>Calibri</vt:lpstr>
      <vt:lpstr>Cambria Math</vt:lpstr>
      <vt:lpstr>Corbel</vt:lpstr>
      <vt:lpstr>Oswald</vt:lpstr>
      <vt:lpstr>Rage Italic</vt:lpstr>
      <vt:lpstr>Roboto</vt:lpstr>
      <vt:lpstr>Times New Roman</vt:lpstr>
      <vt:lpstr>Office Theme</vt:lpstr>
      <vt:lpstr>CSCI 5343 Algorithms Spring 2025 </vt:lpstr>
      <vt:lpstr>Objectives</vt:lpstr>
      <vt:lpstr>Modeling a Wiring Problem</vt:lpstr>
      <vt:lpstr>Another Problem</vt:lpstr>
      <vt:lpstr>Modeling a Wiring Problem</vt:lpstr>
      <vt:lpstr>Another Problem</vt:lpstr>
      <vt:lpstr>Minimum Spanning Tree Example</vt:lpstr>
      <vt:lpstr>Two Algorithms </vt:lpstr>
      <vt:lpstr>Kruskal’s Algorithm</vt:lpstr>
      <vt:lpstr>Kruskal’s Algorithm</vt:lpstr>
      <vt:lpstr>Kruskal’s Algorithm</vt:lpstr>
      <vt:lpstr>Kruskal’s Algorithm</vt:lpstr>
      <vt:lpstr>PowerPoint Presentation</vt:lpstr>
      <vt:lpstr>PowerPoint Presentation</vt:lpstr>
      <vt:lpstr>Kruskal’s Algorithm Analysis</vt:lpstr>
      <vt:lpstr>Kruskal’s Algorithm Analysis</vt:lpstr>
      <vt:lpstr>Prim’s Algorithm</vt:lpstr>
      <vt:lpstr>Prim’s Algorithm</vt:lpstr>
      <vt:lpstr>Prim’s Algorithm</vt:lpstr>
      <vt:lpstr>Prim’s Algorithm</vt:lpstr>
      <vt:lpstr>Prim’s Algorithm</vt:lpstr>
      <vt:lpstr>Prim’s Algorithm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Fernando Estrada</dc:creator>
  <cp:lastModifiedBy>Jeong Yang</cp:lastModifiedBy>
  <cp:revision>148</cp:revision>
  <cp:lastPrinted>2020-01-21T18:08:03Z</cp:lastPrinted>
  <dcterms:created xsi:type="dcterms:W3CDTF">2018-03-09T22:17:24Z</dcterms:created>
  <dcterms:modified xsi:type="dcterms:W3CDTF">2025-03-31T20:18:52Z</dcterms:modified>
</cp:coreProperties>
</file>