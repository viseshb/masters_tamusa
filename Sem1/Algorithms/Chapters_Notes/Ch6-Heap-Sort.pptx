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92" r:id="rId3"/>
    <p:sldId id="299" r:id="rId4"/>
    <p:sldId id="293" r:id="rId5"/>
    <p:sldId id="300" r:id="rId6"/>
    <p:sldId id="294" r:id="rId7"/>
    <p:sldId id="310" r:id="rId8"/>
    <p:sldId id="313" r:id="rId9"/>
    <p:sldId id="297" r:id="rId10"/>
    <p:sldId id="298" r:id="rId11"/>
    <p:sldId id="301" r:id="rId12"/>
    <p:sldId id="295" r:id="rId13"/>
    <p:sldId id="296" r:id="rId14"/>
    <p:sldId id="311" r:id="rId15"/>
    <p:sldId id="302" r:id="rId16"/>
    <p:sldId id="312" r:id="rId17"/>
    <p:sldId id="288" r:id="rId18"/>
    <p:sldId id="314" r:id="rId19"/>
    <p:sldId id="306" r:id="rId20"/>
    <p:sldId id="308" r:id="rId21"/>
    <p:sldId id="303" r:id="rId22"/>
    <p:sldId id="304" r:id="rId23"/>
    <p:sldId id="305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17" autoAdjust="0"/>
    <p:restoredTop sz="94658"/>
  </p:normalViewPr>
  <p:slideViewPr>
    <p:cSldViewPr snapToGrid="0" snapToObjects="1">
      <p:cViewPr varScale="1">
        <p:scale>
          <a:sx n="119" d="100"/>
          <a:sy n="119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and Computational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6 Heap Sort</a:t>
            </a:r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E2F1-156D-48EB-AC57-2573B4EA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489" y="-10197"/>
            <a:ext cx="6954616" cy="1243520"/>
          </a:xfrm>
        </p:spPr>
        <p:txBody>
          <a:bodyPr/>
          <a:lstStyle/>
          <a:p>
            <a:r>
              <a:rPr lang="en-US" sz="3600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8D4C-7AD3-4D05-97B8-FD6A8ABBE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45" y="1594931"/>
            <a:ext cx="8073815" cy="4195481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200" dirty="0"/>
              <a:t>Understand heap sort and its operations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Understand a heap sort algorithm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Build a heap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Maintain heap properties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Implement priority queues using heap</a:t>
            </a:r>
          </a:p>
          <a:p>
            <a:pPr lvl="1">
              <a:buClr>
                <a:srgbClr val="002060"/>
              </a:buClr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4963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025" y="228138"/>
            <a:ext cx="7055380" cy="694481"/>
          </a:xfrm>
        </p:spPr>
        <p:txBody>
          <a:bodyPr/>
          <a:lstStyle/>
          <a:p>
            <a:r>
              <a:rPr lang="en-US" sz="3600" dirty="0"/>
              <a:t>Heap Data 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060" y="2467014"/>
            <a:ext cx="8600167" cy="390646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5BFC8B-8830-498E-ACD0-A9EEFC6E9A44}"/>
              </a:ext>
            </a:extLst>
          </p:cNvPr>
          <p:cNvSpPr txBox="1">
            <a:spLocks/>
          </p:cNvSpPr>
          <p:nvPr/>
        </p:nvSpPr>
        <p:spPr>
          <a:xfrm>
            <a:off x="1186740" y="1129175"/>
            <a:ext cx="8398859" cy="10475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02060"/>
              </a:buClr>
            </a:pPr>
            <a:r>
              <a:rPr lang="en-US" sz="2200" dirty="0"/>
              <a:t>The </a:t>
            </a:r>
            <a:r>
              <a:rPr lang="en-US" sz="2200" b="1" i="1" dirty="0"/>
              <a:t>(binary) heap </a:t>
            </a:r>
            <a:r>
              <a:rPr lang="en-US" sz="2200" dirty="0"/>
              <a:t>data structure is an array object that we can view as a nearly complete binary tree.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The heap tree is completely filled from the left up to a point.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13E6C-0B7C-6F69-EA92-1BC689BBBE07}"/>
              </a:ext>
            </a:extLst>
          </p:cNvPr>
          <p:cNvSpPr txBox="1"/>
          <p:nvPr/>
        </p:nvSpPr>
        <p:spPr>
          <a:xfrm>
            <a:off x="5991101" y="4945474"/>
            <a:ext cx="6099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https://www.cs.usfca.edu/~galles/visualization/HeapSort.html</a:t>
            </a:r>
          </a:p>
        </p:txBody>
      </p:sp>
    </p:spTree>
    <p:extLst>
      <p:ext uri="{BB962C8B-B14F-4D97-AF65-F5344CB8AC3E}">
        <p14:creationId xmlns:p14="http://schemas.microsoft.com/office/powerpoint/2010/main" val="80524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515" y="0"/>
            <a:ext cx="10515600" cy="1325563"/>
          </a:xfrm>
        </p:spPr>
        <p:txBody>
          <a:bodyPr/>
          <a:lstStyle/>
          <a:p>
            <a:r>
              <a:rPr lang="en-US" sz="3600" dirty="0"/>
              <a:t>Heap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999" y="1555273"/>
            <a:ext cx="9431156" cy="4106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680E0-DE3C-41A2-BAA9-88EA0E573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468" y="2565316"/>
            <a:ext cx="3399741" cy="95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0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272" y="215617"/>
            <a:ext cx="7055380" cy="700265"/>
          </a:xfrm>
        </p:spPr>
        <p:txBody>
          <a:bodyPr/>
          <a:lstStyle/>
          <a:p>
            <a:r>
              <a:rPr lang="en-US" sz="3600" dirty="0"/>
              <a:t>Heapsort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7" y="1115447"/>
            <a:ext cx="8260473" cy="33606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397" y="4225186"/>
            <a:ext cx="4300794" cy="20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20" y="0"/>
            <a:ext cx="10515600" cy="1325563"/>
          </a:xfrm>
        </p:spPr>
        <p:txBody>
          <a:bodyPr/>
          <a:lstStyle/>
          <a:p>
            <a:r>
              <a:rPr lang="en-US" sz="3600" dirty="0"/>
              <a:t>Heap Properties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324" y="1618933"/>
            <a:ext cx="8846916" cy="271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6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11" y="3424192"/>
            <a:ext cx="4015947" cy="1418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39" y="1241061"/>
            <a:ext cx="4473754" cy="2136505"/>
          </a:xfrm>
          <a:prstGeom prst="rect">
            <a:avLst/>
          </a:prstGeom>
        </p:spPr>
      </p:pic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53758" y="1451809"/>
            <a:ext cx="4941119" cy="3542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8442" y="1339121"/>
            <a:ext cx="1970787" cy="235848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88594" y="0"/>
            <a:ext cx="5780835" cy="1194435"/>
          </a:xfrm>
        </p:spPr>
        <p:txBody>
          <a:bodyPr/>
          <a:lstStyle/>
          <a:p>
            <a:r>
              <a:rPr lang="en-US" sz="3600" dirty="0"/>
              <a:t>Heap Sort Algorithm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5FFA30-BE07-7A15-8D9F-C3D20570A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476" y="386354"/>
            <a:ext cx="7231969" cy="672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A96CF4-2610-803E-2D4B-EAF240728AB2}"/>
              </a:ext>
            </a:extLst>
          </p:cNvPr>
          <p:cNvSpPr txBox="1"/>
          <p:nvPr/>
        </p:nvSpPr>
        <p:spPr>
          <a:xfrm>
            <a:off x="769571" y="5432273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https://www.cs.usfca.edu/~galles/visualization/HeapSort.html</a:t>
            </a:r>
          </a:p>
        </p:txBody>
      </p:sp>
    </p:spTree>
    <p:extLst>
      <p:ext uri="{BB962C8B-B14F-4D97-AF65-F5344CB8AC3E}">
        <p14:creationId xmlns:p14="http://schemas.microsoft.com/office/powerpoint/2010/main" val="260411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E0493-86C7-BF1E-489A-B5CB88751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768" y="1294410"/>
            <a:ext cx="10515600" cy="4534974"/>
          </a:xfrm>
        </p:spPr>
        <p:txBody>
          <a:bodyPr>
            <a:normAutofit/>
          </a:bodyPr>
          <a:lstStyle/>
          <a:p>
            <a:r>
              <a:rPr lang="en-US" sz="2200" dirty="0"/>
              <a:t>Create a heap tree and sort numbers with the tree along a corresponding array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4252-5A15-A669-1062-4E6F6E30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B2F39-052B-F398-CE08-E9F0C2FFB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87" y="355875"/>
            <a:ext cx="7231969" cy="67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30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660" y="1"/>
            <a:ext cx="10515600" cy="1188720"/>
          </a:xfrm>
        </p:spPr>
        <p:txBody>
          <a:bodyPr/>
          <a:lstStyle/>
          <a:p>
            <a:r>
              <a:rPr lang="en-US" sz="3600" dirty="0"/>
              <a:t>Building A Heap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580" y="3322864"/>
            <a:ext cx="4701969" cy="166061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34367E-49CC-4B6B-BFE6-13246F0707AD}"/>
              </a:ext>
            </a:extLst>
          </p:cNvPr>
          <p:cNvSpPr txBox="1">
            <a:spLocks/>
          </p:cNvSpPr>
          <p:nvPr/>
        </p:nvSpPr>
        <p:spPr>
          <a:xfrm>
            <a:off x="1147906" y="1480108"/>
            <a:ext cx="8120799" cy="10475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02060"/>
              </a:buClr>
            </a:pPr>
            <a:r>
              <a:rPr lang="en-US" sz="2200" dirty="0"/>
              <a:t>Use the procedure MAX-HEAPIFY in a bottom-up manner to convert an array A [1..n], where n = </a:t>
            </a:r>
            <a:r>
              <a:rPr lang="en-US" sz="2200" dirty="0" err="1"/>
              <a:t>A.</a:t>
            </a:r>
            <a:r>
              <a:rPr lang="en-US" sz="2200" i="1" dirty="0" err="1"/>
              <a:t>length</a:t>
            </a:r>
            <a:r>
              <a:rPr lang="en-US" sz="2200" dirty="0"/>
              <a:t>, into a max-heap.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The procedure BUILD-MAX-HEAP goes through the remaining nodes of the tree and runs MAX-HEAPIFY on each one</a:t>
            </a:r>
          </a:p>
        </p:txBody>
      </p:sp>
    </p:spTree>
    <p:extLst>
      <p:ext uri="{BB962C8B-B14F-4D97-AF65-F5344CB8AC3E}">
        <p14:creationId xmlns:p14="http://schemas.microsoft.com/office/powerpoint/2010/main" val="333540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9012" y="-25391"/>
            <a:ext cx="6910701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88FC83-6122-41BF-BC29-987FA02A5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" y="216241"/>
            <a:ext cx="4347942" cy="308425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E306C0F-63C3-4A99-A0FD-CBFFE0220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7" y="2413692"/>
            <a:ext cx="3090925" cy="1091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433572-907E-410B-824D-D9AB7904C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1" y="814692"/>
            <a:ext cx="3348240" cy="1599000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A0C55838-9767-46E0-B566-6313B683E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26" y="3674370"/>
            <a:ext cx="3304044" cy="2368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1868A-F6AD-0144-F614-66F10843DC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1122" y="4064960"/>
            <a:ext cx="1287452" cy="154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5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011" y="684607"/>
            <a:ext cx="6733369" cy="6173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61B9FA-3935-4A2A-8AB0-27724E5B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34" y="1211109"/>
            <a:ext cx="3242949" cy="1548716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7743260-8F5F-4460-A730-971583DE1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00" y="3919108"/>
            <a:ext cx="3304044" cy="2368938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345BA27B-7BE0-4163-B4D1-6A4A2664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48" y="2816202"/>
            <a:ext cx="2803572" cy="990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E6E50-809C-489C-9CDF-037A2F4F9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146" y="216873"/>
            <a:ext cx="3920118" cy="49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2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481" y="344043"/>
            <a:ext cx="7055380" cy="426958"/>
          </a:xfrm>
        </p:spPr>
        <p:txBody>
          <a:bodyPr>
            <a:noAutofit/>
          </a:bodyPr>
          <a:lstStyle/>
          <a:p>
            <a:r>
              <a:rPr lang="en-US" sz="3600" dirty="0"/>
              <a:t>Maintaining Heap Property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0132" y="3069320"/>
            <a:ext cx="4661504" cy="33422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623" y="3325324"/>
            <a:ext cx="1799995" cy="21540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CF4D82-96BF-4991-AB33-3FE30ADFA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36" y="954603"/>
            <a:ext cx="8889357" cy="215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32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55" y="1"/>
            <a:ext cx="10515600" cy="1143000"/>
          </a:xfrm>
        </p:spPr>
        <p:txBody>
          <a:bodyPr/>
          <a:lstStyle/>
          <a:p>
            <a:r>
              <a:rPr lang="en-US" sz="3600" dirty="0"/>
              <a:t>Maintaining Heap Property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655" y="1749745"/>
            <a:ext cx="7055380" cy="4782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FA55F5-4A08-4972-B0E4-ED6EC5431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6" y="1269882"/>
            <a:ext cx="7055380" cy="35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0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10" y="3969936"/>
            <a:ext cx="2867907" cy="24133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90D2C0-BF1A-4B51-845C-820682384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71" y="1418267"/>
            <a:ext cx="3800422" cy="1814945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1B59D8D-1663-4BBA-9421-A12828694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035" y="1541765"/>
            <a:ext cx="4110435" cy="2947105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514980F3-363C-4C04-BE88-4657BF105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27" y="3429000"/>
            <a:ext cx="3608000" cy="127425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920BBC7-96A8-49FF-9A36-8D9894CD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129" y="0"/>
            <a:ext cx="10515600" cy="1143000"/>
          </a:xfrm>
        </p:spPr>
        <p:txBody>
          <a:bodyPr/>
          <a:lstStyle/>
          <a:p>
            <a:r>
              <a:rPr lang="en-US" sz="3600" dirty="0"/>
              <a:t>Analysis of Heap Sort</a:t>
            </a:r>
          </a:p>
        </p:txBody>
      </p:sp>
    </p:spTree>
    <p:extLst>
      <p:ext uri="{BB962C8B-B14F-4D97-AF65-F5344CB8AC3E}">
        <p14:creationId xmlns:p14="http://schemas.microsoft.com/office/powerpoint/2010/main" val="2352223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885" y="0"/>
            <a:ext cx="7664208" cy="1114425"/>
          </a:xfrm>
        </p:spPr>
        <p:txBody>
          <a:bodyPr/>
          <a:lstStyle/>
          <a:p>
            <a:r>
              <a:rPr lang="en-US" sz="3600" dirty="0"/>
              <a:t>Heap Implementation of Priority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84" y="1411899"/>
            <a:ext cx="8684055" cy="399419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200" dirty="0"/>
              <a:t>Heaps efficiently implement priority queues.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A </a:t>
            </a:r>
            <a:r>
              <a:rPr lang="en-US" sz="2200" b="1" i="1" dirty="0"/>
              <a:t>priority queue </a:t>
            </a:r>
            <a:r>
              <a:rPr lang="en-US" sz="2200" dirty="0"/>
              <a:t>is a data structure for maintaining a set S of elements, each with an associated value called a </a:t>
            </a:r>
            <a:r>
              <a:rPr lang="en-US" sz="2200" b="1" i="1" dirty="0"/>
              <a:t>key</a:t>
            </a:r>
            <a:r>
              <a:rPr lang="en-US" sz="2200" dirty="0"/>
              <a:t>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A </a:t>
            </a:r>
            <a:r>
              <a:rPr lang="en-US" sz="2200" b="1" i="1" dirty="0"/>
              <a:t>max-priority queue </a:t>
            </a:r>
            <a:r>
              <a:rPr lang="en-US" sz="2200" dirty="0"/>
              <a:t>supports the following operations: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E75B8-50DA-4BF1-8D4C-74A302B50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641" y="2972774"/>
            <a:ext cx="8173832" cy="225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3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BE20-9C3A-4DE3-857A-DD6E8ED56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370" y="21533"/>
            <a:ext cx="10515600" cy="1083399"/>
          </a:xfrm>
        </p:spPr>
        <p:txBody>
          <a:bodyPr/>
          <a:lstStyle/>
          <a:p>
            <a:r>
              <a:rPr lang="en-US" sz="3600" dirty="0"/>
              <a:t>Priority Queue: Inserting a Key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8FEA6-6CE9-4B16-9CAC-A41061741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53" y="5061460"/>
            <a:ext cx="6601500" cy="10527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3" y="1505303"/>
            <a:ext cx="7057021" cy="17069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09" y="3328920"/>
            <a:ext cx="6909186" cy="1706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8C7377-37C0-4DE7-8E92-A74E67BB7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952" y="316839"/>
            <a:ext cx="4471495" cy="176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2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077200" y="6399213"/>
            <a:ext cx="1905000" cy="4572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E0E4FD-E785-496C-BA1A-EE10ED46F5F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02061" y="242264"/>
            <a:ext cx="8516471" cy="533400"/>
          </a:xfrm>
        </p:spPr>
        <p:txBody>
          <a:bodyPr>
            <a:noAutofit/>
          </a:bodyPr>
          <a:lstStyle/>
          <a:p>
            <a:r>
              <a:rPr lang="en-US" sz="3600" dirty="0"/>
              <a:t>Priority Queue: Inserting a Key Value</a:t>
            </a:r>
            <a:endParaRPr lang="en-US" altLang="en-US" sz="3600" dirty="0"/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3265488" y="20843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3657600" y="24304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3867150" y="16430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3776663" y="25669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3667125" y="21717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3524250" y="22574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8" name="Rectangle 9"/>
          <p:cNvSpPr>
            <a:spLocks noChangeArrowheads="1"/>
          </p:cNvSpPr>
          <p:nvPr/>
        </p:nvSpPr>
        <p:spPr bwMode="auto">
          <a:xfrm>
            <a:off x="3724275" y="21145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9" name="Rectangle 10"/>
          <p:cNvSpPr>
            <a:spLocks noChangeArrowheads="1"/>
          </p:cNvSpPr>
          <p:nvPr/>
        </p:nvSpPr>
        <p:spPr bwMode="auto">
          <a:xfrm>
            <a:off x="3724275" y="24003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0" name="Rectangle 11"/>
          <p:cNvSpPr>
            <a:spLocks noChangeArrowheads="1"/>
          </p:cNvSpPr>
          <p:nvPr/>
        </p:nvSpPr>
        <p:spPr bwMode="auto">
          <a:xfrm>
            <a:off x="4267200" y="27146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1" name="Rectangle 12"/>
          <p:cNvSpPr>
            <a:spLocks noChangeArrowheads="1"/>
          </p:cNvSpPr>
          <p:nvPr/>
        </p:nvSpPr>
        <p:spPr bwMode="auto">
          <a:xfrm>
            <a:off x="3667125" y="26289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2" name="Rectangle 13"/>
          <p:cNvSpPr>
            <a:spLocks noChangeArrowheads="1"/>
          </p:cNvSpPr>
          <p:nvPr/>
        </p:nvSpPr>
        <p:spPr bwMode="auto">
          <a:xfrm>
            <a:off x="1524001" y="26346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3" name="Rectangle 14"/>
          <p:cNvSpPr>
            <a:spLocks noChangeArrowheads="1"/>
          </p:cNvSpPr>
          <p:nvPr/>
        </p:nvSpPr>
        <p:spPr bwMode="auto">
          <a:xfrm>
            <a:off x="1524001" y="13312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4" name="Text Box 15"/>
          <p:cNvSpPr txBox="1">
            <a:spLocks noChangeArrowheads="1"/>
          </p:cNvSpPr>
          <p:nvPr/>
        </p:nvSpPr>
        <p:spPr bwMode="auto">
          <a:xfrm>
            <a:off x="1524001" y="1225253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/>
              <a:t>Inserting 3, 5, 1, 19, 11, and 22 to a heap, initially empty</a:t>
            </a:r>
          </a:p>
        </p:txBody>
      </p:sp>
      <p:sp>
        <p:nvSpPr>
          <p:cNvPr id="32785" name="Rectangle 16"/>
          <p:cNvSpPr>
            <a:spLocks noChangeArrowheads="1"/>
          </p:cNvSpPr>
          <p:nvPr/>
        </p:nvSpPr>
        <p:spPr bwMode="auto">
          <a:xfrm>
            <a:off x="1524001" y="19329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6" name="Rectangle 17"/>
          <p:cNvSpPr>
            <a:spLocks noChangeArrowheads="1"/>
          </p:cNvSpPr>
          <p:nvPr/>
        </p:nvSpPr>
        <p:spPr bwMode="auto">
          <a:xfrm>
            <a:off x="1524001" y="19329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32787" name="Object 18"/>
          <p:cNvGraphicFramePr>
            <a:graphicFrameLocks noChangeAspect="1"/>
          </p:cNvGraphicFramePr>
          <p:nvPr/>
        </p:nvGraphicFramePr>
        <p:xfrm>
          <a:off x="1273177" y="1697048"/>
          <a:ext cx="9144000" cy="4656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039106" imgH="2568677" progId="Word.Picture.8">
                  <p:embed/>
                </p:oleObj>
              </mc:Choice>
              <mc:Fallback>
                <p:oleObj name="Picture" r:id="rId2" imgW="5039106" imgH="2568677" progId="Word.Picture.8">
                  <p:embed/>
                  <p:pic>
                    <p:nvPicPr>
                      <p:cNvPr id="3278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7" y="1697048"/>
                        <a:ext cx="9144000" cy="4656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208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5B20-D42C-5078-E00C-455D7313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Priority Queue: Inserting a Key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78D07-4551-C296-09BF-1D4E166FF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kern="50" dirty="0"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25, 13, 5, 26, 14, 7, 3, 8, 22, 18, 42 </a:t>
            </a:r>
            <a:endParaRPr 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30A9-5D15-3AEA-ADE3-F6F78A85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441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996A-5E4A-4E7A-A557-FE8F6469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98" y="0"/>
            <a:ext cx="7055380" cy="1097280"/>
          </a:xfrm>
        </p:spPr>
        <p:txBody>
          <a:bodyPr/>
          <a:lstStyle/>
          <a:p>
            <a:r>
              <a:rPr lang="en-US" sz="3600" dirty="0"/>
              <a:t>Priority Queue: Increasing a Key Value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1A820D-E7C1-4E42-B44B-00F22F5A6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5404" y="1132376"/>
            <a:ext cx="7946596" cy="5322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0274F6-BC6B-46AB-8D88-E8E6F9280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59" y="1269113"/>
            <a:ext cx="4280429" cy="111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96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AD4A-A323-4399-9F4F-ECF5959C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085" y="5080"/>
            <a:ext cx="10515600" cy="1097915"/>
          </a:xfrm>
        </p:spPr>
        <p:txBody>
          <a:bodyPr/>
          <a:lstStyle/>
          <a:p>
            <a:r>
              <a:rPr lang="en-US" sz="3600" dirty="0"/>
              <a:t>Operation of Increasing a Key Value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7CA0D2-F517-4C30-B133-7AAF270E6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9620" y="1132628"/>
            <a:ext cx="7589504" cy="51904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62D98-2567-4CD3-8B6A-1B1A0BE65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75" y="1481666"/>
            <a:ext cx="4020844" cy="16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8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20" y="0"/>
            <a:ext cx="10515600" cy="1325563"/>
          </a:xfrm>
        </p:spPr>
        <p:txBody>
          <a:bodyPr/>
          <a:lstStyle/>
          <a:p>
            <a:r>
              <a:rPr lang="en-US" sz="3600" dirty="0"/>
              <a:t>Priority Queue: Getting an Element with Largest Key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62B654-45A2-4485-BB36-E96FE6326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219" y="1377833"/>
            <a:ext cx="6591046" cy="317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76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1D97-4083-4DAE-ACA9-D591002E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15" y="-635"/>
            <a:ext cx="10515600" cy="1325563"/>
          </a:xfrm>
        </p:spPr>
        <p:txBody>
          <a:bodyPr/>
          <a:lstStyle/>
          <a:p>
            <a:r>
              <a:rPr lang="en-US" sz="3600" dirty="0"/>
              <a:t>Priority Queue: Extracting Max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386E49-FDA1-4CD3-BADD-C3AB0D87B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2" y="1217141"/>
            <a:ext cx="7998495" cy="4061824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14F92D-71B8-4876-AAC3-7F4E8C41D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265" y="1896755"/>
            <a:ext cx="3919742" cy="2810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9CBB04-C94F-4EEB-92BC-D040F69F1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331" y="2070100"/>
            <a:ext cx="3607635" cy="255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319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E44B-5952-4693-8AE0-60B38A7B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22225"/>
            <a:ext cx="10515600" cy="1325563"/>
          </a:xfrm>
        </p:spPr>
        <p:txBody>
          <a:bodyPr/>
          <a:lstStyle/>
          <a:p>
            <a:r>
              <a:rPr lang="en-US" sz="3600" dirty="0"/>
              <a:t>Priority Queue: Extracting Max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86D084-A0F6-416D-8957-C7307938E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078" y="1309688"/>
            <a:ext cx="9246052" cy="4070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91982A-B212-4696-B746-03CBC7A01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838" y="2087563"/>
            <a:ext cx="3205162" cy="20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27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3596</TotalTime>
  <Words>346</Words>
  <Application>Microsoft Office PowerPoint</Application>
  <PresentationFormat>Widescreen</PresentationFormat>
  <Paragraphs>43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Vollkorn</vt:lpstr>
      <vt:lpstr>Arial</vt:lpstr>
      <vt:lpstr>Calibri</vt:lpstr>
      <vt:lpstr>Corbel</vt:lpstr>
      <vt:lpstr>Oswald</vt:lpstr>
      <vt:lpstr>Times New Roman</vt:lpstr>
      <vt:lpstr>Office Theme</vt:lpstr>
      <vt:lpstr>Picture</vt:lpstr>
      <vt:lpstr>CSCI 5343 Algorithms Spring 2025 </vt:lpstr>
      <vt:lpstr>Goals</vt:lpstr>
      <vt:lpstr>Heap Data Structure</vt:lpstr>
      <vt:lpstr>Heap Example</vt:lpstr>
      <vt:lpstr>Heapsort Algorithm</vt:lpstr>
      <vt:lpstr>Heap Properties</vt:lpstr>
      <vt:lpstr>Heap Sort Algorithm</vt:lpstr>
      <vt:lpstr>PowerPoint Presentation</vt:lpstr>
      <vt:lpstr>Building A Heap</vt:lpstr>
      <vt:lpstr>PowerPoint Presentation</vt:lpstr>
      <vt:lpstr>PowerPoint Presentation</vt:lpstr>
      <vt:lpstr>Maintaining Heap Property</vt:lpstr>
      <vt:lpstr>Maintaining Heap Property</vt:lpstr>
      <vt:lpstr>Analysis of Heap Sort</vt:lpstr>
      <vt:lpstr>Heap Implementation of Priority Queue</vt:lpstr>
      <vt:lpstr>Priority Queue: Inserting a Key Value</vt:lpstr>
      <vt:lpstr>Priority Queue: Inserting a Key Value</vt:lpstr>
      <vt:lpstr>Priority Queue: Inserting a Key Value</vt:lpstr>
      <vt:lpstr>Priority Queue: Increasing a Key Value</vt:lpstr>
      <vt:lpstr>Operation of Increasing a Key Value</vt:lpstr>
      <vt:lpstr>Priority Queue: Getting an Element with Largest Key</vt:lpstr>
      <vt:lpstr>Priority Queue: Extracting Max</vt:lpstr>
      <vt:lpstr>Priority Queue: Extracting Max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112</cp:revision>
  <cp:lastPrinted>2024-02-20T19:27:41Z</cp:lastPrinted>
  <dcterms:created xsi:type="dcterms:W3CDTF">2018-03-09T22:17:24Z</dcterms:created>
  <dcterms:modified xsi:type="dcterms:W3CDTF">2025-02-17T15:05:37Z</dcterms:modified>
</cp:coreProperties>
</file>